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552d07bebb447a" /><Relationship Type="http://schemas.openxmlformats.org/officeDocument/2006/relationships/extended-properties" Target="/docProps/app.xml" Id="Rc343a558ef444a8a" /><Relationship Type="http://schemas.openxmlformats.org/officeDocument/2006/relationships/officeDocument" Target="/ppt/presentation.xml" Id="R8e20fce3495d48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7ae38576b64aa2"/>
  </p:sldMasterIdLst>
  <p:notesMasterIdLst>
    <p:notesMasterId xmlns:r="http://schemas.openxmlformats.org/officeDocument/2006/relationships" r:id="R05964980d89140ac"/>
  </p:notesMasterIdLst>
  <p:sldIdLst>
    <p:sldId xmlns:r="http://schemas.openxmlformats.org/officeDocument/2006/relationships" id="256" r:id="R98a7fced9c864921"/>
    <p:sldId xmlns:r="http://schemas.openxmlformats.org/officeDocument/2006/relationships" id="257" r:id="R99b266e79f32485a"/>
    <p:sldId xmlns:r="http://schemas.openxmlformats.org/officeDocument/2006/relationships" id="258" r:id="Rde945f377b1e4fe0"/>
    <p:sldId xmlns:r="http://schemas.openxmlformats.org/officeDocument/2006/relationships" id="259" r:id="Rb8695dfae57c49c2"/>
    <p:sldId xmlns:r="http://schemas.openxmlformats.org/officeDocument/2006/relationships" id="260" r:id="R9bff180b59d04631"/>
    <p:sldId xmlns:r="http://schemas.openxmlformats.org/officeDocument/2006/relationships" id="261" r:id="Rcfe096f976ef40d5"/>
    <p:sldId xmlns:r="http://schemas.openxmlformats.org/officeDocument/2006/relationships" id="262" r:id="Rea565a0e1cf148c4"/>
    <p:sldId xmlns:r="http://schemas.openxmlformats.org/officeDocument/2006/relationships" id="263" r:id="Rb18e318fe4914bf6"/>
    <p:sldId xmlns:r="http://schemas.openxmlformats.org/officeDocument/2006/relationships" id="264" r:id="R15b0bdd49d164318"/>
    <p:sldId xmlns:r="http://schemas.openxmlformats.org/officeDocument/2006/relationships" id="265" r:id="Rc2f8831dcfb94288"/>
    <p:sldId xmlns:r="http://schemas.openxmlformats.org/officeDocument/2006/relationships" id="266" r:id="R99ec858d277c4a3a"/>
    <p:sldId xmlns:r="http://schemas.openxmlformats.org/officeDocument/2006/relationships" id="267" r:id="Rfdd136546278427a"/>
    <p:sldId xmlns:r="http://schemas.openxmlformats.org/officeDocument/2006/relationships" id="268" r:id="Rd5492a6f854c437e"/>
    <p:sldId xmlns:r="http://schemas.openxmlformats.org/officeDocument/2006/relationships" id="269" r:id="R8a92198520644305"/>
    <p:sldId xmlns:r="http://schemas.openxmlformats.org/officeDocument/2006/relationships" id="270" r:id="Rb26ba4eb7c1a4ab0"/>
    <p:sldId xmlns:r="http://schemas.openxmlformats.org/officeDocument/2006/relationships" id="271" r:id="R3288a70674264c44"/>
    <p:sldId xmlns:r="http://schemas.openxmlformats.org/officeDocument/2006/relationships" id="272" r:id="R9c48463bb0a944ad"/>
    <p:sldId xmlns:r="http://schemas.openxmlformats.org/officeDocument/2006/relationships" id="273" r:id="R2c19ff557cc74da9"/>
    <p:sldId xmlns:r="http://schemas.openxmlformats.org/officeDocument/2006/relationships" id="274" r:id="Rf33ae1711f244fe6"/>
    <p:sldId xmlns:r="http://schemas.openxmlformats.org/officeDocument/2006/relationships" id="275" r:id="Rc341f97e398047f9"/>
    <p:sldId xmlns:r="http://schemas.openxmlformats.org/officeDocument/2006/relationships" id="276" r:id="R3253f94fa5444adf"/>
    <p:sldId xmlns:r="http://schemas.openxmlformats.org/officeDocument/2006/relationships" id="277" r:id="R6dc336d50b74469d"/>
    <p:sldId xmlns:r="http://schemas.openxmlformats.org/officeDocument/2006/relationships" id="278" r:id="R5788947e4b9f4045"/>
    <p:sldId xmlns:r="http://schemas.openxmlformats.org/officeDocument/2006/relationships" id="279" r:id="R084a60cddc2a4b28"/>
    <p:sldId xmlns:r="http://schemas.openxmlformats.org/officeDocument/2006/relationships" id="280" r:id="Red52efd281f14963"/>
    <p:sldId xmlns:r="http://schemas.openxmlformats.org/officeDocument/2006/relationships" id="281" r:id="R26eda00fa947465b"/>
    <p:sldId xmlns:r="http://schemas.openxmlformats.org/officeDocument/2006/relationships" id="282" r:id="R1b3dcc8694014859"/>
    <p:sldId xmlns:r="http://schemas.openxmlformats.org/officeDocument/2006/relationships" id="283" r:id="R8fbb91841b74414a"/>
    <p:sldId xmlns:r="http://schemas.openxmlformats.org/officeDocument/2006/relationships" id="284" r:id="R4fe91d345d5f4dd3"/>
    <p:sldId xmlns:r="http://schemas.openxmlformats.org/officeDocument/2006/relationships" id="285" r:id="R7feb0594271d4012"/>
    <p:sldId xmlns:r="http://schemas.openxmlformats.org/officeDocument/2006/relationships" id="286" r:id="Rcb104843d69d4124"/>
    <p:sldId xmlns:r="http://schemas.openxmlformats.org/officeDocument/2006/relationships" id="287" r:id="Ra7708e3f58924a50"/>
    <p:sldId xmlns:r="http://schemas.openxmlformats.org/officeDocument/2006/relationships" id="288" r:id="Rd740c19e8e3b4514"/>
    <p:sldId xmlns:r="http://schemas.openxmlformats.org/officeDocument/2006/relationships" id="289" r:id="R974ff34c656d4eee"/>
    <p:sldId xmlns:r="http://schemas.openxmlformats.org/officeDocument/2006/relationships" id="290" r:id="R5d5d59faccb64655"/>
    <p:sldId xmlns:r="http://schemas.openxmlformats.org/officeDocument/2006/relationships" id="291" r:id="Re7509c5ba40e4732"/>
    <p:sldId xmlns:r="http://schemas.openxmlformats.org/officeDocument/2006/relationships" id="292" r:id="R9c7278b8444647d8"/>
    <p:sldId xmlns:r="http://schemas.openxmlformats.org/officeDocument/2006/relationships" id="293" r:id="Re014c73432b54fd3"/>
    <p:sldId xmlns:r="http://schemas.openxmlformats.org/officeDocument/2006/relationships" id="294" r:id="Rcd1b6e79dc7f4b5d"/>
    <p:sldId xmlns:r="http://schemas.openxmlformats.org/officeDocument/2006/relationships" id="295" r:id="R2a1f886f79bd4d88"/>
    <p:sldId xmlns:r="http://schemas.openxmlformats.org/officeDocument/2006/relationships" id="296" r:id="R54bb8432c1854f82"/>
    <p:sldId xmlns:r="http://schemas.openxmlformats.org/officeDocument/2006/relationships" id="297" r:id="R4c1b5ab2eb974490"/>
    <p:sldId xmlns:r="http://schemas.openxmlformats.org/officeDocument/2006/relationships" id="298" r:id="R3e54b2fe46554040"/>
    <p:sldId xmlns:r="http://schemas.openxmlformats.org/officeDocument/2006/relationships" id="299" r:id="R9caddda6402143ed"/>
    <p:sldId xmlns:r="http://schemas.openxmlformats.org/officeDocument/2006/relationships" id="300" r:id="R9e2f2b42fc984667"/>
    <p:sldId xmlns:r="http://schemas.openxmlformats.org/officeDocument/2006/relationships" id="301" r:id="R5dd1f26a6ac84b6b"/>
    <p:sldId xmlns:r="http://schemas.openxmlformats.org/officeDocument/2006/relationships" id="302" r:id="R4d7d49587da24eb2"/>
    <p:sldId xmlns:r="http://schemas.openxmlformats.org/officeDocument/2006/relationships" id="303" r:id="R1ae8a6eb84f44df1"/>
    <p:sldId xmlns:r="http://schemas.openxmlformats.org/officeDocument/2006/relationships" id="304" r:id="R93b0a7bcec534c85"/>
    <p:sldId xmlns:r="http://schemas.openxmlformats.org/officeDocument/2006/relationships" id="305" r:id="R1347472fa54f42f0"/>
    <p:sldId xmlns:r="http://schemas.openxmlformats.org/officeDocument/2006/relationships" id="306" r:id="Rb2f801ef229942b1"/>
    <p:sldId xmlns:r="http://schemas.openxmlformats.org/officeDocument/2006/relationships" id="307" r:id="R4c8d6f2ced49441c"/>
    <p:sldId xmlns:r="http://schemas.openxmlformats.org/officeDocument/2006/relationships" id="308" r:id="R26b33fbc59ce4879"/>
    <p:sldId xmlns:r="http://schemas.openxmlformats.org/officeDocument/2006/relationships" id="309" r:id="Rffdf34beea954255"/>
    <p:sldId xmlns:r="http://schemas.openxmlformats.org/officeDocument/2006/relationships" id="310" r:id="R133bc431e33944cf"/>
    <p:sldId xmlns:r="http://schemas.openxmlformats.org/officeDocument/2006/relationships" id="311" r:id="R81ebe0dd272f410b"/>
    <p:sldId xmlns:r="http://schemas.openxmlformats.org/officeDocument/2006/relationships" id="312" r:id="Rca1cf84ee16e4713"/>
    <p:sldId xmlns:r="http://schemas.openxmlformats.org/officeDocument/2006/relationships" id="313" r:id="R037cd6cfcdd6475f"/>
    <p:sldId xmlns:r="http://schemas.openxmlformats.org/officeDocument/2006/relationships" id="314" r:id="R161387b71dac48bc"/>
    <p:sldId xmlns:r="http://schemas.openxmlformats.org/officeDocument/2006/relationships" id="315" r:id="R6d404687ebf2422f"/>
    <p:sldId xmlns:r="http://schemas.openxmlformats.org/officeDocument/2006/relationships" id="316" r:id="Raca81b2853174e17"/>
    <p:sldId xmlns:r="http://schemas.openxmlformats.org/officeDocument/2006/relationships" id="317" r:id="R847705c46ccb4a8f"/>
    <p:sldId xmlns:r="http://schemas.openxmlformats.org/officeDocument/2006/relationships" id="318" r:id="R04489df530744e54"/>
    <p:sldId xmlns:r="http://schemas.openxmlformats.org/officeDocument/2006/relationships" id="319" r:id="Rb86d8f1a98494846"/>
    <p:sldId xmlns:r="http://schemas.openxmlformats.org/officeDocument/2006/relationships" id="320" r:id="R9881f39d602f463c"/>
    <p:sldId xmlns:r="http://schemas.openxmlformats.org/officeDocument/2006/relationships" id="321" r:id="Rc8c94e00079c4f2c"/>
    <p:sldId xmlns:r="http://schemas.openxmlformats.org/officeDocument/2006/relationships" id="322" r:id="Ra77caecbc3104181"/>
    <p:sldId xmlns:r="http://schemas.openxmlformats.org/officeDocument/2006/relationships" id="323" r:id="R30ad138612e04cbd"/>
    <p:sldId xmlns:r="http://schemas.openxmlformats.org/officeDocument/2006/relationships" id="324" r:id="R31d8dbd9c63041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8b0a23bc7d48dd" /><Relationship Type="http://schemas.openxmlformats.org/officeDocument/2006/relationships/slideMaster" Target="/ppt/slideMasters/slideMaster1.xml" Id="R4b7ae38576b64aa2" /><Relationship Type="http://schemas.openxmlformats.org/officeDocument/2006/relationships/notesMaster" Target="/ppt/notesMasters/notesMaster1.xml" Id="R05964980d89140ac" /><Relationship Type="http://schemas.openxmlformats.org/officeDocument/2006/relationships/presProps" Target="/ppt/presProps.xml" Id="R5843e9a2d0d54843" /><Relationship Type="http://schemas.openxmlformats.org/officeDocument/2006/relationships/tableStyles" Target="/ppt/tableStyles.xml" Id="Rdde4e8e9d2c84835" /><Relationship Type="http://schemas.openxmlformats.org/officeDocument/2006/relationships/slide" Target="/ppt/slides/slide1.xml" Id="R98a7fced9c864921" /><Relationship Type="http://schemas.openxmlformats.org/officeDocument/2006/relationships/slide" Target="/ppt/slides/slide2.xml" Id="R99b266e79f32485a" /><Relationship Type="http://schemas.openxmlformats.org/officeDocument/2006/relationships/slide" Target="/ppt/slides/slide3.xml" Id="Rde945f377b1e4fe0" /><Relationship Type="http://schemas.openxmlformats.org/officeDocument/2006/relationships/slide" Target="/ppt/slides/slide4.xml" Id="Rb8695dfae57c49c2" /><Relationship Type="http://schemas.openxmlformats.org/officeDocument/2006/relationships/slide" Target="/ppt/slides/slide5.xml" Id="R9bff180b59d04631" /><Relationship Type="http://schemas.openxmlformats.org/officeDocument/2006/relationships/slide" Target="/ppt/slides/slide6.xml" Id="Rcfe096f976ef40d5" /><Relationship Type="http://schemas.openxmlformats.org/officeDocument/2006/relationships/slide" Target="/ppt/slides/slide7.xml" Id="Rea565a0e1cf148c4" /><Relationship Type="http://schemas.openxmlformats.org/officeDocument/2006/relationships/slide" Target="/ppt/slides/slide8.xml" Id="Rb18e318fe4914bf6" /><Relationship Type="http://schemas.openxmlformats.org/officeDocument/2006/relationships/slide" Target="/ppt/slides/slide9.xml" Id="R15b0bdd49d164318" /><Relationship Type="http://schemas.openxmlformats.org/officeDocument/2006/relationships/slide" Target="/ppt/slides/slide10.xml" Id="Rc2f8831dcfb94288" /><Relationship Type="http://schemas.openxmlformats.org/officeDocument/2006/relationships/slide" Target="/ppt/slides/slide11.xml" Id="R99ec858d277c4a3a" /><Relationship Type="http://schemas.openxmlformats.org/officeDocument/2006/relationships/slide" Target="/ppt/slides/slide12.xml" Id="Rfdd136546278427a" /><Relationship Type="http://schemas.openxmlformats.org/officeDocument/2006/relationships/slide" Target="/ppt/slides/slide13.xml" Id="Rd5492a6f854c437e" /><Relationship Type="http://schemas.openxmlformats.org/officeDocument/2006/relationships/slide" Target="/ppt/slides/slide14.xml" Id="R8a92198520644305" /><Relationship Type="http://schemas.openxmlformats.org/officeDocument/2006/relationships/slide" Target="/ppt/slides/slide15.xml" Id="Rb26ba4eb7c1a4ab0" /><Relationship Type="http://schemas.openxmlformats.org/officeDocument/2006/relationships/slide" Target="/ppt/slides/slide16.xml" Id="R3288a70674264c44" /><Relationship Type="http://schemas.openxmlformats.org/officeDocument/2006/relationships/slide" Target="/ppt/slides/slide17.xml" Id="R9c48463bb0a944ad" /><Relationship Type="http://schemas.openxmlformats.org/officeDocument/2006/relationships/slide" Target="/ppt/slides/slide18.xml" Id="R2c19ff557cc74da9" /><Relationship Type="http://schemas.openxmlformats.org/officeDocument/2006/relationships/slide" Target="/ppt/slides/slide19.xml" Id="Rf33ae1711f244fe6" /><Relationship Type="http://schemas.openxmlformats.org/officeDocument/2006/relationships/slide" Target="/ppt/slides/slide20.xml" Id="Rc341f97e398047f9" /><Relationship Type="http://schemas.openxmlformats.org/officeDocument/2006/relationships/slide" Target="/ppt/slides/slide21.xml" Id="R3253f94fa5444adf" /><Relationship Type="http://schemas.openxmlformats.org/officeDocument/2006/relationships/slide" Target="/ppt/slides/slide22.xml" Id="R6dc336d50b74469d" /><Relationship Type="http://schemas.openxmlformats.org/officeDocument/2006/relationships/slide" Target="/ppt/slides/slide23.xml" Id="R5788947e4b9f4045" /><Relationship Type="http://schemas.openxmlformats.org/officeDocument/2006/relationships/slide" Target="/ppt/slides/slide24.xml" Id="R084a60cddc2a4b28" /><Relationship Type="http://schemas.openxmlformats.org/officeDocument/2006/relationships/slide" Target="/ppt/slides/slide25.xml" Id="Red52efd281f14963" /><Relationship Type="http://schemas.openxmlformats.org/officeDocument/2006/relationships/slide" Target="/ppt/slides/slide26.xml" Id="R26eda00fa947465b" /><Relationship Type="http://schemas.openxmlformats.org/officeDocument/2006/relationships/slide" Target="/ppt/slides/slide27.xml" Id="R1b3dcc8694014859" /><Relationship Type="http://schemas.openxmlformats.org/officeDocument/2006/relationships/slide" Target="/ppt/slides/slide28.xml" Id="R8fbb91841b74414a" /><Relationship Type="http://schemas.openxmlformats.org/officeDocument/2006/relationships/slide" Target="/ppt/slides/slide29.xml" Id="R4fe91d345d5f4dd3" /><Relationship Type="http://schemas.openxmlformats.org/officeDocument/2006/relationships/slide" Target="/ppt/slides/slide30.xml" Id="R7feb0594271d4012" /><Relationship Type="http://schemas.openxmlformats.org/officeDocument/2006/relationships/slide" Target="/ppt/slides/slide31.xml" Id="Rcb104843d69d4124" /><Relationship Type="http://schemas.openxmlformats.org/officeDocument/2006/relationships/slide" Target="/ppt/slides/slide32.xml" Id="Ra7708e3f58924a50" /><Relationship Type="http://schemas.openxmlformats.org/officeDocument/2006/relationships/slide" Target="/ppt/slides/slide33.xml" Id="Rd740c19e8e3b4514" /><Relationship Type="http://schemas.openxmlformats.org/officeDocument/2006/relationships/slide" Target="/ppt/slides/slide34.xml" Id="R974ff34c656d4eee" /><Relationship Type="http://schemas.openxmlformats.org/officeDocument/2006/relationships/slide" Target="/ppt/slides/slide35.xml" Id="R5d5d59faccb64655" /><Relationship Type="http://schemas.openxmlformats.org/officeDocument/2006/relationships/slide" Target="/ppt/slides/slide36.xml" Id="Re7509c5ba40e4732" /><Relationship Type="http://schemas.openxmlformats.org/officeDocument/2006/relationships/slide" Target="/ppt/slides/slide37.xml" Id="R9c7278b8444647d8" /><Relationship Type="http://schemas.openxmlformats.org/officeDocument/2006/relationships/slide" Target="/ppt/slides/slide38.xml" Id="Re014c73432b54fd3" /><Relationship Type="http://schemas.openxmlformats.org/officeDocument/2006/relationships/slide" Target="/ppt/slides/slide39.xml" Id="Rcd1b6e79dc7f4b5d" /><Relationship Type="http://schemas.openxmlformats.org/officeDocument/2006/relationships/slide" Target="/ppt/slides/slide40.xml" Id="R2a1f886f79bd4d88" /><Relationship Type="http://schemas.openxmlformats.org/officeDocument/2006/relationships/slide" Target="/ppt/slides/slide41.xml" Id="R54bb8432c1854f82" /><Relationship Type="http://schemas.openxmlformats.org/officeDocument/2006/relationships/slide" Target="/ppt/slides/slide42.xml" Id="R4c1b5ab2eb974490" /><Relationship Type="http://schemas.openxmlformats.org/officeDocument/2006/relationships/slide" Target="/ppt/slides/slide43.xml" Id="R3e54b2fe46554040" /><Relationship Type="http://schemas.openxmlformats.org/officeDocument/2006/relationships/slide" Target="/ppt/slides/slide44.xml" Id="R9caddda6402143ed" /><Relationship Type="http://schemas.openxmlformats.org/officeDocument/2006/relationships/slide" Target="/ppt/slides/slide45.xml" Id="R9e2f2b42fc984667" /><Relationship Type="http://schemas.openxmlformats.org/officeDocument/2006/relationships/slide" Target="/ppt/slides/slide46.xml" Id="R5dd1f26a6ac84b6b" /><Relationship Type="http://schemas.openxmlformats.org/officeDocument/2006/relationships/slide" Target="/ppt/slides/slide47.xml" Id="R4d7d49587da24eb2" /><Relationship Type="http://schemas.openxmlformats.org/officeDocument/2006/relationships/slide" Target="/ppt/slides/slide48.xml" Id="R1ae8a6eb84f44df1" /><Relationship Type="http://schemas.openxmlformats.org/officeDocument/2006/relationships/slide" Target="/ppt/slides/slide49.xml" Id="R93b0a7bcec534c85" /><Relationship Type="http://schemas.openxmlformats.org/officeDocument/2006/relationships/slide" Target="/ppt/slides/slide50.xml" Id="R1347472fa54f42f0" /><Relationship Type="http://schemas.openxmlformats.org/officeDocument/2006/relationships/slide" Target="/ppt/slides/slide51.xml" Id="Rb2f801ef229942b1" /><Relationship Type="http://schemas.openxmlformats.org/officeDocument/2006/relationships/slide" Target="/ppt/slides/slide52.xml" Id="R4c8d6f2ced49441c" /><Relationship Type="http://schemas.openxmlformats.org/officeDocument/2006/relationships/slide" Target="/ppt/slides/slide53.xml" Id="R26b33fbc59ce4879" /><Relationship Type="http://schemas.openxmlformats.org/officeDocument/2006/relationships/slide" Target="/ppt/slides/slide54.xml" Id="Rffdf34beea954255" /><Relationship Type="http://schemas.openxmlformats.org/officeDocument/2006/relationships/slide" Target="/ppt/slides/slide55.xml" Id="R133bc431e33944cf" /><Relationship Type="http://schemas.openxmlformats.org/officeDocument/2006/relationships/slide" Target="/ppt/slides/slide56.xml" Id="R81ebe0dd272f410b" /><Relationship Type="http://schemas.openxmlformats.org/officeDocument/2006/relationships/slide" Target="/ppt/slides/slide57.xml" Id="Rca1cf84ee16e4713" /><Relationship Type="http://schemas.openxmlformats.org/officeDocument/2006/relationships/slide" Target="/ppt/slides/slide58.xml" Id="R037cd6cfcdd6475f" /><Relationship Type="http://schemas.openxmlformats.org/officeDocument/2006/relationships/slide" Target="/ppt/slides/slide59.xml" Id="R161387b71dac48bc" /><Relationship Type="http://schemas.openxmlformats.org/officeDocument/2006/relationships/slide" Target="/ppt/slides/slide60.xml" Id="R6d404687ebf2422f" /><Relationship Type="http://schemas.openxmlformats.org/officeDocument/2006/relationships/slide" Target="/ppt/slides/slide61.xml" Id="Raca81b2853174e17" /><Relationship Type="http://schemas.openxmlformats.org/officeDocument/2006/relationships/slide" Target="/ppt/slides/slide62.xml" Id="R847705c46ccb4a8f" /><Relationship Type="http://schemas.openxmlformats.org/officeDocument/2006/relationships/slide" Target="/ppt/slides/slide63.xml" Id="R04489df530744e54" /><Relationship Type="http://schemas.openxmlformats.org/officeDocument/2006/relationships/slide" Target="/ppt/slides/slide64.xml" Id="Rb86d8f1a98494846" /><Relationship Type="http://schemas.openxmlformats.org/officeDocument/2006/relationships/slide" Target="/ppt/slides/slide65.xml" Id="R9881f39d602f463c" /><Relationship Type="http://schemas.openxmlformats.org/officeDocument/2006/relationships/slide" Target="/ppt/slides/slide66.xml" Id="Rc8c94e00079c4f2c" /><Relationship Type="http://schemas.openxmlformats.org/officeDocument/2006/relationships/slide" Target="/ppt/slides/slide67.xml" Id="Ra77caecbc3104181" /><Relationship Type="http://schemas.openxmlformats.org/officeDocument/2006/relationships/slide" Target="/ppt/slides/slide68.xml" Id="R30ad138612e04cbd" /><Relationship Type="http://schemas.openxmlformats.org/officeDocument/2006/relationships/slide" Target="/ppt/slides/slide69.xml" Id="R31d8dbd9c630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552cb122e48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4071d737e40e7" /><Relationship Type="http://schemas.openxmlformats.org/officeDocument/2006/relationships/notesMaster" Target="/ppt/notesMasters/notesMaster1.xml" Id="R0eea492d422f42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639e76744e4981" /><Relationship Type="http://schemas.openxmlformats.org/officeDocument/2006/relationships/notesMaster" Target="/ppt/notesMasters/notesMaster1.xml" Id="R4500d09c232c46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713adddf1d466a" /><Relationship Type="http://schemas.openxmlformats.org/officeDocument/2006/relationships/notesMaster" Target="/ppt/notesMasters/notesMaster1.xml" Id="R890f57f4fb7a48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86d9edd9034b84" /><Relationship Type="http://schemas.openxmlformats.org/officeDocument/2006/relationships/notesMaster" Target="/ppt/notesMasters/notesMaster1.xml" Id="Rccc2d1e23fcc44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90515ddf6047e3" /><Relationship Type="http://schemas.openxmlformats.org/officeDocument/2006/relationships/notesMaster" Target="/ppt/notesMasters/notesMaster1.xml" Id="Rda4e74b4f223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e47f2657ec4ef3" /><Relationship Type="http://schemas.openxmlformats.org/officeDocument/2006/relationships/notesMaster" Target="/ppt/notesMasters/notesMaster1.xml" Id="R141ff5ca963241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a70e08f9544e43" /><Relationship Type="http://schemas.openxmlformats.org/officeDocument/2006/relationships/notesMaster" Target="/ppt/notesMasters/notesMaster1.xml" Id="Re37fcdfd3fc241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afad6ef12c4698" /><Relationship Type="http://schemas.openxmlformats.org/officeDocument/2006/relationships/notesMaster" Target="/ppt/notesMasters/notesMaster1.xml" Id="Rf39b79e27eb54e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89afcc986c4a86" /><Relationship Type="http://schemas.openxmlformats.org/officeDocument/2006/relationships/notesMaster" Target="/ppt/notesMasters/notesMaster1.xml" Id="R2775d7bfe40649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48e40624944cdc" /><Relationship Type="http://schemas.openxmlformats.org/officeDocument/2006/relationships/notesMaster" Target="/ppt/notesMasters/notesMaster1.xml" Id="Ref07877facb04b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17eb0e69e04fad" /><Relationship Type="http://schemas.openxmlformats.org/officeDocument/2006/relationships/notesMaster" Target="/ppt/notesMasters/notesMaster1.xml" Id="R401e9b255b074d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555339d1554440" /><Relationship Type="http://schemas.openxmlformats.org/officeDocument/2006/relationships/notesMaster" Target="/ppt/notesMasters/notesMaster1.xml" Id="R5f4e5cc4f9d24d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58306dcb6e46e5" /><Relationship Type="http://schemas.openxmlformats.org/officeDocument/2006/relationships/notesMaster" Target="/ppt/notesMasters/notesMaster1.xml" Id="R256329a89bb041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c9c798250c4012" /><Relationship Type="http://schemas.openxmlformats.org/officeDocument/2006/relationships/notesMaster" Target="/ppt/notesMasters/notesMaster1.xml" Id="Rbb6bed544a8d4a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fd649205f347e5" /><Relationship Type="http://schemas.openxmlformats.org/officeDocument/2006/relationships/notesMaster" Target="/ppt/notesMasters/notesMaster1.xml" Id="R1d92d8ca0af649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ac79705ab24448" /><Relationship Type="http://schemas.openxmlformats.org/officeDocument/2006/relationships/notesMaster" Target="/ppt/notesMasters/notesMaster1.xml" Id="R76edfbfc7b2e49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a6fe21a3b54a29" /><Relationship Type="http://schemas.openxmlformats.org/officeDocument/2006/relationships/notesMaster" Target="/ppt/notesMasters/notesMaster1.xml" Id="R91059e8806ca4b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8d377180f314433" /><Relationship Type="http://schemas.openxmlformats.org/officeDocument/2006/relationships/notesMaster" Target="/ppt/notesMasters/notesMaster1.xml" Id="R93c729d29c374e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4b12820c8c4640" /><Relationship Type="http://schemas.openxmlformats.org/officeDocument/2006/relationships/notesMaster" Target="/ppt/notesMasters/notesMaster1.xml" Id="R981955bc4e0941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33a0e4cb234bc3" /><Relationship Type="http://schemas.openxmlformats.org/officeDocument/2006/relationships/notesMaster" Target="/ppt/notesMasters/notesMaster1.xml" Id="Rc55005a1ba4147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41e16690cd4dc1" /><Relationship Type="http://schemas.openxmlformats.org/officeDocument/2006/relationships/notesMaster" Target="/ppt/notesMasters/notesMaster1.xml" Id="R1954c73c945c41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5188e990c24518" /><Relationship Type="http://schemas.openxmlformats.org/officeDocument/2006/relationships/notesMaster" Target="/ppt/notesMasters/notesMaster1.xml" Id="R0628bd71624f4b4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85d5e730bf4a7b" /><Relationship Type="http://schemas.openxmlformats.org/officeDocument/2006/relationships/notesMaster" Target="/ppt/notesMasters/notesMaster1.xml" Id="R9e59176aca67451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b11f061e4948b3" /><Relationship Type="http://schemas.openxmlformats.org/officeDocument/2006/relationships/notesMaster" Target="/ppt/notesMasters/notesMaster1.xml" Id="Rfea00c4541ec42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aa2676ddc66491c" /><Relationship Type="http://schemas.openxmlformats.org/officeDocument/2006/relationships/notesMaster" Target="/ppt/notesMasters/notesMaster1.xml" Id="R63f8341a6ad04c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b7ad3c179f04a67" /><Relationship Type="http://schemas.openxmlformats.org/officeDocument/2006/relationships/notesMaster" Target="/ppt/notesMasters/notesMaster1.xml" Id="R5c9c8b9d7e3449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b89e2ea511a4db7" /><Relationship Type="http://schemas.openxmlformats.org/officeDocument/2006/relationships/notesMaster" Target="/ppt/notesMasters/notesMaster1.xml" Id="Rdb16d760d98a45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0ee3616f6414fdd" /><Relationship Type="http://schemas.openxmlformats.org/officeDocument/2006/relationships/notesMaster" Target="/ppt/notesMasters/notesMaster1.xml" Id="R880fafb1ddfe41d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d84137324eb4df8" /><Relationship Type="http://schemas.openxmlformats.org/officeDocument/2006/relationships/notesMaster" Target="/ppt/notesMasters/notesMaster1.xml" Id="Rf6653abd369a4d3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5f0bfe712254a10" /><Relationship Type="http://schemas.openxmlformats.org/officeDocument/2006/relationships/notesMaster" Target="/ppt/notesMasters/notesMaster1.xml" Id="Rfd09f988c72147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9503c8001234154" /><Relationship Type="http://schemas.openxmlformats.org/officeDocument/2006/relationships/notesMaster" Target="/ppt/notesMasters/notesMaster1.xml" Id="Rcffda82ecfd44bd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40c4765c20d4769" /><Relationship Type="http://schemas.openxmlformats.org/officeDocument/2006/relationships/notesMaster" Target="/ppt/notesMasters/notesMaster1.xml" Id="Re72366462d56439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2f5c9a923064b78" /><Relationship Type="http://schemas.openxmlformats.org/officeDocument/2006/relationships/notesMaster" Target="/ppt/notesMasters/notesMaster1.xml" Id="R58ee6730193e4d2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4fab1faff414d7d" /><Relationship Type="http://schemas.openxmlformats.org/officeDocument/2006/relationships/notesMaster" Target="/ppt/notesMasters/notesMaster1.xml" Id="R5f9866feaea849f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9bbc0ca3adc456c" /><Relationship Type="http://schemas.openxmlformats.org/officeDocument/2006/relationships/notesMaster" Target="/ppt/notesMasters/notesMaster1.xml" Id="Rc4b0142fe6bc4ee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44a3bf4bfb1482f" /><Relationship Type="http://schemas.openxmlformats.org/officeDocument/2006/relationships/notesMaster" Target="/ppt/notesMasters/notesMaster1.xml" Id="Rd33dc698514049b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1113bee99ef4780" /><Relationship Type="http://schemas.openxmlformats.org/officeDocument/2006/relationships/notesMaster" Target="/ppt/notesMasters/notesMaster1.xml" Id="R6d11525bc74545d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8e3a32c4a1e4cb5" /><Relationship Type="http://schemas.openxmlformats.org/officeDocument/2006/relationships/notesMaster" Target="/ppt/notesMasters/notesMaster1.xml" Id="R916632676f1b47d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437dbaf28414481" /><Relationship Type="http://schemas.openxmlformats.org/officeDocument/2006/relationships/notesMaster" Target="/ppt/notesMasters/notesMaster1.xml" Id="Ref4bd875cfad4e1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58626e772c5443c" /><Relationship Type="http://schemas.openxmlformats.org/officeDocument/2006/relationships/notesMaster" Target="/ppt/notesMasters/notesMaster1.xml" Id="R622cbe834a1f495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6b56acb3d5e4ad1" /><Relationship Type="http://schemas.openxmlformats.org/officeDocument/2006/relationships/notesMaster" Target="/ppt/notesMasters/notesMaster1.xml" Id="Rc6bea7fd735a410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2880fd04a3a4706" /><Relationship Type="http://schemas.openxmlformats.org/officeDocument/2006/relationships/notesMaster" Target="/ppt/notesMasters/notesMaster1.xml" Id="R097c275d58ab42d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6032555b2424961" /><Relationship Type="http://schemas.openxmlformats.org/officeDocument/2006/relationships/notesMaster" Target="/ppt/notesMasters/notesMaster1.xml" Id="Reefbbaa0b8f34e4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03eb1dc4b9b4723" /><Relationship Type="http://schemas.openxmlformats.org/officeDocument/2006/relationships/notesMaster" Target="/ppt/notesMasters/notesMaster1.xml" Id="R9f601f8ec2dc425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005b983a9a74eb4" /><Relationship Type="http://schemas.openxmlformats.org/officeDocument/2006/relationships/notesMaster" Target="/ppt/notesMasters/notesMaster1.xml" Id="Ref183417e7574e9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8e0e7184dc7427e" /><Relationship Type="http://schemas.openxmlformats.org/officeDocument/2006/relationships/notesMaster" Target="/ppt/notesMasters/notesMaster1.xml" Id="Rac44a1e0978848f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21b62014a114b49" /><Relationship Type="http://schemas.openxmlformats.org/officeDocument/2006/relationships/notesMaster" Target="/ppt/notesMasters/notesMaster1.xml" Id="Rf3a9bea622aa447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090b43f8c9c4ebd" /><Relationship Type="http://schemas.openxmlformats.org/officeDocument/2006/relationships/notesMaster" Target="/ppt/notesMasters/notesMaster1.xml" Id="Reb1ab6b77c5c449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d3de9c6dcf644fd" /><Relationship Type="http://schemas.openxmlformats.org/officeDocument/2006/relationships/notesMaster" Target="/ppt/notesMasters/notesMaster1.xml" Id="R2d6f2b02ac5b442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039c8c20cd148fd" /><Relationship Type="http://schemas.openxmlformats.org/officeDocument/2006/relationships/notesMaster" Target="/ppt/notesMasters/notesMaster1.xml" Id="R15f66c4ab656479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90f8bf81e424bdd" /><Relationship Type="http://schemas.openxmlformats.org/officeDocument/2006/relationships/notesMaster" Target="/ppt/notesMasters/notesMaster1.xml" Id="R48c29b0ff2cf4df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c4abc872dac4ae1" /><Relationship Type="http://schemas.openxmlformats.org/officeDocument/2006/relationships/notesMaster" Target="/ppt/notesMasters/notesMaster1.xml" Id="Rdb41b358bb434cb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4b49ce581614583" /><Relationship Type="http://schemas.openxmlformats.org/officeDocument/2006/relationships/notesMaster" Target="/ppt/notesMasters/notesMaster1.xml" Id="R98bdf7d25b814a7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416536aff9040ce" /><Relationship Type="http://schemas.openxmlformats.org/officeDocument/2006/relationships/notesMaster" Target="/ppt/notesMasters/notesMaster1.xml" Id="R2a1e6ce5746644c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0aecb396fd14ade" /><Relationship Type="http://schemas.openxmlformats.org/officeDocument/2006/relationships/notesMaster" Target="/ppt/notesMasters/notesMaster1.xml" Id="R7e2ebe6c70f04dc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1cef6189a7a43f6" /><Relationship Type="http://schemas.openxmlformats.org/officeDocument/2006/relationships/notesMaster" Target="/ppt/notesMasters/notesMaster1.xml" Id="R073e4adf9f0a48a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5fd121ab7a243f3" /><Relationship Type="http://schemas.openxmlformats.org/officeDocument/2006/relationships/notesMaster" Target="/ppt/notesMasters/notesMaster1.xml" Id="Re143c8de6fba497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c6c92bcb8a443b6" /><Relationship Type="http://schemas.openxmlformats.org/officeDocument/2006/relationships/notesMaster" Target="/ppt/notesMasters/notesMaster1.xml" Id="R799eb8ba53f04bc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be66972f29b4d0f" /><Relationship Type="http://schemas.openxmlformats.org/officeDocument/2006/relationships/notesMaster" Target="/ppt/notesMasters/notesMaster1.xml" Id="R1211e4f335c04de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8844b59f52f49c4" /><Relationship Type="http://schemas.openxmlformats.org/officeDocument/2006/relationships/notesMaster" Target="/ppt/notesMasters/notesMaster1.xml" Id="R00b9ca87e7734c8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e0c54cb25604fcf" /><Relationship Type="http://schemas.openxmlformats.org/officeDocument/2006/relationships/notesMaster" Target="/ppt/notesMasters/notesMaster1.xml" Id="R2d87deb27bdf416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b1323c8d91441c0" /><Relationship Type="http://schemas.openxmlformats.org/officeDocument/2006/relationships/notesMaster" Target="/ppt/notesMasters/notesMaster1.xml" Id="Rf2f4ccfa30ed4e1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0a8d0d97c7643ec" /><Relationship Type="http://schemas.openxmlformats.org/officeDocument/2006/relationships/notesMaster" Target="/ppt/notesMasters/notesMaster1.xml" Id="Ra77ac1e86743406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162f6d98925f4b1c" /><Relationship Type="http://schemas.openxmlformats.org/officeDocument/2006/relationships/notesMaster" Target="/ppt/notesMasters/notesMaster1.xml" Id="Rb5c2a28e6568416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c7893ca0e394225" /><Relationship Type="http://schemas.openxmlformats.org/officeDocument/2006/relationships/notesMaster" Target="/ppt/notesMasters/notesMaster1.xml" Id="Rb6da2b6b2a914a8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94a28107d7540c6" /><Relationship Type="http://schemas.openxmlformats.org/officeDocument/2006/relationships/notesMaster" Target="/ppt/notesMasters/notesMaster1.xml" Id="R3411b80299c34178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dd16c83e4f04c0f" /><Relationship Type="http://schemas.openxmlformats.org/officeDocument/2006/relationships/notesMaster" Target="/ppt/notesMasters/notesMaster1.xml" Id="R47aafd7e6ab4403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281f031ad1741c6" /><Relationship Type="http://schemas.openxmlformats.org/officeDocument/2006/relationships/notesMaster" Target="/ppt/notesMasters/notesMaster1.xml" Id="Rbf54c2ba435c4ed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af29c23bc8e4e29" /><Relationship Type="http://schemas.openxmlformats.org/officeDocument/2006/relationships/notesMaster" Target="/ppt/notesMasters/notesMaster1.xml" Id="Rdb061005cc6e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State management avanzato. Lo scopo non è aggiungere librerie, ma imparare a distinguere categorie di stato che hanno cicli di vita e proprietari differenti.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Presenta il modulo come una sequenza di decisioni: che cosa ricordare, chi lo possiede e come sincronizzarlo.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Lo stato non è un posto: è una responsabilità. Molti problemi attribuiti a React nascono da una classificazione sbagliata. Un filtro locale, una sessione persistente e una risposta API non richiedono lo stesso meccanismo.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Collega sempre la scelta al caso della dashboard, così la regola resta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Sette decisioni costruiscono un flusso prevedibile. La progressione parte dalla domanda più importante, dove deve vivere il dato, e termina con il caso più delicato, cambiare subito la UI prima della conferma del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Anticipa che ogni sezione risolve una domanda lasciata aperta dalla precedente.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Caso guida: Operations Dashboard. I partecipanti devono riconoscere almeno quattro categorie: filtri UI, ticket remoti, preferenze persistenti e stato della richiesta.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Durante il modulo torna su questo scenario: filtri, lista e mutazioni devono rimanere coerenti anche quando la rete fallisce.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Tassonomia e ownership. La domanda guida è: chi deve conoscere questo valore e per quanto tempo?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il separatore per fare una breve pausa e dichiarare la domanda che guiderà la sezione.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L’ownership indica chi può decidere il prossimo valore. Possedere uno stato significa definirne valore iniziale, transizioni e durata. Condividerlo non significa duplicarlo.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Collega sempre la scelta al caso della dashboard, così la regola resta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Cinque categorie richiedono cinque strategie diverse. La categoria non descrive la dimensione del dato, ma la sua autorità. Un oggetto grande può essere locale; una stringa può essere globale.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 leggere la tabella riga per riga. Scegli due casi opposti, spiegali, poi usa gli altri come verifica.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Locale e globale descrivono il raggio, non il valore. Il percorso sano è iniziare locale e sollevare lo stato al genitore comune quando emerge una necessità reale.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prima il contrasto, poi il criterio nel footer: è quello che gli sviluppatori devono riusare in code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Lo stato locale resta vicino all’interazione. Questo esempio mostra una regola preziosa: non rendere globale uno stato solo perché la tecnologia lo permette.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Lo stato derivato si calcola durante il render. React raccomanda di evitare stato ridondante. Qui visibleTickets è una proiezione, non una nuova fonte di verità.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Duplicare un valore derivato crea due verità. Nel prima basta dimenticare un setVisible per mostrare dati vecchi. Nel dopo non esiste una seconda copia da sincronizzare.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Chiedi quale delle due versioni può produrre due fonti di verità. La risposta introduce il vantaggio del dopo.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Persistenza non trasforma il dato in server state. Sottolinea che localStorage è sincrono e legato all’origine. È adatto a piccole preferenze, non a una cache aziendale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Il server state è una copia osservata di un sistema remoto. A differenza del client state, il server state può diventare stale senza alcuna interazione locale. Per questo servono cache, refresh e invalidazione.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Collega sempre la scelta al caso della dashboard, così la regola resta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domande sono cinque e vanno applicate in quest’ordine. Prima verifichiamo se il backend è la fonte autorevole; poi eliminiamo ciò che può essere calcolato; infine decidiamo durata e raggio. In questo modo la scelta del meccanismo arriva come conseguenza, non come preferenza.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Checklist di ownership prima di aggiungere uno store. Queste sei domande evitano la scelta per abitudine. Se non sappiamo rispondere, non siamo pronti a scegliere la tecnologia.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la checklist come strumento operativo: ogni punto deve poter ricevere una risposta sì o no durante una pull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Context API con confini. La domanda guida è: quale sottoalbero deve ricevere questo contratto?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il separatore per fare una breve pausa e dichiarare la domanda che guiderà la sezione.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Context distribuisce un contratto al sottoalbero. Context risolve il trasporto delle dipendenze. Non risolve automaticamente cache, transazioni o selezione granulare.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Collega sempre la scelta al caso della dashboard, così la regola resta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Usa Context per dipendenze stabili e realmente condivise. Non basta che un dato sia usato in due punti. Serve un contratto stabile e un raggio coerente.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prima il contrasto, poi il criterio nel footer: è quello che gli sviluppatori devono riusare in code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Il prop drilling crea dipendenze artificiali. Spiega che passare props resta la soluzione più esplicita quando la catena è breve. Context diventa utile quando gli intermedi non partecipano al contratto.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Un custom hook rende obbligatoria la presenza del provider. Questo pattern evita default fittizi che nascondono errori di composizione e rende più leggibili i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Separare lettura e dispatch riduce dipendenze inutili. La separazione non è un rituale. È utile quando molti componenti usano solo dispatch e non devono ridisegnarsi a ogni cambio.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prima il contrasto, poi il criterio nel footer: è quello che gli sviluppatori devono riusare in code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provider è il confine pubblico della feature: possiede il reducer, ma ai consumatori espone soltanto state e dispatch. La sintassi compatta &lt;StateContext value={state}&gt; richiede React 19; con React 18 lo stesso esempio usa &lt;StateContext.Provider value={state}&gt;.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il problema non sono due fonti di verità, ma l’identità referenziale. Un nuovo oggetto value fa aggiornare i consumer anche quando user e logout sono invariati. useMemo può stabilizzarlo, ma soltanto se anche logout è stabile e il profiler dimostra che il costo merita questa complessità.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Checklist Context: il confine viene prima del provider. L’ultimo punto è intenzionalmente provocatorio: Context può trasportare dati remoti, ma non offre politiche di freschezza o deduplicazione.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la checklist come strumento operativo: ogni punto deve poter ricevere una risposta sì o no durante una pull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useReducer e transizioni. La domanda guida è: quali eventi legittimi trasformano lo stato?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il separatore per fare una breve pausa e dichiarare la domanda che guiderà la sezione.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Un reducer rende esplicita la funzione di transizione. useReducer non rende semplice una logica confusa. Costringe però a nominare eventi e a concentrare le transizioni in un punto verificabile.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Collega sempre la scelta al caso della dashboard, così la regola resta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Le action descrivono eventi, non setter. Un’azione deve raccontare che cosa è accaduto. Il reducer decide quali campi cambiano insieme.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 leggere la tabella riga per riga. Scegli due casi opposti, spiegali, poi usa gli altri come verifica.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Uno stato valido elimina combinazioni contraddittorie. La struttura dello state deve rendere impossibili, o almeno difficili, le combinazioni che la UI non sa rappresentare.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 leggere la tabella riga per riga. Scegli due casi opposti, spiegali, poi usa gli altri come verifica.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Molti setter distribuiscono una sola transizione. Quando più campi cambiano sempre insieme per lo stesso evento, un reducer rende la transizione atomica dal punto di vista del modello.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Una union discriminata descrive solo gli stati ammessi. TypeScript può ora aiutare il rendering: nel ramo success data esiste, nel ramo error esiste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reducer concentra una regola che prima era distribuita tra più setter. Con una union discriminata di Action, assertNever rende il caso di default un controllo di esaustività: aggiungere una nuova action senza gestirla produce un errore di TypeScript invece di essere ignorato in silenzio.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 spread del vecchio state sarebbe pericoloso perché potrebbe trascinare data dentro error o error dentro success. Qui ogni ramo costruisce una variante completa della union. getData legge i dati precedenti soltanto dagli stati che li possiedono e rende esplicita la scelta di conservarli durante refresh ed errore.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useReducer collega modello e UI senza esporre setter. L’handler resta vicino all’interazione, mentre la regola di dominio rimane nel reducer e può essere testata senza renderizzare React.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Seguiamo il percorso senza confonderlo con il flusso asincrono. L’evento nasce nella UI, diventa un’action, il reducer calcola il prossimo snapshot e React esegue il render. Questa separazione consente di testare la trasformazione senza DOM e di ricostruire quale evento ha prodotto uno stato.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Reducer e Context insieme creano uno store confinato alla feature, non uno stato globale per tutta l’applicazione. Anche qui la sintassi che usa direttamente il Context come provider è di React 19; in React 18 si aggiunge .Provider ai due componenti di contesto.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Il reducer si testa come una funzione pura. Fai notare che il nome del test esprime comportamento aziendale. Non stiamo testando switch, stiamo proteggendo una regola.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Checklist reducer: transizioni leggibili e verificabili. Un reducer è utile quando migliora il vocabolario del dominio. Se aggiunge solo cerimonia a un booleano, useState resta migliore.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la checklist come strumento operativo: ogni punto deve poter ricevere una risposta sì o no durante una pull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Stati asincroni coerenti. La domanda guida è: che cosa sa l’interfaccia in questo preciso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il separatore per fare una breve pausa e dichiarare la domanda che guiderà la sezione.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macchina ha quattro stati tecnici principali: idle, loading, success ed error. Empty non è un fallimento, ma un success con collezione vuota; refreshing significa invece che esistono dati utilizzabili mentre una nuova richiesta è in corso. Separare stato tecnico e condizione visiva evita combinazioni contraddittorie.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Il flusso asincrono possiede rami di recupero. Non presentare il diagramma come un percorso lineare. Evidenzia i ritorni: un’applicazione reale aggiorna, fallisce e riprova.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 le frecce senza saltare fasi. Il valore del modello è rendere esplicito dove può fallire o essere annullata l’operazione.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Loading e refreshing richiedono feedback diversi. Questa distinzione evita il flicker e permette all’utente di continuare a leggere mentre arriva una versione più fresca.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prima il contrasto, poi il criterio nel footer: è quello che gli sviluppatori devono riusare in code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Ogni stato asincrono ha una resa intenzionale. Empty non è un errore tecnico. Deve spiegare perché non ci sono risultati e offrire l’azione più utile.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 leggere la tabella riga per riga. Scegli due casi opposti, spiegali, poi usa gli altri come verifica.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L’ordine dei controlli produce anche il narrowing di TypeScript. Dopo aver gestito idle, loading ed error, resta soltanto success e quindi data esiste sicuramente. A quel punto una lunghezza pari a zero genera l’empty state; altrimenti possiamo renderizzare la lista.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retry ripete la stessa intenzione e riutilizza i filtri della richiesta fallita. In TypeScript una variabile catturata da catch è unknown: toAppError la trasforma nel contratto AppError previsto dall’action prima di entrare nel reducer.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cleanup annulla la richiesta precedente quando cambiano i filtri o il componente viene smontato. Il type guard isAbortError distingue l’annullamento, che non va mostrato come errore, da un fallimento reale. Ricordiamo inoltre che fetch non rifiuta per 404 o 500: quel controllo resta nel client API tramite response.ok.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Fetch, cache e invalidazione. La domanda guida è: dove separiamo trasporto, trasformazione, cache e rendering?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il separatore per fare una breve pausa e dichiarare la domanda che guiderà la sezione.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Fetching e rendering cambiano per ragioni diverse. La separazione consente di cambiare endpoint o formato senza riscrivere i componenti e di testare la UI con stati già modellati.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prima il contrasto, poi il criterio nel footer: è quello che gli sviluppatori devono riusare in code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Il client API traduce HTTP in un contratto applicativo. Questo confine è il posto giusto per normalizzare errori, date, nomi di campo e valori mancanti.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Un adapter protegge il dominio dal formato remoto. Evita di distribuire conversioni nei componenti. Quando il backend cambia, un solo adapter assorbe la differenza.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Un hook orchestra il ciclo senza mescolare il markup. Il custom hook è ancora una cache per istanza. Due componenti che lo usano possono fare due richieste: questa osservazione introduce la server cache.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Una server cache conserva dati per chiave e politica. La cache non sostituisce il backend come fonte autorevole. Riduce richieste duplicate e permette di mostrare dati noti mentre avviene il refresh.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Collega sempre la scelta al caso della dashboard, così la regola resta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Query key e query function devono descrivere la stessa richiesta. Status, ownerId e page partecipano sia all’identità della cache sia ai parametri inviati al servizio; il signal fornito da TanStack Query consente inoltre di annullare una query diventata obsoleta.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Invalidare dichiara quali dati sono stale. Invalidazione non cancella necessariamente i dati. Li marca come potenzialmente stale e consente una risincronizzazione.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 leggere la tabella riga per riga. Scegli due casi opposti, spiegali, poi usa gli altri come verifica.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Il refresh deve seguire il costo e la volatilità del dato. Non esiste una policy unica. Dati stabili possono vivere a lungo; dashboard operative richiedono una freschezza più aggressiva.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 leggere la tabella riga per riga. Scegli due casi opposti, spiegali, poi usa gli altri come verifica.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TanStack Query esplicita chiave, funzione e freschezza. Non presentare la libreria come magia. Il valore nasce dall’aver reso esplicite decisioni che altrimenti sarebbero sparse in Effect e state locali.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Optimistic update e rollback. La domanda guida è: come torniamo a uno stato coerente se il server rifiuta?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il separatore per fare una breve pausa e dichiarare la domanda che guiderà la sezione.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Un optimistic update modifica la UI prima della conferma. È appropriato per operazioni frequenti, prevedibili e facilmente reversibili. Non per azioni irreversibili o ad alto rischio.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Collega sempre la scelta al caso della dashboard, così la regola resta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L’update ottimistico è una transazione lato interfaccia. Segui entrambi i rami: confirm mantiene o sostituisce il dato ottimistico; error ripristina lo snapshot e comunica il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 le frecce senza saltare fasi. Il valore del modello è rendere esplicito dove può fallire o essere annullata l’operazione.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Snapshot prima, cache ottimistica dopo. Evidenzia che previous deve appartenere alla stessa key che stiamo modificando. Se esistono più liste, il piano deve includerle o invalidarle.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In caso di errore ripristiniamo; alla fine invalidiamo. Mostra la differenza tra ripristino e refetch. Il rollback è immediato; il refetch riconcilia eventuali cambi concorrenti sul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useMutation formalizza il ciclo ottimistico. La cancellazione evita che un refetch già in corso sovrascriva l’update ottimistico prima della risposta della mutation.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onError e onSettled chiudono la transazione. Se più mutation concorrenti toccano la stessa entità, uno snapshot globale può non bastare. Serve una strategia per ordine, versione o merge.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Leggi il codice dall’alto verso il basso e verbalizza il commento: il commento spiega la responsabilità, non la sintassi.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La concorrenza richiede protezioni oltre al rollback. Optimistic update è una scelta di UX con conseguenze distribuite. La reversibilità deve essere progettata prima del codice.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 leggere la tabella riga per riga. Scegli due casi opposti, spiegali, poi usa gli altri come verifica.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mappa ricompone il modulo in un’unica feature. Un cambio filtro passa dal provider e dal reducer, modifica la query key e attiva il data layer; una modifica di priorità passa invece dalla mutation, aggiorna la cache in modo ottimistico e poi conferma o esegue rollback. Ogni livello ha una responsabilità distinta.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Laboratorio: dashboard con rete simulata. Il laboratorio deve includere latenza e fallimenti artificiali. Senza errore, retry e rollback restano soltanto codice non verificato.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la checklist come strumento operativo: ogni punto deve poter ricevere una risposta sì o no durante una pull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Mappa decisionale: scegli il minimo sufficiente. Le soluzioni si possono comporre. Un provider di feature può usare reducer per client state e query cache per server state, senza confonderli.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 leggere la tabella riga per riga. Scegli due casi opposti, spiegali, poi usa gli altri come verifica.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Checklist finale del Modulo 2. Questa checklist è l’output operativo del modulo. Invita i partecipanti a usarla sulla propria codebase, non soltanto sull’esercizio.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la checklist come strumento operativo: ogni punto deve poter ricevere una risposta sì o no durante una pull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questa idea: Uno state robusto prevede anche il fallimento. La qualità del state management si misura quando rete, utenti e aggiornamenti concorrenti mettono pressione al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Chiudi tornando alla domanda iniziale: non esiste uno store universale, esiste una responsabilità collocata nel posto corretto.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raccoglie le fonti primarie usate nel modulo. Evidenzia React per la struttura dello stato e i reducer, TanStack Query per cache e optimistic update, MDN per fetch, AbortController e persistenza browser. Invita i partecipanti a consultare prima la documentazione ufficiale e solo dopo esempi secondari.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fa8cf8f4f46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086c91687c4700" /><Relationship Type="http://schemas.openxmlformats.org/officeDocument/2006/relationships/slideLayout" Target="/ppt/slideLayouts/slideLayout1.xml" Id="R381ce9e4961543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ce9e4961543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b3dc50d5b449a" /><Relationship Type="http://schemas.openxmlformats.org/officeDocument/2006/relationships/image" Target="/ppt/media/image.png" Id="R9045a86526ba4799" /><Relationship Type="http://schemas.openxmlformats.org/officeDocument/2006/relationships/notesSlide" Target="/ppt/notesSlides/notesSlide1.xml" Id="R471f732a65d544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ee3291d96432c" /><Relationship Type="http://schemas.openxmlformats.org/officeDocument/2006/relationships/notesSlide" Target="/ppt/notesSlides/notesSlide2.xml" Id="R004cc9a87a8245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fe64ea63b487d" /><Relationship Type="http://schemas.openxmlformats.org/officeDocument/2006/relationships/notesSlide" Target="/ppt/notesSlides/notesSlide3.xml" Id="Ref1816377b6440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b3e02ae2646b2" /><Relationship Type="http://schemas.openxmlformats.org/officeDocument/2006/relationships/notesSlide" Target="/ppt/notesSlides/notesSlide4.xml" Id="Rd2de484a4d9441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a887b49e3401a" /><Relationship Type="http://schemas.openxmlformats.org/officeDocument/2006/relationships/image" Target="/ppt/media/image2.png" Id="Rd71dfb2062254009" /><Relationship Type="http://schemas.openxmlformats.org/officeDocument/2006/relationships/notesSlide" Target="/ppt/notesSlides/notesSlide5.xml" Id="R46233e4ecfc74b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5aafea57f4e98" /><Relationship Type="http://schemas.openxmlformats.org/officeDocument/2006/relationships/notesSlide" Target="/ppt/notesSlides/notesSlide6.xml" Id="Ra886c74532794b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4498e401343bc" /><Relationship Type="http://schemas.openxmlformats.org/officeDocument/2006/relationships/notesSlide" Target="/ppt/notesSlides/notesSlide7.xml" Id="R4f9dc040cf624e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4fe91c4c4e6e" /><Relationship Type="http://schemas.openxmlformats.org/officeDocument/2006/relationships/notesSlide" Target="/ppt/notesSlides/notesSlide8.xml" Id="R5ab0038a44c44a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8cd1f8647443a" /><Relationship Type="http://schemas.openxmlformats.org/officeDocument/2006/relationships/notesSlide" Target="/ppt/notesSlides/notesSlide9.xml" Id="Rfa5412aa928440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53af9cf14401a" /><Relationship Type="http://schemas.openxmlformats.org/officeDocument/2006/relationships/notesSlide" Target="/ppt/notesSlides/notesSlide10.xml" Id="R943161d4534a4a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3a7f3e00d4df0" /><Relationship Type="http://schemas.openxmlformats.org/officeDocument/2006/relationships/notesSlide" Target="/ppt/notesSlides/notesSlide11.xml" Id="Reec12cbbb6e448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4ffd20f764941" /><Relationship Type="http://schemas.openxmlformats.org/officeDocument/2006/relationships/notesSlide" Target="/ppt/notesSlides/notesSlide12.xml" Id="R7b7c86dc83a845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8a27219e04ff1" /><Relationship Type="http://schemas.openxmlformats.org/officeDocument/2006/relationships/notesSlide" Target="/ppt/notesSlides/notesSlide13.xml" Id="R5155d4be67e747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feb91fb784f5d" /><Relationship Type="http://schemas.openxmlformats.org/officeDocument/2006/relationships/notesSlide" Target="/ppt/notesSlides/notesSlide14.xml" Id="Rbd6b09dc6a7643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8dbb9694f4f80" /><Relationship Type="http://schemas.openxmlformats.org/officeDocument/2006/relationships/notesSlide" Target="/ppt/notesSlides/notesSlide15.xml" Id="Red95607d150348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3c1d8c57e4f76" /><Relationship Type="http://schemas.openxmlformats.org/officeDocument/2006/relationships/image" Target="/ppt/media/image2.png" Id="R8d4ecd072dd442b1" /><Relationship Type="http://schemas.openxmlformats.org/officeDocument/2006/relationships/notesSlide" Target="/ppt/notesSlides/notesSlide16.xml" Id="R99800760c49e44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82a04a64945fb" /><Relationship Type="http://schemas.openxmlformats.org/officeDocument/2006/relationships/notesSlide" Target="/ppt/notesSlides/notesSlide17.xml" Id="R3d8052f799bc41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413b3769d483e" /><Relationship Type="http://schemas.openxmlformats.org/officeDocument/2006/relationships/notesSlide" Target="/ppt/notesSlides/notesSlide18.xml" Id="R41e4e57712d645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9afc1479d406e" /><Relationship Type="http://schemas.openxmlformats.org/officeDocument/2006/relationships/notesSlide" Target="/ppt/notesSlides/notesSlide19.xml" Id="R9af9e999074344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1e0dd94d64bca" /><Relationship Type="http://schemas.openxmlformats.org/officeDocument/2006/relationships/notesSlide" Target="/ppt/notesSlides/notesSlide20.xml" Id="R11eda0429e9740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fdb9539f04442" /><Relationship Type="http://schemas.openxmlformats.org/officeDocument/2006/relationships/notesSlide" Target="/ppt/notesSlides/notesSlide21.xml" Id="R4e68e3f93bf143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7110fb93343d0" /><Relationship Type="http://schemas.openxmlformats.org/officeDocument/2006/relationships/notesSlide" Target="/ppt/notesSlides/notesSlide22.xml" Id="R5af42d325f314d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d57eb15bd4fac" /><Relationship Type="http://schemas.openxmlformats.org/officeDocument/2006/relationships/notesSlide" Target="/ppt/notesSlides/notesSlide23.xml" Id="Rf8db56fee05d44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9345e5be24d2f" /><Relationship Type="http://schemas.openxmlformats.org/officeDocument/2006/relationships/notesSlide" Target="/ppt/notesSlides/notesSlide24.xml" Id="R2fe129a7879c49e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3a8f804d4044" /><Relationship Type="http://schemas.openxmlformats.org/officeDocument/2006/relationships/image" Target="/ppt/media/image2.png" Id="R05adb0bbc2204a16" /><Relationship Type="http://schemas.openxmlformats.org/officeDocument/2006/relationships/notesSlide" Target="/ppt/notesSlides/notesSlide25.xml" Id="R13fc26bbbbc44b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eac922a554089" /><Relationship Type="http://schemas.openxmlformats.org/officeDocument/2006/relationships/notesSlide" Target="/ppt/notesSlides/notesSlide26.xml" Id="Rdc94e37ded414d1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59908d1864902" /><Relationship Type="http://schemas.openxmlformats.org/officeDocument/2006/relationships/notesSlide" Target="/ppt/notesSlides/notesSlide27.xml" Id="R0631d5b8c8c446f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598203de4528" /><Relationship Type="http://schemas.openxmlformats.org/officeDocument/2006/relationships/notesSlide" Target="/ppt/notesSlides/notesSlide28.xml" Id="R8e9412aeadb14b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cdf0d88d24d4f" /><Relationship Type="http://schemas.openxmlformats.org/officeDocument/2006/relationships/notesSlide" Target="/ppt/notesSlides/notesSlide29.xml" Id="R05122e02c0f2461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7c610183e4373" /><Relationship Type="http://schemas.openxmlformats.org/officeDocument/2006/relationships/notesSlide" Target="/ppt/notesSlides/notesSlide30.xml" Id="R978322074196403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011ec87a84192" /><Relationship Type="http://schemas.openxmlformats.org/officeDocument/2006/relationships/notesSlide" Target="/ppt/notesSlides/notesSlide31.xml" Id="R6dc3650ada2b4e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29772ae66423e" /><Relationship Type="http://schemas.openxmlformats.org/officeDocument/2006/relationships/notesSlide" Target="/ppt/notesSlides/notesSlide32.xml" Id="R1c98d9ee93964a0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68035fdd04744" /><Relationship Type="http://schemas.openxmlformats.org/officeDocument/2006/relationships/notesSlide" Target="/ppt/notesSlides/notesSlide33.xml" Id="R1c4857cf39204a6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edbdcca6e4fcb" /><Relationship Type="http://schemas.openxmlformats.org/officeDocument/2006/relationships/notesSlide" Target="/ppt/notesSlides/notesSlide34.xml" Id="R368efe5015ab4ba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fa8bb16bd4974" /><Relationship Type="http://schemas.openxmlformats.org/officeDocument/2006/relationships/notesSlide" Target="/ppt/notesSlides/notesSlide35.xml" Id="R569dbdbdbd92482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7bed786c740ce" /><Relationship Type="http://schemas.openxmlformats.org/officeDocument/2006/relationships/notesSlide" Target="/ppt/notesSlides/notesSlide36.xml" Id="R67d649c633a64f4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09f4188e6472a" /><Relationship Type="http://schemas.openxmlformats.org/officeDocument/2006/relationships/notesSlide" Target="/ppt/notesSlides/notesSlide37.xml" Id="R9314d8935fed433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86023709044e1" /><Relationship Type="http://schemas.openxmlformats.org/officeDocument/2006/relationships/image" Target="/ppt/media/image2.png" Id="Rc5cc75d6fb3047d4" /><Relationship Type="http://schemas.openxmlformats.org/officeDocument/2006/relationships/notesSlide" Target="/ppt/notesSlides/notesSlide38.xml" Id="R8d97d28583d44f5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0e4fd2abd401b" /><Relationship Type="http://schemas.openxmlformats.org/officeDocument/2006/relationships/notesSlide" Target="/ppt/notesSlides/notesSlide39.xml" Id="R7a3b5db7d57b48c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2b34b07c74c79" /><Relationship Type="http://schemas.openxmlformats.org/officeDocument/2006/relationships/notesSlide" Target="/ppt/notesSlides/notesSlide40.xml" Id="R215a289b36e041a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72500ae164246" /><Relationship Type="http://schemas.openxmlformats.org/officeDocument/2006/relationships/notesSlide" Target="/ppt/notesSlides/notesSlide41.xml" Id="R8542c0e65e1b4da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27a7c1d7c475e" /><Relationship Type="http://schemas.openxmlformats.org/officeDocument/2006/relationships/notesSlide" Target="/ppt/notesSlides/notesSlide42.xml" Id="R0318126f62944e2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cc2589b8c444b" /><Relationship Type="http://schemas.openxmlformats.org/officeDocument/2006/relationships/notesSlide" Target="/ppt/notesSlides/notesSlide43.xml" Id="R926a079b145a40c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b43e40ced44ee" /><Relationship Type="http://schemas.openxmlformats.org/officeDocument/2006/relationships/notesSlide" Target="/ppt/notesSlides/notesSlide44.xml" Id="R2f4bd1da6d974a3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0bb18f43d46ad" /><Relationship Type="http://schemas.openxmlformats.org/officeDocument/2006/relationships/notesSlide" Target="/ppt/notesSlides/notesSlide45.xml" Id="Rbb56aceaa58c460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1ee2668b3469f" /><Relationship Type="http://schemas.openxmlformats.org/officeDocument/2006/relationships/image" Target="/ppt/media/image2.png" Id="R4b5b57fd125e4e79" /><Relationship Type="http://schemas.openxmlformats.org/officeDocument/2006/relationships/notesSlide" Target="/ppt/notesSlides/notesSlide46.xml" Id="R5008b88f88a046d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cf1f34ae84933" /><Relationship Type="http://schemas.openxmlformats.org/officeDocument/2006/relationships/notesSlide" Target="/ppt/notesSlides/notesSlide47.xml" Id="R039df679f2d94f4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5282e393d46a1" /><Relationship Type="http://schemas.openxmlformats.org/officeDocument/2006/relationships/notesSlide" Target="/ppt/notesSlides/notesSlide48.xml" Id="Re6741e7951944d1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84382606847b6" /><Relationship Type="http://schemas.openxmlformats.org/officeDocument/2006/relationships/notesSlide" Target="/ppt/notesSlides/notesSlide49.xml" Id="Raf9991e742bc4d6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6361fec734c45" /><Relationship Type="http://schemas.openxmlformats.org/officeDocument/2006/relationships/notesSlide" Target="/ppt/notesSlides/notesSlide50.xml" Id="R37c73ed9cde5467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c5de534b14679" /><Relationship Type="http://schemas.openxmlformats.org/officeDocument/2006/relationships/notesSlide" Target="/ppt/notesSlides/notesSlide51.xml" Id="Ra8e7630653db46b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8322c56f94e52" /><Relationship Type="http://schemas.openxmlformats.org/officeDocument/2006/relationships/notesSlide" Target="/ppt/notesSlides/notesSlide52.xml" Id="Rda76092dcae0453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6f3faf29c41ba" /><Relationship Type="http://schemas.openxmlformats.org/officeDocument/2006/relationships/notesSlide" Target="/ppt/notesSlides/notesSlide53.xml" Id="R4f053f4d1615479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bf35206074df4" /><Relationship Type="http://schemas.openxmlformats.org/officeDocument/2006/relationships/notesSlide" Target="/ppt/notesSlides/notesSlide54.xml" Id="Rd67d8b207494476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f4620129249b4" /><Relationship Type="http://schemas.openxmlformats.org/officeDocument/2006/relationships/notesSlide" Target="/ppt/notesSlides/notesSlide55.xml" Id="R7a2cae6923c44a8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40a359e7341f2" /><Relationship Type="http://schemas.openxmlformats.org/officeDocument/2006/relationships/image" Target="/ppt/media/image2.png" Id="Rf2a240853a6e4083" /><Relationship Type="http://schemas.openxmlformats.org/officeDocument/2006/relationships/notesSlide" Target="/ppt/notesSlides/notesSlide56.xml" Id="R918e4442844a41b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429a0fbd849d6" /><Relationship Type="http://schemas.openxmlformats.org/officeDocument/2006/relationships/notesSlide" Target="/ppt/notesSlides/notesSlide57.xml" Id="Rac4048584dd3419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0e787f533480b" /><Relationship Type="http://schemas.openxmlformats.org/officeDocument/2006/relationships/notesSlide" Target="/ppt/notesSlides/notesSlide58.xml" Id="Rf5480e9a88d546c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ac0363fad45a2" /><Relationship Type="http://schemas.openxmlformats.org/officeDocument/2006/relationships/notesSlide" Target="/ppt/notesSlides/notesSlide59.xml" Id="R83f229b8961f440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82f6aaf834fc6" /><Relationship Type="http://schemas.openxmlformats.org/officeDocument/2006/relationships/notesSlide" Target="/ppt/notesSlides/notesSlide60.xml" Id="R49d6d5659e374c2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db222450b42f2" /><Relationship Type="http://schemas.openxmlformats.org/officeDocument/2006/relationships/notesSlide" Target="/ppt/notesSlides/notesSlide61.xml" Id="Rff9affcde308482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778aed0d748be" /><Relationship Type="http://schemas.openxmlformats.org/officeDocument/2006/relationships/notesSlide" Target="/ppt/notesSlides/notesSlide62.xml" Id="Re420422f89ae451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1c92aafad475d" /><Relationship Type="http://schemas.openxmlformats.org/officeDocument/2006/relationships/notesSlide" Target="/ppt/notesSlides/notesSlide63.xml" Id="R7e7d2bdd1797469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9a7f70910409d" /><Relationship Type="http://schemas.openxmlformats.org/officeDocument/2006/relationships/notesSlide" Target="/ppt/notesSlides/notesSlide64.xml" Id="R2056aebac9f546dd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7f8013cb44492" /><Relationship Type="http://schemas.openxmlformats.org/officeDocument/2006/relationships/notesSlide" Target="/ppt/notesSlides/notesSlide65.xml" Id="R18dc8a5e14c344c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9357ef8fe4cb9" /><Relationship Type="http://schemas.openxmlformats.org/officeDocument/2006/relationships/notesSlide" Target="/ppt/notesSlides/notesSlide66.xml" Id="Rc39476acfbe54f3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4019f1f604e82" /><Relationship Type="http://schemas.openxmlformats.org/officeDocument/2006/relationships/notesSlide" Target="/ppt/notesSlides/notesSlide67.xml" Id="R2a3f70d497ba471e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2b0368daf4141" /><Relationship Type="http://schemas.openxmlformats.org/officeDocument/2006/relationships/notesSlide" Target="/ppt/notesSlides/notesSlide68.xml" Id="R606f6ad0024a4f1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fc38dc4ab47ff" /><Relationship Type="http://schemas.openxmlformats.org/officeDocument/2006/relationships/notesSlide" Target="/ppt/notesSlides/notesSlide69.xml" Id="R8c34b4aff62c4a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5a86526ba47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333D9-295F-45F3-9B56-0BF3FA33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B72E3-7584-486D-8CEB-9E95826B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66EEC-6080-4947-8ACD-C88A46B8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3A0FF"/>
                </a:solidFill>
              </a:defRPr>
            </a:pPr>
            <a:r>
              <a:rPr sz="1125" b="1">
                <a:solidFill>
                  <a:srgbClr val="73A0FF"/>
                </a:solidFill>
              </a:rPr>
              <a:t>MODULO 2 · 4 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B42A0-4452-41E7-A2B9-D08F6255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4F7FB"/>
                </a:solidFill>
              </a:defRPr>
            </a:pPr>
            <a:r>
              <a:rPr sz="4350" b="1">
                <a:solidFill>
                  <a:srgbClr val="F4F7FB"/>
                </a:solidFill>
              </a:rPr>
              <a:t>State management avanzato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6D7F9-1C5B-4563-9821-C041DADA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7C8"/>
                </a:solidFill>
              </a:defRPr>
            </a:pPr>
            <a:r>
              <a:rPr sz="1800" b="0">
                <a:solidFill>
                  <a:srgbClr val="A9B7C8"/>
                </a:solidFill>
              </a:rPr>
              <a:t>Ownership, Context, reducer, stati asincroni, cache, invalidazione e rollback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60297-2DBF-4DB3-A2A5-1054F934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8298"/>
                </a:solidFill>
              </a:defRPr>
            </a:pPr>
            <a:r>
              <a:rPr sz="1200" b="0">
                <a:solidFill>
                  <a:srgbClr val="6F8298"/>
                </a:solidFill>
              </a:rPr>
              <a:t>Corso intermedio-avanzato · React + TypeScript</a:t>
            </a:r>
          </a:p>
        </p:txBody>
      </p:sp>
    </p:spTree>
    <p:extLst>
      <p:ext uri="{BB962C8B-B14F-4D97-AF65-F5344CB8AC3E}">
        <p14:creationId xmlns:p14="http://schemas.microsoft.com/office/powerpoint/2010/main" val="70063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B8456-D5AC-402A-B583-B7DFABC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111EE-4EDB-455F-88A2-2B8BCA94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14724-AF9E-42EF-9719-A51FE579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Lo stato non è un posto: è una responsabilità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83361-519F-405F-B1D6-7EE24E55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D05AF-F63F-4EDB-85D9-C37940D0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6DBB0-F770-4926-BE7D-B19403A6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7F4A6-17F4-4241-BC33-24D3C3A8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</a:rPr>
              <a:t>Prima di scegliere uno store, stabilisci chi possiede il dato, quanto dura e chi può modificarlo.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AF239-9CCE-4EEA-9327-4FE2F6CF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E155A-411B-47D9-B3A6-3E9F31DB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PRINCIPIO GUIDA</a:t>
            </a:r>
          </a:p>
        </p:txBody>
      </p:sp>
    </p:spTree>
    <p:extLst>
      <p:ext uri="{BB962C8B-B14F-4D97-AF65-F5344CB8AC3E}">
        <p14:creationId xmlns:p14="http://schemas.microsoft.com/office/powerpoint/2010/main" val="2802444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53AEB-7338-4B9C-9A29-13085185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6D56A-B170-40AE-9B20-C5C42766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B094D-785F-447A-B09B-4FCD975C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Sette decisioni costruiscono un flusso prevedibile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F9783-F71F-436B-9AC2-C95CD04A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61878-20A7-48CD-8237-53F1ADC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93F0F-E992-473E-89C8-15AA54F3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667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1DB24-2682-499D-91C9-A0C0D8FF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MAPPA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DEL MODULO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BC758-E6F6-434D-952D-8D98A75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7C8"/>
                </a:solidFill>
              </a:defRPr>
            </a:pPr>
            <a:r>
              <a:rPr sz="1425" b="0">
                <a:solidFill>
                  <a:srgbClr val="A9B7C8"/>
                </a:solidFill>
              </a:rPr>
              <a:t>Ogni scelta riduce una diversa forma di incoerenza.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AD192-E711-461B-BC0A-89D3658A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85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613B5-DFA5-4F43-A1C5-E990D7BF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002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1. Tassonomia e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58AE8-88AE-420A-B079-1095AA5D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57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987F5-7966-4AF4-8002-3E5309F4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2. Context con confini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B8D8E-650E-4A8E-BD87-DC6E2DD9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28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01410-857F-4220-B810-0514C93A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432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3. Reducer e transizioni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03CFB-FF27-4521-9CBD-6E390B24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5A76F-F061-416E-8FE2-CFF2D299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147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4. Stati asincroni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563D0-91B8-42FB-8DF0-762BF8A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5A8F4-076C-46B9-B7D3-9EB7105D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5. Fetch e trasformazione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B57B9-C69E-4DEB-878B-177D333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6F425-B1C7-422A-8E4F-98389371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577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6. Cache e invalidazione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C1EFF-827A-4577-9D01-D3270950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4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B5235-C161-4767-91F0-6F637A73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292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7. Optimistic update</a:t>
            </a:r>
          </a:p>
        </p:txBody>
      </p:sp>
    </p:spTree>
    <p:extLst>
      <p:ext uri="{BB962C8B-B14F-4D97-AF65-F5344CB8AC3E}">
        <p14:creationId xmlns:p14="http://schemas.microsoft.com/office/powerpoint/2010/main" val="1310811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D4FDD-6295-4183-98B2-840B72D5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05248-5738-4420-A40A-581E007D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20111-CF17-4CC4-A77A-823960C3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Caso guida: Operations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B69F1-E13E-4F6A-B9B5-1F3810DC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90EA5-9359-464F-8A0E-77B12B30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B418E-0668-42AB-B481-CA51EBEE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4F7FB"/>
                </a:solidFill>
              </a:defRPr>
            </a:pPr>
            <a:r>
              <a:rPr sz="2325" b="1">
                <a:solidFill>
                  <a:srgbClr val="F4F7FB"/>
                </a:solidFill>
              </a:rPr>
              <a:t>Una dashboard filtra ticket, carica pagine remote, modifica priorità e conserva alcune preferenze.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E3F35-3824-45F7-9932-A20148CD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4267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F853D-59EF-4C63-BEAF-E875D1CD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33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48A36-F6B4-4B5A-B402-FB4B1F83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4195F-17A6-4AD3-99F9-DB820573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38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React + TypeScript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B7941-04E8-460E-857F-8D1B87D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E7407-B137-4BBE-B26C-E3118BC3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REST API simulata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7B90B-D8E6-4EE5-9BEB-DF57125A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480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A4D44-A7B3-4A36-8BB6-6103CFB4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Filtri condivisi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34571-A2C5-4483-B8DF-1F51D43C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8DF7E-28C8-4917-B3A9-71032A82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9B7C8"/>
                </a:solidFill>
              </a:defRPr>
            </a:pPr>
            <a:r>
              <a:rPr sz="1650" b="0">
                <a:solidFill>
                  <a:srgbClr val="A9B7C8"/>
                </a:solidFill>
              </a:rPr>
              <a:t>Mutazioni concorrenti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D1885-FAF7-4BE1-830B-F153C306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3A0FF"/>
                </a:solidFill>
              </a:defRPr>
            </a:pPr>
            <a:r>
              <a:rPr sz="1650" b="0">
                <a:solidFill>
                  <a:srgbClr val="73A0FF"/>
                </a:solidFill>
              </a:rPr>
              <a:t>Obiettivo: una sola fonte di verità per ogni responsabilità.</a:t>
            </a:r>
          </a:p>
        </p:txBody>
      </p:sp>
    </p:spTree>
    <p:extLst>
      <p:ext uri="{BB962C8B-B14F-4D97-AF65-F5344CB8AC3E}">
        <p14:creationId xmlns:p14="http://schemas.microsoft.com/office/powerpoint/2010/main" val="124844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dfb2062254009"/>
          <a:srcRect xmlns:a="http://schemas.openxmlformats.org/drawingml/2006/main" l="13653" t="0" r="13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0"/>
            <a:ext cx="885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AB89-EA3D-4155-8AB6-A32DD397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EC9E8-306E-4A64-9A6D-19F5F8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B0D62-688F-48D7-B8A7-29BF3897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3A0FF"/>
                </a:solidFill>
              </a:defRPr>
            </a:pPr>
            <a:r>
              <a:rPr sz="3150" b="1">
                <a:solidFill>
                  <a:srgbClr val="73A0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5CA2F-EECB-4827-9E11-26005DE9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Tassonomia e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A036D-4396-49D4-8C85-ECF49A0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Ogni dato cambia per una ragione e possiede un proprietario.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6AD41-B776-4E63-B376-B371A0A5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7209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6F859-2902-40FB-B8DD-9BF2C01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10FD-F2A6-49D1-A22A-2A0BE53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C4847-E681-4445-BC21-82CE98B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L’ownership indica chi può decidere il prossimo valore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EAB23-3F9C-4E98-A4C6-A77D201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F29E8-57A0-4664-B972-1AEC26A9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BE06-0E86-4D1C-8EB7-620E481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3A0FF"/>
                </a:solidFill>
              </a:defRPr>
            </a:pPr>
            <a:r>
              <a:rPr sz="2850" b="1">
                <a:solidFill>
                  <a:srgbClr val="73A0FF"/>
                </a:solidFill>
              </a:rPr>
              <a:t>State ownership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EFD6-1409-40BE-873B-97B1781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Relazione tra un dato, il componente o servizio che lo possiede e le operazioni autorizzate a modificarlo.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87692-CF61-4009-A86B-3EC9950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600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F6BF-56DC-497B-B0A1-B54B639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E516-712D-4C53-B4A0-8778DC2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ESEMPIO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D86E2-5B59-4263-9E8A-39A143A7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selectedTicketId appartiene al contenitore che coordina lista e dettaglio, non a ogni riga.</a:t>
            </a:r>
          </a:p>
        </p:txBody>
      </p:sp>
    </p:spTree>
    <p:extLst>
      <p:ext uri="{BB962C8B-B14F-4D97-AF65-F5344CB8AC3E}">
        <p14:creationId xmlns:p14="http://schemas.microsoft.com/office/powerpoint/2010/main" val="1098583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98035-C7DA-46D5-8098-F3FA41B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0ED-75B2-4A7A-B6C4-9CF7C0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215F-1FF9-42A8-AF03-920E050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Cinque categorie richiedono cinque strategie diverse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7FC0-7BD1-4003-94FC-98F7F91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6BE2-31B1-41F5-B8C6-E752BB6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A123-B3C9-4CA6-9957-020C12C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37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A76D-CE38-4F60-AEBD-8055852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950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Categoria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D837-936F-41F4-8259-CAD86F1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1619250"/>
            <a:ext cx="335432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61D35-D620-426B-B6C3-322ED6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752600"/>
            <a:ext cx="3011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Fonte di verità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DAA8C-1C36-4187-91A1-192BB7B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19250"/>
            <a:ext cx="4328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0BF7-9F96-44DC-86B9-AE7DEB0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52600"/>
            <a:ext cx="39852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Esempio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4A77-6A8D-4569-BC9D-630F2AF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4291-86E7-457F-95E7-8631A35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Locale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7F27-D505-400C-B2EF-8A275E6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1336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8FCE-DE27-4DC8-82C7-2E09BD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2574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Componente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8DF5-7726-4159-B5BF-6D73C91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336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3E9BD-BCC4-46BA-A63E-83FE477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574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menu aperto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2F83-8E77-4B39-AB0C-04DA0E1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6B2F-92F6-4024-9E09-B649A17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Globale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F7E4-D86B-4D4C-A0D5-1435874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77177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78821-58A3-4733-ACCA-A67CF7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89560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Albero React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D6AF-42DB-40CF-B40C-4210C7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7177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8C29C-0189-428C-A1A6-FE8929A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89560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utente corrente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604D7-F2F3-4A7E-84CE-80885DA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1185-5DA5-4D2D-A35A-EE1CB57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Derivato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44E5A-87E6-465A-9DF8-F87EF1D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340995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5972-7C38-45FF-A374-B3D0CA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353377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Calcolo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8E1AA-7BA3-41BB-9937-5513CE4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0995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B050E-4846-4591-ACB5-FC3D92D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353377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ticket visibili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70350-1E76-43C8-9065-D89CAA7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8FA24-48BA-44B5-B5EF-1FD185F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Persistente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120A0-04A7-447E-84D0-45BB4F0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04812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EEB34-CBC5-4FD7-A08A-3C54839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17195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Storage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394D8-6F68-4F31-B4DD-D613D84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4812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D3DF3-0636-4506-B8B4-6F30FBA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17195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densità tabella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FAA6C-CCB0-4058-88CA-A35FD4B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A5D3-BFFB-47C3-A6BC-662E222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Server state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62CAB-D617-4D2E-9C17-A4159D9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6863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21A89-3F87-4B93-A871-6849EF6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8101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Backend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10215-13CB-4042-85C4-9BCE648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6863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9EFF-4ED9-4CAB-9A8D-B02E33C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01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lista ticket</a:t>
            </a:r>
          </a:p>
        </p:txBody>
      </p:sp>
    </p:spTree>
    <p:extLst>
      <p:ext uri="{BB962C8B-B14F-4D97-AF65-F5344CB8AC3E}">
        <p14:creationId xmlns:p14="http://schemas.microsoft.com/office/powerpoint/2010/main" val="14223883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3D642-F5EB-4E83-883A-50DF171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01BF-92E4-469B-AADF-08B388A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76407-1EA7-457B-8940-5E54223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Locale e globale descrivono il raggio, non il valore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BAC43-0187-4E44-A615-E0C4802A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907E0-38CA-495C-BD45-0B6C6D5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71A33-0C34-4408-94DE-B83F5B7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4F1C-84B1-4676-8AF7-554ACF0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01042-E242-4A0A-BCC7-4C02BB6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STATO LOCALE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E469B-6AB5-4C4C-898B-CA6124E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Serve a un sottoalbero limitato.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Esempio: riga espansa, tab attiva, bozza temporanea.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4336-9AA2-4C3E-B5EE-AFAF20C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4A1FA-4ECD-4F75-8FFD-286822E8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2B84E-3F79-4738-A4DD-4643B84A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STATO CONDIVISO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DACDD-BDE7-42D8-93E2-CAAF9F6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Coordina componenti distanti.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Esempio: sessione, lingua, filtri della dashboard.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5BC5A-B045-4C0C-8633-88C5F9E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9B7C8"/>
                </a:solidFill>
              </a:defRPr>
            </a:pPr>
            <a:r>
              <a:rPr sz="1425" b="0">
                <a:solidFill>
                  <a:srgbClr val="A9B7C8"/>
                </a:solidFill>
              </a:rPr>
              <a:t>Promuovi lo stato solo quando due consumatori devono concordare.</a:t>
            </a:r>
          </a:p>
        </p:txBody>
      </p:sp>
    </p:spTree>
    <p:extLst>
      <p:ext uri="{BB962C8B-B14F-4D97-AF65-F5344CB8AC3E}">
        <p14:creationId xmlns:p14="http://schemas.microsoft.com/office/powerpoint/2010/main" val="657889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Lo stato locale resta vicino all’interazione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function TicketRow({ ticket }: Props)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Solo questa riga deve ricordare l'espansione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[expanded, setExpanded] = useState(false);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&lt;RowDetails open={expanded} ticket={ticket}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onToggle={() =&gt; setExpanded(v =&gt; !v)} /&gt;;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Nessun altro componente deve osservare expanded. Spostarlo in Context aumenterebbe raggio e render.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Lo stato derivato si calcola durante il render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// tickets e filters sono le fonti di verità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const visibleTickets = tickets.filter(ticket =&gt;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filters.status === 'all' ||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ticket.status === filters.status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// Nessun setVisibleTickets da sincronizzare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Se il valore si ottiene da props o state correnti, conservarlo crea una copia che può diventare obsoleta.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69B154-C2B1-4D11-902E-D7F6577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0F6DE-3C1A-403D-867D-BF84092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8D03F-0B65-480F-8F74-B90F9E2E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Duplicare un valore derivato crea due verità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7D5A4-186A-4A2D-A6E5-7C26B289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7A2B9-814C-45C8-9D3E-0D9B93D0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93C5A-839E-4174-BDA2-49B4E897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9BFE4-F15C-4D63-AD9E-A0B3C7E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86521-C77F-4278-9ED7-393F69C8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PRIMA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7C733-67AD-4E7D-BFAF-1925B56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const [tickets, setTickets] = useState([]);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const [visible, setVisible] = useState([]);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// Ogni update deve sincronizzare entrambi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651C3-257C-4A97-B350-9D78EC71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6FE0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EDF27-0521-4471-AA65-BA8E309E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4C293-D595-4F82-ABA3-B2B24D31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E0B4"/>
                </a:solidFill>
              </a:defRPr>
            </a:pPr>
            <a:r>
              <a:rPr sz="975" b="1">
                <a:solidFill>
                  <a:srgbClr val="6FE0B4"/>
                </a:solidFill>
              </a:rPr>
              <a:t>DOPO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FD65C-46F5-4739-8800-24571CD0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const [tickets, setTickets] = useState([]);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const visible = filterTickets(tickets, filters);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// Il render ricalcola sempre la proiezione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464C7-4109-4B86-B6B3-D1C02A6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9B7C8"/>
                </a:solidFill>
              </a:defRPr>
            </a:pPr>
            <a:r>
              <a:rPr sz="1425" b="0">
                <a:solidFill>
                  <a:srgbClr val="A9B7C8"/>
                </a:solidFill>
              </a:rPr>
              <a:t>Conserva il minimo stato necessario; deriva il resto.</a:t>
            </a:r>
          </a:p>
        </p:txBody>
      </p:sp>
    </p:spTree>
    <p:extLst>
      <p:ext uri="{BB962C8B-B14F-4D97-AF65-F5344CB8AC3E}">
        <p14:creationId xmlns:p14="http://schemas.microsoft.com/office/powerpoint/2010/main" val="15388978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Persistenza non trasforma il dato in server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const [density, setDensity] = useState(() =&gt;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localStorage.getItem('density') ?? 'comfortable'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useEffect(() =&gt;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Persiste una preferenza, non dati autorevoli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localStorage.setItem('density', density);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}, [density]);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Lo storage prolunga la durata del dato, ma l’origine resta il browser dell’utente.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6F859-2902-40FB-B8DD-9BF2C01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10FD-F2A6-49D1-A22A-2A0BE53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C4847-E681-4445-BC21-82CE98B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Il server state è una copia osservata di un sistema remoto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EAB23-3F9C-4E98-A4C6-A77D201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F29E8-57A0-4664-B972-1AEC26A9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BE06-0E86-4D1C-8EB7-620E481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3A0FF"/>
                </a:solidFill>
              </a:defRPr>
            </a:pPr>
            <a:r>
              <a:rPr sz="2850" b="1">
                <a:solidFill>
                  <a:srgbClr val="73A0FF"/>
                </a:solidFill>
              </a:rPr>
              <a:t>Server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EFD6-1409-40BE-873B-97B1781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Dato posseduto dal backend, letto e temporaneamente memorizzato dal client con regole di freschezza e sincronizzazione.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87692-CF61-4009-A86B-3EC9950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600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F6BF-56DC-497B-B0A1-B54B639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E516-712D-4C53-B4A0-8778DC2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ESEMPIO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D86E2-5B59-4263-9E8A-39A143A7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tickets arriva dall’API: il client può mostrarlo e proporre modifiche, ma il backend resta autorevole.</a:t>
            </a:r>
          </a:p>
        </p:txBody>
      </p:sp>
    </p:spTree>
    <p:extLst>
      <p:ext uri="{BB962C8B-B14F-4D97-AF65-F5344CB8AC3E}">
        <p14:creationId xmlns:p14="http://schemas.microsoft.com/office/powerpoint/2010/main" val="10985836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98035-C7DA-46D5-8098-F3FA41B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0ED-75B2-4A7A-B6C4-9CF7C0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215F-1FF9-42A8-AF03-920E050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Cinque</a:t>
            </a:r>
            <a:r>
              <a:rPr sz="2625" b="1">
                <a:solidFill>
                  <a:srgbClr val="F4F7FB"/>
                </a:solidFill>
              </a:rPr>
              <a:t> domande decidono dove collocare lo stato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7FC0-7BD1-4003-94FC-98F7F91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6BE2-31B1-41F5-B8C6-E752BB6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A123-B3C9-4CA6-9957-020C12C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37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A76D-CE38-4F60-AEBD-8055852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950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Domanda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D837-936F-41F4-8259-CAD86F1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1619250"/>
            <a:ext cx="335432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61D35-D620-426B-B6C3-322ED6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752600"/>
            <a:ext cx="3011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Se sì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DAA8C-1C36-4187-91A1-192BB7B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19250"/>
            <a:ext cx="4328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0BF7-9F96-44DC-86B9-AE7DEB0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52600"/>
            <a:ext cx="39852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Scelta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4A77-6A8D-4569-BC9D-630F2AF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4291-86E7-457F-95E7-8631A35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Viene dal backend?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7F27-D505-400C-B2EF-8A275E6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1336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8FCE-DE27-4DC8-82C7-2E09BD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2574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Autorità remota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8DF5-7726-4159-B5BF-6D73C91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336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3E9BD-BCC4-46BA-A63E-83FE477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574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server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2F83-8E77-4B39-AB0C-04DA0E1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6B2F-92F6-4024-9E09-B649A17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Si può calcolare?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F7E4-D86B-4D4C-A0D5-1435874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77177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78821-58A3-4733-ACCA-A67CF7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89560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Nessuna memoria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D6AF-42DB-40CF-B40C-4210C7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7177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8C29C-0189-428C-A1A6-FE8929A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89560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derived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604D7-F2F3-4A7E-84CE-80885DA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1185-5DA5-4D2D-A35A-EE1CB57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Serve dopo reload?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44E5A-87E6-465A-9DF8-F87EF1D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340995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5972-7C38-45FF-A374-B3D0CA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353377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Durata lunga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8E1AA-7BA3-41BB-9937-5513CE4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0995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B050E-4846-4591-ACB5-FC3D92D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353377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persistenza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70350-1E76-43C8-9065-D89CAA7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8FA24-48BA-44B5-B5EF-1FD185F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Serve a più rami?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120A0-04A7-447E-84D0-45BB4F0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04812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EEB34-CBC5-4FD7-A08A-3C54839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17195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Raggio ampio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394D8-6F68-4F31-B4DD-D613D84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4812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D3DF3-0636-4506-B8B4-6F30FBA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17195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lift o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FAA6C-CCB0-4058-88CA-A35FD4B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A5D3-BFFB-47C3-A6BC-662E222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Serve solo qui?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62CAB-D617-4D2E-9C17-A4159D9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6863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21A89-3F87-4B93-A871-6849EF6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8101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Raggio locale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10215-13CB-4042-85C4-9BCE648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6863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9EFF-4ED9-4CAB-9A8D-B02E33C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01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useState</a:t>
            </a:r>
          </a:p>
        </p:txBody>
      </p:sp>
    </p:spTree>
    <p:extLst>
      <p:ext uri="{BB962C8B-B14F-4D97-AF65-F5344CB8AC3E}">
        <p14:creationId xmlns:p14="http://schemas.microsoft.com/office/powerpoint/2010/main" val="14223883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BA2BD-F1CC-4DC8-8192-8F483DD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39D28-8E92-4DA0-9856-DFD6E9BF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5108E-807E-4DD3-9868-73C0ABAB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Checklist di ownership prima di aggiungere uno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20E00-7DA5-40EF-9C95-CD670C2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E25FD-C22E-4F58-AEC9-85D86B60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B665F-3142-49E4-BB20-8B60498B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B7AC1-BF41-4791-9CD3-72B12B6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9817-7315-4958-8927-808277F5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Chi produce il valore?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83059-B05E-40E1-B660-58BCD483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AD079-DBED-47F8-9150-A0792A3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4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EAE35-B50A-4368-A87E-3EA93AF1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Chi può modificarlo?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03F3D-554E-4FB8-BBC8-EC8F245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EBA9C-FEC0-420D-A008-87E5EB5F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18A0D-471D-4E2B-9BB5-5B076E34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Chi deve osservarlo?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5DDEB-8ABA-41E3-BE3F-A6B651FF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F4231-9FD0-4681-AC59-04D037A7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368E4-2D7C-4CF7-9DAE-D9A46AE3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Quanto deve sopravvivere?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2301B-C4FD-4E59-A07B-F4E7EEDC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3BC64-9B27-40AD-B35A-291CCDAC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71CFC-459A-4C0D-8EFB-D24A36F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Può essere calcolato?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43B69-FC78-4BAC-897E-3FC85E84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F9105-225B-4D0F-A9A5-1FB622F2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1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A04F1-59CD-4AF8-B39F-E6D2C66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Può diventare stale?</a:t>
            </a:r>
          </a:p>
        </p:txBody>
      </p:sp>
    </p:spTree>
    <p:extLst>
      <p:ext uri="{BB962C8B-B14F-4D97-AF65-F5344CB8AC3E}">
        <p14:creationId xmlns:p14="http://schemas.microsoft.com/office/powerpoint/2010/main" val="12841909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ecd072dd442b1"/>
          <a:srcRect xmlns:a="http://schemas.openxmlformats.org/drawingml/2006/main" l="13653" t="0" r="13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0"/>
            <a:ext cx="885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AB89-EA3D-4155-8AB6-A32DD397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EC9E8-306E-4A64-9A6D-19F5F8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B0D62-688F-48D7-B8A7-29BF3897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3A0FF"/>
                </a:solidFill>
              </a:defRPr>
            </a:pPr>
            <a:r>
              <a:rPr sz="3150" b="1">
                <a:solidFill>
                  <a:srgbClr val="73A0F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5CA2F-EECB-4827-9E11-26005DE9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Context API con confini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A036D-4396-49D4-8C85-ECF49A0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Context distribuisce un valore; non progetta la sua struttura.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6AD41-B776-4E63-B376-B371A0A5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872097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6F859-2902-40FB-B8DD-9BF2C01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10FD-F2A6-49D1-A22A-2A0BE53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C4847-E681-4445-BC21-82CE98B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Context distribuisce un contratto al sottoalbero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EAB23-3F9C-4E98-A4C6-A77D201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F29E8-57A0-4664-B972-1AEC26A9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BE06-0E86-4D1C-8EB7-620E481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3A0FF"/>
                </a:solidFill>
              </a:defRPr>
            </a:pPr>
            <a:r>
              <a:rPr sz="2850" b="1">
                <a:solidFill>
                  <a:srgbClr val="73A0FF"/>
                </a:solidFill>
              </a:rPr>
              <a:t>Context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EFD6-1409-40BE-873B-97B1781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Meccanismo con cui un provider rende disponibile un valore ai discendenti senza passarlo esplicitamente attraverso ogni livello.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87692-CF61-4009-A86B-3EC9950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600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F6BF-56DC-497B-B0A1-B54B639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E516-712D-4C53-B4A0-8778DC2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ESEMPIO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D86E2-5B59-4263-9E8A-39A143A7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AuthContext espone user e logout ai componenti dell’area riservata.</a:t>
            </a:r>
          </a:p>
        </p:txBody>
      </p:sp>
    </p:spTree>
    <p:extLst>
      <p:ext uri="{BB962C8B-B14F-4D97-AF65-F5344CB8AC3E}">
        <p14:creationId xmlns:p14="http://schemas.microsoft.com/office/powerpoint/2010/main" val="10985836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3D642-F5EB-4E83-883A-50DF171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01BF-92E4-469B-AADF-08B388A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76407-1EA7-457B-8940-5E54223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Usa Context per dipendenze stabili e realmente condivise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BAC43-0187-4E44-A615-E0C4802A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907E0-38CA-495C-BD45-0B6C6D5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71A33-0C34-4408-94DE-B83F5B7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4F1C-84B1-4676-8AF7-554ACF0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01042-E242-4A0A-BCC7-4C02BB6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BUON CANDIDATO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E469B-6AB5-4C4C-898B-CA6124E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Sessione, tema, locale, servizi configurati, stato di una feature complessa.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4336-9AA2-4C3E-B5EE-AFAF20C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4A1FA-4ECD-4F75-8FFD-286822E8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2B84E-3F79-4738-A4DD-4643B84A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CATTIVO CANDIDATO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DACDD-BDE7-42D8-93E2-CAAF9F6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Hover, input isolato, ogni risposta API, valori derivabili, aggiornamenti ad alta frequenza.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5BC5A-B045-4C0C-8633-88C5F9E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9B7C8"/>
                </a:solidFill>
              </a:defRPr>
            </a:pPr>
            <a:r>
              <a:rPr sz="1425" b="0">
                <a:solidFill>
                  <a:srgbClr val="A9B7C8"/>
                </a:solidFill>
              </a:rPr>
              <a:t>Il costo del provider cresce con il numero e la frequenza dei consumatori.</a:t>
            </a:r>
          </a:p>
        </p:txBody>
      </p:sp>
    </p:spTree>
    <p:extLst>
      <p:ext uri="{BB962C8B-B14F-4D97-AF65-F5344CB8AC3E}">
        <p14:creationId xmlns:p14="http://schemas.microsoft.com/office/powerpoint/2010/main" val="6578896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Il prop drilling crea dipendenze artificiali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function App()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[filters, setFilters] = useState(initial);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Layout non usa filters, li inoltra soltanto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&lt;Layout filters={filters}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setFilters={setFilters} /&gt;;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Il problema non è il numero di props, ma la dipendenza artificiale dei livelli intermedi.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 custom hook rende obbligatoria la presenza del provider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const FiltersContext = createContext&lt;FiltersApi | null&gt;(null);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export function useFilters()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value = useContext(FiltersContext);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Errore immediato invece di undefined lontano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if (!value) throw new Error('FiltersProvider missing');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value;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Il valore null segnala l’assenza del provider; l’hook centralizza controllo e messaggio.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3D642-F5EB-4E83-883A-50DF171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01BF-92E4-469B-AADF-08B388A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76407-1EA7-457B-8940-5E54223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Separare lettura e dispatch riduce dipendenze inutili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BAC43-0187-4E44-A615-E0C4802A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907E0-38CA-495C-BD45-0B6C6D5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71A33-0C34-4408-94DE-B83F5B7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4F1C-84B1-4676-8AF7-554ACF0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01042-E242-4A0A-BCC7-4C02BB6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FILTERS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E469B-6AB5-4C4C-898B-CA6124E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Contiene il valore corrente.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Lo leggono tabella, badge e riepilogo.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4336-9AA2-4C3E-B5EE-AFAF20C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4A1FA-4ECD-4F75-8FFD-286822E8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2B84E-3F79-4738-A4DD-4643B84A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FILTERS DISPATCH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DACDD-BDE7-42D8-93E2-CAAF9F6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Espone transizioni.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Lo usano toolbar e controlli di input.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5BC5A-B045-4C0C-8633-88C5F9E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9B7C8"/>
                </a:solidFill>
              </a:defRPr>
            </a:pPr>
            <a:r>
              <a:rPr sz="1425" b="0">
                <a:solidFill>
                  <a:srgbClr val="A9B7C8"/>
                </a:solidFill>
              </a:rPr>
              <a:t>Un componente che invia azioni non deve sottoscrivere tutto lo state.</a:t>
            </a:r>
          </a:p>
        </p:txBody>
      </p:sp>
    </p:spTree>
    <p:extLst>
      <p:ext uri="{BB962C8B-B14F-4D97-AF65-F5344CB8AC3E}">
        <p14:creationId xmlns:p14="http://schemas.microsoft.com/office/powerpoint/2010/main" val="6578896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Il provider possiede stato e contratto pubblico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function FiltersProvider({ children }: Props)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[state, dispatch] = useReducer(reducer, initial);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Due contratti con frequenza diversa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&lt;StateContext value={state}&gt;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&lt;DispatchContext value={dispatch}&gt;{children}&lt;/DispatchContext&gt;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&lt;/StateContext&gt;;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Il reducer resta un dettaglio del provider; i consumatori ricevono solo ciò che devono conoscere.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69B154-C2B1-4D11-902E-D7F6577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0F6DE-3C1A-403D-867D-BF84092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8D03F-0B65-480F-8F74-B90F9E2E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 value ricreato cambia identità a ogni render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7D5A4-186A-4A2D-A6E5-7C26B289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7A2B9-814C-45C8-9D3E-0D9B93D0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93C5A-839E-4174-BDA2-49B4E897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9BFE4-F15C-4D63-AD9E-A0B3C7E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86521-C77F-4278-9ED7-393F69C8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PRIMA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7C733-67AD-4E7D-BFAF-1925B56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const value = { user, logout };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return &lt;AuthContext value={value}&gt;{children}&lt;/AuthContext&gt;;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651C3-257C-4A97-B350-9D78EC71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6FE0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EDF27-0521-4471-AA65-BA8E309E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4C293-D595-4F82-ABA3-B2B24D31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E0B4"/>
                </a:solidFill>
              </a:defRPr>
            </a:pPr>
            <a:r>
              <a:rPr sz="975" b="1">
                <a:solidFill>
                  <a:srgbClr val="6FE0B4"/>
                </a:solidFill>
              </a:rPr>
              <a:t>DOPO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FD65C-46F5-4739-8800-24571CD0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const value = useMemo(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  () =&gt; ({ user, logout }),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  [user, logout]</a:t>
            </a:r>
          </a:p>
          <a:p xmlns:a="http://schemas.openxmlformats.org/drawingml/2006/main">
            <a:r>
              <a:t>);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// Stabile finché non cambiano le dipendenze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464C7-4109-4B86-B6B3-D1C02A6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9B7C8"/>
                </a:solidFill>
              </a:defRPr>
            </a:pPr>
            <a:r>
              <a:rPr sz="1425" b="0">
                <a:solidFill>
                  <a:srgbClr val="A9B7C8"/>
                </a:solidFill>
              </a:rPr>
              <a:t>Memoizza solo dopo aver stabilizzato le dipendenze e misurato il problema.</a:t>
            </a:r>
          </a:p>
        </p:txBody>
      </p:sp>
    </p:spTree>
    <p:extLst>
      <p:ext uri="{BB962C8B-B14F-4D97-AF65-F5344CB8AC3E}">
        <p14:creationId xmlns:p14="http://schemas.microsoft.com/office/powerpoint/2010/main" val="15388978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BA2BD-F1CC-4DC8-8192-8F483DD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39D28-8E92-4DA0-9856-DFD6E9BF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5108E-807E-4DD3-9868-73C0ABAB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Checklist Context: il confine viene prima del provider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20E00-7DA5-40EF-9C95-CD670C2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E25FD-C22E-4F58-AEC9-85D86B60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B665F-3142-49E4-BB20-8B60498B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B7AC1-BF41-4791-9CD3-72B12B6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9817-7315-4958-8927-808277F5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Il contratto è davvero condiviso?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83059-B05E-40E1-B660-58BCD483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AD079-DBED-47F8-9150-A0792A3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4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EAE35-B50A-4368-A87E-3EA93AF1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Il provider è vicino ai consumatori?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03F3D-554E-4FB8-BBC8-EC8F245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EBA9C-FEC0-420D-A008-87E5EB5F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18A0D-471D-4E2B-9BB5-5B076E34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State e dispatch hanno frequenze diverse?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5DDEB-8ABA-41E3-BE3F-A6B651FF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F4231-9FD0-4681-AC59-04D037A7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368E4-2D7C-4CF7-9DAE-D9A46AE3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Il value cambia senza motivo?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2301B-C4FD-4E59-A07B-F4E7EEDC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3BC64-9B27-40AD-B35A-291CCDAC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71CFC-459A-4C0D-8EFB-D24A36F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Un default fittizio nasconde errori?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43B69-FC78-4BAC-897E-3FC85E84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F9105-225B-4D0F-A9A5-1FB622F2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1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A04F1-59CD-4AF8-B39F-E6D2C66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Serve una server cache invece di Context?</a:t>
            </a:r>
          </a:p>
        </p:txBody>
      </p:sp>
    </p:spTree>
    <p:extLst>
      <p:ext uri="{BB962C8B-B14F-4D97-AF65-F5344CB8AC3E}">
        <p14:creationId xmlns:p14="http://schemas.microsoft.com/office/powerpoint/2010/main" val="12841909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db0bbc2204a16"/>
          <a:srcRect xmlns:a="http://schemas.openxmlformats.org/drawingml/2006/main" l="13653" t="0" r="13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0"/>
            <a:ext cx="885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AB89-EA3D-4155-8AB6-A32DD397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EC9E8-306E-4A64-9A6D-19F5F8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B0D62-688F-48D7-B8A7-29BF3897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3A0FF"/>
                </a:solidFill>
              </a:defRPr>
            </a:pPr>
            <a:r>
              <a:rPr sz="3150" b="1">
                <a:solidFill>
                  <a:srgbClr val="73A0F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5CA2F-EECB-4827-9E11-26005DE9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useReducer e transizioni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A036D-4396-49D4-8C85-ECF49A0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Quando gli aggiornamenti formano un linguaggio, rendilo esplicito.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6AD41-B776-4E63-B376-B371A0A5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872097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6F859-2902-40FB-B8DD-9BF2C01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10FD-F2A6-49D1-A22A-2A0BE53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C4847-E681-4445-BC21-82CE98B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 reducer rende esplicita la funzione di transizione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EAB23-3F9C-4E98-A4C6-A77D201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F29E8-57A0-4664-B972-1AEC26A9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BE06-0E86-4D1C-8EB7-620E481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3A0FF"/>
                </a:solidFill>
              </a:defRPr>
            </a:pPr>
            <a:r>
              <a:rPr sz="2850" b="1">
                <a:solidFill>
                  <a:srgbClr val="73A0FF"/>
                </a:solidFill>
              </a:rPr>
              <a:t>Reducer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EFD6-1409-40BE-873B-97B1781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Funzione pura che riceve state e action e restituisce il prossimo state senza mutare quello corrente.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87692-CF61-4009-A86B-3EC9950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600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F6BF-56DC-497B-B0A1-B54B639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E516-712D-4C53-B4A0-8778DC2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ESEMPIO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D86E2-5B59-4263-9E8A-39A143A7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filtersReducer(state, { type: 'status_changed', status: 'open' }) produce il nuovo filtro.</a:t>
            </a:r>
          </a:p>
        </p:txBody>
      </p:sp>
    </p:spTree>
    <p:extLst>
      <p:ext uri="{BB962C8B-B14F-4D97-AF65-F5344CB8AC3E}">
        <p14:creationId xmlns:p14="http://schemas.microsoft.com/office/powerpoint/2010/main" val="10985836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98035-C7DA-46D5-8098-F3FA41B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0ED-75B2-4A7A-B6C4-9CF7C0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215F-1FF9-42A8-AF03-920E050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Le action descrivono eventi, non setter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7FC0-7BD1-4003-94FC-98F7F91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6BE2-31B1-41F5-B8C6-E752BB6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A123-B3C9-4CA6-9957-020C12C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37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A76D-CE38-4F60-AEBD-8055852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950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D837-936F-41F4-8259-CAD86F1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1619250"/>
            <a:ext cx="335432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61D35-D620-426B-B6C3-322ED6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752600"/>
            <a:ext cx="3011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Significato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DAA8C-1C36-4187-91A1-192BB7B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19250"/>
            <a:ext cx="4328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0BF7-9F96-44DC-86B9-AE7DEB0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52600"/>
            <a:ext cx="39852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Effetto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4A77-6A8D-4569-BC9D-630F2AF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4291-86E7-457F-95E7-8631A35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filters_changed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7F27-D505-400C-B2EF-8A275E6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1336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8FCE-DE27-4DC8-82C7-2E09BD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2574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utente filtra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8DF5-7726-4159-B5BF-6D73C91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336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3E9BD-BCC4-46BA-A63E-83FE477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574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reset pagina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2F83-8E77-4B39-AB0C-04DA0E1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6B2F-92F6-4024-9E09-B649A17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request_started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F7E4-D86B-4D4C-A0D5-1435874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77177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78821-58A3-4733-ACCA-A67CF7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89560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fetch avviato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D6AF-42DB-40CF-B40C-4210C7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7177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8C29C-0189-428C-A1A6-FE8929A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89560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loading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604D7-F2F3-4A7E-84CE-80885DA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1185-5DA5-4D2D-A35A-EE1CB57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request_succeeded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44E5A-87E6-465A-9DF8-F87EF1D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340995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5972-7C38-45FF-A374-B3D0CA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353377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dati ricevuti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8E1AA-7BA3-41BB-9937-5513CE4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0995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B050E-4846-4591-ACB5-FC3D92D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353377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success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70350-1E76-43C8-9065-D89CAA7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8FA24-48BA-44B5-B5EF-1FD185F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request_failed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120A0-04A7-447E-84D0-45BB4F0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04812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EEB34-CBC5-4FD7-A08A-3C54839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17195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errore ricevuto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394D8-6F68-4F31-B4DD-D613D84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4812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D3DF3-0636-4506-B8B4-6F30FBA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17195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error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FAA6C-CCB0-4058-88CA-A35FD4B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A5D3-BFFB-47C3-A6BC-662E222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ticket_updated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62CAB-D617-4D2E-9C17-A4159D9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6863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21A89-3F87-4B93-A871-6849EF6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8101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server conferma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10215-13CB-4042-85C4-9BCE648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6863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9EFF-4ED9-4CAB-9A8D-B02E33C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01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merge record</a:t>
            </a:r>
          </a:p>
        </p:txBody>
      </p:sp>
    </p:spTree>
    <p:extLst>
      <p:ext uri="{BB962C8B-B14F-4D97-AF65-F5344CB8AC3E}">
        <p14:creationId xmlns:p14="http://schemas.microsoft.com/office/powerpoint/2010/main" val="14223883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98035-C7DA-46D5-8098-F3FA41B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0ED-75B2-4A7A-B6C4-9CF7C0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215F-1FF9-42A8-AF03-920E050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Uno stato valido elimina combinazioni contraddittorie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7FC0-7BD1-4003-94FC-98F7F91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6BE2-31B1-41F5-B8C6-E752BB6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A123-B3C9-4CA6-9957-020C12C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37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A76D-CE38-4F60-AEBD-8055852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950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Modello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D837-936F-41F4-8259-CAD86F1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1619250"/>
            <a:ext cx="335432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61D35-D620-426B-B6C3-322ED6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752600"/>
            <a:ext cx="3011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Problema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DAA8C-1C36-4187-91A1-192BB7B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19250"/>
            <a:ext cx="4328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0BF7-9F96-44DC-86B9-AE7DEB0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52600"/>
            <a:ext cx="39852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Alternativa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4A77-6A8D-4569-BC9D-630F2AF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4291-86E7-457F-95E7-8631A35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isLoading +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7F27-D505-400C-B2EF-8A275E6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1336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8FCE-DE27-4DC8-82C7-2E09BD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2574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dati ambigui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8DF5-7726-4159-B5BF-6D73C91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336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3E9BD-BCC4-46BA-A63E-83FE477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574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2F83-8E77-4B39-AB0C-04DA0E1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6B2F-92F6-4024-9E09-B649A17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isError + isLoading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F7E4-D86B-4D4C-A0D5-1435874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77177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78821-58A3-4733-ACCA-A67CF7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89560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contraddizione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D6AF-42DB-40CF-B40C-4210C7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7177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8C29C-0189-428C-A1A6-FE8929A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89560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union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604D7-F2F3-4A7E-84CE-80885DA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1185-5DA5-4D2D-A35A-EE1CB57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error senza tipo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44E5A-87E6-465A-9DF8-F87EF1D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340995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5972-7C38-45FF-A374-B3D0CA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353377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UI generica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8E1AA-7BA3-41BB-9937-5513CE4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0995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B050E-4846-4591-ACB5-FC3D92D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353377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AppError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70350-1E76-43C8-9065-D89CAA7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8FA24-48BA-44B5-B5EF-1FD185F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page + filters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120A0-04A7-447E-84D0-45BB4F0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04812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EEB34-CBC5-4FD7-A08A-3C54839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17195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update separati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394D8-6F68-4F31-B4DD-D613D84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4812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D3DF3-0636-4506-B8B4-6F30FBA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17195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stessa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FAA6C-CCB0-4058-88CA-A35FD4B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A5D3-BFFB-47C3-A6BC-662E222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selected object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62CAB-D617-4D2E-9C17-A4159D9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6863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21A89-3F87-4B93-A871-6849EF6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8101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copia stale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10215-13CB-4042-85C4-9BCE648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6863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9EFF-4ED9-4CAB-9A8D-B02E33C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01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selectedId</a:t>
            </a:r>
          </a:p>
        </p:txBody>
      </p:sp>
    </p:spTree>
    <p:extLst>
      <p:ext uri="{BB962C8B-B14F-4D97-AF65-F5344CB8AC3E}">
        <p14:creationId xmlns:p14="http://schemas.microsoft.com/office/powerpoint/2010/main" val="14223883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Molti setter distribuiscono una sola transizione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function applyFilters(next: Filters)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setFilters(next);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setPage(1);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setError(null);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Quattro setter raccontano un solo evento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setSelection(null);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Il codice funziona, ma la regola reset pagina e selezione è duplicabile in ogni handler.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Una union discriminata descrive solo gli stati ammessi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type LoadState&lt;T&gt; =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| { status: 'idle' 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| { status: 'loading'; previous?: T 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| { status: 'success'; data: T 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| { status: 'error'; error: AppError; previous?: T };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// status guida il narrowing TypeScript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Ogni variante possiede soltanto i campi coerenti con quello stato.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Il reducer centralizza la regola di transizione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function reducer(state: State, action: Action): State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switch (action.type)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case 'filters_changed':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  return { ...state, filters: action.filters,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    page: 1, selectedId: null };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</a:t>
            </a:r>
            <a:r>
              <a:rPr sz="1500" b="0">
                <a:solidFill>
                  <a:srgbClr val="F4F7FB"/>
                </a:solidFill>
              </a:rPr>
              <a:t>default: return assertNever(action);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Una sola action aggiorna i campi che devono restare coerenti.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Il reducer decide se conservare dati precedenti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case 'request_started':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</a:t>
            </a:r>
            <a:r>
              <a:rPr sz="1500" b="0">
                <a:solidFill>
                  <a:srgbClr val="F4F7FB"/>
                </a:solidFill>
              </a:rPr>
              <a:t>return { status: 'loading', previous: getData(state) };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case 'request_succeeded':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</a:t>
            </a:r>
            <a:r>
              <a:rPr sz="1500" b="0">
                <a:solidFill>
                  <a:srgbClr val="F4F7FB"/>
                </a:solidFill>
              </a:rPr>
              <a:t>return { status: 'success', data: action.data };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case 'request_failed':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</a:t>
            </a:r>
            <a:r>
              <a:rPr sz="1500" b="0">
                <a:solidFill>
                  <a:srgbClr val="F4F7FB"/>
                </a:solidFill>
              </a:rPr>
              <a:t>return { status: 'error',
    error: action.error, previous: getData(state) };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getData estrae solo dati validi: nessun campo incompatibile sopravvive per effetto dello spread.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useReducer collega modello e UI senza esporre setter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const [state, dispatch] = useReducer(reducer, initialState);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function changeStatus(status: Status)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L’handler descrive l’evento, non i campi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dispatch({ type: 'filters_changed',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filters: { ...state.filters, status } });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dispatch ha identità stabile; il reducer calcola il prossimo snapshot.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9C5B5-9FF5-406D-AA8F-C77EDC5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55A77-1E2C-402B-AF52-D4E31854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F39FA-5F02-48D2-A75E-E869037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Ogni dispatch attraversa una pipeline prevedibile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C8A57-C302-411C-95CD-7EE9F536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083BE-AD6D-4550-A2C0-1CBF0F7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5428C-0110-47E2-BBCF-6AC437E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1BA8B-E33A-4B14-9B46-09760D73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2D720-D64A-4870-8FD0-02F19154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31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5B214-A4C5-4D07-9EF1-55B64E0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63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52B96-8625-4595-97BA-7490843F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80CB8-E41B-4FB1-80D3-ECBBAD73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evento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425E5-4E52-4D43-A556-7FC73412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5F6AD-EB9B-438B-9D5C-65C233A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15F3D-40D1-4C1C-B5A9-44D52B4A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CEEA6-85D2-48CB-92AB-AE60672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reducer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29D08-957E-467D-B21A-33A30FFD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FFA01-6455-4564-90E8-BAA1B74B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next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B40DB-7961-4D90-A79F-3C21F747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743BC-7BDB-4E5B-B4E1-6F25EE9B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render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50A92-319B-4BA5-BB0E-A8FB5AD0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967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La UI emette un fatto; il reducer decide la trasformazione.</a:t>
            </a:r>
          </a:p>
        </p:txBody>
      </p:sp>
    </p:spTree>
    <p:extLst>
      <p:ext uri="{BB962C8B-B14F-4D97-AF65-F5344CB8AC3E}">
        <p14:creationId xmlns:p14="http://schemas.microsoft.com/office/powerpoint/2010/main" val="31926397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Reducer e Context formano un boundary di feature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function DashboardStateProvider({ children }: Props)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[state, dispatch] = useReducer(reducer, initial);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&lt;DashboardState value={state}&gt;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&lt;DashboardDispatch value={dispatch}&gt;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  {children}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&lt;/DashboardDispatch&gt;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&lt;/DashboardState&gt;;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La feature possiede logica e distribuzione senza creare uno store globale applicativo.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Il reducer si testa come una funzione pura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it('resetta pagina quando cambiano i filtri', () =&gt;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state = { ...initial, page: 4 };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next = reducer(state,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type: 'filters_changed', filters: openFilters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});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expect(next).toMatchObject({ page: 1, filters: openFilters });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Il test verifica una regola di transizione senza DOM, provider o mock di rete.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BA2BD-F1CC-4DC8-8192-8F483DD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39D28-8E92-4DA0-9856-DFD6E9BF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5108E-807E-4DD3-9868-73C0ABAB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Checklist reducer: transizioni leggibili e verificabili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20E00-7DA5-40EF-9C95-CD670C2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E25FD-C22E-4F58-AEC9-85D86B60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B665F-3142-49E4-BB20-8B60498B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B7AC1-BF41-4791-9CD3-72B12B6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9817-7315-4958-8927-808277F5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Le action descrivono eventi?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83059-B05E-40E1-B660-58BCD483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AD079-DBED-47F8-9150-A0792A3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4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EAE35-B50A-4368-A87E-3EA93AF1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Il reducer è puro?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03F3D-554E-4FB8-BBC8-EC8F245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EBA9C-FEC0-420D-A008-87E5EB5F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18A0D-471D-4E2B-9BB5-5B076E34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Lo state evita contraddizioni?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5DDEB-8ABA-41E3-BE3F-A6B651FF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F4231-9FD0-4681-AC59-04D037A7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368E4-2D7C-4CF7-9DAE-D9A46AE3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Le transizioni correlate sono atomiche?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2301B-C4FD-4E59-A07B-F4E7EEDC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3BC64-9B27-40AD-B35A-291CCDAC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71CFC-459A-4C0D-8EFB-D24A36F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Il default segnala action ignote?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43B69-FC78-4BAC-897E-3FC85E84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F9105-225B-4D0F-A9A5-1FB622F2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1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A04F1-59CD-4AF8-B39F-E6D2C66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 test coprono le regole critiche?</a:t>
            </a:r>
          </a:p>
        </p:txBody>
      </p:sp>
    </p:spTree>
    <p:extLst>
      <p:ext uri="{BB962C8B-B14F-4D97-AF65-F5344CB8AC3E}">
        <p14:creationId xmlns:p14="http://schemas.microsoft.com/office/powerpoint/2010/main" val="128419096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c75d6fb3047d4"/>
          <a:srcRect xmlns:a="http://schemas.openxmlformats.org/drawingml/2006/main" l="13653" t="0" r="13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0"/>
            <a:ext cx="885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AB89-EA3D-4155-8AB6-A32DD397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EC9E8-306E-4A64-9A6D-19F5F8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B0D62-688F-48D7-B8A7-29BF3897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3A0FF"/>
                </a:solidFill>
              </a:defRPr>
            </a:pPr>
            <a:r>
              <a:rPr sz="3150" b="1">
                <a:solidFill>
                  <a:srgbClr val="73A0F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5CA2F-EECB-4827-9E11-26005DE9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Stati asincroni coerenti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A036D-4396-49D4-8C85-ECF49A0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La UI deve distinguere attesa, assenza, errore e aggiornamento.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6AD41-B776-4E63-B376-B371A0A5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5872097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6F859-2902-40FB-B8DD-9BF2C01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10FD-F2A6-49D1-A22A-2A0BE53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C4847-E681-4445-BC21-82CE98B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Una risorsa asincrona è una macchina a stati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EAB23-3F9C-4E98-A4C6-A77D201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F29E8-57A0-4664-B972-1AEC26A9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BE06-0E86-4D1C-8EB7-620E481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3A0FF"/>
                </a:solidFill>
              </a:defRPr>
            </a:pPr>
            <a:r>
              <a:rPr sz="2850" b="1">
                <a:solidFill>
                  <a:srgbClr val="73A0FF"/>
                </a:solidFill>
              </a:rPr>
              <a:t>Async resource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EFD6-1409-40BE-873B-97B1781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Modello con stati primari idle, loading, success ed error. Empty e refreshing derivano da esito, dati disponibili e richiesta in corso.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87692-CF61-4009-A86B-3EC9950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600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F6BF-56DC-497B-B0A1-B54B639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E516-712D-4C53-B4A0-8778DC2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ESEMPIO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D86E2-5B59-4263-9E8A-39A143A7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La lista può mostrare dati esistenti mentre una nuova pagina viene aggiornata in background.</a:t>
            </a:r>
          </a:p>
        </p:txBody>
      </p:sp>
    </p:spTree>
    <p:extLst>
      <p:ext uri="{BB962C8B-B14F-4D97-AF65-F5344CB8AC3E}">
        <p14:creationId xmlns:p14="http://schemas.microsoft.com/office/powerpoint/2010/main" val="109858360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9C5B5-9FF5-406D-AA8F-C77EDC5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55A77-1E2C-402B-AF52-D4E31854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F39FA-5F02-48D2-A75E-E869037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Il flusso asincrono possiede rami di recupero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C8A57-C302-411C-95CD-7EE9F536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083BE-AD6D-4550-A2C0-1CBF0F7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5428C-0110-47E2-BBCF-6AC437E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1BA8B-E33A-4B14-9B46-09760D73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2D720-D64A-4870-8FD0-02F19154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31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5B214-A4C5-4D07-9EF1-55B64E0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63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52B96-8625-4595-97BA-7490843F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80CB8-E41B-4FB1-80D3-ECBBAD73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idle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425E5-4E52-4D43-A556-7FC73412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5F6AD-EB9B-438B-9D5C-65C233A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loading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15F3D-40D1-4C1C-B5A9-44D52B4A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CEEA6-85D2-48CB-92AB-AE60672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success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29D08-957E-467D-B21A-33A30FFD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FFA01-6455-4564-90E8-BAA1B74B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B40DB-7961-4D90-A79F-3C21F747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743BC-7BDB-4E5B-B4E1-6F25EE9B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retry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50A92-319B-4BA5-BB0E-A8FB5AD0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967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Success può tornare loading per refresh; error può tornare loading per retry.</a:t>
            </a:r>
          </a:p>
        </p:txBody>
      </p:sp>
    </p:spTree>
    <p:extLst>
      <p:ext uri="{BB962C8B-B14F-4D97-AF65-F5344CB8AC3E}">
        <p14:creationId xmlns:p14="http://schemas.microsoft.com/office/powerpoint/2010/main" val="31926397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3D642-F5EB-4E83-883A-50DF171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01BF-92E4-469B-AADF-08B388A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76407-1EA7-457B-8940-5E54223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Loading e refreshing richiedono feedback diversi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BAC43-0187-4E44-A615-E0C4802A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907E0-38CA-495C-BD45-0B6C6D5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71A33-0C34-4408-94DE-B83F5B7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4F1C-84B1-4676-8AF7-554ACF0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01042-E242-4A0A-BCC7-4C02BB6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PRIMO CARICAMENTO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E469B-6AB5-4C4C-898B-CA6124E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Non esistono ancora dati.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Skeleton o stato di attesa occupano la superficie.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4336-9AA2-4C3E-B5EE-AFAF20C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4A1FA-4ECD-4F75-8FFD-286822E8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2B84E-3F79-4738-A4DD-4643B84A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REFRESH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DACDD-BDE7-42D8-93E2-CAAF9F6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Esistono dati utilizzabili.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La lista resta visibile con indicatore discreto.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5BC5A-B045-4C0C-8633-88C5F9E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9B7C8"/>
                </a:solidFill>
              </a:defRPr>
            </a:pPr>
            <a:r>
              <a:rPr sz="1425" b="0">
                <a:solidFill>
                  <a:srgbClr val="A9B7C8"/>
                </a:solidFill>
              </a:rPr>
              <a:t>Non cancellare informazione valida solo perché una richiesta è in corso.</a:t>
            </a:r>
          </a:p>
        </p:txBody>
      </p:sp>
    </p:spTree>
    <p:extLst>
      <p:ext uri="{BB962C8B-B14F-4D97-AF65-F5344CB8AC3E}">
        <p14:creationId xmlns:p14="http://schemas.microsoft.com/office/powerpoint/2010/main" val="6578896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98035-C7DA-46D5-8098-F3FA41B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0ED-75B2-4A7A-B6C4-9CF7C0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215F-1FF9-42A8-AF03-920E050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Ogni stato asincrono ha una resa intenzionale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7FC0-7BD1-4003-94FC-98F7F91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6BE2-31B1-41F5-B8C6-E752BB6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A123-B3C9-4CA6-9957-020C12C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37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A76D-CE38-4F60-AEBD-8055852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950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Stato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D837-936F-41F4-8259-CAD86F1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1619250"/>
            <a:ext cx="335432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61D35-D620-426B-B6C3-322ED6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752600"/>
            <a:ext cx="3011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Contenuto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DAA8C-1C36-4187-91A1-192BB7B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19250"/>
            <a:ext cx="4328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0BF7-9F96-44DC-86B9-AE7DEB0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52600"/>
            <a:ext cx="39852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Azione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4A77-6A8D-4569-BC9D-630F2AF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4291-86E7-457F-95E7-8631A35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idle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7F27-D505-400C-B2EF-8A275E6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1336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8FCE-DE27-4DC8-82C7-2E09BD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2574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istruzione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8DF5-7726-4159-B5BF-6D73C91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336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3E9BD-BCC4-46BA-A63E-83FE477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574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avvia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2F83-8E77-4B39-AB0C-04DA0E1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6B2F-92F6-4024-9E09-B649A17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loading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F7E4-D86B-4D4C-A0D5-1435874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77177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78821-58A3-4733-ACCA-A67CF7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89560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skeleton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D6AF-42DB-40CF-B40C-4210C7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7177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8C29C-0189-428C-A1A6-FE8929A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89560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attendi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604D7-F2F3-4A7E-84CE-80885DA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1185-5DA5-4D2D-A35A-EE1CB57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empty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44E5A-87E6-465A-9DF8-F87EF1D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340995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5972-7C38-45FF-A374-B3D0CA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353377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messaggio utile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8E1AA-7BA3-41BB-9937-5513CE4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0995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B050E-4846-4591-ACB5-FC3D92D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353377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cambia filtri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70350-1E76-43C8-9065-D89CAA7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8FA24-48BA-44B5-B5EF-1FD185F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error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120A0-04A7-447E-84D0-45BB4F0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04812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EEB34-CBC5-4FD7-A08A-3C54839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17195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errore contestuale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394D8-6F68-4F31-B4DD-D613D84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4812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D3DF3-0636-4506-B8B4-6F30FBA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17195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riprova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FAA6C-CCB0-4058-88CA-A35FD4B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A5D3-BFFB-47C3-A6BC-662E222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refreshing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62CAB-D617-4D2E-9C17-A4159D9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6863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21A89-3F87-4B93-A871-6849EF6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8101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dati + spinner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10215-13CB-4042-85C4-9BCE648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6863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9EFF-4ED9-4CAB-9A8D-B02E33C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01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continua</a:t>
            </a:r>
          </a:p>
        </p:txBody>
      </p:sp>
    </p:spTree>
    <p:extLst>
      <p:ext uri="{BB962C8B-B14F-4D97-AF65-F5344CB8AC3E}">
        <p14:creationId xmlns:p14="http://schemas.microsoft.com/office/powerpoint/2010/main" val="142238832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L’empty state deriva da success con collezione vuota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if (state.status === 'idle') return &lt;LoadPrompt /&gt;;
if (state.status === 'loading') return &lt;Skeleton /&gt;;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if (state.status === 'error') return &lt;ErrorState /&gt;;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if (state.data.length === 0)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La richiesta è riuscita: mancano risultati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&lt;EmptyState onReset={resetFilters} /&gt;;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return &lt;TicketList tickets={state.data} /&gt;;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Separare empty da error permette messaggi e azioni coerenti.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Retry ripete l’intenzione e conserva il contesto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async function retry()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dispatch({ type: 'request_started' });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try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const data = await ticketsApi.list(state.filters);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dispatch({ type: 'request_succeeded', data });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} </a:t>
            </a:r>
            <a:r>
              <a:rPr sz="1500" b="0">
                <a:solidFill>
                  <a:srgbClr val="F4F7FB"/>
                </a:solidFill>
              </a:rPr>
              <a:t>catch (error) { dispatch({ type: 'request_failed',
      error: toAppError(error) }); 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Il retry riusa filtri e parametri della richiesta fallita, senza duplicare la logica di rendering.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AbortController ferma risposte obsolete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useEffect(() =&gt;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controller = new AbortController();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Ogni filtro possiede la propria richiesta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loadTickets(filters, controller.signal)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</a:t>
            </a:r>
            <a:r>
              <a:rPr sz="1500" b="0">
                <a:solidFill>
                  <a:srgbClr val="F4F7FB"/>
                </a:solidFill>
              </a:rPr>
              <a:t>.catch(error =&gt; !isAbortError(error) &amp;&amp; report(error));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() =&gt; controller.abort();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}, [filters]);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La cleanup annulla la richiesta precedente quando i filtri cambiano o il componente si smonta.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b57fd125e4e79"/>
          <a:srcRect xmlns:a="http://schemas.openxmlformats.org/drawingml/2006/main" l="13653" t="0" r="13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0"/>
            <a:ext cx="885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AB89-EA3D-4155-8AB6-A32DD397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EC9E8-306E-4A64-9A6D-19F5F8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B0D62-688F-48D7-B8A7-29BF3897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3A0FF"/>
                </a:solidFill>
              </a:defRPr>
            </a:pPr>
            <a:r>
              <a:rPr sz="3150" b="1">
                <a:solidFill>
                  <a:srgbClr val="73A0F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5CA2F-EECB-4827-9E11-26005DE9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Fetch, cache e invalidazione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A036D-4396-49D4-8C85-ECF49A0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L’accesso ai dati è una pipeline, non un Effect isolato.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6AD41-B776-4E63-B376-B371A0A5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5872097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3D642-F5EB-4E83-883A-50DF171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01BF-92E4-469B-AADF-08B388A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76407-1EA7-457B-8940-5E54223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Fetching e rendering cambiano per ragioni diverse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BAC43-0187-4E44-A615-E0C4802A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907E0-38CA-495C-BD45-0B6C6D5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71A33-0C34-4408-94DE-B83F5B7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4F1C-84B1-4676-8AF7-554ACF0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01042-E242-4A0A-BCC7-4C02BB6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DATA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E469B-6AB5-4C4C-898B-CA6124E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Costruisce request, controlla status, valida payload e mappa errori.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4336-9AA2-4C3E-B5EE-AFAF20C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73A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4A1FA-4ECD-4F75-8FFD-286822E8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2B84E-3F79-4738-A4DD-4643B84A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UI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DACDD-BDE7-42D8-93E2-CAAF9F6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610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F7FB"/>
                </a:solidFill>
              </a:defRPr>
            </a:pPr>
            <a:r>
              <a:rPr sz="1425" b="0">
                <a:solidFill>
                  <a:srgbClr val="F4F7FB"/>
                </a:solidFill>
              </a:rPr>
              <a:t>Sceglie loading, empty, error, retry e componenti da mostrare.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5BC5A-B045-4C0C-8633-88C5F9E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9B7C8"/>
                </a:solidFill>
              </a:defRPr>
            </a:pPr>
            <a:r>
              <a:rPr sz="1425" b="0">
                <a:solidFill>
                  <a:srgbClr val="A9B7C8"/>
                </a:solidFill>
              </a:rPr>
              <a:t>Il componente non deve conoscere dettagli HTTP che non influenzano la UI.</a:t>
            </a:r>
          </a:p>
        </p:txBody>
      </p:sp>
    </p:spTree>
    <p:extLst>
      <p:ext uri="{BB962C8B-B14F-4D97-AF65-F5344CB8AC3E}">
        <p14:creationId xmlns:p14="http://schemas.microsoft.com/office/powerpoint/2010/main" val="65788964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Il client API traduce HTTP in un contratto applicativo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export async function listTickets(filters: Filters, signal?: AbortSignal)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response = await fetch(buildUrl(filters), { signal });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fetch non rifiuta per 404 o 500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if (!response.ok) throw await toAppError(response);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dto: TicketDto[] = await response.json();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dto.map(toTicket);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Il resto dell’app riceve Ticket e AppError, non Response e dettagli del backend.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 adapter protegge il dominio dal formato remoto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function toTicket(dto: TicketDto): Ticket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id: dto.ticket_id,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title: dto.subject.trim(),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priority: mapPriority(dto.priority_code),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updatedAt: new Date(dto.updated_at)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};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La UI dipende da un modello stabile anche se l’API usa naming e formati differenti.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 hook orchestra il ciclo senza mescolare il markup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function useTickets(filters: Filters)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const [state, dispatch] = useReducer(reducer, initial);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useEffect(() =&gt;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const controller = new AbortController();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run(filters, controller.signal, dispatch);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return () =&gt; controller.abort();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}, [filters]);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return state;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Il servizio accede ai dati; il reducer modella gli stati; il componente renderizza.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6F859-2902-40FB-B8DD-9BF2C01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10FD-F2A6-49D1-A22A-2A0BE53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C4847-E681-4445-BC21-82CE98B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Una server cache conserva dati per chiave e politica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EAB23-3F9C-4E98-A4C6-A77D201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F29E8-57A0-4664-B972-1AEC26A9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BE06-0E86-4D1C-8EB7-620E481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3A0FF"/>
                </a:solidFill>
              </a:defRPr>
            </a:pPr>
            <a:r>
              <a:rPr sz="2850" b="1">
                <a:solidFill>
                  <a:srgbClr val="73A0FF"/>
                </a:solidFill>
              </a:rPr>
              <a:t>Server cache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EFD6-1409-40BE-873B-97B1781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Memoria client condivisa di risposte remote, indicizzate da query key e governate da freschezza, garbage collection e invalidazione.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87692-CF61-4009-A86B-3EC9950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600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F6BF-56DC-497B-B0A1-B54B639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E516-712D-4C53-B4A0-8778DC2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ESEMPIO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D86E2-5B59-4263-9E8A-39A143A7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La chiave ['tickets', filters] identifica la lista corrispondente a quei filtri.</a:t>
            </a:r>
          </a:p>
        </p:txBody>
      </p:sp>
    </p:spTree>
    <p:extLst>
      <p:ext uri="{BB962C8B-B14F-4D97-AF65-F5344CB8AC3E}">
        <p14:creationId xmlns:p14="http://schemas.microsoft.com/office/powerpoint/2010/main" val="109858360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La query key deve contenere ogni input della richiesta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const queryKey = ['tickets',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status: filters.status,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ownerId: filters.ownerId,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page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}];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// Stessi input, stessa identità di cache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useQuery({ queryKey, queryFn: ({ signal }) =&gt;
  listTickets({ ...filters, page }, signal) });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Se page o un filtro mancano dalla chiave, risposte differenti possono condividere la stessa entry.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98035-C7DA-46D5-8098-F3FA41B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0ED-75B2-4A7A-B6C4-9CF7C0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215F-1FF9-42A8-AF03-920E050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Invalidare dichiara quali dati sono stale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7FC0-7BD1-4003-94FC-98F7F91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6BE2-31B1-41F5-B8C6-E752BB6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A123-B3C9-4CA6-9957-020C12C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37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A76D-CE38-4F60-AEBD-8055852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950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Evento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D837-936F-41F4-8259-CAD86F1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1619250"/>
            <a:ext cx="335432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61D35-D620-426B-B6C3-322ED6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752600"/>
            <a:ext cx="3011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Cache coinvolta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DAA8C-1C36-4187-91A1-192BB7B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19250"/>
            <a:ext cx="4328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0BF7-9F96-44DC-86B9-AE7DEB0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52600"/>
            <a:ext cx="39852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Azione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4A77-6A8D-4569-BC9D-630F2AF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4291-86E7-457F-95E7-8631A35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ticket creato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7F27-D505-400C-B2EF-8A275E6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1336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8FCE-DE27-4DC8-82C7-2E09BD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2574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liste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8DF5-7726-4159-B5BF-6D73C91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336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3E9BD-BCC4-46BA-A63E-83FE477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574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invalidate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2F83-8E77-4B39-AB0C-04DA0E1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6B2F-92F6-4024-9E09-B649A17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priorità cambiata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F7E4-D86B-4D4C-A0D5-1435874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77177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78821-58A3-4733-ACCA-A67CF7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89560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detail + liste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D6AF-42DB-40CF-B40C-4210C7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7177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8C29C-0189-428C-A1A6-FE8929A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89560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update/invalidate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604D7-F2F3-4A7E-84CE-80885DA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1185-5DA5-4D2D-A35A-EE1CB57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utente disconnesso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44E5A-87E6-465A-9DF8-F87EF1D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340995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5972-7C38-45FF-A374-B3D0CA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353377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dati privati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8E1AA-7BA3-41BB-9937-5513CE4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0995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B050E-4846-4591-ACB5-FC3D92D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353377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clear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70350-1E76-43C8-9065-D89CAA7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8FA24-48BA-44B5-B5EF-1FD185F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filtro cambiato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120A0-04A7-447E-84D0-45BB4F0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04812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EEB34-CBC5-4FD7-A08A-3C54839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17195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nuova key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394D8-6F68-4F31-B4DD-D613D84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4812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D3DF3-0636-4506-B8B4-6F30FBA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17195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fetch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FAA6C-CCB0-4058-88CA-A35FD4B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A5D3-BFFB-47C3-A6BC-662E222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focus finestra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62CAB-D617-4D2E-9C17-A4159D9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6863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21A89-3F87-4B93-A871-6849EF6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8101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query stale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10215-13CB-4042-85C4-9BCE648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6863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9EFF-4ED9-4CAB-9A8D-B02E33C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01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refetch</a:t>
            </a:r>
          </a:p>
        </p:txBody>
      </p:sp>
    </p:spTree>
    <p:extLst>
      <p:ext uri="{BB962C8B-B14F-4D97-AF65-F5344CB8AC3E}">
        <p14:creationId xmlns:p14="http://schemas.microsoft.com/office/powerpoint/2010/main" val="142238832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98035-C7DA-46D5-8098-F3FA41B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0ED-75B2-4A7A-B6C4-9CF7C0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215F-1FF9-42A8-AF03-920E050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Il refresh deve seguire il costo e la volatilità del dato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7FC0-7BD1-4003-94FC-98F7F91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6BE2-31B1-41F5-B8C6-E752BB6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A123-B3C9-4CA6-9957-020C12C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37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A76D-CE38-4F60-AEBD-8055852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950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Strategia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D837-936F-41F4-8259-CAD86F1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1619250"/>
            <a:ext cx="335432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61D35-D620-426B-B6C3-322ED6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752600"/>
            <a:ext cx="3011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Quando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DAA8C-1C36-4187-91A1-192BB7B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19250"/>
            <a:ext cx="4328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0BF7-9F96-44DC-86B9-AE7DEB0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52600"/>
            <a:ext cx="39852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Rischio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4A77-6A8D-4569-BC9D-630F2AF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4291-86E7-457F-95E7-8631A35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on mount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7F27-D505-400C-B2EF-8A275E6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1336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8FCE-DE27-4DC8-82C7-2E09BD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2574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apertura vista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8DF5-7726-4159-B5BF-6D73C91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336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3E9BD-BCC4-46BA-A63E-83FE477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574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richieste frequenti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2F83-8E77-4B39-AB0C-04DA0E1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6B2F-92F6-4024-9E09-B649A17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on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F7E4-D86B-4D4C-A0D5-1435874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77177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78821-58A3-4733-ACCA-A67CF7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89560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ritorno utente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D6AF-42DB-40CF-B40C-4210C7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7177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8C29C-0189-428C-A1A6-FE8929A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89560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cambi visivi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604D7-F2F3-4A7E-84CE-80885DA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1185-5DA5-4D2D-A35A-EE1CB57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interval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44E5A-87E6-465A-9DF8-F87EF1D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340995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5972-7C38-45FF-A374-B3D0CA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353377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monitoraggio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8E1AA-7BA3-41BB-9937-5513CE4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0995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B050E-4846-4591-ACB5-FC3D92D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353377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carico rete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70350-1E76-43C8-9065-D89CAA7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8FA24-48BA-44B5-B5EF-1FD185F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manuale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120A0-04A7-447E-84D0-45BB4F0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04812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EEB34-CBC5-4FD7-A08A-3C54839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17195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utente decide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394D8-6F68-4F31-B4DD-D613D84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4812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D3DF3-0636-4506-B8B4-6F30FBA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17195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dato stale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FAA6C-CCB0-4058-88CA-A35FD4B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A5D3-BFFB-47C3-A6BC-662E222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post mutation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62CAB-D617-4D2E-9C17-A4159D9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6863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21A89-3F87-4B93-A871-6849EF6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8101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dato modificato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10215-13CB-4042-85C4-9BCE648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6863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9EFF-4ED9-4CAB-9A8D-B02E33C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01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waterfall</a:t>
            </a:r>
          </a:p>
        </p:txBody>
      </p:sp>
    </p:spTree>
    <p:extLst>
      <p:ext uri="{BB962C8B-B14F-4D97-AF65-F5344CB8AC3E}">
        <p14:creationId xmlns:p14="http://schemas.microsoft.com/office/powerpoint/2010/main" val="142238832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TanStack Query esplicita chiave, funzione e freschezza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const ticketsQuery = useQuery({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queryKey: ['tickets', filters],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queryFn: ({ signal }) =&gt; listTickets(filters, signal),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staleTime: 30_000,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// isPending: nessun dato; isFetching: refresh incluso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La libreria gestisce deduplicazione e lifecycle; l’architettura deve comunque scegliere key e policy.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240853a6e4083"/>
          <a:srcRect xmlns:a="http://schemas.openxmlformats.org/drawingml/2006/main" l="13653" t="0" r="13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0"/>
            <a:ext cx="885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AB89-EA3D-4155-8AB6-A32DD397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EC9E8-306E-4A64-9A6D-19F5F8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B0D62-688F-48D7-B8A7-29BF3897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3A0FF"/>
                </a:solidFill>
              </a:defRPr>
            </a:pPr>
            <a:r>
              <a:rPr sz="3150" b="1">
                <a:solidFill>
                  <a:srgbClr val="73A0F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5CA2F-EECB-4827-9E11-26005DE9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Optimistic update e rollback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A036D-4396-49D4-8C85-ECF49A0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La UI anticipa il successo, ma conserva una via di ritorno.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6AD41-B776-4E63-B376-B371A0A5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58720977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6F859-2902-40FB-B8DD-9BF2C01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10FD-F2A6-49D1-A22A-2A0BE53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C4847-E681-4445-BC21-82CE98B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 optimistic update modifica la UI prima della conferma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EAB23-3F9C-4E98-A4C6-A77D201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F29E8-57A0-4664-B972-1AEC26A9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BE06-0E86-4D1C-8EB7-620E481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3A0FF"/>
                </a:solidFill>
              </a:defRPr>
            </a:pPr>
            <a:r>
              <a:rPr sz="2850" b="1">
                <a:solidFill>
                  <a:srgbClr val="73A0FF"/>
                </a:solidFill>
              </a:rPr>
              <a:t>Optimistic update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EFD6-1409-40BE-873B-97B1781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7FB"/>
                </a:solidFill>
              </a:defRPr>
            </a:pPr>
            <a:r>
              <a:rPr sz="2175" b="1">
                <a:solidFill>
                  <a:srgbClr val="F4F7FB"/>
                </a:solidFill>
              </a:rPr>
              <a:t>Strategia che applica subito la modifica prevista, invia la richiesta e conferma o ripristina lo snapshot in base all’esito.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87692-CF61-4009-A86B-3EC9950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600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F6BF-56DC-497B-B0A1-B54B639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E516-712D-4C53-B4A0-8778DC2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ESEMPIO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D86E2-5B59-4263-9E8A-39A143A7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La priorità passa subito a high; se la PATCH fallisce, torna al valore precedente.</a:t>
            </a:r>
          </a:p>
        </p:txBody>
      </p:sp>
    </p:spTree>
    <p:extLst>
      <p:ext uri="{BB962C8B-B14F-4D97-AF65-F5344CB8AC3E}">
        <p14:creationId xmlns:p14="http://schemas.microsoft.com/office/powerpoint/2010/main" val="109858360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9C5B5-9FF5-406D-AA8F-C77EDC5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55A77-1E2C-402B-AF52-D4E31854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F39FA-5F02-48D2-A75E-E869037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L’update ottimistico è una transazione lato interfaccia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C8A57-C302-411C-95CD-7EE9F536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083BE-AD6D-4550-A2C0-1CBF0F7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5428C-0110-47E2-BBCF-6AC437E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1BA8B-E33A-4B14-9B46-09760D73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2D720-D64A-4870-8FD0-02F19154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31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5B214-A4C5-4D07-9EF1-55B64E0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630" y="30003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52B96-8625-4595-97BA-7490843F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80CB8-E41B-4FB1-80D3-ECBBAD73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425E5-4E52-4D43-A556-7FC73412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5F6AD-EB9B-438B-9D5C-65C233A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optimistic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15F3D-40D1-4C1C-B5A9-44D52B4A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CEEA6-85D2-48CB-92AB-AE60672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request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29D08-957E-467D-B21A-33A30FFD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FFA01-6455-4564-90E8-BAA1B74B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confirm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B40DB-7961-4D90-A79F-3C21F747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2381250"/>
            <a:ext cx="19126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743BC-7BDB-4E5B-B4E1-6F25EE9B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790825"/>
            <a:ext cx="16459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</a:rPr>
              <a:t>rollback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50A92-319B-4BA5-BB0E-A8FB5AD0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967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Lo snapshot precedente è il capitale che rende possibile il rollback.</a:t>
            </a:r>
          </a:p>
        </p:txBody>
      </p:sp>
    </p:spTree>
    <p:extLst>
      <p:ext uri="{BB962C8B-B14F-4D97-AF65-F5344CB8AC3E}">
        <p14:creationId xmlns:p14="http://schemas.microsoft.com/office/powerpoint/2010/main" val="31926397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Snapshot prima, cache ottimistica dopo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const previous = queryClient.getQueryData&lt;Ticket[]&gt;(key);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queryClient.setQueryData&lt;Ticket[]&gt;(key, old =&gt;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old?.map(t =&gt; t.id === id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? { ...t, priority: nextPriority }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: t)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// Solo ora parte la 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La trasformazione è immutabile e limitata all’entità identificata da id.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In caso di errore ripristiniamo; alla fine invalidiamo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try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await ticketsApi.updatePriority(id, nextPriority);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 catch (error)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// Rollback allo snapshot coerente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queryClient.setQueryData(key, previous);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notifyError(error);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 finally { queryClient.invalidateQueries({ queryKey: key });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Rollback ripara la UI; invalidazione verifica la verità finale con il backend.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useMutation formalizza il ciclo ottimistico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useMutation({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mutationFn: updatePriority,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onMutate: async variables =&gt;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await queryClient.cancelQueries({ queryKey: key });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const previous = queryClient.getQueryData(key);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applyOptimistic(variables);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return { previous };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},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onMutate prepara la transazione e restituisce il contesto che onError userà per tornare indietro.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9411C-B43F-465D-A29F-154D6E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E3BB-F1F8-4C87-9A17-DEBD685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A179-77C2-42CF-98C5-DC6DB9B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onError e onSettled chiudono la transazione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4378-7EDE-4F00-A8EB-62B9743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8C6C-38A7-4FBA-8686-0216D65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2F51-2C7A-4675-B502-271D912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FF7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2893-F68F-4DCA-9A64-38E38E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onError: (_error, _variables, context) =&gt;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queryClient.setQueryData(key, context?.previous);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},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onSettled: () =&gt;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    queryClient.invalidateQueries({ queryKey: key }),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});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// Il backend decide lo stato definitivo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E22C0-F6FD-4966-939F-E05E43D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95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D868C-FE86-48DF-8822-A851C5D0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915B-2637-40AC-83E7-0502841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8A"/>
                </a:solidFill>
              </a:defRPr>
            </a:pPr>
            <a:r>
              <a:rPr sz="975" b="1">
                <a:solidFill>
                  <a:srgbClr val="FF7A8A"/>
                </a:solidFill>
              </a:rPr>
              <a:t>DA OSSERVARE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D0145-FF2C-402D-AEEE-AAD772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Il contesto collega il rollback alla mutation che ha creato lo snapshot.</a:t>
            </a:r>
          </a:p>
        </p:txBody>
      </p:sp>
    </p:spTree>
    <p:extLst>
      <p:ext uri="{BB962C8B-B14F-4D97-AF65-F5344CB8AC3E}">
        <p14:creationId xmlns:p14="http://schemas.microsoft.com/office/powerpoint/2010/main" val="77306105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98035-C7DA-46D5-8098-F3FA41B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0ED-75B2-4A7A-B6C4-9CF7C0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215F-1FF9-42A8-AF03-920E050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La concorrenza richiede protezioni oltre al rollback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7FC0-7BD1-4003-94FC-98F7F91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6BE2-31B1-41F5-B8C6-E752BB6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A123-B3C9-4CA6-9957-020C12C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37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A76D-CE38-4F60-AEBD-8055852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950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Rischio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D837-936F-41F4-8259-CAD86F1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1619250"/>
            <a:ext cx="335432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61D35-D620-426B-B6C3-322ED6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752600"/>
            <a:ext cx="3011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Sintomo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DAA8C-1C36-4187-91A1-192BB7B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19250"/>
            <a:ext cx="4328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0BF7-9F96-44DC-86B9-AE7DEB0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52600"/>
            <a:ext cx="39852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Protezione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4A77-6A8D-4569-BC9D-630F2AF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4291-86E7-457F-95E7-8631A35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risposta fuori ordine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7F27-D505-400C-B2EF-8A275E6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1336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8FCE-DE27-4DC8-82C7-2E09BD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2574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valore vecchio vince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8DF5-7726-4159-B5BF-6D73C91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336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3E9BD-BCC4-46BA-A63E-83FE477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574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versione/requestId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2F83-8E77-4B39-AB0C-04DA0E1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6B2F-92F6-4024-9E09-B649A17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due edit stesso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F7E4-D86B-4D4C-A0D5-1435874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77177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78821-58A3-4733-ACCA-A67CF7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89560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rollback errato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D6AF-42DB-40CF-B40C-4210C7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7177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8C29C-0189-428C-A1A6-FE8929A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89560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queue o merge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604D7-F2F3-4A7E-84CE-80885DA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1185-5DA5-4D2D-A35A-EE1CB57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refetch concorrente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44E5A-87E6-465A-9DF8-F87EF1D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340995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5972-7C38-45FF-A374-B3D0CA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353377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flicker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8E1AA-7BA3-41BB-9937-5513CE4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0995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B050E-4846-4591-ACB5-FC3D92D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353377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cancel query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70350-1E76-43C8-9065-D89CAA7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8FA24-48BA-44B5-B5EF-1FD185F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errore irreversibile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120A0-04A7-447E-84D0-45BB4F0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04812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EEB34-CBC5-4FD7-A08A-3C54839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17195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fiducia persa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394D8-6F68-4F31-B4DD-D613D84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4812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D3DF3-0636-4506-B8B4-6F30FBA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17195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niente optimistic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FAA6C-CCB0-4058-88CA-A35FD4B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A5D3-BFFB-47C3-A6BC-662E222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liste multiple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62CAB-D617-4D2E-9C17-A4159D9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6863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21A89-3F87-4B93-A871-6849EF6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8101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viste incoerenti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10215-13CB-4042-85C4-9BCE648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6863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9EFF-4ED9-4CAB-9A8D-B02E33C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01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update per key</a:t>
            </a:r>
          </a:p>
        </p:txBody>
      </p:sp>
    </p:spTree>
    <p:extLst>
      <p:ext uri="{BB962C8B-B14F-4D97-AF65-F5344CB8AC3E}">
        <p14:creationId xmlns:p14="http://schemas.microsoft.com/office/powerpoint/2010/main" val="142238832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53AEB-7338-4B9C-9A29-13085185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6D56A-B170-40AE-9B20-C5C42766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B094D-785F-447A-B09B-4FCD975C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La dashboard finale separa sette responsabilità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F9783-F71F-436B-9AC2-C95CD04A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61878-20A7-48CD-8237-53F1ADC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93F0F-E992-473E-89C8-15AA54F3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667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1DB24-2682-499D-91C9-A0C0D8FF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MAPPA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DELLA 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BC758-E6F6-434D-952D-8D98A75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7C8"/>
                </a:solidFill>
              </a:defRPr>
            </a:pPr>
            <a:r>
              <a:rPr sz="1425" b="0">
                <a:solidFill>
                  <a:srgbClr val="A9B7C8"/>
                </a:solidFill>
              </a:rPr>
              <a:t>Ogni livello possiede una sola decisione principale.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AD192-E711-461B-BC0A-89D3658A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85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613B5-DFA5-4F43-A1C5-E990D7BF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002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1. FiltersProvider: client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58AE8-88AE-420A-B079-1095AA5D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57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987F5-7966-4AF4-8002-3E5309F4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2. Dashboard reducer: transizioni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B8D8E-650E-4A8E-BD87-DC6E2DD9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28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01410-857F-4220-B810-0514C93A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432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3. ticketsApi: trasporto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03CFB-FF27-4521-9CBD-6E390B24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5A76F-F061-416E-8FE2-CFF2D299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147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4. Adapter: modello dominio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563D0-91B8-42FB-8DF0-762BF8A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5A8F4-076C-46B9-B7D3-9EB7105D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5. Query cache: server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B57B9-C69E-4DEB-878B-177D333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6F425-B1C7-422A-8E4F-98389371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577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6. Mutation: optimistic e rollback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C1EFF-827A-4577-9D01-D3270950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4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B5235-C161-4767-91F0-6F637A73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29200"/>
            <a:ext cx="643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4F7FB"/>
                </a:solidFill>
              </a:defRPr>
            </a:pPr>
            <a:r>
              <a:rPr sz="1650" b="0">
                <a:solidFill>
                  <a:srgbClr val="F4F7FB"/>
                </a:solidFill>
              </a:rPr>
              <a:t>7. UI: stati osservabili</a:t>
            </a:r>
          </a:p>
        </p:txBody>
      </p:sp>
    </p:spTree>
    <p:extLst>
      <p:ext uri="{BB962C8B-B14F-4D97-AF65-F5344CB8AC3E}">
        <p14:creationId xmlns:p14="http://schemas.microsoft.com/office/powerpoint/2010/main" val="131081182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57659-50D1-478D-BFE1-C35D07EB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57FE0-06C2-499F-8FE8-E16D9DE3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C7314-86A1-427B-8906-56799DF9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Laboratorio: dashboard con rete simulata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CD75E-A3F8-43B6-B420-40FED563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A0065-E8CF-4D6F-9C0A-34BFF1FF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4DC89-ABA7-4DC6-B54A-D8A879C8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B72A6-74BD-4D35-B46B-D8853ED8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02C55-AF8B-4A45-B95E-6868196D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Classifica ogni stato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C8B65-B5F4-4D43-A1D2-382B9952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CF68B-F1B6-4D60-898F-02FC1EA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4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2A47D-BB06-4626-8F9B-B607C103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Definisci query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2C876-7B0B-43C2-9A25-FE099029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4F37D-3AA6-4904-8D6B-F508C39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237BB-F3C9-49C1-9C38-B5B9DAB5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Modella loading, empty,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5BB17-1BDD-4093-9686-3FF58C66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493AC-2A22-4F64-88DC-76CCB2D5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815B4-34D4-4F4B-9798-30A2FDA7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Aggiungi retry e abort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0393D-EEA0-421E-B49B-2596F771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59396-E0DC-48DF-82FE-4B06A12A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81723-C185-487D-BBC1-E1AF40C6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19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Implementa optimistic 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AAF25-733F-4498-8DD6-9B5ACB5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E5526-1906-49F7-A785-1B2FC099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24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EAC8C-DB88-4965-9E1F-80AB7D0C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Forza un errore e verifica rollback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41A61-3FEE-4CE9-9514-8F093BCD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06E5A-3A29-4577-90E6-CD5CA586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4BF552-CE7C-4A4F-BE36-F2703E2A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Motiva una scelta in code review</a:t>
            </a:r>
          </a:p>
        </p:txBody>
      </p:sp>
    </p:spTree>
    <p:extLst>
      <p:ext uri="{BB962C8B-B14F-4D97-AF65-F5344CB8AC3E}">
        <p14:creationId xmlns:p14="http://schemas.microsoft.com/office/powerpoint/2010/main" val="124397976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98035-C7DA-46D5-8098-F3FA41B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0ED-75B2-4A7A-B6C4-9CF7C0F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C215F-1FF9-42A8-AF03-920E050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Mappa decisionale: scegli il minimo sufficiente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7FC0-7BD1-4003-94FC-98F7F91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6BE2-31B1-41F5-B8C6-E752BB6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A123-B3C9-4CA6-9957-020C12C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379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A76D-CE38-4F60-AEBD-8055852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950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Segnale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D837-936F-41F4-8259-CAD86F1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1619250"/>
            <a:ext cx="335432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61D35-D620-426B-B6C3-322ED6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752600"/>
            <a:ext cx="301142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Meccanismo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DAA8C-1C36-4187-91A1-192BB7B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19250"/>
            <a:ext cx="4328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0BF7-9F96-44DC-86B9-AE7DEB02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52600"/>
            <a:ext cx="39852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Confine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4A77-6A8D-4569-BC9D-630F2AF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4291-86E7-457F-95E7-8631A35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solo un componente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07F27-D505-400C-B2EF-8A275E6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1336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38FCE-DE27-4DC8-82C7-2E09BD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2574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useState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38DF5-7726-4159-B5BF-6D73C91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336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3E9BD-BCC4-46BA-A63E-83FE477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574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locale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42F83-8E77-4B39-AB0C-04DA0E1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6B2F-92F6-4024-9E09-B649A17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transizioni correlate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F7E4-D86B-4D4C-A0D5-1435874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277177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78821-58A3-4733-ACCA-A67CF7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289560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useReducer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D6AF-42DB-40CF-B40C-4210C7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77177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8C29C-0189-428C-A1A6-FE8929A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89560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feature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604D7-F2F3-4A7E-84CE-80885DA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1185-5DA5-4D2D-A35A-EE1CB57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molti discendenti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44E5A-87E6-465A-9DF8-F87EF1DC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340995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B5972-7C38-45FF-A374-B3D0CA5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353377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8E1AA-7BA3-41BB-9937-5513CE4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0995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B050E-4846-4591-ACB5-FC3D92D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353377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sottoalbero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70350-1E76-43C8-9065-D89CAA71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8FA24-48BA-44B5-B5EF-1FD185F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dato remoto condiviso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D120A0-04A7-447E-84D0-45BB4F0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048125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EEB34-CBC5-4FD7-A08A-3C54839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171950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query cache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394D8-6F68-4F31-B4DD-D613D84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48125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A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D3DF3-0636-4506-B8B4-6F30FBA1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171950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app/sessione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FAA6C-CCB0-4058-88CA-A35FD4B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37916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A5D3-BFFB-47C3-A6BC-662E222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79501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durata oltre reload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662CAB-D617-4D2E-9C17-A4159D9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716" y="4686300"/>
            <a:ext cx="3354324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21A89-3F87-4B93-A871-6849EF6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4810125"/>
            <a:ext cx="301142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storage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10215-13CB-4042-85C4-9BCE648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686300"/>
            <a:ext cx="43281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9EFF-4ED9-4CAB-9A8D-B02E33C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0125"/>
            <a:ext cx="39852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142238832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4C4528-62D7-412B-B446-76C0D3E4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56858-0300-43F2-ADF4-67660F6B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D0AD3-BF55-42E6-90C6-CAF19C49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Checklist finale del Modulo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58D2E-3C56-4E9A-A828-C3EEF79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A103F-6EA6-4139-94BA-049F2FD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39664-A47E-463B-A99C-AD639258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CEF47-CA72-49EB-AEAE-DD7930C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26943-C069-48CB-9142-2CB0850D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Ogni stato ha un proprietario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73C4D-C5CD-4D6C-AC92-6EAA0DA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8E3B6-F5C2-4F7C-915A-685B70B3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4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5870D-0352-455E-932A-3F1551FA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I valori derivabili non sono duplicati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A05EA-407A-48EF-B0E4-B1F57D35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6C969-6BD6-4A5F-9D3F-4F2A4783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3CBEB-B5FA-428D-8FA2-1DCD3FB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Context possiede un confine limitato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F051B-4AD1-43CA-8DB7-E56081A7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F5C2C-F16D-4C1E-BDF4-1DF78FC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2618B-7F7C-46C4-8DA3-92724261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Reducer nomina transizioni reali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E05F9-34B9-48E8-BE01-9D6CBEA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92A7A-BB3F-49B2-8071-868A845F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C8E43-7F29-4FC2-AF21-F9163327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19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Loading, empty ed error sono distinti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F5120-4DB3-4DCE-A541-983A4376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BEC93-CC8A-4F3B-B9F4-9798216C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24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231A1-CDEB-43E3-ADA6-A6ADC0D1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La cache ha key e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1799E-D15E-43BA-B616-D85EC7AA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F30A2-45FB-42D8-AE01-D6AAF382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3A0FF"/>
                </a:solidFill>
              </a:defRPr>
            </a:pPr>
            <a:r>
              <a:rPr sz="1500" b="1">
                <a:solidFill>
                  <a:srgbClr val="73A0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50915-352B-4154-A166-21E82A4E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Ogni update ottimistico ha rollback</a:t>
            </a:r>
          </a:p>
        </p:txBody>
      </p:sp>
    </p:spTree>
    <p:extLst>
      <p:ext uri="{BB962C8B-B14F-4D97-AF65-F5344CB8AC3E}">
        <p14:creationId xmlns:p14="http://schemas.microsoft.com/office/powerpoint/2010/main" val="85535665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E59CA-9124-4C37-A4C8-49C6F81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F6274-27E4-46E4-A0FD-8751F5F1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6D568-7C4D-4501-8192-A1C4069A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Uno state robusto prevede anche il fallimento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780AC-516A-413E-8AA9-A0D50E6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56E81-FCA1-4BF5-9050-50B04344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9EB90-A920-41E6-80E9-13CE512A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8AAD4-E831-43FE-A7AD-53E36CD1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</a:rPr>
              <a:t>Il team sa chi possiede il dato, la UI sa che cosa mostrare, la cache sa quando dubitare e ogni mutation sa come tornare indietro.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03A9F-9E2C-45C6-BE91-4C9BB6B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6FC25-42F3-4D68-B754-54B7687C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SINTESI</a:t>
            </a:r>
          </a:p>
        </p:txBody>
      </p:sp>
    </p:spTree>
    <p:extLst>
      <p:ext uri="{BB962C8B-B14F-4D97-AF65-F5344CB8AC3E}">
        <p14:creationId xmlns:p14="http://schemas.microsoft.com/office/powerpoint/2010/main" val="85071656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0F542-B098-4B55-90B6-EE9D9BDB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79BCB-C4E4-4A20-B1FF-2DA9D457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8298"/>
                </a:solidFill>
              </a:defRPr>
            </a:pPr>
            <a:r>
              <a:rPr sz="900" b="1">
                <a:solidFill>
                  <a:srgbClr val="6F8298"/>
                </a:solidFill>
              </a:rPr>
              <a:t>REACT AZIENDALE · MODULO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ED28E-C866-4AE3-8C57-68932E3A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Fonti e approfondimenti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028F4-9F56-4AB5-9C68-84BCC8DF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172CF-6081-445C-A2B5-5B36120B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8298"/>
                </a:solidFill>
              </a:defRPr>
            </a:pPr>
            <a:r>
              <a:rPr sz="900" b="0">
                <a:solidFill>
                  <a:srgbClr val="6F8298"/>
                </a:solidFill>
              </a:rPr>
              <a:t>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F7E1A-C23E-4C7E-9B50-FA4F28E3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24712-D9FC-400D-8A5F-08898E86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React: Choosing the State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A508E-6E28-42DE-92F5-9B98DE04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8BFC5-BC53-4BC7-8F5B-5086EBE9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React: Sharing State Between 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C103B-A5A9-492C-9DE3-10094C3C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63855-4F5D-4EC8-A835-B1F30212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React: useContext e createContext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60B8F-AF53-4B1F-972F-631E3CD1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34141-887C-4294-A26C-99802766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React: useReducer e Reducer +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D717F-6D0E-41D0-9E44-6E0E869D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31866-C1FC-4E16-B1A7-7A2B23C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TanStack Query: caching e invalidation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D2329-4BE0-44DE-9CDA-FD0E88AE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CB95C-0E93-49F3-8518-B25015AE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TanStack Query: optimistic updates e useMutation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24F65-94D4-4AD2-9C1B-0F15F957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74130-A658-4841-8D8F-2FD08C5C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MDN: fetch, AbortController e Web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82E93-098E-4E12-AD7E-E713FB19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4577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0"/>
          </a:solidFill>
          <a:ln xmlns:a="http://schemas.openxmlformats.org/drawingml/2006/main" w="9525">
            <a:solidFill>
              <a:srgbClr val="273A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454AD-A0AA-4500-ACB8-FD40821C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A4E45-C710-43CD-A81B-A5B43368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4785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3A0FF"/>
                </a:solidFill>
              </a:defRPr>
            </a:pPr>
            <a:r>
              <a:rPr sz="975" b="1">
                <a:solidFill>
                  <a:srgbClr val="73A0FF"/>
                </a:solidFill>
              </a:rPr>
              <a:t>URL PRINCIPALI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EC651-E496-4878-B1AE-D78FF340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714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3A0FF"/>
                </a:solidFill>
              </a:defRPr>
            </a:pPr>
            <a:r>
              <a:rPr sz="1050" b="0">
                <a:solidFill>
                  <a:srgbClr val="73A0FF"/>
                </a:solidFill>
              </a:rPr>
              <a:t>react.dev/learn/choosing-the-state-structure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73A0FF"/>
                </a:solidFill>
              </a:defRPr>
            </a:pPr>
            <a:r>
              <a:rPr sz="1050" b="0">
                <a:solidFill>
                  <a:srgbClr val="73A0FF"/>
                </a:solidFill>
              </a:rPr>
              <a:t>react.dev/learn/sharing-state-between-components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73A0FF"/>
                </a:solidFill>
              </a:defRPr>
            </a:pPr>
            <a:r>
              <a:rPr sz="1050" b="0">
                <a:solidFill>
                  <a:srgbClr val="73A0FF"/>
                </a:solidFill>
              </a:rPr>
              <a:t>react.dev/reference/react/useReducer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73A0FF"/>
                </a:solidFill>
              </a:defRPr>
            </a:pPr>
            <a:r>
              <a:rPr sz="1050" b="0">
                <a:solidFill>
                  <a:srgbClr val="73A0FF"/>
                </a:solidFill>
              </a:rPr>
              <a:t>react.dev/learn/scaling-up-with-reducer-and-context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73A0FF"/>
                </a:solidFill>
              </a:defRPr>
            </a:pPr>
            <a:r>
              <a:rPr sz="1050" b="0">
                <a:solidFill>
                  <a:srgbClr val="73A0FF"/>
                </a:solidFill>
              </a:rPr>
              <a:t>tanstack.com/query/latest/docs/framework/react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73A0FF"/>
                </a:solidFill>
              </a:defRPr>
            </a:pPr>
            <a:r>
              <a:rPr sz="1050" b="0">
                <a:solidFill>
                  <a:srgbClr val="73A0FF"/>
                </a:solidFill>
              </a:rPr>
              <a:t>developer.mozilla.org/Web/API/Fetch_API</a:t>
            </a:r>
          </a:p>
        </p:txBody>
      </p:sp>
    </p:spTree>
    <p:extLst>
      <p:ext uri="{BB962C8B-B14F-4D97-AF65-F5344CB8AC3E}">
        <p14:creationId xmlns:p14="http://schemas.microsoft.com/office/powerpoint/2010/main" val="10130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2026-07-21T20:29:56.6120000Z</dcterms:created>
  <dcterms:modified xsi:type="dcterms:W3CDTF">2026-07-21T20:29:56.6120000Z</dcterms:modified>
</coreProperties>
</file>
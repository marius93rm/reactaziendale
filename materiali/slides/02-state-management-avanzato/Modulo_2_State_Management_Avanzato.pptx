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ae0afed97745a7" /><Relationship Type="http://schemas.openxmlformats.org/officeDocument/2006/relationships/extended-properties" Target="/docProps/app.xml" Id="Rd2fe8e0420944f7b" /><Relationship Type="http://schemas.openxmlformats.org/officeDocument/2006/relationships/officeDocument" Target="/ppt/presentation.xml" Id="R11fcd83d02a644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80fe2c2ccf46c8"/>
  </p:sldMasterIdLst>
  <p:notesMasterIdLst>
    <p:notesMasterId xmlns:r="http://schemas.openxmlformats.org/officeDocument/2006/relationships" r:id="R958dad994dc84a36"/>
  </p:notesMasterIdLst>
  <p:sldIdLst>
    <p:sldId xmlns:r="http://schemas.openxmlformats.org/officeDocument/2006/relationships" id="256" r:id="Rb48e79822aff4516"/>
    <p:sldId xmlns:r="http://schemas.openxmlformats.org/officeDocument/2006/relationships" id="257" r:id="R792b85ea90e94d71"/>
    <p:sldId xmlns:r="http://schemas.openxmlformats.org/officeDocument/2006/relationships" id="258" r:id="R7c4516b6e2724a6d"/>
    <p:sldId xmlns:r="http://schemas.openxmlformats.org/officeDocument/2006/relationships" id="259" r:id="Ra572782fefe444ba"/>
    <p:sldId xmlns:r="http://schemas.openxmlformats.org/officeDocument/2006/relationships" id="260" r:id="Rfb00507cd099474f"/>
    <p:sldId xmlns:r="http://schemas.openxmlformats.org/officeDocument/2006/relationships" id="261" r:id="Rdd2e433bde434166"/>
    <p:sldId xmlns:r="http://schemas.openxmlformats.org/officeDocument/2006/relationships" id="262" r:id="R96f0bd602a674038"/>
    <p:sldId xmlns:r="http://schemas.openxmlformats.org/officeDocument/2006/relationships" id="263" r:id="R4e2d8066774543bb"/>
    <p:sldId xmlns:r="http://schemas.openxmlformats.org/officeDocument/2006/relationships" id="264" r:id="Ra436e8e0658548a8"/>
    <p:sldId xmlns:r="http://schemas.openxmlformats.org/officeDocument/2006/relationships" id="265" r:id="Rd42f4e119be24e39"/>
    <p:sldId xmlns:r="http://schemas.openxmlformats.org/officeDocument/2006/relationships" id="266" r:id="Rf89e4a1e033e4940"/>
    <p:sldId xmlns:r="http://schemas.openxmlformats.org/officeDocument/2006/relationships" id="267" r:id="Ra24dfd387a554752"/>
    <p:sldId xmlns:r="http://schemas.openxmlformats.org/officeDocument/2006/relationships" id="268" r:id="Rbc052739a4264a82"/>
    <p:sldId xmlns:r="http://schemas.openxmlformats.org/officeDocument/2006/relationships" id="269" r:id="R1a53c5ee0dfa4717"/>
    <p:sldId xmlns:r="http://schemas.openxmlformats.org/officeDocument/2006/relationships" id="270" r:id="Rc2f4e6024af44cd8"/>
    <p:sldId xmlns:r="http://schemas.openxmlformats.org/officeDocument/2006/relationships" id="271" r:id="Re2a1c35808824cf1"/>
    <p:sldId xmlns:r="http://schemas.openxmlformats.org/officeDocument/2006/relationships" id="272" r:id="Rfe6b825a37014be5"/>
    <p:sldId xmlns:r="http://schemas.openxmlformats.org/officeDocument/2006/relationships" id="273" r:id="Re2040074ad4b4cf7"/>
    <p:sldId xmlns:r="http://schemas.openxmlformats.org/officeDocument/2006/relationships" id="274" r:id="Ra5cf851d075e47ec"/>
    <p:sldId xmlns:r="http://schemas.openxmlformats.org/officeDocument/2006/relationships" id="275" r:id="R8ff4cdbcb82c47f8"/>
    <p:sldId xmlns:r="http://schemas.openxmlformats.org/officeDocument/2006/relationships" id="276" r:id="Rf9c984fd917f4748"/>
    <p:sldId xmlns:r="http://schemas.openxmlformats.org/officeDocument/2006/relationships" id="277" r:id="R57e64ec2c71c4ecb"/>
    <p:sldId xmlns:r="http://schemas.openxmlformats.org/officeDocument/2006/relationships" id="278" r:id="Rbcf7d862a2594bfe"/>
    <p:sldId xmlns:r="http://schemas.openxmlformats.org/officeDocument/2006/relationships" id="279" r:id="Rf3d5c078bee84f01"/>
    <p:sldId xmlns:r="http://schemas.openxmlformats.org/officeDocument/2006/relationships" id="280" r:id="Rbf9654fd96b14079"/>
    <p:sldId xmlns:r="http://schemas.openxmlformats.org/officeDocument/2006/relationships" id="281" r:id="R122129935eba4108"/>
    <p:sldId xmlns:r="http://schemas.openxmlformats.org/officeDocument/2006/relationships" id="282" r:id="Re5a7d96ef4ad43f8"/>
    <p:sldId xmlns:r="http://schemas.openxmlformats.org/officeDocument/2006/relationships" id="283" r:id="Rec2a9f7b1e744329"/>
    <p:sldId xmlns:r="http://schemas.openxmlformats.org/officeDocument/2006/relationships" id="284" r:id="R7ac3478e4b764880"/>
    <p:sldId xmlns:r="http://schemas.openxmlformats.org/officeDocument/2006/relationships" id="285" r:id="R3edd38784d114533"/>
    <p:sldId xmlns:r="http://schemas.openxmlformats.org/officeDocument/2006/relationships" id="286" r:id="Re12346b683cb430d"/>
    <p:sldId xmlns:r="http://schemas.openxmlformats.org/officeDocument/2006/relationships" id="287" r:id="R9a178477e2fa42a4"/>
    <p:sldId xmlns:r="http://schemas.openxmlformats.org/officeDocument/2006/relationships" id="288" r:id="R8506899fd025412b"/>
    <p:sldId xmlns:r="http://schemas.openxmlformats.org/officeDocument/2006/relationships" id="289" r:id="Rb5d6e784fcfe4ce0"/>
    <p:sldId xmlns:r="http://schemas.openxmlformats.org/officeDocument/2006/relationships" id="290" r:id="Re4ccbaac13a3438f"/>
    <p:sldId xmlns:r="http://schemas.openxmlformats.org/officeDocument/2006/relationships" id="291" r:id="Rd531a81a1c4a48bf"/>
    <p:sldId xmlns:r="http://schemas.openxmlformats.org/officeDocument/2006/relationships" id="292" r:id="R1ca4ec0a329b4448"/>
    <p:sldId xmlns:r="http://schemas.openxmlformats.org/officeDocument/2006/relationships" id="293" r:id="R16698659afc14ff4"/>
    <p:sldId xmlns:r="http://schemas.openxmlformats.org/officeDocument/2006/relationships" id="294" r:id="R3795c7a3f444480e"/>
    <p:sldId xmlns:r="http://schemas.openxmlformats.org/officeDocument/2006/relationships" id="295" r:id="Rc681e5816cc846b6"/>
    <p:sldId xmlns:r="http://schemas.openxmlformats.org/officeDocument/2006/relationships" id="296" r:id="Re53e6e4436c34fe4"/>
    <p:sldId xmlns:r="http://schemas.openxmlformats.org/officeDocument/2006/relationships" id="297" r:id="R24f5dd7f2b3b4c13"/>
    <p:sldId xmlns:r="http://schemas.openxmlformats.org/officeDocument/2006/relationships" id="298" r:id="Ree0aa186cdb14948"/>
    <p:sldId xmlns:r="http://schemas.openxmlformats.org/officeDocument/2006/relationships" id="299" r:id="Raabc12a368384edd"/>
    <p:sldId xmlns:r="http://schemas.openxmlformats.org/officeDocument/2006/relationships" id="300" r:id="R4e97192c0cc94ca6"/>
    <p:sldId xmlns:r="http://schemas.openxmlformats.org/officeDocument/2006/relationships" id="301" r:id="Rf1ce72c33099402e"/>
    <p:sldId xmlns:r="http://schemas.openxmlformats.org/officeDocument/2006/relationships" id="302" r:id="R328bcd4d24f04392"/>
    <p:sldId xmlns:r="http://schemas.openxmlformats.org/officeDocument/2006/relationships" id="303" r:id="Ra96faaff055b403a"/>
    <p:sldId xmlns:r="http://schemas.openxmlformats.org/officeDocument/2006/relationships" id="304" r:id="R2f9acb2965884719"/>
    <p:sldId xmlns:r="http://schemas.openxmlformats.org/officeDocument/2006/relationships" id="305" r:id="R7c092781b3674821"/>
    <p:sldId xmlns:r="http://schemas.openxmlformats.org/officeDocument/2006/relationships" id="306" r:id="R6695e1d1baa64acd"/>
    <p:sldId xmlns:r="http://schemas.openxmlformats.org/officeDocument/2006/relationships" id="307" r:id="Rf0c83b24776d46ca"/>
    <p:sldId xmlns:r="http://schemas.openxmlformats.org/officeDocument/2006/relationships" id="308" r:id="R45274ec3bbb942cf"/>
    <p:sldId xmlns:r="http://schemas.openxmlformats.org/officeDocument/2006/relationships" id="309" r:id="R6483e27ab2da4e3e"/>
    <p:sldId xmlns:r="http://schemas.openxmlformats.org/officeDocument/2006/relationships" id="310" r:id="R2c6e4166e16d49cf"/>
    <p:sldId xmlns:r="http://schemas.openxmlformats.org/officeDocument/2006/relationships" id="311" r:id="R69472bf50efd4d2e"/>
    <p:sldId xmlns:r="http://schemas.openxmlformats.org/officeDocument/2006/relationships" id="312" r:id="R1de76f0f9c2e47d5"/>
    <p:sldId xmlns:r="http://schemas.openxmlformats.org/officeDocument/2006/relationships" id="313" r:id="Rcd92221901b0473b"/>
    <p:sldId xmlns:r="http://schemas.openxmlformats.org/officeDocument/2006/relationships" id="314" r:id="R4bffcf8592734848"/>
    <p:sldId xmlns:r="http://schemas.openxmlformats.org/officeDocument/2006/relationships" id="315" r:id="R2d479d6b760946f1"/>
    <p:sldId xmlns:r="http://schemas.openxmlformats.org/officeDocument/2006/relationships" id="316" r:id="Rca13ae0f2bc84100"/>
    <p:sldId xmlns:r="http://schemas.openxmlformats.org/officeDocument/2006/relationships" id="317" r:id="R7fca1c51344b4bf5"/>
    <p:sldId xmlns:r="http://schemas.openxmlformats.org/officeDocument/2006/relationships" id="318" r:id="R6e4831043ece4d1f"/>
    <p:sldId xmlns:r="http://schemas.openxmlformats.org/officeDocument/2006/relationships" id="319" r:id="R69bd22ac1eb04de9"/>
    <p:sldId xmlns:r="http://schemas.openxmlformats.org/officeDocument/2006/relationships" id="320" r:id="R7c8b422b442040dc"/>
    <p:sldId xmlns:r="http://schemas.openxmlformats.org/officeDocument/2006/relationships" id="321" r:id="Reb03f475159d4aa3"/>
    <p:sldId xmlns:r="http://schemas.openxmlformats.org/officeDocument/2006/relationships" id="322" r:id="R8ab5f23b7023492c"/>
    <p:sldId xmlns:r="http://schemas.openxmlformats.org/officeDocument/2006/relationships" id="323" r:id="Ra144797653124c07"/>
    <p:sldId xmlns:r="http://schemas.openxmlformats.org/officeDocument/2006/relationships" id="324" r:id="R40c22056dcce4c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9b688636204a12" /><Relationship Type="http://schemas.openxmlformats.org/officeDocument/2006/relationships/slideMaster" Target="/ppt/slideMasters/slideMaster1.xml" Id="R3d80fe2c2ccf46c8" /><Relationship Type="http://schemas.openxmlformats.org/officeDocument/2006/relationships/notesMaster" Target="/ppt/notesMasters/notesMaster1.xml" Id="R958dad994dc84a36" /><Relationship Type="http://schemas.openxmlformats.org/officeDocument/2006/relationships/presProps" Target="/ppt/presProps.xml" Id="R2a3e043597e94c7a" /><Relationship Type="http://schemas.openxmlformats.org/officeDocument/2006/relationships/tableStyles" Target="/ppt/tableStyles.xml" Id="R110690b11f184358" /><Relationship Type="http://schemas.openxmlformats.org/officeDocument/2006/relationships/slide" Target="/ppt/slides/slide1.xml" Id="Rb48e79822aff4516" /><Relationship Type="http://schemas.openxmlformats.org/officeDocument/2006/relationships/slide" Target="/ppt/slides/slide2.xml" Id="R792b85ea90e94d71" /><Relationship Type="http://schemas.openxmlformats.org/officeDocument/2006/relationships/slide" Target="/ppt/slides/slide3.xml" Id="R7c4516b6e2724a6d" /><Relationship Type="http://schemas.openxmlformats.org/officeDocument/2006/relationships/slide" Target="/ppt/slides/slide4.xml" Id="Ra572782fefe444ba" /><Relationship Type="http://schemas.openxmlformats.org/officeDocument/2006/relationships/slide" Target="/ppt/slides/slide5.xml" Id="Rfb00507cd099474f" /><Relationship Type="http://schemas.openxmlformats.org/officeDocument/2006/relationships/slide" Target="/ppt/slides/slide6.xml" Id="Rdd2e433bde434166" /><Relationship Type="http://schemas.openxmlformats.org/officeDocument/2006/relationships/slide" Target="/ppt/slides/slide7.xml" Id="R96f0bd602a674038" /><Relationship Type="http://schemas.openxmlformats.org/officeDocument/2006/relationships/slide" Target="/ppt/slides/slide8.xml" Id="R4e2d8066774543bb" /><Relationship Type="http://schemas.openxmlformats.org/officeDocument/2006/relationships/slide" Target="/ppt/slides/slide9.xml" Id="Ra436e8e0658548a8" /><Relationship Type="http://schemas.openxmlformats.org/officeDocument/2006/relationships/slide" Target="/ppt/slides/slide10.xml" Id="Rd42f4e119be24e39" /><Relationship Type="http://schemas.openxmlformats.org/officeDocument/2006/relationships/slide" Target="/ppt/slides/slide11.xml" Id="Rf89e4a1e033e4940" /><Relationship Type="http://schemas.openxmlformats.org/officeDocument/2006/relationships/slide" Target="/ppt/slides/slide12.xml" Id="Ra24dfd387a554752" /><Relationship Type="http://schemas.openxmlformats.org/officeDocument/2006/relationships/slide" Target="/ppt/slides/slide13.xml" Id="Rbc052739a4264a82" /><Relationship Type="http://schemas.openxmlformats.org/officeDocument/2006/relationships/slide" Target="/ppt/slides/slide14.xml" Id="R1a53c5ee0dfa4717" /><Relationship Type="http://schemas.openxmlformats.org/officeDocument/2006/relationships/slide" Target="/ppt/slides/slide15.xml" Id="Rc2f4e6024af44cd8" /><Relationship Type="http://schemas.openxmlformats.org/officeDocument/2006/relationships/slide" Target="/ppt/slides/slide16.xml" Id="Re2a1c35808824cf1" /><Relationship Type="http://schemas.openxmlformats.org/officeDocument/2006/relationships/slide" Target="/ppt/slides/slide17.xml" Id="Rfe6b825a37014be5" /><Relationship Type="http://schemas.openxmlformats.org/officeDocument/2006/relationships/slide" Target="/ppt/slides/slide18.xml" Id="Re2040074ad4b4cf7" /><Relationship Type="http://schemas.openxmlformats.org/officeDocument/2006/relationships/slide" Target="/ppt/slides/slide19.xml" Id="Ra5cf851d075e47ec" /><Relationship Type="http://schemas.openxmlformats.org/officeDocument/2006/relationships/slide" Target="/ppt/slides/slide20.xml" Id="R8ff4cdbcb82c47f8" /><Relationship Type="http://schemas.openxmlformats.org/officeDocument/2006/relationships/slide" Target="/ppt/slides/slide21.xml" Id="Rf9c984fd917f4748" /><Relationship Type="http://schemas.openxmlformats.org/officeDocument/2006/relationships/slide" Target="/ppt/slides/slide22.xml" Id="R57e64ec2c71c4ecb" /><Relationship Type="http://schemas.openxmlformats.org/officeDocument/2006/relationships/slide" Target="/ppt/slides/slide23.xml" Id="Rbcf7d862a2594bfe" /><Relationship Type="http://schemas.openxmlformats.org/officeDocument/2006/relationships/slide" Target="/ppt/slides/slide24.xml" Id="Rf3d5c078bee84f01" /><Relationship Type="http://schemas.openxmlformats.org/officeDocument/2006/relationships/slide" Target="/ppt/slides/slide25.xml" Id="Rbf9654fd96b14079" /><Relationship Type="http://schemas.openxmlformats.org/officeDocument/2006/relationships/slide" Target="/ppt/slides/slide26.xml" Id="R122129935eba4108" /><Relationship Type="http://schemas.openxmlformats.org/officeDocument/2006/relationships/slide" Target="/ppt/slides/slide27.xml" Id="Re5a7d96ef4ad43f8" /><Relationship Type="http://schemas.openxmlformats.org/officeDocument/2006/relationships/slide" Target="/ppt/slides/slide28.xml" Id="Rec2a9f7b1e744329" /><Relationship Type="http://schemas.openxmlformats.org/officeDocument/2006/relationships/slide" Target="/ppt/slides/slide29.xml" Id="R7ac3478e4b764880" /><Relationship Type="http://schemas.openxmlformats.org/officeDocument/2006/relationships/slide" Target="/ppt/slides/slide30.xml" Id="R3edd38784d114533" /><Relationship Type="http://schemas.openxmlformats.org/officeDocument/2006/relationships/slide" Target="/ppt/slides/slide31.xml" Id="Re12346b683cb430d" /><Relationship Type="http://schemas.openxmlformats.org/officeDocument/2006/relationships/slide" Target="/ppt/slides/slide32.xml" Id="R9a178477e2fa42a4" /><Relationship Type="http://schemas.openxmlformats.org/officeDocument/2006/relationships/slide" Target="/ppt/slides/slide33.xml" Id="R8506899fd025412b" /><Relationship Type="http://schemas.openxmlformats.org/officeDocument/2006/relationships/slide" Target="/ppt/slides/slide34.xml" Id="Rb5d6e784fcfe4ce0" /><Relationship Type="http://schemas.openxmlformats.org/officeDocument/2006/relationships/slide" Target="/ppt/slides/slide35.xml" Id="Re4ccbaac13a3438f" /><Relationship Type="http://schemas.openxmlformats.org/officeDocument/2006/relationships/slide" Target="/ppt/slides/slide36.xml" Id="Rd531a81a1c4a48bf" /><Relationship Type="http://schemas.openxmlformats.org/officeDocument/2006/relationships/slide" Target="/ppt/slides/slide37.xml" Id="R1ca4ec0a329b4448" /><Relationship Type="http://schemas.openxmlformats.org/officeDocument/2006/relationships/slide" Target="/ppt/slides/slide38.xml" Id="R16698659afc14ff4" /><Relationship Type="http://schemas.openxmlformats.org/officeDocument/2006/relationships/slide" Target="/ppt/slides/slide39.xml" Id="R3795c7a3f444480e" /><Relationship Type="http://schemas.openxmlformats.org/officeDocument/2006/relationships/slide" Target="/ppt/slides/slide40.xml" Id="Rc681e5816cc846b6" /><Relationship Type="http://schemas.openxmlformats.org/officeDocument/2006/relationships/slide" Target="/ppt/slides/slide41.xml" Id="Re53e6e4436c34fe4" /><Relationship Type="http://schemas.openxmlformats.org/officeDocument/2006/relationships/slide" Target="/ppt/slides/slide42.xml" Id="R24f5dd7f2b3b4c13" /><Relationship Type="http://schemas.openxmlformats.org/officeDocument/2006/relationships/slide" Target="/ppt/slides/slide43.xml" Id="Ree0aa186cdb14948" /><Relationship Type="http://schemas.openxmlformats.org/officeDocument/2006/relationships/slide" Target="/ppt/slides/slide44.xml" Id="Raabc12a368384edd" /><Relationship Type="http://schemas.openxmlformats.org/officeDocument/2006/relationships/slide" Target="/ppt/slides/slide45.xml" Id="R4e97192c0cc94ca6" /><Relationship Type="http://schemas.openxmlformats.org/officeDocument/2006/relationships/slide" Target="/ppt/slides/slide46.xml" Id="Rf1ce72c33099402e" /><Relationship Type="http://schemas.openxmlformats.org/officeDocument/2006/relationships/slide" Target="/ppt/slides/slide47.xml" Id="R328bcd4d24f04392" /><Relationship Type="http://schemas.openxmlformats.org/officeDocument/2006/relationships/slide" Target="/ppt/slides/slide48.xml" Id="Ra96faaff055b403a" /><Relationship Type="http://schemas.openxmlformats.org/officeDocument/2006/relationships/slide" Target="/ppt/slides/slide49.xml" Id="R2f9acb2965884719" /><Relationship Type="http://schemas.openxmlformats.org/officeDocument/2006/relationships/slide" Target="/ppt/slides/slide50.xml" Id="R7c092781b3674821" /><Relationship Type="http://schemas.openxmlformats.org/officeDocument/2006/relationships/slide" Target="/ppt/slides/slide51.xml" Id="R6695e1d1baa64acd" /><Relationship Type="http://schemas.openxmlformats.org/officeDocument/2006/relationships/slide" Target="/ppt/slides/slide52.xml" Id="Rf0c83b24776d46ca" /><Relationship Type="http://schemas.openxmlformats.org/officeDocument/2006/relationships/slide" Target="/ppt/slides/slide53.xml" Id="R45274ec3bbb942cf" /><Relationship Type="http://schemas.openxmlformats.org/officeDocument/2006/relationships/slide" Target="/ppt/slides/slide54.xml" Id="R6483e27ab2da4e3e" /><Relationship Type="http://schemas.openxmlformats.org/officeDocument/2006/relationships/slide" Target="/ppt/slides/slide55.xml" Id="R2c6e4166e16d49cf" /><Relationship Type="http://schemas.openxmlformats.org/officeDocument/2006/relationships/slide" Target="/ppt/slides/slide56.xml" Id="R69472bf50efd4d2e" /><Relationship Type="http://schemas.openxmlformats.org/officeDocument/2006/relationships/slide" Target="/ppt/slides/slide57.xml" Id="R1de76f0f9c2e47d5" /><Relationship Type="http://schemas.openxmlformats.org/officeDocument/2006/relationships/slide" Target="/ppt/slides/slide58.xml" Id="Rcd92221901b0473b" /><Relationship Type="http://schemas.openxmlformats.org/officeDocument/2006/relationships/slide" Target="/ppt/slides/slide59.xml" Id="R4bffcf8592734848" /><Relationship Type="http://schemas.openxmlformats.org/officeDocument/2006/relationships/slide" Target="/ppt/slides/slide60.xml" Id="R2d479d6b760946f1" /><Relationship Type="http://schemas.openxmlformats.org/officeDocument/2006/relationships/slide" Target="/ppt/slides/slide61.xml" Id="Rca13ae0f2bc84100" /><Relationship Type="http://schemas.openxmlformats.org/officeDocument/2006/relationships/slide" Target="/ppt/slides/slide62.xml" Id="R7fca1c51344b4bf5" /><Relationship Type="http://schemas.openxmlformats.org/officeDocument/2006/relationships/slide" Target="/ppt/slides/slide63.xml" Id="R6e4831043ece4d1f" /><Relationship Type="http://schemas.openxmlformats.org/officeDocument/2006/relationships/slide" Target="/ppt/slides/slide64.xml" Id="R69bd22ac1eb04de9" /><Relationship Type="http://schemas.openxmlformats.org/officeDocument/2006/relationships/slide" Target="/ppt/slides/slide65.xml" Id="R7c8b422b442040dc" /><Relationship Type="http://schemas.openxmlformats.org/officeDocument/2006/relationships/slide" Target="/ppt/slides/slide66.xml" Id="Reb03f475159d4aa3" /><Relationship Type="http://schemas.openxmlformats.org/officeDocument/2006/relationships/slide" Target="/ppt/slides/slide67.xml" Id="R8ab5f23b7023492c" /><Relationship Type="http://schemas.openxmlformats.org/officeDocument/2006/relationships/slide" Target="/ppt/slides/slide68.xml" Id="Ra144797653124c07" /><Relationship Type="http://schemas.openxmlformats.org/officeDocument/2006/relationships/slide" Target="/ppt/slides/slide69.xml" Id="R40c22056dcce4c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eaa5f6e64f4e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b458e8f31f4b79" /><Relationship Type="http://schemas.openxmlformats.org/officeDocument/2006/relationships/notesMaster" Target="/ppt/notesMasters/notesMaster1.xml" Id="Rcd41863cd4824e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af5ffd69a44664" /><Relationship Type="http://schemas.openxmlformats.org/officeDocument/2006/relationships/notesMaster" Target="/ppt/notesMasters/notesMaster1.xml" Id="Rdd03beb20fda4f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77e65f25164fd8" /><Relationship Type="http://schemas.openxmlformats.org/officeDocument/2006/relationships/notesMaster" Target="/ppt/notesMasters/notesMaster1.xml" Id="R6da63845fc6242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15b04e98d946c7" /><Relationship Type="http://schemas.openxmlformats.org/officeDocument/2006/relationships/notesMaster" Target="/ppt/notesMasters/notesMaster1.xml" Id="Rd008fc1e996f49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517e028e7644da" /><Relationship Type="http://schemas.openxmlformats.org/officeDocument/2006/relationships/notesMaster" Target="/ppt/notesMasters/notesMaster1.xml" Id="R6976a60c93264f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f7e05657594943" /><Relationship Type="http://schemas.openxmlformats.org/officeDocument/2006/relationships/notesMaster" Target="/ppt/notesMasters/notesMaster1.xml" Id="Rcdc4510d166148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2ac7a7272e44c4" /><Relationship Type="http://schemas.openxmlformats.org/officeDocument/2006/relationships/notesMaster" Target="/ppt/notesMasters/notesMaster1.xml" Id="Re2e2c30106d041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e98fcfbe3b4a13" /><Relationship Type="http://schemas.openxmlformats.org/officeDocument/2006/relationships/notesMaster" Target="/ppt/notesMasters/notesMaster1.xml" Id="R248cbcba45a044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43c08529314f56" /><Relationship Type="http://schemas.openxmlformats.org/officeDocument/2006/relationships/notesMaster" Target="/ppt/notesMasters/notesMaster1.xml" Id="R26143c1a1ac242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9c9d84f3524c42" /><Relationship Type="http://schemas.openxmlformats.org/officeDocument/2006/relationships/notesMaster" Target="/ppt/notesMasters/notesMaster1.xml" Id="Rd17d6aa5307641d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5e20b28dd44f2d" /><Relationship Type="http://schemas.openxmlformats.org/officeDocument/2006/relationships/notesMaster" Target="/ppt/notesMasters/notesMaster1.xml" Id="R0345026ae7d149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af913f764074d10" /><Relationship Type="http://schemas.openxmlformats.org/officeDocument/2006/relationships/notesMaster" Target="/ppt/notesMasters/notesMaster1.xml" Id="R32e926db007c46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d35d02e1b1f404d" /><Relationship Type="http://schemas.openxmlformats.org/officeDocument/2006/relationships/notesMaster" Target="/ppt/notesMasters/notesMaster1.xml" Id="Raf80b77e9d9342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66d735d35724622" /><Relationship Type="http://schemas.openxmlformats.org/officeDocument/2006/relationships/notesMaster" Target="/ppt/notesMasters/notesMaster1.xml" Id="R29f244d020ee44b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781b1664f0d4b06" /><Relationship Type="http://schemas.openxmlformats.org/officeDocument/2006/relationships/notesMaster" Target="/ppt/notesMasters/notesMaster1.xml" Id="R9e35315ef6a84f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0033823d094c16" /><Relationship Type="http://schemas.openxmlformats.org/officeDocument/2006/relationships/notesMaster" Target="/ppt/notesMasters/notesMaster1.xml" Id="Re914f0a363a1463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fc1c1b61664799" /><Relationship Type="http://schemas.openxmlformats.org/officeDocument/2006/relationships/notesMaster" Target="/ppt/notesMasters/notesMaster1.xml" Id="R95a263acc7a841d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00ccae93f9e4db4" /><Relationship Type="http://schemas.openxmlformats.org/officeDocument/2006/relationships/notesMaster" Target="/ppt/notesMasters/notesMaster1.xml" Id="Rbb99caa6353141f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d4ce9d483254e96" /><Relationship Type="http://schemas.openxmlformats.org/officeDocument/2006/relationships/notesMaster" Target="/ppt/notesMasters/notesMaster1.xml" Id="R2fa43c9c63c4446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5f23c0bed5a4be6" /><Relationship Type="http://schemas.openxmlformats.org/officeDocument/2006/relationships/notesMaster" Target="/ppt/notesMasters/notesMaster1.xml" Id="R72b57975adbc497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33a8ebe9df24b48" /><Relationship Type="http://schemas.openxmlformats.org/officeDocument/2006/relationships/notesMaster" Target="/ppt/notesMasters/notesMaster1.xml" Id="R0d333601ddcf489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b248badd7434b92" /><Relationship Type="http://schemas.openxmlformats.org/officeDocument/2006/relationships/notesMaster" Target="/ppt/notesMasters/notesMaster1.xml" Id="R730f57dcbc82465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c1789bc91b34abc" /><Relationship Type="http://schemas.openxmlformats.org/officeDocument/2006/relationships/notesMaster" Target="/ppt/notesMasters/notesMaster1.xml" Id="Rd396b27791314da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abed6a4ecdb464c" /><Relationship Type="http://schemas.openxmlformats.org/officeDocument/2006/relationships/notesMaster" Target="/ppt/notesMasters/notesMaster1.xml" Id="R3fa17df784f840b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b19785025fd4d5a" /><Relationship Type="http://schemas.openxmlformats.org/officeDocument/2006/relationships/notesMaster" Target="/ppt/notesMasters/notesMaster1.xml" Id="Rbe6f39aab0324d2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3a6ac11e0a64e44" /><Relationship Type="http://schemas.openxmlformats.org/officeDocument/2006/relationships/notesMaster" Target="/ppt/notesMasters/notesMaster1.xml" Id="Rfe18bd17d29d4f7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e8f227cfe8b4a39" /><Relationship Type="http://schemas.openxmlformats.org/officeDocument/2006/relationships/notesMaster" Target="/ppt/notesMasters/notesMaster1.xml" Id="R4f60bca7c6ed42b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bd8ae8d5b6a4e9b" /><Relationship Type="http://schemas.openxmlformats.org/officeDocument/2006/relationships/notesMaster" Target="/ppt/notesMasters/notesMaster1.xml" Id="Rb20be420f38a400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2a89f0d094e4378" /><Relationship Type="http://schemas.openxmlformats.org/officeDocument/2006/relationships/notesMaster" Target="/ppt/notesMasters/notesMaster1.xml" Id="R247d0b47a53142d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a5fcc6977f94a7b" /><Relationship Type="http://schemas.openxmlformats.org/officeDocument/2006/relationships/notesMaster" Target="/ppt/notesMasters/notesMaster1.xml" Id="Rfe518c92790c46c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415ba1200b34222" /><Relationship Type="http://schemas.openxmlformats.org/officeDocument/2006/relationships/notesMaster" Target="/ppt/notesMasters/notesMaster1.xml" Id="R2d9742f3c815406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b6ecf8d84404c65" /><Relationship Type="http://schemas.openxmlformats.org/officeDocument/2006/relationships/notesMaster" Target="/ppt/notesMasters/notesMaster1.xml" Id="Rdabfefd9dbbc4ef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359afa60442481b" /><Relationship Type="http://schemas.openxmlformats.org/officeDocument/2006/relationships/notesMaster" Target="/ppt/notesMasters/notesMaster1.xml" Id="R31af4d62968e431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ec25a940e0a40b3" /><Relationship Type="http://schemas.openxmlformats.org/officeDocument/2006/relationships/notesMaster" Target="/ppt/notesMasters/notesMaster1.xml" Id="R5a622ade68a5427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3cf709b98334b7c" /><Relationship Type="http://schemas.openxmlformats.org/officeDocument/2006/relationships/notesMaster" Target="/ppt/notesMasters/notesMaster1.xml" Id="Rbb02b1f09a6b413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642e92f2f5748fd" /><Relationship Type="http://schemas.openxmlformats.org/officeDocument/2006/relationships/notesMaster" Target="/ppt/notesMasters/notesMaster1.xml" Id="Ra044fa66d983497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9ada3f879d741b6" /><Relationship Type="http://schemas.openxmlformats.org/officeDocument/2006/relationships/notesMaster" Target="/ppt/notesMasters/notesMaster1.xml" Id="Rbc7e111827424f7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95b702fb42d48b6" /><Relationship Type="http://schemas.openxmlformats.org/officeDocument/2006/relationships/notesMaster" Target="/ppt/notesMasters/notesMaster1.xml" Id="Rff8a170c5aec47b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8e55dcee49f498d" /><Relationship Type="http://schemas.openxmlformats.org/officeDocument/2006/relationships/notesMaster" Target="/ppt/notesMasters/notesMaster1.xml" Id="R49676fb9fa68424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196f6dc518624788" /><Relationship Type="http://schemas.openxmlformats.org/officeDocument/2006/relationships/notesMaster" Target="/ppt/notesMasters/notesMaster1.xml" Id="R7be5e67390404c4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703655d29424039" /><Relationship Type="http://schemas.openxmlformats.org/officeDocument/2006/relationships/notesMaster" Target="/ppt/notesMasters/notesMaster1.xml" Id="R63ab90236df549c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07002d9a99144ca" /><Relationship Type="http://schemas.openxmlformats.org/officeDocument/2006/relationships/notesMaster" Target="/ppt/notesMasters/notesMaster1.xml" Id="R2b168a0ea806424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a95a722b8e554cee" /><Relationship Type="http://schemas.openxmlformats.org/officeDocument/2006/relationships/notesMaster" Target="/ppt/notesMasters/notesMaster1.xml" Id="Rc28546c870af442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bc0bdade89c4eb2" /><Relationship Type="http://schemas.openxmlformats.org/officeDocument/2006/relationships/notesMaster" Target="/ppt/notesMasters/notesMaster1.xml" Id="R3ce9e0810d2e434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c626410e5594b12" /><Relationship Type="http://schemas.openxmlformats.org/officeDocument/2006/relationships/notesMaster" Target="/ppt/notesMasters/notesMaster1.xml" Id="R29c1f82397844a3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146989a0a95481f" /><Relationship Type="http://schemas.openxmlformats.org/officeDocument/2006/relationships/notesMaster" Target="/ppt/notesMasters/notesMaster1.xml" Id="R79250451737249f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ef3ee03c4284957" /><Relationship Type="http://schemas.openxmlformats.org/officeDocument/2006/relationships/notesMaster" Target="/ppt/notesMasters/notesMaster1.xml" Id="R3a810cd3f27340a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137adf224754756" /><Relationship Type="http://schemas.openxmlformats.org/officeDocument/2006/relationships/notesMaster" Target="/ppt/notesMasters/notesMaster1.xml" Id="R3fc426b7e20d4ed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5b6ed3500bc4871" /><Relationship Type="http://schemas.openxmlformats.org/officeDocument/2006/relationships/notesMaster" Target="/ppt/notesMasters/notesMaster1.xml" Id="R7f4547b71847428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f4cf00fd1854a75" /><Relationship Type="http://schemas.openxmlformats.org/officeDocument/2006/relationships/notesMaster" Target="/ppt/notesMasters/notesMaster1.xml" Id="Rb0deec71c052433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ff60e4e43f94ff4" /><Relationship Type="http://schemas.openxmlformats.org/officeDocument/2006/relationships/notesMaster" Target="/ppt/notesMasters/notesMaster1.xml" Id="R48a8c5f8f57f455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c0ac256a0a04fde" /><Relationship Type="http://schemas.openxmlformats.org/officeDocument/2006/relationships/notesMaster" Target="/ppt/notesMasters/notesMaster1.xml" Id="Rc55d0b69566745f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4f0bed279b24e48" /><Relationship Type="http://schemas.openxmlformats.org/officeDocument/2006/relationships/notesMaster" Target="/ppt/notesMasters/notesMaster1.xml" Id="Rffa43af0bd5b45b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513b6ce40624e52" /><Relationship Type="http://schemas.openxmlformats.org/officeDocument/2006/relationships/notesMaster" Target="/ppt/notesMasters/notesMaster1.xml" Id="Rbf19becf1c9449f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59cba9b6aa94e9a" /><Relationship Type="http://schemas.openxmlformats.org/officeDocument/2006/relationships/notesMaster" Target="/ppt/notesMasters/notesMaster1.xml" Id="R8820daf4afba4056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9fdb6184444941f7" /><Relationship Type="http://schemas.openxmlformats.org/officeDocument/2006/relationships/notesMaster" Target="/ppt/notesMasters/notesMaster1.xml" Id="R31c7d1c1aaa5408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658ba2845874273" /><Relationship Type="http://schemas.openxmlformats.org/officeDocument/2006/relationships/notesMaster" Target="/ppt/notesMasters/notesMaster1.xml" Id="R59f8e0286f0a45c6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2fd967504fb42ef" /><Relationship Type="http://schemas.openxmlformats.org/officeDocument/2006/relationships/notesMaster" Target="/ppt/notesMasters/notesMaster1.xml" Id="R74811ae3ab4f43ac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cc4e3a05b0d48ea" /><Relationship Type="http://schemas.openxmlformats.org/officeDocument/2006/relationships/notesMaster" Target="/ppt/notesMasters/notesMaster1.xml" Id="Ra74b140f797d417e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3a452c7389fb4091" /><Relationship Type="http://schemas.openxmlformats.org/officeDocument/2006/relationships/notesMaster" Target="/ppt/notesMasters/notesMaster1.xml" Id="R039bd8deeefd4ab3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995e41ce67884828" /><Relationship Type="http://schemas.openxmlformats.org/officeDocument/2006/relationships/notesMaster" Target="/ppt/notesMasters/notesMaster1.xml" Id="Rc25988c56b1343b8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ec487385fa9b4505" /><Relationship Type="http://schemas.openxmlformats.org/officeDocument/2006/relationships/notesMaster" Target="/ppt/notesMasters/notesMaster1.xml" Id="Rb42e7521c61942f4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7bd408044483451e" /><Relationship Type="http://schemas.openxmlformats.org/officeDocument/2006/relationships/notesMaster" Target="/ppt/notesMasters/notesMaster1.xml" Id="R933d22a056844db6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c02ba13db54409c" /><Relationship Type="http://schemas.openxmlformats.org/officeDocument/2006/relationships/notesMaster" Target="/ppt/notesMasters/notesMaster1.xml" Id="R04617907719544d2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6a81533d30924b28" /><Relationship Type="http://schemas.openxmlformats.org/officeDocument/2006/relationships/notesMaster" Target="/ppt/notesMasters/notesMaster1.xml" Id="Rb80155cd2fc84225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6b209145c4294687" /><Relationship Type="http://schemas.openxmlformats.org/officeDocument/2006/relationships/notesMaster" Target="/ppt/notesMasters/notesMaster1.xml" Id="R536804ad184b4236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50988bd0d71a4495" /><Relationship Type="http://schemas.openxmlformats.org/officeDocument/2006/relationships/notesMaster" Target="/ppt/notesMasters/notesMaster1.xml" Id="Ra1cdb78bacdc49dc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561bba5beff243da" /><Relationship Type="http://schemas.openxmlformats.org/officeDocument/2006/relationships/notesMaster" Target="/ppt/notesMasters/notesMaster1.xml" Id="Rabeb39373f4f47d5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acf86c5635ce4b49" /><Relationship Type="http://schemas.openxmlformats.org/officeDocument/2006/relationships/notesMaster" Target="/ppt/notesMasters/notesMaster1.xml" Id="Ref7c06b834444d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State management avanzato. Lo scopo non è aggiungere librerie, ma imparare a distinguere categorie di stato che hanno cicli di vita e proprietari differenti.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 il modulo come una sequenza di decisioni: che cosa ricordare, chi lo possiede e come sincronizzarlo.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Lo stato non è un posto: è una responsabilità. Molti problemi attribuiti a React nascono da una classificazione sbagliata. Un filtro locale, una sessione persistente e una risposta API non richiedono lo stesso meccanismo.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Sette decisioni costruiscono un flusso prevedibile. La progressione parte dalla domanda più importante, dove deve vivere il dato, e termina con il caso più delicato, cambiare subito la UI prima della conferma del server.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Anticipa che ogni sezione risolve una domanda lasciata aperta dalla precedente.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Caso guida: Operations Dashboard. I partecipanti devono riconoscere almeno quattro categorie: filtri UI, ticket remoti, preferenze persistenti e stato della richiesta.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Durante il modulo torna su questo scenario: filtri, lista e mutazioni devono rimanere coerenti anche quando la rete fallisce.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Tassonomia e ownership. La domanda guida è: chi deve conoscere questo valore e per quanto tempo?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il separatore per fare una breve pausa e dichiarare la domanda che guiderà la sezione.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L’ownership indica chi può decidere il prossimo valore. Possedere uno stato significa definirne valore iniziale, transizioni e durata. Condividerlo non significa duplicarlo.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Cinque categorie richiedono cinque strategie diverse. La categoria non descrive la dimensione del dato, ma la sua autorità. Un oggetto grande può essere locale; una stringa può essere globale.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Locale e globale descrivono il raggio, non il valore. Il percorso sano è iniziare locale e sollevare lo stato al genitore comune quando emerge una necessità reale.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prima il contrasto, poi il criterio nel footer: è quello che gli sviluppatori devono riusare in code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Lo stato locale resta vicino all’interazione. Questo esempio mostra una regola preziosa: non rendere globale uno stato solo perché la tecnologia lo permette.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Lo stato derivato si calcola durante il render. React raccomanda di evitare stato ridondante. Qui visibleTickets è una proiezione, non una nuova fonte di verità.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Duplicare un valore derivato crea due verità. Nel prima basta dimenticare un setVisible per mostrare dati vecchi. Nel dopo non esiste una seconda copia da sincronizzare.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Chiedi quale delle due versioni può produrre due fonti di verità. La risposta introduce il vantaggio del dopo.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Persistenza non trasforma il dato in server state. Sottolinea che localStorage è sincrono e legato all’origine. È adatto a piccole preferenze, non a una cache aziendale completa.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server state è una copia osservata di un sistema remoto. A differenza del client state, il server state può diventare stale senza alcuna interazione locale. Per questo servono cache, refresh e invalidazione.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Quattro domande decidono dove collocare lo stato. L’ordine conta: prima chiedi se il backend è autorevole, poi elimina i valori derivabili, infine scegli il raggio.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Checklist di ownership prima di aggiungere uno store. Queste sei domande evitano la scelta per abitudine. Se non sappiamo rispondere, non siamo pronti a scegliere la tecnologia.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la checklist come strumento operativo: ogni punto deve poter ricevere una risposta sì o no durante una pull request.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Context API con confini. La domanda guida è: quale sottoalbero deve ricevere questo contratto?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il separatore per fare una breve pausa e dichiarare la domanda che guiderà la sezione.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Context distribuisce un contratto al sottoalbero. Context risolve il trasporto delle dipendenze. Non risolve automaticamente cache, transazioni o selezione granulare.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Usa Context per dipendenze stabili e realmente condivise. Non basta che un dato sia usato in due punti. Serve un contratto stabile e un raggio coerente.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prima il contrasto, poi il criterio nel footer: è quello che gli sviluppatori devono riusare in code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prop drilling crea dipendenze artificiali. Spiega che passare props resta la soluzione più esplicita quando la catena è breve. Context diventa utile quando gli intermedi non partecipano al contratto.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 custom hook rende obbligatoria la presenza del provider. Questo pattern evita default fittizi che nascondono errori di composizione e rende più leggibili i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Separare lettura e dispatch riduce dipendenze inutili. La separazione non è un rituale. È utile quando molti componenti usano solo dispatch e non devono ridisegnarsi a ogni cambio.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prima il contrasto, poi il criterio nel footer: è quello che gli sviluppatori devono riusare in code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provider possiede stato e contratto pubblico. Mostra come il provider diventi il boundary della feature. Fuori da quel boundary non esiste dipendenza dai filtri.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 value ricreato cambia identità a ogni render. L’obiettivo non è aggiungere useMemo ovunque. Prima separa contesti con frequenze diverse, poi stabilizza funzioni e oggetti quando serve.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Chiedi quale delle due versioni può produrre due fonti di verità. La risposta introduce il vantaggio del dopo.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Checklist Context: il confine viene prima del provider. L’ultimo punto è intenzionalmente provocatorio: Context può trasportare dati remoti, ma non offre politiche di freschezza o deduplicazione.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la checklist come strumento operativo: ogni punto deve poter ricevere una risposta sì o no durante una pull request.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useReducer e transizioni. La domanda guida è: quali eventi legittimi trasformano lo stato?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il separatore per fare una breve pausa e dichiarare la domanda che guiderà la sezione.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 reducer rende esplicita la funzione di transizione. useReducer non rende semplice una logica confusa. Costringe però a nominare eventi e a concentrare le transizioni in un punto verificabile.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Le action descrivono eventi, non setter. Un’azione deve raccontare che cosa è accaduto. Il reducer decide quali campi cambiano insieme.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Uno stato valido elimina combinazioni contraddittorie. La struttura dello state deve rendere impossibili, o almeno difficili, le combinazioni che la UI non sa rappresentare.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Molti setter distribuiscono una sola transizione. Quando più campi cambiano sempre insieme per lo stesso evento, un reducer rende la transizione atomica dal punto di vista del modello.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Una union discriminata descrive solo gli stati ammessi. TypeScript può ora aiutare il rendering: nel ramo success data esiste, nel ramo error esiste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reducer centralizza la regola di transizione. Evidenzia purezza e immutabilità. Lo state precedente non viene modificato; il prossimo oggetto rappresenta una fotografia completa.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Success ed error gestiscono dati precedenti. Qui mostriamo un modello semplice. In una variante più rigorosa, previous viene inserito solo negli stati loading ed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useReducer collega modello e UI senza esporre setter. L’handler resta vicino all’interazione, mentre la regola di dominio rimane nel reducer e può essere testata senza renderizzare React.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Ogni dispatch attraversa una pipeline prevedibile. Il diagramma separa intenzione e calcolo. Questa separazione rende semplice registrare action, riprodurre bug e testare transizioni.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Segui le frecce senza saltare fasi. Il valore del modello è rendere esplicito dove può fallire o essere annullata l’operazione.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Reducer e Context formano un boundary di feature. Questo è il punto di equilibrio per molte schermate enterprise: un modello complesso, ma confinato alla pagina che lo usa.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reducer si testa come una funzione pura. Fai notare che il nome del test esprime comportamento aziendale. Non stiamo testando switch, stiamo proteggendo una regola.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Checklist reducer: transizioni leggibili e verificabili. Un reducer è utile quando migliora il vocabolario del dominio. Se aggiunge solo cerimonia a un booleano, useState resta migliore.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la checklist come strumento operativo: ogni punto deve poter ricevere una risposta sì o no durante una pull request.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Stati asincroni coerenti. La domanda guida è: che cosa sa l’interfaccia in questo preciso momento?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il separatore per fare una breve pausa e dichiarare la domanda che guiderà la sezione.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Una risorsa asincrona è una macchina a stati. Loading non è sinonimo di schermo vuoto. La presenza di dati precedenti cambia il feedback corretto.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flusso asincrono possiede rami di recupero. Non presentare il diagramma come un percorso lineare. Evidenzia i ritorni: un’applicazione reale aggiorna, fallisce e riprova.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Segui le frecce senza saltare fasi. Il valore del modello è rendere esplicito dove può fallire o essere annullata l’operazione.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Loading e refreshing richiedono feedback diversi. Questa distinzione evita il flicker e permette all’utente di continuare a leggere mentre arriva una versione più fresca.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prima il contrasto, poi il criterio nel footer: è quello che gli sviluppatori devono riusare in code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Ogni stato asincrono ha una resa intenzionale. Empty non è un errore tecnico. Deve spiegare perché non ci sono risultati e offrire l’azione più utile.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L’empty state deriva da success con collezione vuota. Il codice rende visibile l’ordine delle decisioni. Prima distingui lo stato tecnico, poi interpreti il contenuto del successo.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Retry ripete l’intenzione e conserva il contesto. In produzione conviene estrarre l’orchestrazione in un hook o in una libreria di server state. Qui il codice espone chiaramente il ciclo.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AbortController ferma risposte obsolete. Sottolinea che fetch non rifiuta automaticamente per uno status HTTP di errore. Il client API deve controllare response.ok.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Fetch, cache e invalidazione. La domanda guida è: dove separiamo trasporto, trasformazione, cache e rendering?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il separatore per fare una breve pausa e dichiarare la domanda che guiderà la sezione.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Fetching e rendering cambiano per ragioni diverse. La separazione consente di cambiare endpoint o formato senza riscrivere i componenti e di testare la UI con stati già modellati.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prima il contrasto, poi il criterio nel footer: è quello che gli sviluppatori devono riusare in code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client API traduce HTTP in un contratto applicativo. Questo confine è il posto giusto per normalizzare errori, date, nomi di campo e valori mancanti.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 adapter protegge il dominio dal formato remoto. Evita di distribuire conversioni nei componenti. Quando il backend cambia, un solo adapter assorbe la differenza.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 hook orchestra il ciclo senza mescolare il markup. Il custom hook è ancora una cache per istanza. Due componenti che lo usano possono fare due richieste: questa osservazione introduce la server cache.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Una server cache conserva dati per chiave e politica. La cache non sostituisce il backend come fonte autorevole. Riduce richieste duplicate e permette di mostrare dati noti mentre avviene il refresh.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La query key deve contenere ogni input della richiesta. La query key è parte del modello. Deve essere serializzabile, deterministica e completa rispetto alla query function.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Invalidare dichiara quali dati sono stale. Invalidazione non cancella necessariamente i dati. Li marca come potenzialmente stale e consente una risincronizzazione.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Il refresh deve seguire il costo e la volatilità del dato. Non esiste una policy unica. Dati stabili possono vivere a lungo; dashboard operative richiedono una freschezza più aggressiva.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TanStack Query esplicita chiave, funzione e freschezza. Non presentare la libreria come magia. Il valore nasce dall’aver reso esplicite decisioni che altrimenti sarebbero sparse in Effect e state locali.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Optimistic update e rollback. La domanda guida è: come torniamo a uno stato coerente se il server rifiuta?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il separatore per fare una breve pausa e dichiarare la domanda che guiderà la sezione.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 optimistic update modifica la UI prima della conferma. È appropriato per operazioni frequenti, prevedibili e facilmente reversibili. Non per azioni irreversibili o ad alto rischio.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Collega sempre la scelta al caso della dashboard, così la regola resta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L’update ottimistico è una transazione lato interfaccia. Segui entrambi i rami: confirm mantiene o sostituisce il dato ottimistico; error ripristina lo snapshot e comunica il problema.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Segui le frecce senza saltare fasi. Il valore del modello è rendere esplicito dove può fallire o essere annullata l’operazione.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Snapshot prima, cache ottimistica dopo. Evidenzia che previous deve appartenere alla stessa key che stiamo modificando. Se esistono più liste, il piano deve includerle o invalidarle.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In caso di errore ripristiniamo; alla fine invalidiamo. Mostra la differenza tra ripristino e refetch. Il rollback è immediato; il refetch riconcilia eventuali cambi concorrenti sul server.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useMutation formalizza il ciclo ottimistico. La cancellazione evita che un refetch già in corso sovrascriva l’update ottimistico prima della risposta della mutation.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onError e onSettled chiudono la transazione. Se più mutation concorrenti toccano la stessa entità, uno snapshot globale può non bastare. Serve una strategia per ordine, versione o merge.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Leggi il codice dall’alto verso il basso e verbalizza il commento: il commento spiega la responsabilità, non la sintassi.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La concorrenza richiede protezioni oltre al rollback. Optimistic update è una scelta di UX con conseguenze distribuite. La reversibilità deve essere progettata prima del codice.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La dashboard finale separa sette responsabilità. Questa mappa ricompone il modulo. Fai seguire il flusso di un cambio filtro e poi di una modifica di priorità.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Anticipa che ogni sezione risolve una domanda lasciata aperta dalla precedente.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Laboratorio: dashboard con rete simulata. Il laboratorio deve includere latenza e fallimenti artificiali. Senza errore, retry e rollback restano soltanto codice non verificato.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la checklist come strumento operativo: ogni punto deve poter ricevere una risposta sì o no durante una pull request.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Mappa decisionale: scegli il minimo sufficiente. Le soluzioni si possono comporre. Un provider di feature può usare reducer per client state e query cache per server state, senza confonderli.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Non leggere la tabella riga per riga. Scegli due casi opposti, spiegali, poi usa gli altri come verifica.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Checklist finale del Modulo 2. Questa checklist è l’output operativo del modulo. Invita i partecipanti a usarla sulla propria codebase, non soltanto sull’esercizio.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 la checklist come strumento operativo: ogni punto deve poter ricevere una risposta sì o no durante una pull request.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 con questa idea: Uno state robusto prevede anche il fallimento. La qualità del state management si misura quando rete, utenti e aggiornamenti concorrenti mettono pressione al sistema.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Chiudi tornando alla domanda iniziale: non esiste uno store universale, esiste una responsabilità collocata nel posto corretto.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Questa slide raccoglie le fonti primarie usate nel modulo. Evidenzia React per la struttura dello stato e i reducer, TanStack Query per cache e optimistic update, MDN per fetch, AbortController e persistenza browser. Invita i partecipanti a consultare prima la documentazione ufficiale e solo dopo esempi secondari.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5b7cfc0e6b4f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02759e533b45e3" /><Relationship Type="http://schemas.openxmlformats.org/officeDocument/2006/relationships/slideLayout" Target="/ppt/slideLayouts/slideLayout1.xml" Id="R6adc3071713b4fe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dc3071713b4fe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03c6c9ea0424e" /><Relationship Type="http://schemas.openxmlformats.org/officeDocument/2006/relationships/image" Target="/ppt/media/image.png" Id="Rafe449b33cdc4128" /><Relationship Type="http://schemas.openxmlformats.org/officeDocument/2006/relationships/notesSlide" Target="/ppt/notesSlides/notesSlide1.xml" Id="R8fa418ecc82a4e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68d906a2e45ee" /><Relationship Type="http://schemas.openxmlformats.org/officeDocument/2006/relationships/notesSlide" Target="/ppt/notesSlides/notesSlide2.xml" Id="Re89708a5793442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3a591b61f4ac9" /><Relationship Type="http://schemas.openxmlformats.org/officeDocument/2006/relationships/notesSlide" Target="/ppt/notesSlides/notesSlide3.xml" Id="R91f14ede15df45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a076bbe264e02" /><Relationship Type="http://schemas.openxmlformats.org/officeDocument/2006/relationships/notesSlide" Target="/ppt/notesSlides/notesSlide4.xml" Id="R0bb646dbadca48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b218ffac24b8c" /><Relationship Type="http://schemas.openxmlformats.org/officeDocument/2006/relationships/image" Target="/ppt/media/image2.png" Id="Rd40146e904fd487c" /><Relationship Type="http://schemas.openxmlformats.org/officeDocument/2006/relationships/notesSlide" Target="/ppt/notesSlides/notesSlide5.xml" Id="R8b88278574804d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aca54d59f4076" /><Relationship Type="http://schemas.openxmlformats.org/officeDocument/2006/relationships/notesSlide" Target="/ppt/notesSlides/notesSlide6.xml" Id="R31eab7a5cd2248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f8c2308114f6f" /><Relationship Type="http://schemas.openxmlformats.org/officeDocument/2006/relationships/notesSlide" Target="/ppt/notesSlides/notesSlide7.xml" Id="R5c9f401df34343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98f982c8d45f0" /><Relationship Type="http://schemas.openxmlformats.org/officeDocument/2006/relationships/notesSlide" Target="/ppt/notesSlides/notesSlide8.xml" Id="R73797f8088b946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a33b171104b7b" /><Relationship Type="http://schemas.openxmlformats.org/officeDocument/2006/relationships/notesSlide" Target="/ppt/notesSlides/notesSlide9.xml" Id="Rdbc582b6632241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2712a361f4ec4" /><Relationship Type="http://schemas.openxmlformats.org/officeDocument/2006/relationships/notesSlide" Target="/ppt/notesSlides/notesSlide10.xml" Id="R0e1cef2a3de944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f2fbe9dd2446d" /><Relationship Type="http://schemas.openxmlformats.org/officeDocument/2006/relationships/notesSlide" Target="/ppt/notesSlides/notesSlide11.xml" Id="R6253e1d47a4d49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786ad15da44cd" /><Relationship Type="http://schemas.openxmlformats.org/officeDocument/2006/relationships/notesSlide" Target="/ppt/notesSlides/notesSlide12.xml" Id="R376617a1bb224a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0dc776c214ba5" /><Relationship Type="http://schemas.openxmlformats.org/officeDocument/2006/relationships/notesSlide" Target="/ppt/notesSlides/notesSlide13.xml" Id="Ra885afd709bd42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520bcbfb64925" /><Relationship Type="http://schemas.openxmlformats.org/officeDocument/2006/relationships/notesSlide" Target="/ppt/notesSlides/notesSlide14.xml" Id="Ra9e550c790d54eb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3d1e8e8484759" /><Relationship Type="http://schemas.openxmlformats.org/officeDocument/2006/relationships/notesSlide" Target="/ppt/notesSlides/notesSlide15.xml" Id="R7145a23c7b9848e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10431eb844f95" /><Relationship Type="http://schemas.openxmlformats.org/officeDocument/2006/relationships/image" Target="/ppt/media/image2.png" Id="Rdd371fd53542459b" /><Relationship Type="http://schemas.openxmlformats.org/officeDocument/2006/relationships/notesSlide" Target="/ppt/notesSlides/notesSlide16.xml" Id="Rcb893a4623bb438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4b94b91794998" /><Relationship Type="http://schemas.openxmlformats.org/officeDocument/2006/relationships/notesSlide" Target="/ppt/notesSlides/notesSlide17.xml" Id="R4b04d9f71f084b7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307c3d2724809" /><Relationship Type="http://schemas.openxmlformats.org/officeDocument/2006/relationships/notesSlide" Target="/ppt/notesSlides/notesSlide18.xml" Id="R75f0799c88554ea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8cddfbb5c4de0" /><Relationship Type="http://schemas.openxmlformats.org/officeDocument/2006/relationships/notesSlide" Target="/ppt/notesSlides/notesSlide19.xml" Id="R47c5842342274d9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9db45e0cc4118" /><Relationship Type="http://schemas.openxmlformats.org/officeDocument/2006/relationships/notesSlide" Target="/ppt/notesSlides/notesSlide20.xml" Id="Rf45ac7f44e2a45f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b2d8a1ccf4edd" /><Relationship Type="http://schemas.openxmlformats.org/officeDocument/2006/relationships/notesSlide" Target="/ppt/notesSlides/notesSlide21.xml" Id="R0c2ca2fa076a4d0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2202614894436" /><Relationship Type="http://schemas.openxmlformats.org/officeDocument/2006/relationships/notesSlide" Target="/ppt/notesSlides/notesSlide22.xml" Id="R40b5a71750cb48b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d3cdbb60c4e7c" /><Relationship Type="http://schemas.openxmlformats.org/officeDocument/2006/relationships/notesSlide" Target="/ppt/notesSlides/notesSlide23.xml" Id="R3109f132320d423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98aa344414b76" /><Relationship Type="http://schemas.openxmlformats.org/officeDocument/2006/relationships/notesSlide" Target="/ppt/notesSlides/notesSlide24.xml" Id="R7f5a96d5ef69448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f2387467e487c" /><Relationship Type="http://schemas.openxmlformats.org/officeDocument/2006/relationships/image" Target="/ppt/media/image2.png" Id="R94f66d677ddc47e4" /><Relationship Type="http://schemas.openxmlformats.org/officeDocument/2006/relationships/notesSlide" Target="/ppt/notesSlides/notesSlide25.xml" Id="R50b6c7a2f59b4a0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069627cf1423e" /><Relationship Type="http://schemas.openxmlformats.org/officeDocument/2006/relationships/notesSlide" Target="/ppt/notesSlides/notesSlide26.xml" Id="Re8a95724c0954bb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7bdc2e87444a8e" /><Relationship Type="http://schemas.openxmlformats.org/officeDocument/2006/relationships/notesSlide" Target="/ppt/notesSlides/notesSlide27.xml" Id="Ree01bbc1548842d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f1afc7139403a" /><Relationship Type="http://schemas.openxmlformats.org/officeDocument/2006/relationships/notesSlide" Target="/ppt/notesSlides/notesSlide28.xml" Id="R01646062cc9e418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9c055aea5431a" /><Relationship Type="http://schemas.openxmlformats.org/officeDocument/2006/relationships/notesSlide" Target="/ppt/notesSlides/notesSlide29.xml" Id="R1e5465021c45462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4f2045a574cdd" /><Relationship Type="http://schemas.openxmlformats.org/officeDocument/2006/relationships/notesSlide" Target="/ppt/notesSlides/notesSlide30.xml" Id="R4c8e5940acd3439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c79f947e841a1" /><Relationship Type="http://schemas.openxmlformats.org/officeDocument/2006/relationships/notesSlide" Target="/ppt/notesSlides/notesSlide31.xml" Id="Rf2b76d40d0224d6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d6024c21d4af9" /><Relationship Type="http://schemas.openxmlformats.org/officeDocument/2006/relationships/notesSlide" Target="/ppt/notesSlides/notesSlide32.xml" Id="R719ff8d11f8b41e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8d467e73b4d00" /><Relationship Type="http://schemas.openxmlformats.org/officeDocument/2006/relationships/notesSlide" Target="/ppt/notesSlides/notesSlide33.xml" Id="Rd9896d84f56c4ba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b341325f746d6" /><Relationship Type="http://schemas.openxmlformats.org/officeDocument/2006/relationships/notesSlide" Target="/ppt/notesSlides/notesSlide34.xml" Id="Rbf0ba34dafe84fe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3fb77cc994c95" /><Relationship Type="http://schemas.openxmlformats.org/officeDocument/2006/relationships/notesSlide" Target="/ppt/notesSlides/notesSlide35.xml" Id="R51df11fef1e44f8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9c395f8274722" /><Relationship Type="http://schemas.openxmlformats.org/officeDocument/2006/relationships/notesSlide" Target="/ppt/notesSlides/notesSlide36.xml" Id="R0d91016540d2401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0b45c39974def" /><Relationship Type="http://schemas.openxmlformats.org/officeDocument/2006/relationships/notesSlide" Target="/ppt/notesSlides/notesSlide37.xml" Id="R77979f9298a74cd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6bfa2dd0e43ca" /><Relationship Type="http://schemas.openxmlformats.org/officeDocument/2006/relationships/image" Target="/ppt/media/image2.png" Id="R1cda3d3a1c8d47f1" /><Relationship Type="http://schemas.openxmlformats.org/officeDocument/2006/relationships/notesSlide" Target="/ppt/notesSlides/notesSlide38.xml" Id="R4a374944d36d468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3ff903caa405d" /><Relationship Type="http://schemas.openxmlformats.org/officeDocument/2006/relationships/notesSlide" Target="/ppt/notesSlides/notesSlide39.xml" Id="Reb29ebfb0014422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2404d5fa7401a" /><Relationship Type="http://schemas.openxmlformats.org/officeDocument/2006/relationships/notesSlide" Target="/ppt/notesSlides/notesSlide40.xml" Id="Rc9c6d3a12b314e7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9ddb91a5d4c8b" /><Relationship Type="http://schemas.openxmlformats.org/officeDocument/2006/relationships/notesSlide" Target="/ppt/notesSlides/notesSlide41.xml" Id="R8a78f52a422b4dc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15de1afe24347" /><Relationship Type="http://schemas.openxmlformats.org/officeDocument/2006/relationships/notesSlide" Target="/ppt/notesSlides/notesSlide42.xml" Id="R0cc7f17158f04ce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81a0ab19b44f4" /><Relationship Type="http://schemas.openxmlformats.org/officeDocument/2006/relationships/notesSlide" Target="/ppt/notesSlides/notesSlide43.xml" Id="R3338637b6784448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05688169441f9" /><Relationship Type="http://schemas.openxmlformats.org/officeDocument/2006/relationships/notesSlide" Target="/ppt/notesSlides/notesSlide44.xml" Id="Rea469ccbeed04dc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c2c6cadcd41d8" /><Relationship Type="http://schemas.openxmlformats.org/officeDocument/2006/relationships/notesSlide" Target="/ppt/notesSlides/notesSlide45.xml" Id="R2a12509ba9ad4d7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aab9eb2f6414e" /><Relationship Type="http://schemas.openxmlformats.org/officeDocument/2006/relationships/image" Target="/ppt/media/image2.png" Id="R08ec818f0eaf4952" /><Relationship Type="http://schemas.openxmlformats.org/officeDocument/2006/relationships/notesSlide" Target="/ppt/notesSlides/notesSlide46.xml" Id="R3cd0481710ea4ae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44f7c30c4429f" /><Relationship Type="http://schemas.openxmlformats.org/officeDocument/2006/relationships/notesSlide" Target="/ppt/notesSlides/notesSlide47.xml" Id="R5fdd8de1ad374ea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9e3ee78cb4cae" /><Relationship Type="http://schemas.openxmlformats.org/officeDocument/2006/relationships/notesSlide" Target="/ppt/notesSlides/notesSlide48.xml" Id="R37081f34f2b34f4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14d7bf70e4762" /><Relationship Type="http://schemas.openxmlformats.org/officeDocument/2006/relationships/notesSlide" Target="/ppt/notesSlides/notesSlide49.xml" Id="R422bd5ee0e7348c0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69c89e10040b8" /><Relationship Type="http://schemas.openxmlformats.org/officeDocument/2006/relationships/notesSlide" Target="/ppt/notesSlides/notesSlide50.xml" Id="R3301bf06e697465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8ebf23ebc42c0" /><Relationship Type="http://schemas.openxmlformats.org/officeDocument/2006/relationships/notesSlide" Target="/ppt/notesSlides/notesSlide51.xml" Id="R57250dcb065842d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6e26af2b684c1e" /><Relationship Type="http://schemas.openxmlformats.org/officeDocument/2006/relationships/notesSlide" Target="/ppt/notesSlides/notesSlide52.xml" Id="R90d4b188604348f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ad2fdfc7c4bfc" /><Relationship Type="http://schemas.openxmlformats.org/officeDocument/2006/relationships/notesSlide" Target="/ppt/notesSlides/notesSlide53.xml" Id="R4f16dc8ca7ba476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47c76f084408c" /><Relationship Type="http://schemas.openxmlformats.org/officeDocument/2006/relationships/notesSlide" Target="/ppt/notesSlides/notesSlide54.xml" Id="Rcb5213a560cb4c7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340db6025427f" /><Relationship Type="http://schemas.openxmlformats.org/officeDocument/2006/relationships/notesSlide" Target="/ppt/notesSlides/notesSlide55.xml" Id="Rc8309fba50f24996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2c50ebad3482d" /><Relationship Type="http://schemas.openxmlformats.org/officeDocument/2006/relationships/image" Target="/ppt/media/image2.png" Id="Rc46c531760db4e7c" /><Relationship Type="http://schemas.openxmlformats.org/officeDocument/2006/relationships/notesSlide" Target="/ppt/notesSlides/notesSlide56.xml" Id="R00ed01d01cbd4baa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c6fde6f884cba" /><Relationship Type="http://schemas.openxmlformats.org/officeDocument/2006/relationships/notesSlide" Target="/ppt/notesSlides/notesSlide57.xml" Id="R1a5801300a30475d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6eac0ea1544bb" /><Relationship Type="http://schemas.openxmlformats.org/officeDocument/2006/relationships/notesSlide" Target="/ppt/notesSlides/notesSlide58.xml" Id="Rbd70baa237294f0d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7a136782a4f95" /><Relationship Type="http://schemas.openxmlformats.org/officeDocument/2006/relationships/notesSlide" Target="/ppt/notesSlides/notesSlide59.xml" Id="Rb4deda209d6c49b9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30c9f73684313" /><Relationship Type="http://schemas.openxmlformats.org/officeDocument/2006/relationships/notesSlide" Target="/ppt/notesSlides/notesSlide60.xml" Id="Rbb847ce25ec4489b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6940f357f481f" /><Relationship Type="http://schemas.openxmlformats.org/officeDocument/2006/relationships/notesSlide" Target="/ppt/notesSlides/notesSlide61.xml" Id="R2335fed3ffce478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1796fac4d4903" /><Relationship Type="http://schemas.openxmlformats.org/officeDocument/2006/relationships/notesSlide" Target="/ppt/notesSlides/notesSlide62.xml" Id="Reb37a513590247fe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19902f5f5437f" /><Relationship Type="http://schemas.openxmlformats.org/officeDocument/2006/relationships/notesSlide" Target="/ppt/notesSlides/notesSlide63.xml" Id="Rbcebb82aa1304fd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63c6348b94117" /><Relationship Type="http://schemas.openxmlformats.org/officeDocument/2006/relationships/notesSlide" Target="/ppt/notesSlides/notesSlide64.xml" Id="R4103edac25fd402c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21eafabe64092" /><Relationship Type="http://schemas.openxmlformats.org/officeDocument/2006/relationships/notesSlide" Target="/ppt/notesSlides/notesSlide65.xml" Id="R43a41331892f42da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5e40b548d402c" /><Relationship Type="http://schemas.openxmlformats.org/officeDocument/2006/relationships/notesSlide" Target="/ppt/notesSlides/notesSlide66.xml" Id="Rf6dbe0fedae344bc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a37d2b1924946" /><Relationship Type="http://schemas.openxmlformats.org/officeDocument/2006/relationships/notesSlide" Target="/ppt/notesSlides/notesSlide67.xml" Id="R9a3ebda8c7e14025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58aaa49e54dff" /><Relationship Type="http://schemas.openxmlformats.org/officeDocument/2006/relationships/notesSlide" Target="/ppt/notesSlides/notesSlide68.xml" Id="Re6bfab68ad8949d1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d5fa800494f16" /><Relationship Type="http://schemas.openxmlformats.org/officeDocument/2006/relationships/notesSlide" Target="/ppt/notesSlides/notesSlide69.xml" Id="R85955cdac4fc49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e449b33cdc412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333D9-295F-45F3-9B56-0BF3FA33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47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B72E3-7584-486D-8CEB-9E95826B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66EEC-6080-4947-8ACD-C88A46B8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3A0FF"/>
                </a:solidFill>
              </a:defRPr>
            </a:pPr>
            <a:r>
              <a:rPr sz="1125" b="1">
                <a:solidFill>
                  <a:srgbClr val="73A0FF"/>
                </a:solidFill>
              </a:rPr>
              <a:t>MODULO 2 · 4 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B42A0-4452-41E7-A2B9-D08F6255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4F7FB"/>
                </a:solidFill>
              </a:defRPr>
            </a:pPr>
            <a:r>
              <a:rPr sz="4350" b="1">
                <a:solidFill>
                  <a:srgbClr val="F4F7FB"/>
                </a:solidFill>
              </a:rPr>
              <a:t>State management avanzato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6D7F9-1C5B-4563-9821-C041DADA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9B7C8"/>
                </a:solidFill>
              </a:defRPr>
            </a:pPr>
            <a:r>
              <a:rPr sz="1800" b="0">
                <a:solidFill>
                  <a:srgbClr val="A9B7C8"/>
                </a:solidFill>
              </a:rPr>
              <a:t>Ownership, Context, reducer, stati asincroni, cache, invalidazione e rollback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860297-2DBF-4DB3-A2A5-1054F934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F8298"/>
                </a:solidFill>
              </a:defRPr>
            </a:pPr>
            <a:r>
              <a:rPr sz="1200" b="0">
                <a:solidFill>
                  <a:srgbClr val="6F8298"/>
                </a:solidFill>
              </a:rPr>
              <a:t>Corso intermedio-avanzato · React + TypeScript</a:t>
            </a:r>
          </a:p>
        </p:txBody>
      </p:sp>
    </p:spTree>
    <p:extLst>
      <p:ext uri="{BB962C8B-B14F-4D97-AF65-F5344CB8AC3E}">
        <p14:creationId xmlns:p14="http://schemas.microsoft.com/office/powerpoint/2010/main" val="700635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EB8456-D5AC-402A-B583-B7DFABC1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111EE-4EDB-455F-88A2-2B8BCA94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14724-AF9E-42EF-9719-A51FE579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Lo stato non è un posto: è una responsabilità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83361-519F-405F-B1D6-7EE24E55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D05AF-F63F-4EDB-85D9-C37940D0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D6DBB0-F770-4926-BE7D-B19403A6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5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7F4A6-17F4-4241-BC33-24D3C3A8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857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7FB"/>
                </a:solidFill>
              </a:defRPr>
            </a:pPr>
            <a:r>
              <a:rPr sz="3150" b="1">
                <a:solidFill>
                  <a:srgbClr val="F4F7FB"/>
                </a:solidFill>
              </a:rPr>
              <a:t>Prima di scegliere uno store, stabilisci chi possiede il dato, quanto dura e chi può modificarlo.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FAF239-9CCE-4EEA-9327-4FE2F6CF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14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FE155A-411B-47D9-B3A6-3E9F31DB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PRINCIPIO GUIDA</a:t>
            </a:r>
          </a:p>
        </p:txBody>
      </p:sp>
    </p:spTree>
    <p:extLst>
      <p:ext uri="{BB962C8B-B14F-4D97-AF65-F5344CB8AC3E}">
        <p14:creationId xmlns:p14="http://schemas.microsoft.com/office/powerpoint/2010/main" val="2802444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C53AEB-7338-4B9C-9A29-13085185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56D56A-B170-40AE-9B20-C5C42766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B094D-785F-447A-B09B-4FCD975C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Sette decisioni costruiscono un flusso prevedibile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F9783-F71F-436B-9AC2-C95CD04A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61878-20A7-48CD-8237-53F1ADCA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93F0F-E992-473E-89C8-15AA54F3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667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1DB24-2682-499D-91C9-A0C0D8FF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09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B"/>
                </a:solidFill>
              </a:defRPr>
            </a:pPr>
            <a:r>
              <a:rPr sz="2850" b="1">
                <a:solidFill>
                  <a:srgbClr val="F4F7FB"/>
                </a:solidFill>
              </a:rPr>
              <a:t>MAPPA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F4F7FB"/>
                </a:solidFill>
              </a:defRPr>
            </a:pPr>
            <a:r>
              <a:rPr sz="2850" b="1">
                <a:solidFill>
                  <a:srgbClr val="F4F7FB"/>
                </a:solidFill>
              </a:rPr>
              <a:t>DEL MODULO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6BC758-E6F6-434D-952D-8D98A758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00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Ogni scelta riduce una diversa forma di incoerenza.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AD192-E711-461B-BC0A-89D3658A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85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613B5-DFA5-4F43-A1C5-E990D7BF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00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1. Tassonomia e ownership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58AE8-88AE-420A-B079-1095AA5D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57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987F5-7966-4AF4-8002-3E5309F4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717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2. Context con confini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8B8D8E-650E-4A8E-BD87-DC6E2DD9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28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401410-857F-4220-B810-0514C93A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43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3. Reducer e transizioni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03CFB-FF27-4521-9CBD-6E390B24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0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5A76F-F061-416E-8FE2-CFF2D299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147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4. Stati asincroni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3563D0-91B8-42FB-8DF0-762BF8A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5A8F4-076C-46B9-B7D3-9EB7105D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886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5. Fetch e trasformazione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B57B9-C69E-4DEB-878B-177D3333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43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A6F425-B1C7-422A-8E4F-98389371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4577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6. Cache e invalidazione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4C1EFF-827A-4577-9D01-D3270950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14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B5235-C161-4767-91F0-6F637A73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029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7. Optimistic update</a:t>
            </a:r>
          </a:p>
        </p:txBody>
      </p:sp>
    </p:spTree>
    <p:extLst>
      <p:ext uri="{BB962C8B-B14F-4D97-AF65-F5344CB8AC3E}">
        <p14:creationId xmlns:p14="http://schemas.microsoft.com/office/powerpoint/2010/main" val="13108118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9D4FDD-6295-4183-98B2-840B72D5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05248-5738-4420-A40A-581E007D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20111-CF17-4CC4-A77A-823960C3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Caso guida: Operations 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B69F1-E13E-4F6A-B9B5-1F3810DC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90EA5-9359-464F-8A0E-77B12B30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B418E-0668-42AB-B481-CA51EBEE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4F7FB"/>
                </a:solidFill>
              </a:defRPr>
            </a:pPr>
            <a:r>
              <a:rPr sz="2325" b="1">
                <a:solidFill>
                  <a:srgbClr val="F4F7FB"/>
                </a:solidFill>
              </a:rPr>
              <a:t>Una dashboard filtra ticket, carica pagine remote, modifica priorità e conserva alcune preferenze.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E3F35-3824-45F7-9932-A20148CD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81150"/>
            <a:ext cx="42672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5F853D-59EF-4C63-BEAF-E875D1CD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33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48A36-F6B4-4B5A-B402-FB4B1F83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859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4195F-17A6-4AD3-99F9-DB820573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384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React + TypeScript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B7941-04E8-460E-857F-8D1B87D6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E7407-B137-4BBE-B26C-E3118BC3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289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REST API simulata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7B90B-D8E6-4EE5-9BEB-DF57125A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4805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9A4D44-A7B3-4A36-8BB6-6103CFB4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Filtri condivisi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34571-A2C5-4483-B8DF-1F51D43C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0386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8DF7E-28C8-4917-B3A9-71032A82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100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9B7C8"/>
                </a:solidFill>
              </a:defRPr>
            </a:pPr>
            <a:r>
              <a:rPr sz="1650" b="0">
                <a:solidFill>
                  <a:srgbClr val="A9B7C8"/>
                </a:solidFill>
              </a:rPr>
              <a:t>Mutazioni concorrenti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D1885-FAF7-4BE1-830B-F153C306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73A0FF"/>
                </a:solidFill>
              </a:defRPr>
            </a:pPr>
            <a:r>
              <a:rPr sz="1650" b="0">
                <a:solidFill>
                  <a:srgbClr val="73A0FF"/>
                </a:solidFill>
              </a:rPr>
              <a:t>Obiettivo: una sola fonte di verità per ogni responsabilità.</a:t>
            </a:r>
          </a:p>
        </p:txBody>
      </p:sp>
    </p:spTree>
    <p:extLst>
      <p:ext uri="{BB962C8B-B14F-4D97-AF65-F5344CB8AC3E}">
        <p14:creationId xmlns:p14="http://schemas.microsoft.com/office/powerpoint/2010/main" val="1248447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0146e904fd487c"/>
          <a:srcRect xmlns:a="http://schemas.openxmlformats.org/drawingml/2006/main" l="13653" t="0" r="136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3750" y="0"/>
            <a:ext cx="8858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EAB89-EA3D-4155-8AB6-A32DD397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EC9E8-306E-4A64-9A6D-19F5F8DD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B0D62-688F-48D7-B8A7-29BF3897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3A0FF"/>
                </a:solidFill>
              </a:defRPr>
            </a:pPr>
            <a:r>
              <a:rPr sz="3150" b="1">
                <a:solidFill>
                  <a:srgbClr val="73A0FF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5CA2F-EECB-4827-9E11-26005DE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Tassonomia e ownership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A036D-4396-49D4-8C85-ECF49A0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Ogni dato cambia per una ragione e possiede un proprietario.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6AD41-B776-4E63-B376-B371A0A5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872097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46F859-2902-40FB-B8DD-9BF2C01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210FD-F2A6-49D1-A22A-2A0BE53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C4847-E681-4445-BC21-82CE98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L’ownership indica chi può decidere il prossimo valore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AB23-3F9C-4E98-A4C6-A77D201A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F29E8-57A0-4664-B972-1AEC26A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4BE06-0E86-4D1C-8EB7-620E481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73A0FF"/>
                </a:solidFill>
              </a:defRPr>
            </a:pPr>
            <a:r>
              <a:rPr sz="2850" b="1">
                <a:solidFill>
                  <a:srgbClr val="73A0FF"/>
                </a:solidFill>
              </a:rPr>
              <a:t>State ownership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BEFD6-1409-40BE-873B-97B17818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Relazione tra un dato, il componente o servizio che lo possiede e le operazioni autorizzate a modificarlo.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7692-CF61-4009-A86B-3EC9950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76400"/>
            <a:ext cx="3600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F6BF-56DC-497B-B0A1-B54B639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1E516-712D-4C53-B4A0-8778DC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ESEMPIO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D86E2-5B59-4263-9E8A-39A143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7FB"/>
                </a:solidFill>
              </a:defRPr>
            </a:pPr>
            <a:r>
              <a:rPr sz="1575" b="0">
                <a:solidFill>
                  <a:srgbClr val="F4F7FB"/>
                </a:solidFill>
              </a:rPr>
              <a:t>selectedTicketId appartiene al contenitore che coordina lista e dettaglio, non a ogni riga.</a:t>
            </a:r>
          </a:p>
        </p:txBody>
      </p:sp>
    </p:spTree>
    <p:extLst>
      <p:ext uri="{BB962C8B-B14F-4D97-AF65-F5344CB8AC3E}">
        <p14:creationId xmlns:p14="http://schemas.microsoft.com/office/powerpoint/2010/main" val="10985836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Cinque categorie richiedono cinque strategie diverse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Categoria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Fonte di verità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Esempio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Locale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Componente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menu aperto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Globale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Albero React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utente corrente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Derivato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Calcolo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ticket visibili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Persistente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Storage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densità tabella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Server state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Backend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lista ticket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3D642-F5EB-4E83-883A-50DF1719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B01BF-92E4-469B-AADF-08B388A0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76407-1EA7-457B-8940-5E542231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Locale e globale descrivono il raggio, non il valore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BAC43-0187-4E44-A615-E0C4802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907E0-38CA-495C-BD45-0B6C6D5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71A33-0C34-4408-94DE-B83F5B7F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14F1C-84B1-4676-8AF7-554ACF05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1042-E242-4A0A-BCC7-4C02BB68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STATO LOCALE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E469B-6AB5-4C4C-898B-CA6124ED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Serve a un sottoalbero limitato.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Esempio: riga espansa, tab attiva, bozza temporanea.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94336-9AA2-4C3E-B5EE-AFAF20CE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4A1FA-4ECD-4F75-8FFD-286822E8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2B84E-3F79-4738-A4DD-4643B84A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STATO CONDIVISO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DACDD-BDE7-42D8-93E2-CAAF9F68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Coordina componenti distanti.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Esempio: sessione, lingua, filtri della dashboard.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5BC5A-B045-4C0C-8633-88C5F9EE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Promuovi lo stato solo quando due consumatori devono concordare.</a:t>
            </a:r>
          </a:p>
        </p:txBody>
      </p:sp>
    </p:spTree>
    <p:extLst>
      <p:ext uri="{BB962C8B-B14F-4D97-AF65-F5344CB8AC3E}">
        <p14:creationId xmlns:p14="http://schemas.microsoft.com/office/powerpoint/2010/main" val="6578896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Lo stato locale resta vicino all’interazione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TicketRow({ ticket }: Props)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Solo questa riga deve ricordare l'espansione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[expanded, setExpanded] = useState(false);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&lt;RowDetails open={expanded} ticket={ticket}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onToggle={() =&gt; setExpanded(v =&gt; !v)} /&gt;;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Nessun altro componente deve osservare expanded. Spostarlo in Context aumenterebbe raggio e render.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Lo stato derivato si calcola durante il render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// tickets e filters sono le fonti di verità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const visibleTickets = tickets.filter(ticket =&gt;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filters.status === 'all' ||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ticket.status === filters.status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// Nessun setVisibleTickets da sincronizzare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Se il valore si ottiene da props o state correnti, conservarlo crea una copia che può diventare obsoleta.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69B154-C2B1-4D11-902E-D7F65775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00F6DE-3C1A-403D-867D-BF84092E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8D03F-0B65-480F-8F74-B90F9E2E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Duplicare un valore derivato crea due verità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7D5A4-186A-4A2D-A6E5-7C26B289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7A2B9-814C-45C8-9D3E-0D9B93D0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93C5A-839E-4174-BDA2-49B4E897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9BFE4-F15C-4D63-AD9E-A0B3C7EF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86521-C77F-4278-9ED7-393F69C8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PRIMA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C7C733-67AD-4E7D-BFAF-1925B567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const [tickets, setTickets] = useState([]);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const [visible, setVisible] = useState([]);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// Ogni update deve sincronizzare entrambi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651C3-257C-4A97-B350-9D78EC71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6FE0B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EDF27-0521-4471-AA65-BA8E309E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0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4C293-D595-4F82-ABA3-B2B24D31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E0B4"/>
                </a:solidFill>
              </a:defRPr>
            </a:pPr>
            <a:r>
              <a:rPr sz="975" b="1">
                <a:solidFill>
                  <a:srgbClr val="6FE0B4"/>
                </a:solidFill>
              </a:rPr>
              <a:t>DOPO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8FD65C-46F5-4739-8800-24571CD0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const [tickets, setTickets] = useState([]);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const visible = filterTickets(tickets, filters);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// Il render ricalcola sempre la proiezione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F464C7-4109-4B86-B6B3-D1C02A6C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Conserva il minimo stato necessario; deriva il resto.</a:t>
            </a:r>
          </a:p>
        </p:txBody>
      </p:sp>
    </p:spTree>
    <p:extLst>
      <p:ext uri="{BB962C8B-B14F-4D97-AF65-F5344CB8AC3E}">
        <p14:creationId xmlns:p14="http://schemas.microsoft.com/office/powerpoint/2010/main" val="15388978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Persistenza non trasforma il dato in server state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const [density, setDensity] = useState(() =&gt;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localStorage.getItem('density') ?? 'comfortable'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useEffect(() =&gt;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Persiste una preferenza, non dati autorevoli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localStorage.setItem('density', density);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}, [density]);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Lo storage prolunga la durata del dato, ma l’origine resta il browser dell’utente.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46F859-2902-40FB-B8DD-9BF2C01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210FD-F2A6-49D1-A22A-2A0BE53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C4847-E681-4445-BC21-82CE98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server state è una copia osservata di un sistema remoto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AB23-3F9C-4E98-A4C6-A77D201A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F29E8-57A0-4664-B972-1AEC26A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4BE06-0E86-4D1C-8EB7-620E481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73A0FF"/>
                </a:solidFill>
              </a:defRPr>
            </a:pPr>
            <a:r>
              <a:rPr sz="2850" b="1">
                <a:solidFill>
                  <a:srgbClr val="73A0FF"/>
                </a:solidFill>
              </a:rPr>
              <a:t>Server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BEFD6-1409-40BE-873B-97B17818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Dato posseduto dal backend, letto e temporaneamente memorizzato dal client con regole di freschezza e sincronizzazione.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7692-CF61-4009-A86B-3EC9950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76400"/>
            <a:ext cx="3600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F6BF-56DC-497B-B0A1-B54B639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1E516-712D-4C53-B4A0-8778DC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ESEMPIO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D86E2-5B59-4263-9E8A-39A143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7FB"/>
                </a:solidFill>
              </a:defRPr>
            </a:pPr>
            <a:r>
              <a:rPr sz="1575" b="0">
                <a:solidFill>
                  <a:srgbClr val="F4F7FB"/>
                </a:solidFill>
              </a:rPr>
              <a:t>tickets arriva dall’API: il client può mostrarlo e proporre modifiche, ma il backend resta autorevole.</a:t>
            </a:r>
          </a:p>
        </p:txBody>
      </p:sp>
    </p:spTree>
    <p:extLst>
      <p:ext uri="{BB962C8B-B14F-4D97-AF65-F5344CB8AC3E}">
        <p14:creationId xmlns:p14="http://schemas.microsoft.com/office/powerpoint/2010/main" val="10985836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Quattro domande decidono dove collocare lo stato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Domanda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 sì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Scelta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Viene dal backend?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Autorità remota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server 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Si può calcolare?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Nessuna memoria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derived value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Serve dopo reload?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Durata lunga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persistenza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Serve a più rami?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Raggio ampio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lift o Context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Serve solo qui?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Raggio locale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useState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8BA2BD-F1CC-4DC8-8192-8F483DD0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39D28-8E92-4DA0-9856-DFD6E9BF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5108E-807E-4DD3-9868-73C0ABAB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Checklist di ownership prima di aggiungere uno store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20E00-7DA5-40EF-9C95-CD670C2E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E25FD-C22E-4F58-AEC9-85D86B60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7B665F-3142-49E4-BB20-8B60498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B7AC1-BF41-4791-9CD3-72B12B63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79817-7315-4958-8927-808277F5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Chi produce il valore?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83059-B05E-40E1-B660-58BCD483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6AD079-DBED-47F8-9150-A0792A31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24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EAE35-B50A-4368-A87E-3EA93AF1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Chi può modificarlo?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F03F3D-554E-4FB8-BBC8-EC8F2452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EBA9C-FEC0-420D-A008-87E5EB5F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90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18A0D-471D-4E2B-9BB5-5B076E34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527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Chi deve osservarlo?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5DDEB-8ABA-41E3-BE3F-A6B651FF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6F4231-9FD0-4681-AC59-04D037A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57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368E4-2D7C-4CF7-9DAE-D9A46AE3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195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Quanto deve sopravvivere?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32301B-C4FD-4E59-A07B-F4E7EEDC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3BC64-9B27-40AD-B35A-291CCDA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324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71CFC-459A-4C0D-8EFB-D24A36F5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86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Può essere calcolato?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43B69-FC78-4BAC-897E-3FC85E84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8F9105-225B-4D0F-A9A5-1FB622F2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91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9A04F1-59CD-4AF8-B39F-E6D2C66D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53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Può diventare stale?</a:t>
            </a:r>
          </a:p>
        </p:txBody>
      </p:sp>
    </p:spTree>
    <p:extLst>
      <p:ext uri="{BB962C8B-B14F-4D97-AF65-F5344CB8AC3E}">
        <p14:creationId xmlns:p14="http://schemas.microsoft.com/office/powerpoint/2010/main" val="128419096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71fd53542459b"/>
          <a:srcRect xmlns:a="http://schemas.openxmlformats.org/drawingml/2006/main" l="13653" t="0" r="136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3750" y="0"/>
            <a:ext cx="8858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EAB89-EA3D-4155-8AB6-A32DD397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EC9E8-306E-4A64-9A6D-19F5F8DD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B0D62-688F-48D7-B8A7-29BF3897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3A0FF"/>
                </a:solidFill>
              </a:defRPr>
            </a:pPr>
            <a:r>
              <a:rPr sz="3150" b="1">
                <a:solidFill>
                  <a:srgbClr val="73A0FF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5CA2F-EECB-4827-9E11-26005DE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Context API con confini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A036D-4396-49D4-8C85-ECF49A0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Context distribuisce un valore; non progetta la sua struttura.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6AD41-B776-4E63-B376-B371A0A5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872097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46F859-2902-40FB-B8DD-9BF2C01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210FD-F2A6-49D1-A22A-2A0BE53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C4847-E681-4445-BC21-82CE98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Context distribuisce un contratto al sottoalbero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AB23-3F9C-4E98-A4C6-A77D201A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F29E8-57A0-4664-B972-1AEC26A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4BE06-0E86-4D1C-8EB7-620E481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73A0FF"/>
                </a:solidFill>
              </a:defRPr>
            </a:pPr>
            <a:r>
              <a:rPr sz="2850" b="1">
                <a:solidFill>
                  <a:srgbClr val="73A0FF"/>
                </a:solidFill>
              </a:rPr>
              <a:t>Context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BEFD6-1409-40BE-873B-97B17818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Meccanismo con cui un provider rende disponibile un valore ai discendenti senza passarlo esplicitamente attraverso ogni livello.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7692-CF61-4009-A86B-3EC9950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76400"/>
            <a:ext cx="3600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F6BF-56DC-497B-B0A1-B54B639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1E516-712D-4C53-B4A0-8778DC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ESEMPIO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D86E2-5B59-4263-9E8A-39A143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7FB"/>
                </a:solidFill>
              </a:defRPr>
            </a:pPr>
            <a:r>
              <a:rPr sz="1575" b="0">
                <a:solidFill>
                  <a:srgbClr val="F4F7FB"/>
                </a:solidFill>
              </a:rPr>
              <a:t>AuthContext espone user e logout ai componenti dell’area riservata.</a:t>
            </a:r>
          </a:p>
        </p:txBody>
      </p:sp>
    </p:spTree>
    <p:extLst>
      <p:ext uri="{BB962C8B-B14F-4D97-AF65-F5344CB8AC3E}">
        <p14:creationId xmlns:p14="http://schemas.microsoft.com/office/powerpoint/2010/main" val="10985836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3D642-F5EB-4E83-883A-50DF1719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B01BF-92E4-469B-AADF-08B388A0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76407-1EA7-457B-8940-5E542231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Usa Context per dipendenze stabili e realmente condivise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BAC43-0187-4E44-A615-E0C4802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907E0-38CA-495C-BD45-0B6C6D5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71A33-0C34-4408-94DE-B83F5B7F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14F1C-84B1-4676-8AF7-554ACF05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1042-E242-4A0A-BCC7-4C02BB68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BUON CANDIDATO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E469B-6AB5-4C4C-898B-CA6124ED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Sessione, tema, locale, servizi configurati, stato di una feature complessa.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94336-9AA2-4C3E-B5EE-AFAF20CE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4A1FA-4ECD-4F75-8FFD-286822E8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2B84E-3F79-4738-A4DD-4643B84A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CATTIVO CANDIDATO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DACDD-BDE7-42D8-93E2-CAAF9F68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Hover, input isolato, ogni risposta API, valori derivabili, aggiornamenti ad alta frequenza.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5BC5A-B045-4C0C-8633-88C5F9EE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Il costo del provider cresce con il numero e la frequenza dei consumatori.</a:t>
            </a:r>
          </a:p>
        </p:txBody>
      </p:sp>
    </p:spTree>
    <p:extLst>
      <p:ext uri="{BB962C8B-B14F-4D97-AF65-F5344CB8AC3E}">
        <p14:creationId xmlns:p14="http://schemas.microsoft.com/office/powerpoint/2010/main" val="6578896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prop drilling crea dipendenze artificiali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App()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[filters, setFilters] = useState(initial);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Layout non usa filters, li inoltra soltanto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&lt;Layout filters={filters}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setFilters={setFilters} /&gt;;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problema non è il numero di props, ma la dipendenza artificiale dei livelli intermedi.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 custom hook rende obbligatoria la presenza del provider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const FiltersContext = createContext&lt;FiltersApi | null&gt;(null);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export function useFilters()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value = useContext(FiltersContext);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Errore immediato invece di undefined lontano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if (!value) throw new Error('FiltersProvider missing');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value;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valore null segnala l’assenza del provider; l’hook centralizza controllo e messaggio.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3D642-F5EB-4E83-883A-50DF1719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B01BF-92E4-469B-AADF-08B388A0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76407-1EA7-457B-8940-5E542231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Separare lettura e dispatch riduce dipendenze inutili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BAC43-0187-4E44-A615-E0C4802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907E0-38CA-495C-BD45-0B6C6D5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71A33-0C34-4408-94DE-B83F5B7F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14F1C-84B1-4676-8AF7-554ACF05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1042-E242-4A0A-BCC7-4C02BB68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FILTERS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E469B-6AB5-4C4C-898B-CA6124ED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Contiene il valore corrente.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Lo leggono tabella, badge e riepilogo.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94336-9AA2-4C3E-B5EE-AFAF20CE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4A1FA-4ECD-4F75-8FFD-286822E8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2B84E-3F79-4738-A4DD-4643B84A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FILTERS DISPATCH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DACDD-BDE7-42D8-93E2-CAAF9F68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Espone transizioni.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Lo usano toolbar e controlli di input.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5BC5A-B045-4C0C-8633-88C5F9EE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Un componente che invia azioni non deve sottoscrivere tutto lo state.</a:t>
            </a:r>
          </a:p>
        </p:txBody>
      </p:sp>
    </p:spTree>
    <p:extLst>
      <p:ext uri="{BB962C8B-B14F-4D97-AF65-F5344CB8AC3E}">
        <p14:creationId xmlns:p14="http://schemas.microsoft.com/office/powerpoint/2010/main" val="65788964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provider possiede stato e contratto pubblico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FiltersProvider({ children }: Props)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[state, dispatch] = useReducer(reducer, initial);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Due contratti con frequenza diversa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&lt;StateContext value={state}&gt;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&lt;DispatchContext value={dispatch}&gt;{children}&lt;/DispatchContext&gt;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&lt;/StateContext&gt;;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reducer resta un dettaglio del provider; i consumatori ricevono solo ciò che devono conoscere.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69B154-C2B1-4D11-902E-D7F65775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00F6DE-3C1A-403D-867D-BF84092E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8D03F-0B65-480F-8F74-B90F9E2E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 value ricreato cambia identità a ogni render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7D5A4-186A-4A2D-A6E5-7C26B289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7A2B9-814C-45C8-9D3E-0D9B93D0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93C5A-839E-4174-BDA2-49B4E897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9BFE4-F15C-4D63-AD9E-A0B3C7EF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86521-C77F-4278-9ED7-393F69C8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PRIMA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C7C733-67AD-4E7D-BFAF-1925B567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const value = { user, logout };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return &lt;AuthContext value={value}&gt;{children}&lt;/AuthContext&gt;;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651C3-257C-4A97-B350-9D78EC71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6FE0B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EDF27-0521-4471-AA65-BA8E309E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0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4C293-D595-4F82-ABA3-B2B24D31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E0B4"/>
                </a:solidFill>
              </a:defRPr>
            </a:pPr>
            <a:r>
              <a:rPr sz="975" b="1">
                <a:solidFill>
                  <a:srgbClr val="6FE0B4"/>
                </a:solidFill>
              </a:rPr>
              <a:t>DOPO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8FD65C-46F5-4739-8800-24571CD0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const value = useMemo(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  () =&gt; ({ user, logout }),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  [user, logout]</a:t>
            </a:r>
          </a:p>
          <a:p xmlns:a="http://schemas.openxmlformats.org/drawingml/2006/main">
            <a:r>
              <a:t>);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// Stabile finché non cambiano le dipendenze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F464C7-4109-4B86-B6B3-D1C02A6C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Memoizza solo dopo aver stabilizzato le dipendenze e misurato il problema.</a:t>
            </a:r>
          </a:p>
        </p:txBody>
      </p:sp>
    </p:spTree>
    <p:extLst>
      <p:ext uri="{BB962C8B-B14F-4D97-AF65-F5344CB8AC3E}">
        <p14:creationId xmlns:p14="http://schemas.microsoft.com/office/powerpoint/2010/main" val="153889789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8BA2BD-F1CC-4DC8-8192-8F483DD0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39D28-8E92-4DA0-9856-DFD6E9BF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5108E-807E-4DD3-9868-73C0ABAB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Checklist Context: il confine viene prima del provider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20E00-7DA5-40EF-9C95-CD670C2E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E25FD-C22E-4F58-AEC9-85D86B60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7B665F-3142-49E4-BB20-8B60498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B7AC1-BF41-4791-9CD3-72B12B63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79817-7315-4958-8927-808277F5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Il contratto è davvero condiviso?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83059-B05E-40E1-B660-58BCD483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6AD079-DBED-47F8-9150-A0792A31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24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EAE35-B50A-4368-A87E-3EA93AF1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Il provider è vicino ai consumatori?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F03F3D-554E-4FB8-BBC8-EC8F2452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EBA9C-FEC0-420D-A008-87E5EB5F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90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18A0D-471D-4E2B-9BB5-5B076E34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527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State e dispatch hanno frequenze diverse?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5DDEB-8ABA-41E3-BE3F-A6B651FF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6F4231-9FD0-4681-AC59-04D037A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57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368E4-2D7C-4CF7-9DAE-D9A46AE3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195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Il value cambia senza motivo?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32301B-C4FD-4E59-A07B-F4E7EEDC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3BC64-9B27-40AD-B35A-291CCDA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324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71CFC-459A-4C0D-8EFB-D24A36F5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86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Un default fittizio nasconde errori?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43B69-FC78-4BAC-897E-3FC85E84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8F9105-225B-4D0F-A9A5-1FB622F2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91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9A04F1-59CD-4AF8-B39F-E6D2C66D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53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Serve una server cache invece di Context?</a:t>
            </a:r>
          </a:p>
        </p:txBody>
      </p:sp>
    </p:spTree>
    <p:extLst>
      <p:ext uri="{BB962C8B-B14F-4D97-AF65-F5344CB8AC3E}">
        <p14:creationId xmlns:p14="http://schemas.microsoft.com/office/powerpoint/2010/main" val="128419096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66d677ddc47e4"/>
          <a:srcRect xmlns:a="http://schemas.openxmlformats.org/drawingml/2006/main" l="13653" t="0" r="136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3750" y="0"/>
            <a:ext cx="8858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EAB89-EA3D-4155-8AB6-A32DD397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EC9E8-306E-4A64-9A6D-19F5F8DD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B0D62-688F-48D7-B8A7-29BF3897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3A0FF"/>
                </a:solidFill>
              </a:defRPr>
            </a:pPr>
            <a:r>
              <a:rPr sz="3150" b="1">
                <a:solidFill>
                  <a:srgbClr val="73A0FF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5CA2F-EECB-4827-9E11-26005DE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useReducer e transizioni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A036D-4396-49D4-8C85-ECF49A0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Quando gli aggiornamenti formano un linguaggio, rendilo esplicito.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6AD41-B776-4E63-B376-B371A0A5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8720977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46F859-2902-40FB-B8DD-9BF2C01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210FD-F2A6-49D1-A22A-2A0BE53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C4847-E681-4445-BC21-82CE98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 reducer rende esplicita la funzione di transizione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AB23-3F9C-4E98-A4C6-A77D201A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F29E8-57A0-4664-B972-1AEC26A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4BE06-0E86-4D1C-8EB7-620E481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73A0FF"/>
                </a:solidFill>
              </a:defRPr>
            </a:pPr>
            <a:r>
              <a:rPr sz="2850" b="1">
                <a:solidFill>
                  <a:srgbClr val="73A0FF"/>
                </a:solidFill>
              </a:rPr>
              <a:t>Reducer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BEFD6-1409-40BE-873B-97B17818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Funzione pura che riceve state e action e restituisce il prossimo state senza mutare quello corrente.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7692-CF61-4009-A86B-3EC9950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76400"/>
            <a:ext cx="3600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F6BF-56DC-497B-B0A1-B54B639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1E516-712D-4C53-B4A0-8778DC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ESEMPIO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D86E2-5B59-4263-9E8A-39A143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7FB"/>
                </a:solidFill>
              </a:defRPr>
            </a:pPr>
            <a:r>
              <a:rPr sz="1575" b="0">
                <a:solidFill>
                  <a:srgbClr val="F4F7FB"/>
                </a:solidFill>
              </a:rPr>
              <a:t>filtersReducer(state, { type: 'status_changed', status: 'open' }) produce il nuovo filtro.</a:t>
            </a:r>
          </a:p>
        </p:txBody>
      </p:sp>
    </p:spTree>
    <p:extLst>
      <p:ext uri="{BB962C8B-B14F-4D97-AF65-F5344CB8AC3E}">
        <p14:creationId xmlns:p14="http://schemas.microsoft.com/office/powerpoint/2010/main" val="109858360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Le action descrivono eventi, non setter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Significato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Effetto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filters_changed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utente filtra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reset pagina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request_started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fetch avviato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loading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request_succeeded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dati ricevuti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success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request_failed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errore ricevuto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error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ticket_updated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server conferma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merge record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Uno stato valido elimina combinazioni contraddittorie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Modello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Problema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Alternativa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isLoading +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dati ambigui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status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isError + isLoading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contraddizione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union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error senza tipo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UI generica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AppError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page + filters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update separati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stessa action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selected object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copia stale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selectedId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Molti setter distribuiscono una sola transizione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applyFilters(next: Filters)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setFilters(next);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setPage(1);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setError(null);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Quattro setter raccontano un solo evento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setSelection(null);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codice funziona, ma la regola reset pagina e selezione è duplicabile in ogni handler.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Una union discriminata descrive solo gli stati ammessi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type LoadState&lt;T&gt; =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| { status: 'idle' 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| { status: 'loading'; previous?: T 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| { status: 'success'; data: T 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| { status: 'error'; error: AppError; previous?: T };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// status guida il narrowing TypeScript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Ogni variante possiede soltanto i campi coerenti con quello stato.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reducer centralizza la regola di transizione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reducer(state: State, action: Action): State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switch (action.type)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case 'filters_changed':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  return { ...state, filters: action.filters,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    page: 1, selectedId: null };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default: return state;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Una sola action aggiorna i campi che devono restare coerenti.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Success ed error gestiscono dati precedenti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case 'request_started':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{ ...state, status: 'loading' };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case 'request_succeeded':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{ ...state, status: 'success', data: action.data };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case 'request_failed':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{ ...state, status: 'error', error: action.error };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La scelta di mantenere data durante il refresh deve essere esplicita, non accidentale.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useReducer collega modello e UI senza esporre setter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const [state, dispatch] = useReducer(reducer, initialState);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changeStatus(status: Status)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L’handler descrive l’evento, non i campi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dispatch({ type: 'filters_changed',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filters: { ...state.filters, status } 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dispatch ha identità stabile; il reducer calcola il prossimo snapshot.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49C5B5-9FF5-406D-AA8F-C77EDC50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F55A77-1E2C-402B-AF52-D4E31854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F39FA-5F02-48D2-A75E-E8690370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Ogni dispatch attraversa una pipeline prevedibile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C8A57-C302-411C-95CD-7EE9F536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083BE-AD6D-4550-A2C0-1CBF0F77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5428C-0110-47E2-BBCF-6AC437E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367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1BA8B-E33A-4B14-9B46-09760D73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2D720-D64A-4870-8FD0-02F19154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231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5B214-A4C5-4D07-9EF1-55B64E0D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63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52B96-8625-4595-97BA-7490843F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80CB8-E41B-4FB1-80D3-ECBBAD73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evento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425E5-4E52-4D43-A556-7FC73412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37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5F6AD-EB9B-438B-9D5C-65C233A9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72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415F3D-40D1-4C1C-B5A9-44D52B4A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969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CEEA6-85D2-48CB-92AB-AE60672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reducer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29D08-957E-467D-B21A-33A30FFD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FFA01-6455-4564-90E8-BAA1B74B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next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B40DB-7961-4D90-A79F-3C21F747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33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743BC-7BDB-4E5B-B4E1-6F25EE9B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168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render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D50A92-319B-4BA5-BB0E-A8FB5AD0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967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La UI emette un fatto; il reducer decide la trasformazione.</a:t>
            </a:r>
          </a:p>
        </p:txBody>
      </p:sp>
    </p:spTree>
    <p:extLst>
      <p:ext uri="{BB962C8B-B14F-4D97-AF65-F5344CB8AC3E}">
        <p14:creationId xmlns:p14="http://schemas.microsoft.com/office/powerpoint/2010/main" val="31926397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Reducer e Context formano un boundary di feature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DashboardStateProvider({ children }: Props)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[state, dispatch] = useReducer(reducer, initial);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&lt;DashboardState value={state}&gt;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&lt;DashboardDispatch value={dispatch}&gt;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  {children}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&lt;/DashboardDispatch&gt;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&lt;/DashboardState&gt;;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La feature possiede logica e distribuzione senza creare uno store globale applicativo.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reducer si testa come una funzione pura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it('resetta pagina quando cambiano i filtri', () =&gt;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state = { ...initial, page: 4 };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next = reducer(state,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type: 'filters_changed', filters: openFilters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expect(next).toMatchObject({ page: 1, filters: openFilters 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test verifica una regola di transizione senza DOM, provider o mock di rete.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8BA2BD-F1CC-4DC8-8192-8F483DD0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39D28-8E92-4DA0-9856-DFD6E9BF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5108E-807E-4DD3-9868-73C0ABAB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Checklist reducer: transizioni leggibili e verificabili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20E00-7DA5-40EF-9C95-CD670C2E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E25FD-C22E-4F58-AEC9-85D86B60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7B665F-3142-49E4-BB20-8B60498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B7AC1-BF41-4791-9CD3-72B12B63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79817-7315-4958-8927-808277F5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Le action descrivono eventi?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83059-B05E-40E1-B660-58BCD483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6AD079-DBED-47F8-9150-A0792A31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24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EAE35-B50A-4368-A87E-3EA93AF1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Il reducer è puro?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F03F3D-554E-4FB8-BBC8-EC8F2452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EBA9C-FEC0-420D-A008-87E5EB5F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90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18A0D-471D-4E2B-9BB5-5B076E34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527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Lo state evita contraddizioni?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5DDEB-8ABA-41E3-BE3F-A6B651FF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6F4231-9FD0-4681-AC59-04D037A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57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368E4-2D7C-4CF7-9DAE-D9A46AE3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195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Le transizioni correlate sono atomiche?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32301B-C4FD-4E59-A07B-F4E7EEDC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3BC64-9B27-40AD-B35A-291CCDA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324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71CFC-459A-4C0D-8EFB-D24A36F5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86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Il default segnala action ignote?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43B69-FC78-4BAC-897E-3FC85E84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8F9105-225B-4D0F-A9A5-1FB622F2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91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9A04F1-59CD-4AF8-B39F-E6D2C66D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53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 test coprono le regole critiche?</a:t>
            </a:r>
          </a:p>
        </p:txBody>
      </p:sp>
    </p:spTree>
    <p:extLst>
      <p:ext uri="{BB962C8B-B14F-4D97-AF65-F5344CB8AC3E}">
        <p14:creationId xmlns:p14="http://schemas.microsoft.com/office/powerpoint/2010/main" val="128419096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a3d3a1c8d47f1"/>
          <a:srcRect xmlns:a="http://schemas.openxmlformats.org/drawingml/2006/main" l="13653" t="0" r="136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3750" y="0"/>
            <a:ext cx="8858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EAB89-EA3D-4155-8AB6-A32DD397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EC9E8-306E-4A64-9A6D-19F5F8DD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B0D62-688F-48D7-B8A7-29BF3897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3A0FF"/>
                </a:solidFill>
              </a:defRPr>
            </a:pPr>
            <a:r>
              <a:rPr sz="3150" b="1">
                <a:solidFill>
                  <a:srgbClr val="73A0FF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5CA2F-EECB-4827-9E11-26005DE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Stati asincroni coerenti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A036D-4396-49D4-8C85-ECF49A0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La UI deve distinguere attesa, assenza, errore e aggiornamento.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6AD41-B776-4E63-B376-B371A0A5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58720977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46F859-2902-40FB-B8DD-9BF2C01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210FD-F2A6-49D1-A22A-2A0BE53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C4847-E681-4445-BC21-82CE98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Una risorsa asincrona è una macchina a stati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AB23-3F9C-4E98-A4C6-A77D201A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F29E8-57A0-4664-B972-1AEC26A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4BE06-0E86-4D1C-8EB7-620E481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73A0FF"/>
                </a:solidFill>
              </a:defRPr>
            </a:pPr>
            <a:r>
              <a:rPr sz="2850" b="1">
                <a:solidFill>
                  <a:srgbClr val="73A0FF"/>
                </a:solidFill>
              </a:rPr>
              <a:t>Async resource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BEFD6-1409-40BE-873B-97B17818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Modello che rappresenta lo stato osservabile di un’operazione remota: idle, loading, success, empty, error e refreshing.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7692-CF61-4009-A86B-3EC9950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76400"/>
            <a:ext cx="3600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F6BF-56DC-497B-B0A1-B54B639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1E516-712D-4C53-B4A0-8778DC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ESEMPIO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D86E2-5B59-4263-9E8A-39A143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7FB"/>
                </a:solidFill>
              </a:defRPr>
            </a:pPr>
            <a:r>
              <a:rPr sz="1575" b="0">
                <a:solidFill>
                  <a:srgbClr val="F4F7FB"/>
                </a:solidFill>
              </a:rPr>
              <a:t>La lista può mostrare dati esistenti mentre una nuova pagina viene aggiornata in background.</a:t>
            </a:r>
          </a:p>
        </p:txBody>
      </p:sp>
    </p:spTree>
    <p:extLst>
      <p:ext uri="{BB962C8B-B14F-4D97-AF65-F5344CB8AC3E}">
        <p14:creationId xmlns:p14="http://schemas.microsoft.com/office/powerpoint/2010/main" val="109858360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49C5B5-9FF5-406D-AA8F-C77EDC50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F55A77-1E2C-402B-AF52-D4E31854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F39FA-5F02-48D2-A75E-E8690370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flusso asincrono possiede rami di recupero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C8A57-C302-411C-95CD-7EE9F536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083BE-AD6D-4550-A2C0-1CBF0F77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5428C-0110-47E2-BBCF-6AC437E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367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1BA8B-E33A-4B14-9B46-09760D73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2D720-D64A-4870-8FD0-02F19154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231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5B214-A4C5-4D07-9EF1-55B64E0D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63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52B96-8625-4595-97BA-7490843F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80CB8-E41B-4FB1-80D3-ECBBAD73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idle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425E5-4E52-4D43-A556-7FC73412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37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5F6AD-EB9B-438B-9D5C-65C233A9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72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loading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415F3D-40D1-4C1C-B5A9-44D52B4A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969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CEEA6-85D2-48CB-92AB-AE60672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success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29D08-957E-467D-B21A-33A30FFD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FFA01-6455-4564-90E8-BAA1B74B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B40DB-7961-4D90-A79F-3C21F747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33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743BC-7BDB-4E5B-B4E1-6F25EE9B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168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retry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D50A92-319B-4BA5-BB0E-A8FB5AD0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967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Success può tornare loading per refresh; error può tornare loading per retry.</a:t>
            </a:r>
          </a:p>
        </p:txBody>
      </p:sp>
    </p:spTree>
    <p:extLst>
      <p:ext uri="{BB962C8B-B14F-4D97-AF65-F5344CB8AC3E}">
        <p14:creationId xmlns:p14="http://schemas.microsoft.com/office/powerpoint/2010/main" val="31926397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3D642-F5EB-4E83-883A-50DF1719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B01BF-92E4-469B-AADF-08B388A0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76407-1EA7-457B-8940-5E542231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Loading e refreshing richiedono feedback diversi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BAC43-0187-4E44-A615-E0C4802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907E0-38CA-495C-BD45-0B6C6D5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71A33-0C34-4408-94DE-B83F5B7F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14F1C-84B1-4676-8AF7-554ACF05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1042-E242-4A0A-BCC7-4C02BB68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PRIMO CARICAMENTO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E469B-6AB5-4C4C-898B-CA6124ED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Non esistono ancora dati.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Skeleton o stato di attesa occupano la superficie.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94336-9AA2-4C3E-B5EE-AFAF20CE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4A1FA-4ECD-4F75-8FFD-286822E8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2B84E-3F79-4738-A4DD-4643B84A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REFRESH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DACDD-BDE7-42D8-93E2-CAAF9F68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Esistono dati utilizzabili.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La lista resta visibile con indicatore discreto.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5BC5A-B045-4C0C-8633-88C5F9EE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Non cancellare informazione valida solo perché una richiesta è in corso.</a:t>
            </a:r>
          </a:p>
        </p:txBody>
      </p:sp>
    </p:spTree>
    <p:extLst>
      <p:ext uri="{BB962C8B-B14F-4D97-AF65-F5344CB8AC3E}">
        <p14:creationId xmlns:p14="http://schemas.microsoft.com/office/powerpoint/2010/main" val="65788964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Ogni stato asincrono ha una resa intenzionale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Stato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Contenuto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Azione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idle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istruzione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avvia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loading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skeleton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attendi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empty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messaggio utile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cambia filtri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error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errore contestuale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riprova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refreshing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dati + spinner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continua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L’empty state deriva da success con collezione vuota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if (state.status === 'loading') return &lt;Skeleton /&gt;;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if (state.status === 'error') return &lt;ErrorState /&gt;;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if (state.status === 'success' &amp;&amp; state.data.length === 0)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La richiesta è riuscita: mancano risultati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&lt;EmptyState onReset={resetFilters} /&gt;;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return &lt;TicketList tickets={state.data} /&gt;;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Separare empty da error permette messaggi e azioni coerenti.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Retry ripete l’intenzione e conserva il contesto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async function retry()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dispatch({ type: 'request_started' 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try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const data = await ticketsApi.list(state.filters);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dispatch({ type: 'request_succeeded', data 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} catch (error) { dispatch({ type: 'request_failed', error }); 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retry riusa filtri e parametri della richiesta fallita, senza duplicare la logica di rendering.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AbortController ferma risposte obsolete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useEffect(() =&gt;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controller = new AbortController();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Ogni filtro possiede la propria richiesta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loadTickets(filters, controller.signal)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.catch(e =&gt; e.name !== 'AbortError' &amp;&amp; report(e));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() =&gt; controller.abort();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}, [filters]);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La cleanup annulla la richiesta precedente quando i filtri cambiano o il componente si smonta.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c818f0eaf4952"/>
          <a:srcRect xmlns:a="http://schemas.openxmlformats.org/drawingml/2006/main" l="13653" t="0" r="136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3750" y="0"/>
            <a:ext cx="8858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EAB89-EA3D-4155-8AB6-A32DD397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EC9E8-306E-4A64-9A6D-19F5F8DD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B0D62-688F-48D7-B8A7-29BF3897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3A0FF"/>
                </a:solidFill>
              </a:defRPr>
            </a:pPr>
            <a:r>
              <a:rPr sz="3150" b="1">
                <a:solidFill>
                  <a:srgbClr val="73A0FF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5CA2F-EECB-4827-9E11-26005DE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Fetch, cache e invalidazione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A036D-4396-49D4-8C85-ECF49A0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L’accesso ai dati è una pipeline, non un Effect isolato.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6AD41-B776-4E63-B376-B371A0A5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158720977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3D642-F5EB-4E83-883A-50DF1719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B01BF-92E4-469B-AADF-08B388A0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76407-1EA7-457B-8940-5E542231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Fetching e rendering cambiano per ragioni diverse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BAC43-0187-4E44-A615-E0C4802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907E0-38CA-495C-BD45-0B6C6D5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71A33-0C34-4408-94DE-B83F5B7F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14F1C-84B1-4676-8AF7-554ACF05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1042-E242-4A0A-BCC7-4C02BB68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DATA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E469B-6AB5-4C4C-898B-CA6124ED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Costruisce request, controlla status, valida payload e mappa errori.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94336-9AA2-4C3E-B5EE-AFAF20CE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73A0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4A1FA-4ECD-4F75-8FFD-286822E8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57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2B84E-3F79-4738-A4DD-4643B84A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UI 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DACDD-BDE7-42D8-93E2-CAAF9F68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86000"/>
            <a:ext cx="46101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B"/>
                </a:solidFill>
              </a:defRPr>
            </a:pPr>
            <a:r>
              <a:rPr sz="1425" b="0">
                <a:solidFill>
                  <a:srgbClr val="F4F7FB"/>
                </a:solidFill>
              </a:rPr>
              <a:t>Sceglie loading, empty, error, retry e componenti da mostrare.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5BC5A-B045-4C0C-8633-88C5F9EE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Il componente non deve conoscere dettagli HTTP che non influenzano la UI.</a:t>
            </a:r>
          </a:p>
        </p:txBody>
      </p:sp>
    </p:spTree>
    <p:extLst>
      <p:ext uri="{BB962C8B-B14F-4D97-AF65-F5344CB8AC3E}">
        <p14:creationId xmlns:p14="http://schemas.microsoft.com/office/powerpoint/2010/main" val="65788964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client API traduce HTTP in un contratto applicativo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export async function listTickets(filters: Filters, signal?: AbortSignal)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response = await fetch(buildUrl(filters), { signal 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fetch non rifiuta per 404 o 500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if (!response.ok) throw await toAppError(response);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dto: TicketDto[] = await response.json();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dto.map(toTicket);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resto dell’app riceve Ticket e AppError, non Response e dettagli del backend.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 adapter protegge il dominio dal formato remoto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toTicket(dto: TicketDto): Ticket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id: dto.ticket_id,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title: dto.subject.trim(),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priority: mapPriority(dto.priority_code),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updatedAt: new Date(dto.updated_at)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};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La UI dipende da un modello stabile anche se l’API usa naming e formati differenti.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 hook orchestra il ciclo senza mescolare il markup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function useTickets(filters: Filters)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const [state, dispatch] = useReducer(reducer, initial);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useEffect(() =&gt;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const controller = new AbortController();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run(filters, controller.signal, dispatch);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return () =&gt; controller.abort();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}, [filters]);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return state;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servizio accede ai dati; il reducer modella gli stati; il componente renderizza.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46F859-2902-40FB-B8DD-9BF2C01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210FD-F2A6-49D1-A22A-2A0BE53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C4847-E681-4445-BC21-82CE98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Una server cache conserva dati per chiave e politica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AB23-3F9C-4E98-A4C6-A77D201A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F29E8-57A0-4664-B972-1AEC26A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4BE06-0E86-4D1C-8EB7-620E481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73A0FF"/>
                </a:solidFill>
              </a:defRPr>
            </a:pPr>
            <a:r>
              <a:rPr sz="2850" b="1">
                <a:solidFill>
                  <a:srgbClr val="73A0FF"/>
                </a:solidFill>
              </a:rPr>
              <a:t>Server cache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BEFD6-1409-40BE-873B-97B17818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Memoria client condivisa di risposte remote, indicizzate da query key e governate da freschezza, garbage collection e invalidazione.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7692-CF61-4009-A86B-3EC9950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76400"/>
            <a:ext cx="3600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F6BF-56DC-497B-B0A1-B54B639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1E516-712D-4C53-B4A0-8778DC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ESEMPIO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D86E2-5B59-4263-9E8A-39A143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7FB"/>
                </a:solidFill>
              </a:defRPr>
            </a:pPr>
            <a:r>
              <a:rPr sz="1575" b="0">
                <a:solidFill>
                  <a:srgbClr val="F4F7FB"/>
                </a:solidFill>
              </a:rPr>
              <a:t>La chiave ['tickets', filters] identifica la lista corrispondente a quei filtri.</a:t>
            </a:r>
          </a:p>
        </p:txBody>
      </p:sp>
    </p:spTree>
    <p:extLst>
      <p:ext uri="{BB962C8B-B14F-4D97-AF65-F5344CB8AC3E}">
        <p14:creationId xmlns:p14="http://schemas.microsoft.com/office/powerpoint/2010/main" val="109858360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La query key deve contenere ogni input della richiesta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const queryKey = ['tickets',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status: filters.status,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ownerId: filters.ownerId,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page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}];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// Stessi input, stessa identità di cache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useQuery({ queryKey, queryFn: () =&gt; listTickets(filters) });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Se page o un filtro mancano dalla chiave, risposte differenti possono condividere la stessa entry.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Invalidare dichiara quali dati sono stale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Evento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Cache coinvolta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Azione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ticket creato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liste ticket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invalidate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priorità cambiata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detail + liste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update/invalidate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utente disconnesso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dati privati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clear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filtro cambiato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nuova key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fetch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focus finestra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query stale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refetch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Il refresh deve seguire il costo e la volatilità del dato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Strategia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Quando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Rischio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on mount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apertura vista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richieste frequenti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on focus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ritorno utente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cambi visivi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interval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monitoraggio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carico rete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manuale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utente decide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dato stale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post mutation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dato modificato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waterfall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TanStack Query esplicita chiave, funzione e freschezza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const ticketsQuery = useQuery({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queryKey: ['tickets', filters],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queryFn: ({ signal }) =&gt; listTickets(filters, signal),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staleTime: 30_000,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// isPending: nessun dato; isFetching: refresh incluso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La libreria gestisce deduplicazione e lifecycle; l’architettura deve comunque scegliere key e policy.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c531760db4e7c"/>
          <a:srcRect xmlns:a="http://schemas.openxmlformats.org/drawingml/2006/main" l="13653" t="0" r="136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3750" y="0"/>
            <a:ext cx="8858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EAB89-EA3D-4155-8AB6-A32DD397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EC9E8-306E-4A64-9A6D-19F5F8DD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B0D62-688F-48D7-B8A7-29BF3897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73A0FF"/>
                </a:solidFill>
              </a:defRPr>
            </a:pPr>
            <a:r>
              <a:rPr sz="3150" b="1">
                <a:solidFill>
                  <a:srgbClr val="73A0FF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5CA2F-EECB-4827-9E11-26005DE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Optimistic update e rollback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A036D-4396-49D4-8C85-ECF49A0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La UI anticipa il successo, ma conserva una via di ritorno.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6AD41-B776-4E63-B376-B371A0A5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58720977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46F859-2902-40FB-B8DD-9BF2C01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210FD-F2A6-49D1-A22A-2A0BE53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C4847-E681-4445-BC21-82CE98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 optimistic update modifica la UI prima della conferma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AB23-3F9C-4E98-A4C6-A77D201A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F29E8-57A0-4664-B972-1AEC26A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4BE06-0E86-4D1C-8EB7-620E481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73A0FF"/>
                </a:solidFill>
              </a:defRPr>
            </a:pPr>
            <a:r>
              <a:rPr sz="2850" b="1">
                <a:solidFill>
                  <a:srgbClr val="73A0FF"/>
                </a:solidFill>
              </a:rPr>
              <a:t>Optimistic update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BEFD6-1409-40BE-873B-97B17818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Strategia che applica subito la modifica prevista, invia la richiesta e conferma o ripristina lo snapshot in base all’esito.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87692-CF61-4009-A86B-3EC9950F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76400"/>
            <a:ext cx="36004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F6BF-56DC-497B-B0A1-B54B6399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1E516-712D-4C53-B4A0-8778DC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ESEMPIO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D86E2-5B59-4263-9E8A-39A143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7FB"/>
                </a:solidFill>
              </a:defRPr>
            </a:pPr>
            <a:r>
              <a:rPr sz="1575" b="0">
                <a:solidFill>
                  <a:srgbClr val="F4F7FB"/>
                </a:solidFill>
              </a:rPr>
              <a:t>La priorità passa subito a high; se la PATCH fallisce, torna al valore precedente.</a:t>
            </a:r>
          </a:p>
        </p:txBody>
      </p:sp>
    </p:spTree>
    <p:extLst>
      <p:ext uri="{BB962C8B-B14F-4D97-AF65-F5344CB8AC3E}">
        <p14:creationId xmlns:p14="http://schemas.microsoft.com/office/powerpoint/2010/main" val="109858360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49C5B5-9FF5-406D-AA8F-C77EDC50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F55A77-1E2C-402B-AF52-D4E31854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F39FA-5F02-48D2-A75E-E8690370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L’update ottimistico è una transazione lato interfaccia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C8A57-C302-411C-95CD-7EE9F536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083BE-AD6D-4550-A2C0-1CBF0F77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5428C-0110-47E2-BBCF-6AC437E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367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1BA8B-E33A-4B14-9B46-09760D73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2D720-D64A-4870-8FD0-02F19154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231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5B214-A4C5-4D07-9EF1-55B64E0D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630" y="30003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52B96-8625-4595-97BA-7490843F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80CB8-E41B-4FB1-80D3-ECBBAD73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snapshot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425E5-4E52-4D43-A556-7FC73412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37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5F6AD-EB9B-438B-9D5C-65C233A9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72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optimistic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415F3D-40D1-4C1C-B5A9-44D52B4A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969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CEEA6-85D2-48CB-92AB-AE60672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request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29D08-957E-467D-B21A-33A30FFD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FFA01-6455-4564-90E8-BAA1B74B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confirm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B40DB-7961-4D90-A79F-3C21F747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330" y="2381250"/>
            <a:ext cx="19126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743BC-7BDB-4E5B-B4E1-6F25EE9B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1680" y="2790825"/>
            <a:ext cx="16459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rollback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D50A92-319B-4BA5-BB0E-A8FB5AD0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967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A9B7C8"/>
                </a:solidFill>
              </a:defRPr>
            </a:pPr>
            <a:r>
              <a:rPr sz="1725" b="0">
                <a:solidFill>
                  <a:srgbClr val="A9B7C8"/>
                </a:solidFill>
              </a:rPr>
              <a:t>Lo snapshot precedente è il capitale che rende possibile il rollback.</a:t>
            </a:r>
          </a:p>
        </p:txBody>
      </p:sp>
    </p:spTree>
    <p:extLst>
      <p:ext uri="{BB962C8B-B14F-4D97-AF65-F5344CB8AC3E}">
        <p14:creationId xmlns:p14="http://schemas.microsoft.com/office/powerpoint/2010/main" val="319263976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Snapshot prima, cache ottimistica dopo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const previous = queryClient.getQueryData&lt;Ticket[]&gt;(key);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queryClient.setQueryData&lt;Ticket[]&gt;(key, old =&gt;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old?.map(t =&gt; t.id === id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? { ...t, priority: nextPriority }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: t)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// Solo ora parte la PATCH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La trasformazione è immutabile e limitata all’entità identificata da id.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In caso di errore ripristiniamo; alla fine invalidiamo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try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await ticketsApi.updatePriority(id, nextPriority);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 catch (error)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// Rollback allo snapshot coerente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queryClient.setQueryData(key, previous);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notifyError(error);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 finally { queryClient.invalidateQueries({ queryKey: key }); 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Rollback ripara la UI; invalidazione verifica la verità finale con il backend.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useMutation formalizza il ciclo ottimistico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useMutation({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mutationFn: updatePriority,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onMutate: async variables =&gt;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await queryClient.cancelQueries({ queryKey: key 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const previous = queryClient.getQueryData(key);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applyOptimistic(variables);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return { previous };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},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onMutate prepara la transazione e restituisce il contesto che onError userà per tornare indietro.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E9411C-B43F-465D-A29F-154D6E42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BE3BB-F1F8-4C87-9A17-DEBD6858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A179-77C2-42CF-98C5-DC6DB9B0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onError e onSettled chiudono la transazione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4378-7EDE-4F00-A8EB-62B974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78C6C-38A7-4FBA-8686-0216D65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92F51-2C7A-4675-B502-271D9125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667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FF7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2893-F68F-4DCA-9A64-38E38ED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onError: (_error, _variables, context) =&gt; 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queryClient.setQueryData(key, context?.previous);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},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onSettled: () =&gt;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    queryClient.invalidateQueries({ queryKey: key }),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});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// Il backend decide lo stato definitivo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22C0-F6FD-4966-939F-E05E43D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95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D868C-FE86-48DF-8822-A851C5D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915B-2637-40AC-83E7-0502841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A8A"/>
                </a:solidFill>
              </a:defRPr>
            </a:pPr>
            <a:r>
              <a:rPr sz="975" b="1">
                <a:solidFill>
                  <a:srgbClr val="FF7A8A"/>
                </a:solidFill>
              </a:rPr>
              <a:t>DA OSSERVARE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D0145-FF2C-402D-AEEE-AAD772A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Il contesto collega il rollback alla mutation che ha creato lo snapshot.</a:t>
            </a:r>
          </a:p>
        </p:txBody>
      </p:sp>
    </p:spTree>
    <p:extLst>
      <p:ext uri="{BB962C8B-B14F-4D97-AF65-F5344CB8AC3E}">
        <p14:creationId xmlns:p14="http://schemas.microsoft.com/office/powerpoint/2010/main" val="773061051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La concorrenza richiede protezioni oltre al rollback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Rischio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Sintomo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Protezione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risposta fuori ordine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valore vecchio vince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versione/requestId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due edit stesso record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rollback errato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queue o merge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refetch concorrente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flicker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cancel query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errore irreversibile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fiducia persa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niente optimistic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liste multiple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viste incoerenti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update per key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C53AEB-7338-4B9C-9A29-13085185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56D56A-B170-40AE-9B20-C5C42766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B094D-785F-447A-B09B-4FCD975C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La dashboard finale separa sette responsabilità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F9783-F71F-436B-9AC2-C95CD04A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61878-20A7-48CD-8237-53F1ADCA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93F0F-E992-473E-89C8-15AA54F3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667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1DB24-2682-499D-91C9-A0C0D8FF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09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7FB"/>
                </a:solidFill>
              </a:defRPr>
            </a:pPr>
            <a:r>
              <a:rPr sz="2850" b="1">
                <a:solidFill>
                  <a:srgbClr val="F4F7FB"/>
                </a:solidFill>
              </a:rPr>
              <a:t>MAPPA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F4F7FB"/>
                </a:solidFill>
              </a:defRPr>
            </a:pPr>
            <a:r>
              <a:rPr sz="2850" b="1">
                <a:solidFill>
                  <a:srgbClr val="F4F7FB"/>
                </a:solidFill>
              </a:rPr>
              <a:t>DELLA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6BC758-E6F6-434D-952D-8D98A758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00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7C8"/>
                </a:solidFill>
              </a:defRPr>
            </a:pPr>
            <a:r>
              <a:rPr sz="1425" b="0">
                <a:solidFill>
                  <a:srgbClr val="A9B7C8"/>
                </a:solidFill>
              </a:rPr>
              <a:t>Ogni livello possiede una sola decisione principale.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AD192-E711-461B-BC0A-89D3658A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85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613B5-DFA5-4F43-A1C5-E990D7BF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00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1. FiltersProvider: client state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58AE8-88AE-420A-B079-1095AA5D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57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987F5-7966-4AF4-8002-3E5309F4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717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2. Dashboard reducer: transizioni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8B8D8E-650E-4A8E-BD87-DC6E2DD9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28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401410-857F-4220-B810-0514C93A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43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3. ticketsApi: trasporto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03CFB-FF27-4521-9CBD-6E390B24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0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5A76F-F061-416E-8FE2-CFF2D299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147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4. Adapter: modello dominio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3563D0-91B8-42FB-8DF0-762BF8A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5A8F4-076C-46B9-B7D3-9EB7105D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886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5. Query cache: server state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B57B9-C69E-4DEB-878B-177D3333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43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A6F425-B1C7-422A-8E4F-98389371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4577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6. Mutation: optimistic e rollback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4C1EFF-827A-4577-9D01-D3270950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14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B5235-C161-4767-91F0-6F637A73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029200"/>
            <a:ext cx="643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4F7FB"/>
                </a:solidFill>
              </a:defRPr>
            </a:pPr>
            <a:r>
              <a:rPr sz="1650" b="0">
                <a:solidFill>
                  <a:srgbClr val="F4F7FB"/>
                </a:solidFill>
              </a:rPr>
              <a:t>7. UI: stati osservabili</a:t>
            </a:r>
          </a:p>
        </p:txBody>
      </p:sp>
    </p:spTree>
    <p:extLst>
      <p:ext uri="{BB962C8B-B14F-4D97-AF65-F5344CB8AC3E}">
        <p14:creationId xmlns:p14="http://schemas.microsoft.com/office/powerpoint/2010/main" val="1310811828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657659-50D1-478D-BFE1-C35D07EB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57FE0-06C2-499F-8FE8-E16D9DE3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C7314-86A1-427B-8906-56799DF9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Laboratorio: dashboard con rete simulata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CD75E-A3F8-43B6-B420-40FED563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A0065-E8CF-4D6F-9C0A-34BFF1FF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4DC89-ABA7-4DC6-B54A-D8A879C8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3B72A6-74BD-4D35-B46B-D8853ED8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02C55-AF8B-4A45-B95E-6868196D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Classifica ogni stato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C8B65-B5F4-4D43-A1D2-382B9952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ECF68B-F1B6-4D60-898F-02FC1EA1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24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2A47D-BB06-4626-8F9B-B607C103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Definisci query key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D2C876-7B0B-43C2-9A25-FE099029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4F37D-3AA6-4904-8D6B-F508C39D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90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7237BB-F3C9-49C1-9C38-B5B9DAB5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527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Modella loading, empty, error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F5BB17-1BDD-4093-9686-3FF58C66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1493AC-2A22-4F64-88DC-76CCB2D5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57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2815B4-34D4-4F4B-9798-30A2FDA7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195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Aggiungi retry e abort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0393D-EEA0-421E-B49B-2596F771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38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059396-E0DC-48DF-82FE-4B06A12A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57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A81723-C185-487D-BBC1-E1AF40C6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19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Implementa optimistic priority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6AAF25-733F-4498-8DD6-9B5ACB5D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05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E5526-1906-49F7-A785-1B2FC099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24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7EAC8C-DB88-4965-9E1F-80AB7D0C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Forza un errore e verifica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F41A61-3FEE-4CE9-9514-8F093BCD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71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06E5A-3A29-4577-90E6-CD5CA586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90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4BF552-CE7C-4A4F-BE36-F2703E2A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527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Motiva una scelta in code review</a:t>
            </a:r>
          </a:p>
        </p:txBody>
      </p:sp>
    </p:spTree>
    <p:extLst>
      <p:ext uri="{BB962C8B-B14F-4D97-AF65-F5344CB8AC3E}">
        <p14:creationId xmlns:p14="http://schemas.microsoft.com/office/powerpoint/2010/main" val="1243979760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98035-C7DA-46D5-8098-F3FA41B6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A70ED-75B2-4A7A-B6C4-9CF7C0F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C215F-1FF9-42A8-AF03-920E0504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Mappa decisionale: scegli il minimo sufficiente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57FC0-7BD1-4003-94FC-98F7F916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B6BE2-31B1-41F5-B8C6-E752BB6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2A123-B3C9-4CA6-9957-020C12C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3791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2A76D-CE38-4F60-AEBD-8055852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7950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Segnale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3D837-936F-41F4-8259-CAD86F13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1619250"/>
            <a:ext cx="335432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61D35-D620-426B-B6C3-322ED6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1752600"/>
            <a:ext cx="30114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Meccanismo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AA8C-1C36-4187-91A1-192BB7BB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619250"/>
            <a:ext cx="432816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E0BF7-9F96-44DC-86B9-AE7DEB02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1752600"/>
            <a:ext cx="39852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Confine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E4A77-6A8D-4569-BC9D-630F2AF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B4291-86E7-457F-95E7-8631A359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574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solo un componente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7F27-D505-400C-B2EF-8A275E6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1336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8FCE-DE27-4DC8-82C7-2E09BD2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2574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useState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38DF5-7726-4159-B5BF-6D73C91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1336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3E9BD-BCC4-46BA-A63E-83FE4772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2574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locale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42F83-8E77-4B39-AB0C-04DA0E1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26B2F-92F6-4024-9E09-B649A17D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transizioni correlate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2F7E4-D86B-4D4C-A0D5-1435874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277177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8821-58A3-4733-ACCA-A67CF76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289560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useReducer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6D6AF-42DB-40CF-B40C-4210C7D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7177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8C29C-0189-428C-A1A6-FE8929A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289560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feature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604D7-F2F3-4A7E-84CE-80885DA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1185-5DA5-4D2D-A35A-EE1CB57A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molti discendenti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44E5A-87E6-465A-9DF8-F87EF1DC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340995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EB5972-7C38-45FF-A374-B3D0CA5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353377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Context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8E1AA-7BA3-41BB-9937-5513CE4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40995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AB050E-4846-4591-ACB5-FC3D92D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353377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sottoalbero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70350-1E76-43C8-9065-D89CAA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08FA24-48BA-44B5-B5EF-1FD185F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dato remoto condiviso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120A0-04A7-447E-84D0-45BB4F0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048125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EEB34-CBC5-4FD7-A08A-3C54839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171950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query cache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2394D8-6F68-4F31-B4DD-D613D8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48125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53A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D3DF3-0636-4506-B8B4-6F30FBA1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171950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app/sessione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CFAA6C-CCB0-4058-88CA-A35FD4B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137916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33A5D3-BFFB-47C3-A6BC-662E222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79501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7FB"/>
                </a:solidFill>
              </a:defRPr>
            </a:pPr>
            <a:r>
              <a:rPr sz="1275" b="1">
                <a:solidFill>
                  <a:srgbClr val="F4F7FB"/>
                </a:solidFill>
              </a:rPr>
              <a:t>durata oltre reload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662CAB-D617-4D2E-9C17-A4159D9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16" y="4686300"/>
            <a:ext cx="3354324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021A89-3F87-4B93-A871-6849EF67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166" y="4810125"/>
            <a:ext cx="301142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storage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610215-13CB-4042-85C4-9BCE648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686300"/>
            <a:ext cx="432816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879EFF-4ED9-4CAB-9A8D-B02E33C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490" y="4810125"/>
            <a:ext cx="398526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7C8"/>
                </a:solidFill>
              </a:defRPr>
            </a:pPr>
            <a:r>
              <a:rPr sz="1275" b="0">
                <a:solidFill>
                  <a:srgbClr val="A9B7C8"/>
                </a:solidFill>
              </a:rPr>
              <a:t>browser</a:t>
            </a:r>
          </a:p>
        </p:txBody>
      </p:sp>
    </p:spTree>
    <p:extLst>
      <p:ext uri="{BB962C8B-B14F-4D97-AF65-F5344CB8AC3E}">
        <p14:creationId xmlns:p14="http://schemas.microsoft.com/office/powerpoint/2010/main" val="1422388324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4C4528-62D7-412B-B446-76C0D3E4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56858-0300-43F2-ADF4-67660F6B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D0AD3-BF55-42E6-90C6-CAF19C49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Checklist finale del Modulo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58D2E-3C56-4E9A-A828-C3EEF79C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A103F-6EA6-4139-94BA-049F2FD9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639664-A47E-463B-A99C-AD639258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CEF47-CA72-49EB-AEAE-DD7930C0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26943-C069-48CB-9142-2CB0850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Ogni stato ha un proprietario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B73C4D-C5CD-4D6C-AC92-6EAA0DAB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8E3B6-F5C2-4F7C-915A-685B70B3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24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5870D-0352-455E-932A-3F1551FA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I valori derivabili non sono duplicati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A05EA-407A-48EF-B0E4-B1F57D35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76C969-6BD6-4A5F-9D3F-4F2A4783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90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D3CBEB-B5FA-428D-8FA2-1DCD3FBF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527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Context possiede un confine limitato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F051B-4AD1-43CA-8DB7-E56081A7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0F5C2C-F16D-4C1E-BDF4-1DF78FCF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57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2618B-7F7C-46C4-8DA3-92724261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195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Reducer nomina transizioni reali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E05F9-34B9-48E8-BE01-9D6CBEA8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38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092A7A-BB3F-49B2-8071-868A845F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573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5C8E43-7F29-4FC2-AF21-F9163327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192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Loading, empty ed error sono distinti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9F5120-4DB3-4DCE-A541-983A4376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05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BBEC93-CC8A-4F3B-B9F4-9798216C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241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D231A1-CDEB-43E3-ADA6-A6ADC0D1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La cache ha key e policy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1799E-D15E-43BA-B616-D85EC7AA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71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1F30A2-45FB-42D8-AE01-D6AAF382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908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3A0FF"/>
                </a:solidFill>
              </a:defRPr>
            </a:pPr>
            <a:r>
              <a:rPr sz="1500" b="1">
                <a:solidFill>
                  <a:srgbClr val="73A0FF"/>
                </a:solidFill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B50915-352B-4154-A166-21E82A4E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5275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Ogni update ottimistico ha rollback</a:t>
            </a:r>
          </a:p>
        </p:txBody>
      </p:sp>
    </p:spTree>
    <p:extLst>
      <p:ext uri="{BB962C8B-B14F-4D97-AF65-F5344CB8AC3E}">
        <p14:creationId xmlns:p14="http://schemas.microsoft.com/office/powerpoint/2010/main" val="855356650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CE59CA-9124-4C37-A4C8-49C6F814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F6274-27E4-46E4-A0FD-8751F5F1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6D568-7C4D-4501-8192-A1C4069A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Uno state robusto prevede anche il fallimento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780AC-516A-413E-8AA9-A0D50E6B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56E81-FCA1-4BF5-9050-50B04344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9EB90-A920-41E6-80E9-13CE512A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5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8AAD4-E831-43FE-A7AD-53E36CD1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857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7FB"/>
                </a:solidFill>
              </a:defRPr>
            </a:pPr>
            <a:r>
              <a:rPr sz="3150" b="1">
                <a:solidFill>
                  <a:srgbClr val="F4F7FB"/>
                </a:solidFill>
              </a:rPr>
              <a:t>Il team sa chi possiede il dato, la UI sa che cosa mostrare, la cache sa quando dubitare e ogni mutation sa come tornare indietro.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03A9F-9E2C-45C6-BE91-4C9BB6B9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14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76FC25-42F3-4D68-B754-54B7687C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0"/>
            <a:ext cx="3067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SINTESI</a:t>
            </a:r>
          </a:p>
        </p:txBody>
      </p:sp>
    </p:spTree>
    <p:extLst>
      <p:ext uri="{BB962C8B-B14F-4D97-AF65-F5344CB8AC3E}">
        <p14:creationId xmlns:p14="http://schemas.microsoft.com/office/powerpoint/2010/main" val="850716564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50F542-B098-4B55-90B6-EE9D9BDB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79BCB-C4E4-4A20-B1FF-2DA9D457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298"/>
                </a:solidFill>
              </a:defRPr>
            </a:pPr>
            <a:r>
              <a:rPr sz="900" b="1">
                <a:solidFill>
                  <a:srgbClr val="6F8298"/>
                </a:solidFill>
              </a:rPr>
              <a:t>REACT AZIENDALE · MODULO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2ED28E-C866-4AE3-8C57-68932E3A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Fonti e approfondimenti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8028F4-9F56-4AB5-9C68-84BCC8D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172CF-6081-445C-A2B5-5B36120B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8298"/>
                </a:solidFill>
              </a:defRPr>
            </a:pPr>
            <a:r>
              <a:rPr sz="900" b="0">
                <a:solidFill>
                  <a:srgbClr val="6F8298"/>
                </a:solidFill>
              </a:rPr>
              <a:t>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F7E1A-C23E-4C7E-9B50-FA4F28E3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24712-D9FC-400D-8A5F-08898E86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567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7FB"/>
                </a:solidFill>
              </a:defRPr>
            </a:pPr>
            <a:r>
              <a:rPr sz="1350" b="0">
                <a:solidFill>
                  <a:srgbClr val="F4F7FB"/>
                </a:solidFill>
              </a:rPr>
              <a:t>React: Choosing the State Structure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6A508E-6E28-42DE-92F5-9B98DE04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8BFC5-BC53-4BC7-8F5B-5086EBE9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567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7FB"/>
                </a:solidFill>
              </a:defRPr>
            </a:pPr>
            <a:r>
              <a:rPr sz="1350" b="0">
                <a:solidFill>
                  <a:srgbClr val="F4F7FB"/>
                </a:solidFill>
              </a:rPr>
              <a:t>React: Sharing State Between Components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CC103B-A5A9-492C-9DE3-10094C3C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F63855-4F5D-4EC8-A835-B1F30212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567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7FB"/>
                </a:solidFill>
              </a:defRPr>
            </a:pPr>
            <a:r>
              <a:rPr sz="1350" b="0">
                <a:solidFill>
                  <a:srgbClr val="F4F7FB"/>
                </a:solidFill>
              </a:rPr>
              <a:t>React: useContext e createContext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F60B8F-AF53-4B1F-972F-631E3CD1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34141-887C-4294-A26C-99802766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567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7FB"/>
                </a:solidFill>
              </a:defRPr>
            </a:pPr>
            <a:r>
              <a:rPr sz="1350" b="0">
                <a:solidFill>
                  <a:srgbClr val="F4F7FB"/>
                </a:solidFill>
              </a:rPr>
              <a:t>React: useReducer e Reducer +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3D717F-6D0E-41D0-9E44-6E0E869D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B31866-C1FC-4E16-B1A7-7A2B23CF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567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7FB"/>
                </a:solidFill>
              </a:defRPr>
            </a:pPr>
            <a:r>
              <a:rPr sz="1350" b="0">
                <a:solidFill>
                  <a:srgbClr val="F4F7FB"/>
                </a:solidFill>
              </a:rPr>
              <a:t>TanStack Query: caching e invalidation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D2329-4BE0-44DE-9CDA-FD0E88AE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2CB95C-0E93-49F3-8518-B25015AE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567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7FB"/>
                </a:solidFill>
              </a:defRPr>
            </a:pPr>
            <a:r>
              <a:rPr sz="1350" b="0">
                <a:solidFill>
                  <a:srgbClr val="F4F7FB"/>
                </a:solidFill>
              </a:rPr>
              <a:t>TanStack Query: optimistic updates e useMutation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324F65-94D4-4AD2-9C1B-0F15F957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474130-A658-4841-8D8F-2FD08C5C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567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4F7FB"/>
                </a:solidFill>
              </a:defRPr>
            </a:pPr>
            <a:r>
              <a:rPr sz="1350" b="0">
                <a:solidFill>
                  <a:srgbClr val="F4F7FB"/>
                </a:solidFill>
              </a:rPr>
              <a:t>MDN: fetch, AbortController e Web Storage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B82E93-098E-4E12-AD7E-E713FB19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24000"/>
            <a:ext cx="44577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0"/>
          </a:solidFill>
          <a:ln xmlns:a="http://schemas.openxmlformats.org/drawingml/2006/main" w="9525">
            <a:solidFill>
              <a:srgbClr val="273A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1454AD-A0AA-4500-ACB8-FD40821C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95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A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DA4E45-C710-43CD-A81B-A5B43368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847850"/>
            <a:ext cx="3448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A0FF"/>
                </a:solidFill>
              </a:defRPr>
            </a:pPr>
            <a:r>
              <a:rPr sz="975" b="1">
                <a:solidFill>
                  <a:srgbClr val="73A0FF"/>
                </a:solidFill>
              </a:rPr>
              <a:t>URL PRINCIPALI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0EC651-E496-4878-B1AE-D78FF340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3714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3A0FF"/>
                </a:solidFill>
              </a:defRPr>
            </a:pPr>
            <a:r>
              <a:rPr sz="1050" b="0">
                <a:solidFill>
                  <a:srgbClr val="73A0FF"/>
                </a:solidFill>
              </a:rPr>
              <a:t>react.dev/learn/choosing-the-state-structure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73A0FF"/>
                </a:solidFill>
              </a:defRPr>
            </a:pPr>
            <a:r>
              <a:rPr sz="1050" b="0">
                <a:solidFill>
                  <a:srgbClr val="73A0FF"/>
                </a:solidFill>
              </a:rPr>
              <a:t>react.dev/learn/sharing-state-between-components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73A0FF"/>
                </a:solidFill>
              </a:defRPr>
            </a:pPr>
            <a:r>
              <a:rPr sz="1050" b="0">
                <a:solidFill>
                  <a:srgbClr val="73A0FF"/>
                </a:solidFill>
              </a:rPr>
              <a:t>react.dev/reference/react/useReducer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73A0FF"/>
                </a:solidFill>
              </a:defRPr>
            </a:pPr>
            <a:r>
              <a:rPr sz="1050" b="0">
                <a:solidFill>
                  <a:srgbClr val="73A0FF"/>
                </a:solidFill>
              </a:rPr>
              <a:t>react.dev/learn/scaling-up-with-reducer-and-context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73A0FF"/>
                </a:solidFill>
              </a:defRPr>
            </a:pPr>
            <a:r>
              <a:rPr sz="1050" b="0">
                <a:solidFill>
                  <a:srgbClr val="73A0FF"/>
                </a:solidFill>
              </a:rPr>
              <a:t>tanstack.com/query/latest/docs/framework/react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73A0FF"/>
                </a:solidFill>
              </a:defRPr>
            </a:pPr>
            <a:r>
              <a:rPr sz="1050" b="0">
                <a:solidFill>
                  <a:srgbClr val="73A0FF"/>
                </a:solidFill>
              </a:rPr>
              <a:t>developer.mozilla.org/Web/API/Fetch_API</a:t>
            </a:r>
          </a:p>
        </p:txBody>
      </p:sp>
    </p:spTree>
    <p:extLst>
      <p:ext uri="{BB962C8B-B14F-4D97-AF65-F5344CB8AC3E}">
        <p14:creationId xmlns:p14="http://schemas.microsoft.com/office/powerpoint/2010/main" val="101309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2026-07-21T19:37:18.3930000Z</dcterms:created>
  <dcterms:modified xsi:type="dcterms:W3CDTF">2026-07-21T19:37:18.3930000Z</dcterms:modified>
</coreProperties>
</file>
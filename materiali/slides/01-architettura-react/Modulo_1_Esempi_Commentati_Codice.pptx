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Lst>
  <p:notesMasterIdLst>
    <p:notesMasterId r:id="rId7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notesMaster" Target="notesMasters/notesMaster1.xml"/><Relationship Id="rId78" Type="http://schemas.openxmlformats.org/officeDocument/2006/relationships/presProps" Target="presProps.xml"/><Relationship Id="rId79" Type="http://schemas.openxmlformats.org/officeDocument/2006/relationships/viewProps" Target="viewProps.xml"/><Relationship Id="rId80" Type="http://schemas.openxmlformats.org/officeDocument/2006/relationships/theme" Target="theme/theme1.xml"/><Relationship Id="rId8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presentazione è il companion pratico del Modulo 1. Ogni concetto della presentazione teorica viene tradotto in codice commentato, spesso con confronto prima e dopo. Il caso guida resta una Operations Dashboard con ticket, filtri, dettaglio e ricerca remota. L’obiettivo non è copiare snippet, ma imparare a riconoscere dove vive una responsabilità e perché una variante è più prevedibile dell’altra.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Usiamo sempre tre passaggi. Prima descriviamo il comportamento osservabile e il problema. Poi leggiamo il codice seguendo dati, dipendenze e side effect. Infine motiviamo il confine scelto. Chiedere ai partecipanti di non dire soltanto “questo è più pulito”, ma di specificare quale modifica futura diventa più locale o quale combinazione non valida viene eliminata.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progressione è cumulativa. La struttura definisce dove cercare il codice. La composition definisce chi decide il contenuto. Sass chiarisce la proprietà degli stili. State e reconciliation spiegano cosa React conserva. Gli Effect collegano il componente a processi esterni. Il laboratorio finale combina tutti i livelli nello stesso flusso di ricerca.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Descrivere il caso guida prima del codice. La pagina carica ticket, filtra per stato, seleziona una riga, apre il dettaglio e invia una ricerca remota. Inizialmente immaginiamo un componente grande. Ogni esempio sposta una responsabilità senza aggiungere funzionalità. Questo consente di confrontare le scelte senza perdere il contesto.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Aprire la prima sezione distinguendo struttura tecnica e identità di dominio. Una convenzione vale quando permette al team di prevedere il percorso prima di aprire la cartella.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non è una legge universale, ma uno standard esplicito del corso. components, hooks e services descrivono una categoria strutturale. Button e Dashboard descrivono un elemento o un’area riconoscibile. Il vantaggio è la lettura immediata nell’IDE. Se il progetto esistente usa kebab-case in modo coerente, non va riscritto solo per gusto.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Sottolineare che il nome è una forma di documentazione a costo quasi zero. useTickets segnala che la funzione segue le Rules of Hooks. formatTicketStatus racconta il risultato, mentre helpers.ts non racconta nulla. I suffix types e test rendono il pairing leggibile quando la cartella cresce.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Nel lato sinistro la classificazione è tecnicamente ordinata, ma una modifica alla dashboard richiede salti fra più rami. Nel lato destro la feature contiene il proprio componente, stile, hook e servizio. Non significa mettere tutto in una cartella piatta. Significa scegliere prima il confine di dominio e poi organizzare i dettagli al suo interno.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cartella TicketList nasce perché il componente possiede stile e test propri. Un componente di tre righe senza artefatti aggiuntivi può restare come file semplice. Evitiamo sia la cartella enorme con cento file sia una foresta di cartelle contenenti un solo file. La struttura segue la complessità reale.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componente importa lo stile che gli appartiene. Se il componente viene eliminato, il foglio associato è immediatamente riconoscibile. Il pairing descrive la proprietà, non necessariamente lo scope. Con Sass globale usiamo un namespace. Con CSS Modules possiamo ottenere anche classi generate e isolate.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index.ts non deve diventare un barrel che esporta tutto. Il confine pubblico dovrebbe essere piccolo: componente e tipi necessari al chiamante. Gli helper di mapping o le costanti interne non devono uscire dalla cartella. I barrel annidati possono nascondere cicli, quindi vanno usati con disciplina.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Mostrare come l’import diventa import { TicketList } from feature/TicketList. Il chiamante non deve conoscere il percorso dei file interni. Tuttavia evitare export * indiscriminati. Un’API pubblica troppo larga crea dipendenze accidentali e rende più difficile riorganizzare la cartella.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Shared deve essere stabile e indipendente dalle feature. Se Button importa TicketStatus, non è più una primitiva condivisa. La feature può usare Button, non il contrario. Nei progetti grandi questa regola può essere automatizzata con ESLint boundaries o path aliases, ma la prima difesa resta una code review sugli import.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primo uso conosciamo soltanto i requisiti di TicketStatusBadge. Estrarre subito un componente generico porta spesso a props come variant, compact, icon, uppercase e altre combinazioni speculative. Quando compare un secondo uso realmente compatibile, possiamo individuare il contratto comune e promuovere il componente in shared.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Separare responsabilità. Il componente visualizza e gestisce eventi. Il custom hook collega dati e lifecycle React. Il service conosce HTTP e mapping. Questa separazione non richiede una classe o una repository astratta. Anche una funzione fetchTickets ben posizionata è sufficiente.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service riceve query e signal. Non gestisce useState o useEffect, quindi può essere testato come funzione asincrona. Il mapping finale separa la forma del backend dal modello usato dal frontend. Se il backend rinomina created_at, la correzione resta nel mapper invece di propagarsi nei componenti.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lato sinistro non è sempre sbagliato, ma accumula tre ragioni di modifica: endpoint, lifecycle e markup. Nel lato destro la pagina legge come un indice. useTickets gestisce la sincronizzazione e TicketList riceve un contratto esplicito. Il test della view non ha bisogno della 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Presentational non significa componente privo di logica. Può contenere branching di UI, mapping e gestione degli eventi. Non deve però conoscere dettagli che appartengono alla rete o al router se non sono parte del suo scopo. Le props rendono visibili gli stati da verificare: loading, error, empty e success.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Questo è un primo passo volutamente incompleto: più avanti aggiungeremo AbortController e cleanup. Serve a mostrare il confine. Un custom hook non è soltanto un modo per ridurre righe. Deve rappresentare una responsabilità o un comportamento riusabile, come il ciclo di vita dei ticket.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page è un buon punto di orchestrazione perché conosce il caso d’uso. Non deve diventare un contenitore globale di ogni stato. query e selectedId appartengono a questa schermata. Il layout conosce le regioni, TicketList la lista, TicketDetails il dettaglio e useTickets il ciclo dei dati.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composition sposta le decisioni nel punto che possiede l’informazione. Mostrare prima l’esplosione delle prop booleane e poi il layout che riceve children o slot nominati.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 demonizzare gli if. Il problema è la responsabilità: Dashboard conosce sia la struttura sia ogni contenuto possibile. Le boolean props possono rappresentare combinazioni che il prodotto non usa o non supporta. Ogni nuova pagina richiede una modifica al componente centrale.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DashboardLayout riceve nodi React. sidebar e footer hanno un nome perché rappresentano aree semantiche stabili. children contiene il flusso principale. Il layout può essere testato senza importare TicketList o Reports. L’inversione del controllo evita che il guscio debba conoscere ogni caso d’uso futuro.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pagina conosce il caso d’uso e crea i componenti specifici. DashboardLayout decide soltanto dove collocarli. Chiedere ai partecipanti di leggere il JSX come una mappa della schermata. Se aggiungiamo ReportsPage, non tocchiamo il layout.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Children è la prop convenzionale per il contenuto principale. Uno slot nominato è utile quando la posizione ha un significato stabile, come sidebar o footer. Se il componente espone headerLeft, headerRight, beforeTitle, afterTitle e molte altre zone, stiamo ricostruendo un template rigido. In quel caso rivedere il confine.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Spiegare la differenza pratica. ReactNode è adatto alla maggior parte dei contenitori. ReactElement è più stretto e può essere utile quando il componente deve clonare o ispezionare un elemento, operazione comunque da valutare con cautela. La tipizzazione non deve imporre limiti che il componente non usa.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pattern compound component è adatto a componenti che collaborano strettamente, come Tabs, Accordion o Menu. L’API è dichiarativa e non richiede di passare activeValue a ogni figlio. Non usarlo per componenti indipendenti, perché il context privato creerebbe un accoppiamento invisibile.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Context è locale alla cartella Tabs e non diventa un contenitore globale. Il provider mantiene lo stato del widget. In un’implementazione completa valuteremmo memoizzazione del value, gestione controlled e accessibilità da tastiera. Qui il punto architetturale è il confine: le parti Tabs condividono una responsabilità unica.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funzione useTabs centralizza il controllo dell’errore e migliora il messaggio per lo sviluppatore. Trigger e Panel conoscono soltanto il contratto del widget. In produzione aggiungeremmo id, aria-controls, focus management e navigazione con frecce. Questi dettagli restano nella stessa responsabilità.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lunghezza è un segnale debole. TicketTitle non possiede comportamento, riuso o concetto autonomo. StatusBadge invece può avere mapping, varianti e requisiti di accessibilità propri. L’estrazione deve ridurre il costo di comprendere o modificare il codice, non aumentare la distanza mentale.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 la condizione è corretta perché appartiene alla responsabilità del pannello. La union impedisce combinazioni come isLoading e hasError contemporaneamente. Composition non elimina il branching; lo rende coerente con il modello degli stati.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Collegare la proprietà degli stili al pairing. I token condivisi vivono nel sistema di design; selettori, layout e stati specifici restano vicino al componente.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token globale descrive una decisione che deve essere coerente in tutto il prodotto. Il nome color-accent sopravvive a un cambio di palette meglio di blue-500, a meno che il design system lavori esplicitamente con scale cromatiche. Il partial non contiene selettori locali.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Preferire @use al vecchio @import con Dart Sass. Il namespace v rende chiara la provenienza e riduce collisioni. Il nesting è usato per un elemento BEM, non per replicare tutta la struttura DOM. Un wrapper nuovo non dovrebbe cambiare il selettore risultante.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convenzione simile a BEM è utile quando gli SCSS sono globali. Il vantaggio non è il nome lungo, ma la proprietà e la specificità controllata. Se la struttura del markup cambia, il selettore non dovrebbe rompersi. Evitare catene basate sui wrapper.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CSS Modules e BEM non sono obbligatoriamente alternativi. Modules fornisce scope, mentre una convenzione interna può ancora migliorare la leggibilità. Il pairing resta lo stesso: file logico e file di stile condividono il nome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nomi title, list e active collidono facilmente. La regola più specifica nasce per vincere un conflitto precedente e avvia una spirale. Nel lato destro il namespace assegna proprietà e mantiene selettori facili da rimuovere. La cancellazione è un buon test del confine.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L’ereditarietà è utile per tipografia e testo semplice, ma un controllo interattivo deve proteggere contrasto e stati. focus-visible evita di nascondere il focus da tastiera. Opacity va verificata con il contrasto reale. Il messaggio architetturale è che gli stati del Button appartengono al Button, non al contenitore.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Entrare nel runtime senza trasformare la lezione in un tour del sorgente. Il modello essenziale è: React conserva la memoria, il componente legge uno snapshot e il setter accoda un update.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Nel lato sinistro count cambia nella chiusura dell’handler, ma React non riceve una richiesta di aggiornamento. Al render successivo la funzione dichiara di nuovo count uguale a zero. useState fornisce memoria associata alla posizione e un setter che accoda lavoro per il render successivo.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parola immutabile descrive lo snapshot del render, non l’impossibilità di aggiornare lo stato. setCount chiede una nuova fotografia. Il console.log legge la chiusura attuale. Questo modello spiega sia gli update multipli sia le stale closure asincrone.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Nel lato sinistro React accoda tre sostituzioni equivalenti calcolate dallo stesso snapshot. Nel lato destro accoda tre funzioni. Durante il render successivo React passa il risultato di una alla successiva. La forma funzionale rende esplicita la dipendenza dal valore precedente.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 confronta il nuovo valore con quello precedente usando Object.is. Mutare l’oggetto e passare la stessa reference può evitare un render e rompe il modello degli snapshot. Lo spread crea un nuovo oggetto. Per strutture annidate bisogna copiare ogni livello modificato o usare una strategia dedicata.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Nel lato destro map crea un nuovo array. L’elemento modificato riceve una nuova reference, gli altri restano uguali. Questa precisione è utile anche per memoizzazione e debugging. Evitare di clonare tutto in profondità senza necessità.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Passando readInitialFilters senza parentesi, React usa la funzione come initializer. In Strict Mode può chiamarla più volte in sviluppo per verificare la purezza, quindi non deve produrre side effect. La lettura da localStorage è sincrona e va usata con giudizio; qui il punto è la forma lazy.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lato sinistro aggiunge un Effect, un render in più e il rischio di desincronizzazione. Il filtro è un calcolo puro e può essere eseguito durante il render. Se diventa realmente costoso, la performance si misura e si valuta useMemo nel modulo dedicato, non si duplica lo stato.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 percorre la lista degli Hook nello stesso ordine a ogni render. Se una chiamata compare solo quando ready è true, gli Hook successivi cambiano posizione logica. La condizione deve vivere dentro l’Hook oppure il comportamento va estratto in un componente separato. Il linter deve restare attivo.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batching permette a React di evitare stati intermedi come selectedId aggiornato ma pannello ancora chiuso. Non bisogna basare la logica sull’idea che il DOM cambi dopo ogni setter. Il render deve restare puro perché React può pianificarlo, interromperlo o ripeterlo prima del 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callback del timer chiude sul count del render in cui è stata creata. Se l’utente clicca più volte rapidamente, tutte le callback possono proporre lo stesso valore. L’updater non legge la chiusura e riceve il valore corrente durante l’elaborazione della coda.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Collegare keys e posizione allo state locale. La key non serve soltanto a rimuovere un warning: comunica quale entità deve conservare identità attraverso inserimenti e riordini.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key per indice è accettabile soltanto per liste statiche che non cambiano ordine o contenuto. Se inseriamo un elemento in testa, React riutilizza le posizioni e può associare input, focus o stato locale alla riga sbagliata. ticket.id segue l’entità.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key casuale elimina qualsiasi possibilità di riuso. Ogni render smonta e rimonta le righe, con perdita di focus, state e lavoro DOM. Se i dati non possiedono un id, l’identificatore va creato quando l’elemento entra nel modello e poi conservato.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key non è soltanto per le liste. Qui TicketEditor rappresenta un editor legato a una specifica entità. Quando ticketId cambia, vogliamo scartare draft e validation state. La key rende esplicito il reset. Se invece vogliamo preservare il draft fra ticket, la key non va cambiata.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Nel lato sinistro Counter resta il primo figlio di section, quindi React lo considera la stessa istanza e cambia soltanto la prop. Nel lato destro il tipo del parent cambia e il sottoalbero viene sostituito. Chiedere ai partecipanti di ragionare sull’albero, non sulla posizione visiva nel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Ogni render di TicketsPage crea una nuova funzione EmptyState. React vede un tipo diverso e ricrea il sottoalbero. Anche se il componente non ha state, la regola migliora prevedibilità e performance. Le definizioni top-level forniscono identità stabile.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Usare la parola sincronizzazione. Un Effect possiede setup e cleanup. Se il codice produce soltanto un valore per il JSX, non serve un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Evitare la formula “codice dopo il render” perché non descrive lo scopo. L’Effect mantiene un sistema esterno coerente con props e state. Quando una dipendenza cambia, React esegue la cleanup con i vecchi valori e poi il nuovo setup. La simmetria rende il processo robusto anche in Strict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removeEventListener deve ricevere la stessa funzione registrata. Definendola dentro l’Effect, setup e cleanup condividono la reference della stessa esecuzione. Se onEscape cambia a ogni render, l’Effect si risincronizza; la stabilità della callback si valuta nel chiamante e nel modulo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Quando draft cambia, React esegue prima la cleanup dell’Effect precedente. Questo comportamento trasforma il timer in un autosave debounced. Attenzione alla granularità della dipendenza: se draft è un oggetto ricreato senza necessità, il timer riparte. Il modello resta setup e cleanup.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Quando ticketId passa da A a B, la cleanup chiude la connessione A prima che il nuovo setup apra B. Non serve una variabile globale per ricordare la connessione corrente: ogni esecuzione dell’Effect chiude sulla propria connection. Questo è il valore del modello simmetrico.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problema non è soltanto il numero di richieste. Le risposte possono arrivare fuori ordine e sovrascrivere dati più recenti. AbortController comunica alla fetch precedente che non è più necessaria. Nella slide successiva gestiamo correttamente AbortError e lo stato loading.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catch distingue AbortError dagli errori reali. Non mostriamo un banner quando React annulla una richiesta perché query è cambiata. In alcuni client HTTP l’errore ha una forma diversa; il service può normalizzarlo. La responsabilità del hook resta il lifecycle.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flag è confinato alla singola esecuzione dell’Effect. Quando ticketId cambia, la cleanup imposta ignore e la vecchia promise non aggiorna lo state. È una protezione contro la race, ma non risparmia rete o server. AbortController è preferibile quando supportato.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L’array non è una lista di eventi che vogliamo ascoltare. È la descrizione dei valori reattivi letti dal setup. Se non vogliamo risincronizzare per un valore, dobbiamo cambiare il codice: spostare una lettura nell’evento, estrarre una costante non reattiva o rivedere la responsabilità. Disabilitare il linter nasconde il problema.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fullName dipende soltanto da props o state e può essere calcolato immediatamente. Il lato sinistro renderizza prima il valore vecchio, poi esegue l’Effect e provoca un secondo render. Rimuovere l’Effect riduce codice e stati incoerenti.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debounce riduce chiamate durante una sequenza rapida di input. Non garantisce l’ordine delle risposte e non sostituisce AbortController. La durata va scelta in base al prodotto. Il codice mostra ancora l’Effect nel componente; la slide successiva estrae il comportamento riusabile.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hook restituisce l’ultimo valore che è rimasto stabile per delayMs. È riusabile per ricerca, validazione o autosave, ma non deve diventare una soluzione universale per ogni input. Il comportamento temporale è ora testabile separatamente con fake timers.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Questo è il cuore del laboratorio. useDebouncedValue gestisce il tempo. L’Effect di useTickets gestisce la sincronizzazione di rete. AbortController annulla la richiesta precedente. Lo stato potrebbe essere modellato anche con useReducer nel Modulo 2; qui usiamo un oggetto per mantenere gli stati coerenti.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SearchField non deve conoscere il debounce. Il suo contratto è value e onChange. Questo lo rende riusabile e immediato: la UI riflette ogni carattere, mentre la rete segue il valore debounced nel hook. Separare input state e server synchronization evita una sensazione di input lento.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Leggere il flusso completo. SearchField produce il valore immediato. useTickets lo debounce, avvia la fetch e annulla quella obsoleta. TicketsPage renderizza lo stato asincrono. Una variante più avanzata potrebbe incapsulare loading/error/empty in una view dedicata, ma il flusso deve restare leggibile.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 esegue un ciclo setup-cleanup-setup aggiuntivo in sviluppo per verificare che la cleanup annulli davvero il setup. Non va aggirato con un ref che impedisce il secondo setup, perché questo nasconde il problema. Se la UI differisce, il processo non è idempotente o la cleanup è incompleta.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Concedere circa 35-45 minuti. I partecipanti partono da un componente che esegue fetch a ogni carattere e contiene filtri, lista e stato. Chiedere prima un disegno dei confini, poi il codice. La verifica include il pannello Network, Strict Mode e una breve code review in cui motivano almeno una scelta e un’alternativa scartata.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Usare la checklist come strumento di review, non come dogma. Ogni voce deve essere sostenuta da un esempio nel codice. Una scelta diversa può essere corretta se risponde meglio a un vincolo reale e viene documentata. L’obiettivo è rendere le decisioni discutibili e verificabili dal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Riferimenti principali: https://react.dev/learn/state-as-a-snapshot ; https://react.dev/learn/queueing-a-series-of-state-updates ; https://react.dev/learn/preserving-and-resetting-state ; https://react.dev/learn/synchronizing-with-effects ; https://react.dev/learn/lifecycle-of-reactive-effects ; https://react.dev/reference/react/useEffect ; https://github.com/facebook/react/blob/main/packages/react-reconciler/src/ReactFiberHooks.js ; https://sass-lang.com/documentation/at-rules/use/ ; https://developer.mozilla.org/en-US/docs/Web/API/AbortController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Chiudere collegando i tre livelli. La struttura del repository guida il team. Tipo, posizione e key guidano React nel conservare lo state. Setup e cleanup guidano i processi esterni. In tutti i casi cerchiamo confini espliciti e cambiamenti locali. Questo metodo prepara i moduli successivi su state management, performance, form e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4C7DFF"/>
          </a:solidFill>
          <a:ln w="12700">
            <a:solidFill>
              <a:srgbClr val="4C7DFF"/>
            </a:solidFill>
            <a:prstDash val="solid"/>
          </a:ln>
        </p:spPr>
      </p:sp>
      <p:sp>
        <p:nvSpPr>
          <p:cNvPr id="3" name="Text 1"/>
          <p:cNvSpPr/>
          <p:nvPr/>
        </p:nvSpPr>
        <p:spPr>
          <a:xfrm>
            <a:off x="713232" y="749808"/>
            <a:ext cx="4206240" cy="228600"/>
          </a:xfrm>
          <a:prstGeom prst="rect">
            <a:avLst/>
          </a:prstGeom>
          <a:noFill/>
          <a:ln/>
        </p:spPr>
        <p:txBody>
          <a:bodyPr wrap="square" lIns="0" tIns="0" rIns="0" bIns="0" rtlCol="0" anchor="ctr"/>
          <a:lstStyle/>
          <a:p>
            <a:pPr indent="0" marL="0">
              <a:buNone/>
            </a:pPr>
            <a:r>
              <a:rPr lang="en-US" sz="1100" b="1" spc="200" kern="0" dirty="0">
                <a:solidFill>
                  <a:srgbClr val="7CD4FF"/>
                </a:solidFill>
                <a:latin typeface="Aptos" pitchFamily="34" charset="0"/>
                <a:ea typeface="Aptos" pitchFamily="34" charset="-122"/>
                <a:cs typeface="Aptos" pitchFamily="34" charset="-120"/>
              </a:rPr>
              <a:t>MODULO 1 · CODE COMPANION</a:t>
            </a:r>
            <a:endParaRPr lang="en-US" sz="1100" dirty="0"/>
          </a:p>
        </p:txBody>
      </p:sp>
      <p:sp>
        <p:nvSpPr>
          <p:cNvPr id="4" name="Text 2"/>
          <p:cNvSpPr/>
          <p:nvPr/>
        </p:nvSpPr>
        <p:spPr>
          <a:xfrm>
            <a:off x="685800" y="1325880"/>
            <a:ext cx="6583680" cy="1600200"/>
          </a:xfrm>
          <a:prstGeom prst="rect">
            <a:avLst/>
          </a:prstGeom>
          <a:noFill/>
          <a:ln/>
        </p:spPr>
        <p:txBody>
          <a:bodyPr wrap="square" lIns="0" tIns="0" rIns="0" bIns="0" rtlCol="0" anchor="ctr">
            <a:normAutofit/>
          </a:bodyPr>
          <a:lstStyle/>
          <a:p>
            <a:pPr indent="0" marL="0">
              <a:buNone/>
            </a:pPr>
            <a:r>
              <a:rPr lang="en-US" sz="4700" b="1" dirty="0">
                <a:solidFill>
                  <a:srgbClr val="F4F7FB"/>
                </a:solidFill>
                <a:latin typeface="Aptos Display" pitchFamily="34" charset="0"/>
                <a:ea typeface="Aptos Display" pitchFamily="34" charset="-122"/>
                <a:cs typeface="Aptos Display" pitchFamily="34" charset="-120"/>
              </a:rPr>
              <a:t>Esempi commentati</a:t>
            </a:r>
            <a:endParaRPr lang="en-US" sz="4700" dirty="0"/>
          </a:p>
          <a:p>
            <a:pPr indent="0" marL="0">
              <a:buNone/>
            </a:pPr>
            <a:r>
              <a:rPr lang="en-US" sz="4700" b="1" dirty="0">
                <a:solidFill>
                  <a:srgbClr val="F4F7FB"/>
                </a:solidFill>
                <a:latin typeface="Aptos Display" pitchFamily="34" charset="0"/>
                <a:ea typeface="Aptos Display" pitchFamily="34" charset="-122"/>
                <a:cs typeface="Aptos Display" pitchFamily="34" charset="-120"/>
              </a:rPr>
              <a:t>di codice</a:t>
            </a:r>
            <a:endParaRPr lang="en-US" sz="4700" dirty="0"/>
          </a:p>
        </p:txBody>
      </p:sp>
      <p:sp>
        <p:nvSpPr>
          <p:cNvPr id="5" name="Text 3"/>
          <p:cNvSpPr/>
          <p:nvPr/>
        </p:nvSpPr>
        <p:spPr>
          <a:xfrm>
            <a:off x="731520" y="3310128"/>
            <a:ext cx="7132320" cy="685800"/>
          </a:xfrm>
          <a:prstGeom prst="rect">
            <a:avLst/>
          </a:prstGeom>
          <a:noFill/>
          <a:ln/>
        </p:spPr>
        <p:txBody>
          <a:bodyPr wrap="square" lIns="0" tIns="0" rIns="0" bIns="0" rtlCol="0" anchor="ctr">
            <a:normAutofit/>
          </a:bodyPr>
          <a:lstStyle/>
          <a:p>
            <a:pPr indent="0" marL="0">
              <a:buNone/>
            </a:pPr>
            <a:r>
              <a:rPr lang="en-US" sz="2000" dirty="0">
                <a:solidFill>
                  <a:srgbClr val="9DB0C7"/>
                </a:solidFill>
                <a:latin typeface="Aptos" pitchFamily="34" charset="0"/>
                <a:ea typeface="Aptos" pitchFamily="34" charset="-122"/>
                <a:cs typeface="Aptos" pitchFamily="34" charset="-120"/>
              </a:rPr>
              <a:t>Architettura, composition, Sass, state, reconciliation, useEffect e debounce</a:t>
            </a:r>
            <a:endParaRPr lang="en-US" sz="2000" dirty="0"/>
          </a:p>
        </p:txBody>
      </p:sp>
      <p:sp>
        <p:nvSpPr>
          <p:cNvPr id="6" name="Shape 4"/>
          <p:cNvSpPr/>
          <p:nvPr/>
        </p:nvSpPr>
        <p:spPr>
          <a:xfrm>
            <a:off x="8229600" y="1133856"/>
            <a:ext cx="3063240" cy="4251960"/>
          </a:xfrm>
          <a:prstGeom prst="roundRect">
            <a:avLst>
              <a:gd name="adj" fmla="val 2388"/>
            </a:avLst>
          </a:prstGeom>
          <a:solidFill>
            <a:srgbClr val="0D1A2B"/>
          </a:solidFill>
          <a:ln w="13970">
            <a:solidFill>
              <a:srgbClr val="263A55"/>
            </a:solidFill>
            <a:prstDash val="solid"/>
          </a:ln>
        </p:spPr>
      </p:sp>
      <p:sp>
        <p:nvSpPr>
          <p:cNvPr id="7" name="Text 5"/>
          <p:cNvSpPr/>
          <p:nvPr/>
        </p:nvSpPr>
        <p:spPr>
          <a:xfrm>
            <a:off x="8549640" y="1627632"/>
            <a:ext cx="2423160" cy="320040"/>
          </a:xfrm>
          <a:prstGeom prst="rect">
            <a:avLst/>
          </a:prstGeom>
          <a:noFill/>
          <a:ln/>
        </p:spPr>
        <p:txBody>
          <a:bodyPr wrap="square" lIns="0" tIns="0" rIns="0" bIns="0" rtlCol="0" anchor="ctr"/>
          <a:lstStyle/>
          <a:p>
            <a:pPr indent="0" marL="0">
              <a:buNone/>
            </a:pPr>
            <a:r>
              <a:rPr lang="en-US" sz="1600" dirty="0">
                <a:solidFill>
                  <a:srgbClr val="D9E4F2"/>
                </a:solidFill>
                <a:latin typeface="Aptos Mono" pitchFamily="34" charset="0"/>
                <a:ea typeface="Aptos Mono" pitchFamily="34" charset="-122"/>
                <a:cs typeface="Aptos Mono" pitchFamily="34" charset="-120"/>
              </a:rPr>
              <a:t>const metodo = {</a:t>
            </a:r>
            <a:endParaRPr lang="en-US" sz="1600" dirty="0"/>
          </a:p>
        </p:txBody>
      </p:sp>
      <p:sp>
        <p:nvSpPr>
          <p:cNvPr id="8" name="Text 6"/>
          <p:cNvSpPr/>
          <p:nvPr/>
        </p:nvSpPr>
        <p:spPr>
          <a:xfrm>
            <a:off x="8549640" y="2139696"/>
            <a:ext cx="2423160" cy="320040"/>
          </a:xfrm>
          <a:prstGeom prst="rect">
            <a:avLst/>
          </a:prstGeom>
          <a:noFill/>
          <a:ln/>
        </p:spPr>
        <p:txBody>
          <a:bodyPr wrap="square" lIns="0" tIns="0" rIns="0" bIns="0" rtlCol="0" anchor="ctr"/>
          <a:lstStyle/>
          <a:p>
            <a:pPr indent="0" marL="0">
              <a:buNone/>
            </a:pPr>
            <a:r>
              <a:rPr lang="en-US" sz="1600" dirty="0">
                <a:solidFill>
                  <a:srgbClr val="7CD4FF"/>
                </a:solidFill>
                <a:latin typeface="Aptos Mono" pitchFamily="34" charset="0"/>
                <a:ea typeface="Aptos Mono" pitchFamily="34" charset="-122"/>
                <a:cs typeface="Aptos Mono" pitchFamily="34" charset="-120"/>
              </a:rPr>
              <a:t>  confini: 'chiari',</a:t>
            </a:r>
            <a:endParaRPr lang="en-US" sz="1600" dirty="0"/>
          </a:p>
        </p:txBody>
      </p:sp>
      <p:sp>
        <p:nvSpPr>
          <p:cNvPr id="9" name="Text 7"/>
          <p:cNvSpPr/>
          <p:nvPr/>
        </p:nvSpPr>
        <p:spPr>
          <a:xfrm>
            <a:off x="8549640" y="2651760"/>
            <a:ext cx="2423160" cy="320040"/>
          </a:xfrm>
          <a:prstGeom prst="rect">
            <a:avLst/>
          </a:prstGeom>
          <a:noFill/>
          <a:ln/>
        </p:spPr>
        <p:txBody>
          <a:bodyPr wrap="square" lIns="0" tIns="0" rIns="0" bIns="0" rtlCol="0" anchor="ctr"/>
          <a:lstStyle/>
          <a:p>
            <a:pPr indent="0" marL="0">
              <a:buNone/>
            </a:pPr>
            <a:r>
              <a:rPr lang="en-US" sz="1600" dirty="0">
                <a:solidFill>
                  <a:srgbClr val="6FE3B1"/>
                </a:solidFill>
                <a:latin typeface="Aptos Mono" pitchFamily="34" charset="0"/>
                <a:ea typeface="Aptos Mono" pitchFamily="34" charset="-122"/>
                <a:cs typeface="Aptos Mono" pitchFamily="34" charset="-120"/>
              </a:rPr>
              <a:t>  stato: 'prevedibile',</a:t>
            </a:r>
            <a:endParaRPr lang="en-US" sz="1600" dirty="0"/>
          </a:p>
        </p:txBody>
      </p:sp>
      <p:sp>
        <p:nvSpPr>
          <p:cNvPr id="10" name="Text 8"/>
          <p:cNvSpPr/>
          <p:nvPr/>
        </p:nvSpPr>
        <p:spPr>
          <a:xfrm>
            <a:off x="8549640" y="3163824"/>
            <a:ext cx="2423160" cy="320040"/>
          </a:xfrm>
          <a:prstGeom prst="rect">
            <a:avLst/>
          </a:prstGeom>
          <a:noFill/>
          <a:ln/>
        </p:spPr>
        <p:txBody>
          <a:bodyPr wrap="square" lIns="0" tIns="0" rIns="0" bIns="0" rtlCol="0" anchor="ctr"/>
          <a:lstStyle/>
          <a:p>
            <a:pPr indent="0" marL="0">
              <a:buNone/>
            </a:pPr>
            <a:r>
              <a:rPr lang="en-US" sz="1600" dirty="0">
                <a:solidFill>
                  <a:srgbClr val="F5C96A"/>
                </a:solidFill>
                <a:latin typeface="Aptos Mono" pitchFamily="34" charset="0"/>
                <a:ea typeface="Aptos Mono" pitchFamily="34" charset="-122"/>
                <a:cs typeface="Aptos Mono" pitchFamily="34" charset="-120"/>
              </a:rPr>
              <a:t>  effetti: 'simmetrici'</a:t>
            </a:r>
            <a:endParaRPr lang="en-US" sz="1600" dirty="0"/>
          </a:p>
        </p:txBody>
      </p:sp>
      <p:sp>
        <p:nvSpPr>
          <p:cNvPr id="11" name="Text 9"/>
          <p:cNvSpPr/>
          <p:nvPr/>
        </p:nvSpPr>
        <p:spPr>
          <a:xfrm>
            <a:off x="8549640" y="3675888"/>
            <a:ext cx="2423160" cy="320040"/>
          </a:xfrm>
          <a:prstGeom prst="rect">
            <a:avLst/>
          </a:prstGeom>
          <a:noFill/>
          <a:ln/>
        </p:spPr>
        <p:txBody>
          <a:bodyPr wrap="square" lIns="0" tIns="0" rIns="0" bIns="0" rtlCol="0" anchor="ctr"/>
          <a:lstStyle/>
          <a:p>
            <a:pPr indent="0" marL="0">
              <a:buNone/>
            </a:pPr>
            <a:r>
              <a:rPr lang="en-US" sz="1600" dirty="0">
                <a:solidFill>
                  <a:srgbClr val="D9E4F2"/>
                </a:solidFill>
                <a:latin typeface="Aptos Mono" pitchFamily="34" charset="0"/>
                <a:ea typeface="Aptos Mono" pitchFamily="34" charset="-122"/>
                <a:cs typeface="Aptos Mono" pitchFamily="34" charset="-120"/>
              </a:rPr>
              <a:t>};</a:t>
            </a:r>
            <a:endParaRPr lang="en-US" sz="1600" dirty="0"/>
          </a:p>
        </p:txBody>
      </p:sp>
      <p:sp>
        <p:nvSpPr>
          <p:cNvPr id="12" name="Text 10"/>
          <p:cNvSpPr/>
          <p:nvPr/>
        </p:nvSpPr>
        <p:spPr>
          <a:xfrm>
            <a:off x="731520" y="6053328"/>
            <a:ext cx="6583680" cy="274320"/>
          </a:xfrm>
          <a:prstGeom prst="rect">
            <a:avLst/>
          </a:prstGeom>
          <a:noFill/>
          <a:ln/>
        </p:spPr>
        <p:txBody>
          <a:bodyPr wrap="square" lIns="0" tIns="0" rIns="0" bIns="0" rtlCol="0" anchor="ctr"/>
          <a:lstStyle/>
          <a:p>
            <a:pPr indent="0" marL="0">
              <a:buNone/>
            </a:pPr>
            <a:r>
              <a:rPr lang="en-US" sz="1300" b="1" dirty="0">
                <a:solidFill>
                  <a:srgbClr val="6FE3B1"/>
                </a:solidFill>
                <a:latin typeface="Aptos" pitchFamily="34" charset="0"/>
                <a:ea typeface="Aptos" pitchFamily="34" charset="-122"/>
                <a:cs typeface="Aptos" pitchFamily="34" charset="-120"/>
              </a:rPr>
              <a:t>75 slide operative · note del presentatore incluse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02</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METODO OPERATIVO</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Come leggere ogni esempio</a:t>
            </a:r>
            <a:endParaRPr lang="en-US" sz="2700" dirty="0"/>
          </a:p>
        </p:txBody>
      </p:sp>
      <p:sp>
        <p:nvSpPr>
          <p:cNvPr id="29" name="Shape 27"/>
          <p:cNvSpPr/>
          <p:nvPr/>
        </p:nvSpPr>
        <p:spPr>
          <a:xfrm>
            <a:off x="530352" y="1645920"/>
            <a:ext cx="7040880" cy="4343400"/>
          </a:xfrm>
          <a:prstGeom prst="roundRect">
            <a:avLst>
              <a:gd name="adj" fmla="val 1263"/>
            </a:avLst>
          </a:prstGeom>
          <a:solidFill>
            <a:srgbClr val="0D1A2B"/>
          </a:solidFill>
          <a:ln w="12700">
            <a:solidFill>
              <a:srgbClr val="263A55"/>
            </a:solidFill>
            <a:prstDash val="solid"/>
          </a:ln>
        </p:spPr>
      </p:sp>
      <p:sp>
        <p:nvSpPr>
          <p:cNvPr id="30" name="Text 28"/>
          <p:cNvSpPr/>
          <p:nvPr/>
        </p:nvSpPr>
        <p:spPr>
          <a:xfrm>
            <a:off x="804672" y="1938528"/>
            <a:ext cx="1828800" cy="182880"/>
          </a:xfrm>
          <a:prstGeom prst="rect">
            <a:avLst/>
          </a:prstGeom>
          <a:noFill/>
          <a:ln/>
        </p:spPr>
        <p:txBody>
          <a:bodyPr wrap="square" lIns="0" tIns="0" rIns="0" bIns="0" rtlCol="0" anchor="ctr"/>
          <a:lstStyle/>
          <a:p>
            <a:pPr indent="0" marL="0">
              <a:buNone/>
            </a:pPr>
            <a:r>
              <a:rPr lang="en-US" sz="950" b="1" spc="120" kern="0" dirty="0">
                <a:solidFill>
                  <a:srgbClr val="6FE3B1"/>
                </a:solidFill>
                <a:latin typeface="Aptos" pitchFamily="34" charset="0"/>
                <a:ea typeface="Aptos" pitchFamily="34" charset="-122"/>
                <a:cs typeface="Aptos" pitchFamily="34" charset="-120"/>
              </a:rPr>
              <a:t>DEFINIZIONE</a:t>
            </a:r>
            <a:endParaRPr lang="en-US" sz="950" dirty="0"/>
          </a:p>
        </p:txBody>
      </p:sp>
      <p:sp>
        <p:nvSpPr>
          <p:cNvPr id="31" name="Text 29"/>
          <p:cNvSpPr/>
          <p:nvPr/>
        </p:nvSpPr>
        <p:spPr>
          <a:xfrm>
            <a:off x="804672" y="2331720"/>
            <a:ext cx="6355080" cy="1325880"/>
          </a:xfrm>
          <a:prstGeom prst="rect">
            <a:avLst/>
          </a:prstGeom>
          <a:noFill/>
          <a:ln/>
        </p:spPr>
        <p:txBody>
          <a:bodyPr wrap="square" lIns="0" tIns="0" rIns="0" bIns="0" rtlCol="0" anchor="ctr">
            <a:normAutofit/>
          </a:bodyPr>
          <a:lstStyle/>
          <a:p>
            <a:pPr indent="0" marL="0">
              <a:buNone/>
            </a:pPr>
            <a:r>
              <a:rPr lang="en-US" sz="2300" b="1" dirty="0">
                <a:solidFill>
                  <a:srgbClr val="F4F7FB"/>
                </a:solidFill>
                <a:latin typeface="Aptos Display" pitchFamily="34" charset="0"/>
                <a:ea typeface="Aptos Display" pitchFamily="34" charset="-122"/>
                <a:cs typeface="Aptos Display" pitchFamily="34" charset="-120"/>
              </a:rPr>
              <a:t>Codice, segnali da osservare e motivazione della scelta vengono letti nello stesso ordine.</a:t>
            </a:r>
            <a:endParaRPr lang="en-US" sz="2300" dirty="0"/>
          </a:p>
        </p:txBody>
      </p:sp>
      <p:sp>
        <p:nvSpPr>
          <p:cNvPr id="32" name="Shape 30"/>
          <p:cNvSpPr/>
          <p:nvPr/>
        </p:nvSpPr>
        <p:spPr>
          <a:xfrm>
            <a:off x="804672" y="3886200"/>
            <a:ext cx="6309360" cy="0"/>
          </a:xfrm>
          <a:prstGeom prst="line">
            <a:avLst/>
          </a:prstGeom>
          <a:noFill/>
          <a:ln w="12700">
            <a:solidFill>
              <a:srgbClr val="263A55"/>
            </a:solidFill>
            <a:prstDash val="solid"/>
          </a:ln>
        </p:spPr>
      </p:sp>
      <p:sp>
        <p:nvSpPr>
          <p:cNvPr id="33" name="Text 31"/>
          <p:cNvSpPr/>
          <p:nvPr/>
        </p:nvSpPr>
        <p:spPr>
          <a:xfrm>
            <a:off x="804672" y="4160520"/>
            <a:ext cx="1828800" cy="182880"/>
          </a:xfrm>
          <a:prstGeom prst="rect">
            <a:avLst/>
          </a:prstGeom>
          <a:noFill/>
          <a:ln/>
        </p:spPr>
        <p:txBody>
          <a:bodyPr wrap="square" lIns="0" tIns="0" rIns="0" bIns="0" rtlCol="0" anchor="ctr"/>
          <a:lstStyle/>
          <a:p>
            <a:pPr indent="0" marL="0">
              <a:buNone/>
            </a:pPr>
            <a:r>
              <a:rPr lang="en-US" sz="950" b="1" spc="120" kern="0" dirty="0">
                <a:solidFill>
                  <a:srgbClr val="F5C96A"/>
                </a:solidFill>
                <a:latin typeface="Aptos" pitchFamily="34" charset="0"/>
                <a:ea typeface="Aptos" pitchFamily="34" charset="-122"/>
                <a:cs typeface="Aptos" pitchFamily="34" charset="-120"/>
              </a:rPr>
              <a:t>ESEMPIO</a:t>
            </a:r>
            <a:endParaRPr lang="en-US" sz="950" dirty="0"/>
          </a:p>
        </p:txBody>
      </p:sp>
      <p:sp>
        <p:nvSpPr>
          <p:cNvPr id="34" name="Text 32"/>
          <p:cNvSpPr/>
          <p:nvPr/>
        </p:nvSpPr>
        <p:spPr>
          <a:xfrm>
            <a:off x="804672" y="4507992"/>
            <a:ext cx="6355080" cy="868680"/>
          </a:xfrm>
          <a:prstGeom prst="rect">
            <a:avLst/>
          </a:prstGeom>
          <a:noFill/>
          <a:ln/>
        </p:spPr>
        <p:txBody>
          <a:bodyPr wrap="square" lIns="0" tIns="0" rIns="0" bIns="0" rtlCol="0" anchor="ctr">
            <a:normAutofit/>
          </a:bodyPr>
          <a:lstStyle/>
          <a:p>
            <a:pPr indent="0" marL="0">
              <a:buNone/>
            </a:pPr>
            <a:r>
              <a:rPr lang="en-US" sz="1800" b="1" dirty="0">
                <a:solidFill>
                  <a:srgbClr val="7CD4FF"/>
                </a:solidFill>
                <a:latin typeface="Aptos Mono" pitchFamily="34" charset="0"/>
                <a:ea typeface="Aptos Mono" pitchFamily="34" charset="-122"/>
                <a:cs typeface="Aptos Mono" pitchFamily="34" charset="-120"/>
              </a:rPr>
              <a:t>input → responsabilità → confine → comportamento</a:t>
            </a:r>
            <a:endParaRPr lang="en-US" sz="1800" dirty="0"/>
          </a:p>
        </p:txBody>
      </p:sp>
      <p:sp>
        <p:nvSpPr>
          <p:cNvPr id="35" name="Shape 33"/>
          <p:cNvSpPr/>
          <p:nvPr/>
        </p:nvSpPr>
        <p:spPr>
          <a:xfrm>
            <a:off x="7845552" y="1645920"/>
            <a:ext cx="3840480" cy="4343400"/>
          </a:xfrm>
          <a:prstGeom prst="roundRect">
            <a:avLst>
              <a:gd name="adj" fmla="val 1190"/>
            </a:avLst>
          </a:prstGeom>
          <a:solidFill>
            <a:srgbClr val="122238"/>
          </a:solidFill>
          <a:ln w="12700">
            <a:solidFill>
              <a:srgbClr val="263A55"/>
            </a:solidFill>
            <a:prstDash val="solid"/>
          </a:ln>
        </p:spPr>
      </p:sp>
      <p:sp>
        <p:nvSpPr>
          <p:cNvPr id="36" name="Text 34"/>
          <p:cNvSpPr/>
          <p:nvPr/>
        </p:nvSpPr>
        <p:spPr>
          <a:xfrm>
            <a:off x="8065008" y="1856232"/>
            <a:ext cx="3401568" cy="182880"/>
          </a:xfrm>
          <a:prstGeom prst="rect">
            <a:avLst/>
          </a:prstGeom>
          <a:noFill/>
          <a:ln/>
        </p:spPr>
        <p:txBody>
          <a:bodyPr wrap="square" lIns="0" tIns="0" rIns="0" bIns="0" rtlCol="0" anchor="ctr"/>
          <a:lstStyle/>
          <a:p>
            <a:pPr indent="0" marL="0">
              <a:buNone/>
            </a:pPr>
            <a:r>
              <a:rPr lang="en-US" sz="950" b="1" spc="115" kern="0" dirty="0">
                <a:solidFill>
                  <a:srgbClr val="4C7DFF"/>
                </a:solidFill>
                <a:latin typeface="Aptos" pitchFamily="34" charset="0"/>
                <a:ea typeface="Aptos" pitchFamily="34" charset="-122"/>
                <a:cs typeface="Aptos" pitchFamily="34" charset="-120"/>
              </a:rPr>
              <a:t>PERCHÉ CONTA</a:t>
            </a:r>
            <a:endParaRPr lang="en-US" sz="950" dirty="0"/>
          </a:p>
        </p:txBody>
      </p:sp>
      <p:sp>
        <p:nvSpPr>
          <p:cNvPr id="37" name="Shape 35"/>
          <p:cNvSpPr/>
          <p:nvPr/>
        </p:nvSpPr>
        <p:spPr>
          <a:xfrm>
            <a:off x="8065008" y="2322576"/>
            <a:ext cx="91440" cy="91440"/>
          </a:xfrm>
          <a:prstGeom prst="ellipse">
            <a:avLst/>
          </a:prstGeom>
          <a:solidFill>
            <a:srgbClr val="7CD4FF"/>
          </a:solidFill>
          <a:ln w="12700">
            <a:solidFill>
              <a:srgbClr val="7CD4FF"/>
            </a:solidFill>
            <a:prstDash val="solid"/>
          </a:ln>
        </p:spPr>
      </p:sp>
      <p:sp>
        <p:nvSpPr>
          <p:cNvPr id="38" name="Text 36"/>
          <p:cNvSpPr/>
          <p:nvPr/>
        </p:nvSpPr>
        <p:spPr>
          <a:xfrm>
            <a:off x="8257032" y="2267712"/>
            <a:ext cx="3209544"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Prima individua il problema.</a:t>
            </a:r>
            <a:endParaRPr lang="en-US" sz="1420" dirty="0"/>
          </a:p>
        </p:txBody>
      </p:sp>
      <p:sp>
        <p:nvSpPr>
          <p:cNvPr id="39" name="Shape 37"/>
          <p:cNvSpPr/>
          <p:nvPr/>
        </p:nvSpPr>
        <p:spPr>
          <a:xfrm>
            <a:off x="8065008" y="3035808"/>
            <a:ext cx="91440" cy="91440"/>
          </a:xfrm>
          <a:prstGeom prst="ellipse">
            <a:avLst/>
          </a:prstGeom>
          <a:solidFill>
            <a:srgbClr val="7CD4FF"/>
          </a:solidFill>
          <a:ln w="12700">
            <a:solidFill>
              <a:srgbClr val="7CD4FF"/>
            </a:solidFill>
            <a:prstDash val="solid"/>
          </a:ln>
        </p:spPr>
      </p:sp>
      <p:sp>
        <p:nvSpPr>
          <p:cNvPr id="40" name="Text 38"/>
          <p:cNvSpPr/>
          <p:nvPr/>
        </p:nvSpPr>
        <p:spPr>
          <a:xfrm>
            <a:off x="8257032" y="2980944"/>
            <a:ext cx="3209544"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Poi segui il flusso dei dati.</a:t>
            </a:r>
            <a:endParaRPr lang="en-US" sz="1420" dirty="0"/>
          </a:p>
        </p:txBody>
      </p:sp>
      <p:sp>
        <p:nvSpPr>
          <p:cNvPr id="41" name="Shape 39"/>
          <p:cNvSpPr/>
          <p:nvPr/>
        </p:nvSpPr>
        <p:spPr>
          <a:xfrm>
            <a:off x="8065008" y="3749040"/>
            <a:ext cx="91440" cy="91440"/>
          </a:xfrm>
          <a:prstGeom prst="ellipse">
            <a:avLst/>
          </a:prstGeom>
          <a:solidFill>
            <a:srgbClr val="7CD4FF"/>
          </a:solidFill>
          <a:ln w="12700">
            <a:solidFill>
              <a:srgbClr val="7CD4FF"/>
            </a:solidFill>
            <a:prstDash val="solid"/>
          </a:ln>
        </p:spPr>
      </p:sp>
      <p:sp>
        <p:nvSpPr>
          <p:cNvPr id="42" name="Text 40"/>
          <p:cNvSpPr/>
          <p:nvPr/>
        </p:nvSpPr>
        <p:spPr>
          <a:xfrm>
            <a:off x="8257032" y="3694176"/>
            <a:ext cx="3209544"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Infine valuta il costo della modifica.</a:t>
            </a:r>
            <a:endParaRPr lang="en-US" sz="14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03</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MAPPA DEL CODE LAB</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Sette famiglie di esempi</a:t>
            </a:r>
            <a:endParaRPr lang="en-US" sz="2700" dirty="0"/>
          </a:p>
        </p:txBody>
      </p:sp>
      <p:sp>
        <p:nvSpPr>
          <p:cNvPr id="29" name="Shape 27"/>
          <p:cNvSpPr/>
          <p:nvPr/>
        </p:nvSpPr>
        <p:spPr>
          <a:xfrm>
            <a:off x="530352" y="1645920"/>
            <a:ext cx="7040880" cy="4343400"/>
          </a:xfrm>
          <a:prstGeom prst="roundRect">
            <a:avLst>
              <a:gd name="adj" fmla="val 1263"/>
            </a:avLst>
          </a:prstGeom>
          <a:solidFill>
            <a:srgbClr val="0D1A2B"/>
          </a:solidFill>
          <a:ln w="12700">
            <a:solidFill>
              <a:srgbClr val="263A55"/>
            </a:solidFill>
            <a:prstDash val="solid"/>
          </a:ln>
        </p:spPr>
      </p:sp>
      <p:sp>
        <p:nvSpPr>
          <p:cNvPr id="30" name="Text 28"/>
          <p:cNvSpPr/>
          <p:nvPr/>
        </p:nvSpPr>
        <p:spPr>
          <a:xfrm>
            <a:off x="804672" y="1938528"/>
            <a:ext cx="1828800" cy="182880"/>
          </a:xfrm>
          <a:prstGeom prst="rect">
            <a:avLst/>
          </a:prstGeom>
          <a:noFill/>
          <a:ln/>
        </p:spPr>
        <p:txBody>
          <a:bodyPr wrap="square" lIns="0" tIns="0" rIns="0" bIns="0" rtlCol="0" anchor="ctr"/>
          <a:lstStyle/>
          <a:p>
            <a:pPr indent="0" marL="0">
              <a:buNone/>
            </a:pPr>
            <a:r>
              <a:rPr lang="en-US" sz="950" b="1" spc="120" kern="0" dirty="0">
                <a:solidFill>
                  <a:srgbClr val="6FE3B1"/>
                </a:solidFill>
                <a:latin typeface="Aptos" pitchFamily="34" charset="0"/>
                <a:ea typeface="Aptos" pitchFamily="34" charset="-122"/>
                <a:cs typeface="Aptos" pitchFamily="34" charset="-120"/>
              </a:rPr>
              <a:t>DEFINIZIONE</a:t>
            </a:r>
            <a:endParaRPr lang="en-US" sz="950" dirty="0"/>
          </a:p>
        </p:txBody>
      </p:sp>
      <p:sp>
        <p:nvSpPr>
          <p:cNvPr id="31" name="Text 29"/>
          <p:cNvSpPr/>
          <p:nvPr/>
        </p:nvSpPr>
        <p:spPr>
          <a:xfrm>
            <a:off x="804672" y="2331720"/>
            <a:ext cx="6355080" cy="1325880"/>
          </a:xfrm>
          <a:prstGeom prst="rect">
            <a:avLst/>
          </a:prstGeom>
          <a:noFill/>
          <a:ln/>
        </p:spPr>
        <p:txBody>
          <a:bodyPr wrap="square" lIns="0" tIns="0" rIns="0" bIns="0" rtlCol="0" anchor="ctr">
            <a:normAutofit/>
          </a:bodyPr>
          <a:lstStyle/>
          <a:p>
            <a:pPr indent="0" marL="0">
              <a:buNone/>
            </a:pPr>
            <a:r>
              <a:rPr lang="en-US" sz="2300" b="1" dirty="0">
                <a:solidFill>
                  <a:srgbClr val="F4F7FB"/>
                </a:solidFill>
                <a:latin typeface="Aptos Display" pitchFamily="34" charset="0"/>
                <a:ea typeface="Aptos Display" pitchFamily="34" charset="-122"/>
                <a:cs typeface="Aptos Display" pitchFamily="34" charset="-120"/>
              </a:rPr>
              <a:t>Ogni sezione aggiunge un livello, dalla struttura del repository fino al ciclo asincrono.</a:t>
            </a:r>
            <a:endParaRPr lang="en-US" sz="2300" dirty="0"/>
          </a:p>
        </p:txBody>
      </p:sp>
      <p:sp>
        <p:nvSpPr>
          <p:cNvPr id="32" name="Shape 30"/>
          <p:cNvSpPr/>
          <p:nvPr/>
        </p:nvSpPr>
        <p:spPr>
          <a:xfrm>
            <a:off x="804672" y="3886200"/>
            <a:ext cx="6309360" cy="0"/>
          </a:xfrm>
          <a:prstGeom prst="line">
            <a:avLst/>
          </a:prstGeom>
          <a:noFill/>
          <a:ln w="12700">
            <a:solidFill>
              <a:srgbClr val="263A55"/>
            </a:solidFill>
            <a:prstDash val="solid"/>
          </a:ln>
        </p:spPr>
      </p:sp>
      <p:sp>
        <p:nvSpPr>
          <p:cNvPr id="33" name="Text 31"/>
          <p:cNvSpPr/>
          <p:nvPr/>
        </p:nvSpPr>
        <p:spPr>
          <a:xfrm>
            <a:off x="804672" y="4160520"/>
            <a:ext cx="1828800" cy="182880"/>
          </a:xfrm>
          <a:prstGeom prst="rect">
            <a:avLst/>
          </a:prstGeom>
          <a:noFill/>
          <a:ln/>
        </p:spPr>
        <p:txBody>
          <a:bodyPr wrap="square" lIns="0" tIns="0" rIns="0" bIns="0" rtlCol="0" anchor="ctr"/>
          <a:lstStyle/>
          <a:p>
            <a:pPr indent="0" marL="0">
              <a:buNone/>
            </a:pPr>
            <a:r>
              <a:rPr lang="en-US" sz="950" b="1" spc="120" kern="0" dirty="0">
                <a:solidFill>
                  <a:srgbClr val="F5C96A"/>
                </a:solidFill>
                <a:latin typeface="Aptos" pitchFamily="34" charset="0"/>
                <a:ea typeface="Aptos" pitchFamily="34" charset="-122"/>
                <a:cs typeface="Aptos" pitchFamily="34" charset="-120"/>
              </a:rPr>
              <a:t>ESEMPIO</a:t>
            </a:r>
            <a:endParaRPr lang="en-US" sz="950" dirty="0"/>
          </a:p>
        </p:txBody>
      </p:sp>
      <p:sp>
        <p:nvSpPr>
          <p:cNvPr id="34" name="Text 32"/>
          <p:cNvSpPr/>
          <p:nvPr/>
        </p:nvSpPr>
        <p:spPr>
          <a:xfrm>
            <a:off x="804672" y="4507992"/>
            <a:ext cx="6355080" cy="868680"/>
          </a:xfrm>
          <a:prstGeom prst="rect">
            <a:avLst/>
          </a:prstGeom>
          <a:noFill/>
          <a:ln/>
        </p:spPr>
        <p:txBody>
          <a:bodyPr wrap="square" lIns="0" tIns="0" rIns="0" bIns="0" rtlCol="0" anchor="ctr">
            <a:normAutofit/>
          </a:bodyPr>
          <a:lstStyle/>
          <a:p>
            <a:pPr indent="0" marL="0">
              <a:buNone/>
            </a:pPr>
            <a:r>
              <a:rPr lang="en-US" sz="1800" b="1" dirty="0">
                <a:solidFill>
                  <a:srgbClr val="7CD4FF"/>
                </a:solidFill>
                <a:latin typeface="Aptos Mono" pitchFamily="34" charset="0"/>
                <a:ea typeface="Aptos Mono" pitchFamily="34" charset="-122"/>
                <a:cs typeface="Aptos Mono" pitchFamily="34" charset="-120"/>
              </a:rPr>
              <a:t>cartelle → componenti → stili → state → identità → Effect</a:t>
            </a:r>
            <a:endParaRPr lang="en-US" sz="1800" dirty="0"/>
          </a:p>
        </p:txBody>
      </p:sp>
      <p:sp>
        <p:nvSpPr>
          <p:cNvPr id="35" name="Shape 33"/>
          <p:cNvSpPr/>
          <p:nvPr/>
        </p:nvSpPr>
        <p:spPr>
          <a:xfrm>
            <a:off x="7845552" y="1645920"/>
            <a:ext cx="3840480" cy="4343400"/>
          </a:xfrm>
          <a:prstGeom prst="roundRect">
            <a:avLst>
              <a:gd name="adj" fmla="val 1190"/>
            </a:avLst>
          </a:prstGeom>
          <a:solidFill>
            <a:srgbClr val="122238"/>
          </a:solidFill>
          <a:ln w="12700">
            <a:solidFill>
              <a:srgbClr val="263A55"/>
            </a:solidFill>
            <a:prstDash val="solid"/>
          </a:ln>
        </p:spPr>
      </p:sp>
      <p:sp>
        <p:nvSpPr>
          <p:cNvPr id="36" name="Text 34"/>
          <p:cNvSpPr/>
          <p:nvPr/>
        </p:nvSpPr>
        <p:spPr>
          <a:xfrm>
            <a:off x="8065008" y="1856232"/>
            <a:ext cx="3401568" cy="182880"/>
          </a:xfrm>
          <a:prstGeom prst="rect">
            <a:avLst/>
          </a:prstGeom>
          <a:noFill/>
          <a:ln/>
        </p:spPr>
        <p:txBody>
          <a:bodyPr wrap="square" lIns="0" tIns="0" rIns="0" bIns="0" rtlCol="0" anchor="ctr"/>
          <a:lstStyle/>
          <a:p>
            <a:pPr indent="0" marL="0">
              <a:buNone/>
            </a:pPr>
            <a:r>
              <a:rPr lang="en-US" sz="950" b="1" spc="115" kern="0" dirty="0">
                <a:solidFill>
                  <a:srgbClr val="4C7DFF"/>
                </a:solidFill>
                <a:latin typeface="Aptos" pitchFamily="34" charset="0"/>
                <a:ea typeface="Aptos" pitchFamily="34" charset="-122"/>
                <a:cs typeface="Aptos" pitchFamily="34" charset="-120"/>
              </a:rPr>
              <a:t>PERCHÉ CONTA</a:t>
            </a:r>
            <a:endParaRPr lang="en-US" sz="950" dirty="0"/>
          </a:p>
        </p:txBody>
      </p:sp>
      <p:sp>
        <p:nvSpPr>
          <p:cNvPr id="37" name="Shape 35"/>
          <p:cNvSpPr/>
          <p:nvPr/>
        </p:nvSpPr>
        <p:spPr>
          <a:xfrm>
            <a:off x="8065008" y="2322576"/>
            <a:ext cx="91440" cy="91440"/>
          </a:xfrm>
          <a:prstGeom prst="ellipse">
            <a:avLst/>
          </a:prstGeom>
          <a:solidFill>
            <a:srgbClr val="7CD4FF"/>
          </a:solidFill>
          <a:ln w="12700">
            <a:solidFill>
              <a:srgbClr val="7CD4FF"/>
            </a:solidFill>
            <a:prstDash val="solid"/>
          </a:ln>
        </p:spPr>
      </p:sp>
      <p:sp>
        <p:nvSpPr>
          <p:cNvPr id="38" name="Text 36"/>
          <p:cNvSpPr/>
          <p:nvPr/>
        </p:nvSpPr>
        <p:spPr>
          <a:xfrm>
            <a:off x="8257032" y="2267712"/>
            <a:ext cx="3209544"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Architettura e naming</a:t>
            </a:r>
            <a:endParaRPr lang="en-US" sz="1420" dirty="0"/>
          </a:p>
        </p:txBody>
      </p:sp>
      <p:sp>
        <p:nvSpPr>
          <p:cNvPr id="39" name="Shape 37"/>
          <p:cNvSpPr/>
          <p:nvPr/>
        </p:nvSpPr>
        <p:spPr>
          <a:xfrm>
            <a:off x="8065008" y="3035808"/>
            <a:ext cx="91440" cy="91440"/>
          </a:xfrm>
          <a:prstGeom prst="ellipse">
            <a:avLst/>
          </a:prstGeom>
          <a:solidFill>
            <a:srgbClr val="7CD4FF"/>
          </a:solidFill>
          <a:ln w="12700">
            <a:solidFill>
              <a:srgbClr val="7CD4FF"/>
            </a:solidFill>
            <a:prstDash val="solid"/>
          </a:ln>
        </p:spPr>
      </p:sp>
      <p:sp>
        <p:nvSpPr>
          <p:cNvPr id="40" name="Text 38"/>
          <p:cNvSpPr/>
          <p:nvPr/>
        </p:nvSpPr>
        <p:spPr>
          <a:xfrm>
            <a:off x="8257032" y="2980944"/>
            <a:ext cx="3209544"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Composition e custom hook</a:t>
            </a:r>
            <a:endParaRPr lang="en-US" sz="1420" dirty="0"/>
          </a:p>
        </p:txBody>
      </p:sp>
      <p:sp>
        <p:nvSpPr>
          <p:cNvPr id="41" name="Shape 39"/>
          <p:cNvSpPr/>
          <p:nvPr/>
        </p:nvSpPr>
        <p:spPr>
          <a:xfrm>
            <a:off x="8065008" y="3749040"/>
            <a:ext cx="91440" cy="91440"/>
          </a:xfrm>
          <a:prstGeom prst="ellipse">
            <a:avLst/>
          </a:prstGeom>
          <a:solidFill>
            <a:srgbClr val="7CD4FF"/>
          </a:solidFill>
          <a:ln w="12700">
            <a:solidFill>
              <a:srgbClr val="7CD4FF"/>
            </a:solidFill>
            <a:prstDash val="solid"/>
          </a:ln>
        </p:spPr>
      </p:sp>
      <p:sp>
        <p:nvSpPr>
          <p:cNvPr id="42" name="Text 40"/>
          <p:cNvSpPr/>
          <p:nvPr/>
        </p:nvSpPr>
        <p:spPr>
          <a:xfrm>
            <a:off x="8257032" y="3694176"/>
            <a:ext cx="3209544"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Sass e pairing</a:t>
            </a:r>
            <a:endParaRPr lang="en-US" sz="1420" dirty="0"/>
          </a:p>
        </p:txBody>
      </p:sp>
      <p:sp>
        <p:nvSpPr>
          <p:cNvPr id="43" name="Shape 41"/>
          <p:cNvSpPr/>
          <p:nvPr/>
        </p:nvSpPr>
        <p:spPr>
          <a:xfrm>
            <a:off x="8065008" y="4462272"/>
            <a:ext cx="91440" cy="91440"/>
          </a:xfrm>
          <a:prstGeom prst="ellipse">
            <a:avLst/>
          </a:prstGeom>
          <a:solidFill>
            <a:srgbClr val="7CD4FF"/>
          </a:solidFill>
          <a:ln w="12700">
            <a:solidFill>
              <a:srgbClr val="7CD4FF"/>
            </a:solidFill>
            <a:prstDash val="solid"/>
          </a:ln>
        </p:spPr>
      </p:sp>
      <p:sp>
        <p:nvSpPr>
          <p:cNvPr id="44" name="Text 42"/>
          <p:cNvSpPr/>
          <p:nvPr/>
        </p:nvSpPr>
        <p:spPr>
          <a:xfrm>
            <a:off x="8257032" y="4407408"/>
            <a:ext cx="3209544"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State e reconciliation</a:t>
            </a:r>
            <a:endParaRPr lang="en-US" sz="1420" dirty="0"/>
          </a:p>
        </p:txBody>
      </p:sp>
      <p:sp>
        <p:nvSpPr>
          <p:cNvPr id="45" name="Shape 43"/>
          <p:cNvSpPr/>
          <p:nvPr/>
        </p:nvSpPr>
        <p:spPr>
          <a:xfrm>
            <a:off x="8065008" y="5175504"/>
            <a:ext cx="91440" cy="91440"/>
          </a:xfrm>
          <a:prstGeom prst="ellipse">
            <a:avLst/>
          </a:prstGeom>
          <a:solidFill>
            <a:srgbClr val="7CD4FF"/>
          </a:solidFill>
          <a:ln w="12700">
            <a:solidFill>
              <a:srgbClr val="7CD4FF"/>
            </a:solidFill>
            <a:prstDash val="solid"/>
          </a:ln>
        </p:spPr>
      </p:sp>
      <p:sp>
        <p:nvSpPr>
          <p:cNvPr id="46" name="Text 44"/>
          <p:cNvSpPr/>
          <p:nvPr/>
        </p:nvSpPr>
        <p:spPr>
          <a:xfrm>
            <a:off x="8257032" y="5120640"/>
            <a:ext cx="3209544"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Effect e debounce</a:t>
            </a:r>
            <a:endParaRPr lang="en-US" sz="14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04</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SCENARIO UNICO</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Caso guida: Operations Dashboard</a:t>
            </a:r>
            <a:endParaRPr lang="en-US" sz="2700" dirty="0"/>
          </a:p>
        </p:txBody>
      </p:sp>
      <p:sp>
        <p:nvSpPr>
          <p:cNvPr id="29" name="Shape 27"/>
          <p:cNvSpPr/>
          <p:nvPr/>
        </p:nvSpPr>
        <p:spPr>
          <a:xfrm>
            <a:off x="530352" y="1645920"/>
            <a:ext cx="7040880" cy="4343400"/>
          </a:xfrm>
          <a:prstGeom prst="roundRect">
            <a:avLst>
              <a:gd name="adj" fmla="val 1263"/>
            </a:avLst>
          </a:prstGeom>
          <a:solidFill>
            <a:srgbClr val="0D1A2B"/>
          </a:solidFill>
          <a:ln w="12700">
            <a:solidFill>
              <a:srgbClr val="263A55"/>
            </a:solidFill>
            <a:prstDash val="solid"/>
          </a:ln>
        </p:spPr>
      </p:sp>
      <p:sp>
        <p:nvSpPr>
          <p:cNvPr id="30" name="Text 28"/>
          <p:cNvSpPr/>
          <p:nvPr/>
        </p:nvSpPr>
        <p:spPr>
          <a:xfrm>
            <a:off x="804672" y="1938528"/>
            <a:ext cx="1828800" cy="182880"/>
          </a:xfrm>
          <a:prstGeom prst="rect">
            <a:avLst/>
          </a:prstGeom>
          <a:noFill/>
          <a:ln/>
        </p:spPr>
        <p:txBody>
          <a:bodyPr wrap="square" lIns="0" tIns="0" rIns="0" bIns="0" rtlCol="0" anchor="ctr"/>
          <a:lstStyle/>
          <a:p>
            <a:pPr indent="0" marL="0">
              <a:buNone/>
            </a:pPr>
            <a:r>
              <a:rPr lang="en-US" sz="950" b="1" spc="120" kern="0" dirty="0">
                <a:solidFill>
                  <a:srgbClr val="6FE3B1"/>
                </a:solidFill>
                <a:latin typeface="Aptos" pitchFamily="34" charset="0"/>
                <a:ea typeface="Aptos" pitchFamily="34" charset="-122"/>
                <a:cs typeface="Aptos" pitchFamily="34" charset="-120"/>
              </a:rPr>
              <a:t>DEFINIZIONE</a:t>
            </a:r>
            <a:endParaRPr lang="en-US" sz="950" dirty="0"/>
          </a:p>
        </p:txBody>
      </p:sp>
      <p:sp>
        <p:nvSpPr>
          <p:cNvPr id="31" name="Text 29"/>
          <p:cNvSpPr/>
          <p:nvPr/>
        </p:nvSpPr>
        <p:spPr>
          <a:xfrm>
            <a:off x="804672" y="2331720"/>
            <a:ext cx="6355080" cy="1325880"/>
          </a:xfrm>
          <a:prstGeom prst="rect">
            <a:avLst/>
          </a:prstGeom>
          <a:noFill/>
          <a:ln/>
        </p:spPr>
        <p:txBody>
          <a:bodyPr wrap="square" lIns="0" tIns="0" rIns="0" bIns="0" rtlCol="0" anchor="ctr">
            <a:normAutofit/>
          </a:bodyPr>
          <a:lstStyle/>
          <a:p>
            <a:pPr indent="0" marL="0">
              <a:buNone/>
            </a:pPr>
            <a:r>
              <a:rPr lang="en-US" sz="2300" b="1" dirty="0">
                <a:solidFill>
                  <a:srgbClr val="F4F7FB"/>
                </a:solidFill>
                <a:latin typeface="Aptos Display" pitchFamily="34" charset="0"/>
                <a:ea typeface="Aptos Display" pitchFamily="34" charset="-122"/>
                <a:cs typeface="Aptos Display" pitchFamily="34" charset="-120"/>
              </a:rPr>
              <a:t>Una dashboard con filtri, lista di ticket, dettaglio laterale e ricerca remota.</a:t>
            </a:r>
            <a:endParaRPr lang="en-US" sz="2300" dirty="0"/>
          </a:p>
        </p:txBody>
      </p:sp>
      <p:sp>
        <p:nvSpPr>
          <p:cNvPr id="32" name="Shape 30"/>
          <p:cNvSpPr/>
          <p:nvPr/>
        </p:nvSpPr>
        <p:spPr>
          <a:xfrm>
            <a:off x="804672" y="3886200"/>
            <a:ext cx="6309360" cy="0"/>
          </a:xfrm>
          <a:prstGeom prst="line">
            <a:avLst/>
          </a:prstGeom>
          <a:noFill/>
          <a:ln w="12700">
            <a:solidFill>
              <a:srgbClr val="263A55"/>
            </a:solidFill>
            <a:prstDash val="solid"/>
          </a:ln>
        </p:spPr>
      </p:sp>
      <p:sp>
        <p:nvSpPr>
          <p:cNvPr id="33" name="Text 31"/>
          <p:cNvSpPr/>
          <p:nvPr/>
        </p:nvSpPr>
        <p:spPr>
          <a:xfrm>
            <a:off x="804672" y="4160520"/>
            <a:ext cx="1828800" cy="182880"/>
          </a:xfrm>
          <a:prstGeom prst="rect">
            <a:avLst/>
          </a:prstGeom>
          <a:noFill/>
          <a:ln/>
        </p:spPr>
        <p:txBody>
          <a:bodyPr wrap="square" lIns="0" tIns="0" rIns="0" bIns="0" rtlCol="0" anchor="ctr"/>
          <a:lstStyle/>
          <a:p>
            <a:pPr indent="0" marL="0">
              <a:buNone/>
            </a:pPr>
            <a:r>
              <a:rPr lang="en-US" sz="950" b="1" spc="120" kern="0" dirty="0">
                <a:solidFill>
                  <a:srgbClr val="F5C96A"/>
                </a:solidFill>
                <a:latin typeface="Aptos" pitchFamily="34" charset="0"/>
                <a:ea typeface="Aptos" pitchFamily="34" charset="-122"/>
                <a:cs typeface="Aptos" pitchFamily="34" charset="-120"/>
              </a:rPr>
              <a:t>ESEMPIO</a:t>
            </a:r>
            <a:endParaRPr lang="en-US" sz="950" dirty="0"/>
          </a:p>
        </p:txBody>
      </p:sp>
      <p:sp>
        <p:nvSpPr>
          <p:cNvPr id="34" name="Text 32"/>
          <p:cNvSpPr/>
          <p:nvPr/>
        </p:nvSpPr>
        <p:spPr>
          <a:xfrm>
            <a:off x="804672" y="4507992"/>
            <a:ext cx="6355080" cy="868680"/>
          </a:xfrm>
          <a:prstGeom prst="rect">
            <a:avLst/>
          </a:prstGeom>
          <a:noFill/>
          <a:ln/>
        </p:spPr>
        <p:txBody>
          <a:bodyPr wrap="square" lIns="0" tIns="0" rIns="0" bIns="0" rtlCol="0" anchor="ctr">
            <a:normAutofit/>
          </a:bodyPr>
          <a:lstStyle/>
          <a:p>
            <a:pPr indent="0" marL="0">
              <a:buNone/>
            </a:pPr>
            <a:r>
              <a:rPr lang="en-US" sz="1800" b="1" dirty="0">
                <a:solidFill>
                  <a:srgbClr val="7CD4FF"/>
                </a:solidFill>
                <a:latin typeface="Aptos Mono" pitchFamily="34" charset="0"/>
                <a:ea typeface="Aptos Mono" pitchFamily="34" charset="-122"/>
                <a:cs typeface="Aptos Mono" pitchFamily="34" charset="-120"/>
              </a:rPr>
              <a:t>&lt;TicketsPage /&gt; + REST API + Sass</a:t>
            </a:r>
            <a:endParaRPr lang="en-US" sz="1800" dirty="0"/>
          </a:p>
        </p:txBody>
      </p:sp>
      <p:sp>
        <p:nvSpPr>
          <p:cNvPr id="35" name="Shape 33"/>
          <p:cNvSpPr/>
          <p:nvPr/>
        </p:nvSpPr>
        <p:spPr>
          <a:xfrm>
            <a:off x="7845552" y="1645920"/>
            <a:ext cx="3840480" cy="4343400"/>
          </a:xfrm>
          <a:prstGeom prst="roundRect">
            <a:avLst>
              <a:gd name="adj" fmla="val 1190"/>
            </a:avLst>
          </a:prstGeom>
          <a:solidFill>
            <a:srgbClr val="122238"/>
          </a:solidFill>
          <a:ln w="12700">
            <a:solidFill>
              <a:srgbClr val="263A55"/>
            </a:solidFill>
            <a:prstDash val="solid"/>
          </a:ln>
        </p:spPr>
      </p:sp>
      <p:sp>
        <p:nvSpPr>
          <p:cNvPr id="36" name="Text 34"/>
          <p:cNvSpPr/>
          <p:nvPr/>
        </p:nvSpPr>
        <p:spPr>
          <a:xfrm>
            <a:off x="8065008" y="1856232"/>
            <a:ext cx="3401568" cy="182880"/>
          </a:xfrm>
          <a:prstGeom prst="rect">
            <a:avLst/>
          </a:prstGeom>
          <a:noFill/>
          <a:ln/>
        </p:spPr>
        <p:txBody>
          <a:bodyPr wrap="square" lIns="0" tIns="0" rIns="0" bIns="0" rtlCol="0" anchor="ctr"/>
          <a:lstStyle/>
          <a:p>
            <a:pPr indent="0" marL="0">
              <a:buNone/>
            </a:pPr>
            <a:r>
              <a:rPr lang="en-US" sz="950" b="1" spc="115" kern="0" dirty="0">
                <a:solidFill>
                  <a:srgbClr val="4C7DFF"/>
                </a:solidFill>
                <a:latin typeface="Aptos" pitchFamily="34" charset="0"/>
                <a:ea typeface="Aptos" pitchFamily="34" charset="-122"/>
                <a:cs typeface="Aptos" pitchFamily="34" charset="-120"/>
              </a:rPr>
              <a:t>PERCHÉ CONTA</a:t>
            </a:r>
            <a:endParaRPr lang="en-US" sz="950" dirty="0"/>
          </a:p>
        </p:txBody>
      </p:sp>
      <p:sp>
        <p:nvSpPr>
          <p:cNvPr id="37" name="Shape 35"/>
          <p:cNvSpPr/>
          <p:nvPr/>
        </p:nvSpPr>
        <p:spPr>
          <a:xfrm>
            <a:off x="8065008" y="2322576"/>
            <a:ext cx="91440" cy="91440"/>
          </a:xfrm>
          <a:prstGeom prst="ellipse">
            <a:avLst/>
          </a:prstGeom>
          <a:solidFill>
            <a:srgbClr val="7CD4FF"/>
          </a:solidFill>
          <a:ln w="12700">
            <a:solidFill>
              <a:srgbClr val="7CD4FF"/>
            </a:solidFill>
            <a:prstDash val="solid"/>
          </a:ln>
        </p:spPr>
      </p:sp>
      <p:sp>
        <p:nvSpPr>
          <p:cNvPr id="38" name="Text 36"/>
          <p:cNvSpPr/>
          <p:nvPr/>
        </p:nvSpPr>
        <p:spPr>
          <a:xfrm>
            <a:off x="8257032" y="2267712"/>
            <a:ext cx="3209544"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Stesso dominio in tutte le sezioni.</a:t>
            </a:r>
            <a:endParaRPr lang="en-US" sz="1420" dirty="0"/>
          </a:p>
        </p:txBody>
      </p:sp>
      <p:sp>
        <p:nvSpPr>
          <p:cNvPr id="39" name="Shape 37"/>
          <p:cNvSpPr/>
          <p:nvPr/>
        </p:nvSpPr>
        <p:spPr>
          <a:xfrm>
            <a:off x="8065008" y="3035808"/>
            <a:ext cx="91440" cy="91440"/>
          </a:xfrm>
          <a:prstGeom prst="ellipse">
            <a:avLst/>
          </a:prstGeom>
          <a:solidFill>
            <a:srgbClr val="7CD4FF"/>
          </a:solidFill>
          <a:ln w="12700">
            <a:solidFill>
              <a:srgbClr val="7CD4FF"/>
            </a:solidFill>
            <a:prstDash val="solid"/>
          </a:ln>
        </p:spPr>
      </p:sp>
      <p:sp>
        <p:nvSpPr>
          <p:cNvPr id="40" name="Text 38"/>
          <p:cNvSpPr/>
          <p:nvPr/>
        </p:nvSpPr>
        <p:spPr>
          <a:xfrm>
            <a:off x="8257032" y="2980944"/>
            <a:ext cx="3209544"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Il comportamento resta invariato.</a:t>
            </a:r>
            <a:endParaRPr lang="en-US" sz="1420" dirty="0"/>
          </a:p>
        </p:txBody>
      </p:sp>
      <p:sp>
        <p:nvSpPr>
          <p:cNvPr id="41" name="Shape 39"/>
          <p:cNvSpPr/>
          <p:nvPr/>
        </p:nvSpPr>
        <p:spPr>
          <a:xfrm>
            <a:off x="8065008" y="3749040"/>
            <a:ext cx="91440" cy="91440"/>
          </a:xfrm>
          <a:prstGeom prst="ellipse">
            <a:avLst/>
          </a:prstGeom>
          <a:solidFill>
            <a:srgbClr val="7CD4FF"/>
          </a:solidFill>
          <a:ln w="12700">
            <a:solidFill>
              <a:srgbClr val="7CD4FF"/>
            </a:solidFill>
            <a:prstDash val="solid"/>
          </a:ln>
        </p:spPr>
      </p:sp>
      <p:sp>
        <p:nvSpPr>
          <p:cNvPr id="42" name="Text 40"/>
          <p:cNvSpPr/>
          <p:nvPr/>
        </p:nvSpPr>
        <p:spPr>
          <a:xfrm>
            <a:off x="8257032" y="3694176"/>
            <a:ext cx="3209544"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Cambiano soltanto i confini.</a:t>
            </a:r>
            <a:endParaRPr lang="en-US" sz="14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0" y="0"/>
            <a:ext cx="3794760" cy="6858000"/>
          </a:xfrm>
          <a:prstGeom prst="rect">
            <a:avLst/>
          </a:prstGeom>
          <a:solidFill>
            <a:srgbClr val="4C7DFF"/>
          </a:solidFill>
          <a:ln w="12700">
            <a:solidFill>
              <a:srgbClr val="4C7DFF"/>
            </a:solidFill>
            <a:prstDash val="solid"/>
          </a:ln>
        </p:spPr>
      </p:sp>
      <p:sp>
        <p:nvSpPr>
          <p:cNvPr id="3" name="Text 1"/>
          <p:cNvSpPr/>
          <p:nvPr/>
        </p:nvSpPr>
        <p:spPr>
          <a:xfrm>
            <a:off x="576072" y="594360"/>
            <a:ext cx="2560320" cy="1097280"/>
          </a:xfrm>
          <a:prstGeom prst="rect">
            <a:avLst/>
          </a:prstGeom>
          <a:noFill/>
          <a:ln/>
        </p:spPr>
        <p:txBody>
          <a:bodyPr wrap="square" lIns="0" tIns="0" rIns="0" bIns="0" rtlCol="0" anchor="ctr"/>
          <a:lstStyle/>
          <a:p>
            <a:pPr indent="0" marL="0">
              <a:buNone/>
            </a:pPr>
            <a:r>
              <a:rPr lang="en-US" sz="7000" b="1" dirty="0">
                <a:solidFill>
                  <a:srgbClr val="FFFFFF">
                    <a:alpha val="98000"/>
                  </a:srgbClr>
                </a:solidFill>
                <a:latin typeface="Aptos Mono" pitchFamily="34" charset="0"/>
                <a:ea typeface="Aptos Mono" pitchFamily="34" charset="-122"/>
                <a:cs typeface="Aptos Mono" pitchFamily="34" charset="-120"/>
              </a:rPr>
              <a:t>01</a:t>
            </a:r>
            <a:endParaRPr lang="en-US" sz="7000" dirty="0"/>
          </a:p>
        </p:txBody>
      </p:sp>
      <p:sp>
        <p:nvSpPr>
          <p:cNvPr id="4" name="Text 2"/>
          <p:cNvSpPr/>
          <p:nvPr/>
        </p:nvSpPr>
        <p:spPr>
          <a:xfrm>
            <a:off x="658368" y="1975104"/>
            <a:ext cx="2560320" cy="274320"/>
          </a:xfrm>
          <a:prstGeom prst="rect">
            <a:avLst/>
          </a:prstGeom>
          <a:noFill/>
          <a:ln/>
        </p:spPr>
        <p:txBody>
          <a:bodyPr wrap="square" lIns="0" tIns="0" rIns="0" bIns="0" rtlCol="0" anchor="ctr"/>
          <a:lstStyle/>
          <a:p>
            <a:pPr indent="0" marL="0">
              <a:buNone/>
            </a:pPr>
            <a:r>
              <a:rPr lang="en-US" sz="1100" b="1" spc="200" kern="0" dirty="0">
                <a:solidFill>
                  <a:srgbClr val="FFFFFF"/>
                </a:solidFill>
                <a:latin typeface="Aptos" pitchFamily="34" charset="0"/>
                <a:ea typeface="Aptos" pitchFamily="34" charset="-122"/>
                <a:cs typeface="Aptos" pitchFamily="34" charset="-120"/>
              </a:rPr>
              <a:t>CODE LAB</a:t>
            </a:r>
            <a:endParaRPr lang="en-US" sz="1100" dirty="0"/>
          </a:p>
        </p:txBody>
      </p:sp>
      <p:sp>
        <p:nvSpPr>
          <p:cNvPr id="5" name="Text 3"/>
          <p:cNvSpPr/>
          <p:nvPr/>
        </p:nvSpPr>
        <p:spPr>
          <a:xfrm>
            <a:off x="4370832" y="1856232"/>
            <a:ext cx="6949440" cy="1051560"/>
          </a:xfrm>
          <a:prstGeom prst="rect">
            <a:avLst/>
          </a:prstGeom>
          <a:noFill/>
          <a:ln/>
        </p:spPr>
        <p:txBody>
          <a:bodyPr wrap="square" lIns="0" tIns="0" rIns="0" bIns="0" rtlCol="0" anchor="ctr">
            <a:normAutofit/>
          </a:bodyPr>
          <a:lstStyle/>
          <a:p>
            <a:pPr indent="0" marL="0">
              <a:buNone/>
            </a:pPr>
            <a:r>
              <a:rPr lang="en-US" sz="3800" b="1" dirty="0">
                <a:solidFill>
                  <a:srgbClr val="F4F7FB"/>
                </a:solidFill>
                <a:latin typeface="Aptos Display" pitchFamily="34" charset="0"/>
                <a:ea typeface="Aptos Display" pitchFamily="34" charset="-122"/>
                <a:cs typeface="Aptos Display" pitchFamily="34" charset="-120"/>
              </a:rPr>
              <a:t>Architettura del progetto</a:t>
            </a:r>
            <a:endParaRPr lang="en-US" sz="3800" dirty="0"/>
          </a:p>
        </p:txBody>
      </p:sp>
      <p:sp>
        <p:nvSpPr>
          <p:cNvPr id="6" name="Text 4"/>
          <p:cNvSpPr/>
          <p:nvPr/>
        </p:nvSpPr>
        <p:spPr>
          <a:xfrm>
            <a:off x="4407408" y="3136392"/>
            <a:ext cx="6309360" cy="822960"/>
          </a:xfrm>
          <a:prstGeom prst="rect">
            <a:avLst/>
          </a:prstGeom>
          <a:noFill/>
          <a:ln/>
        </p:spPr>
        <p:txBody>
          <a:bodyPr wrap="square" lIns="0" tIns="0" rIns="0" bIns="0" rtlCol="0" anchor="ctr">
            <a:normAutofit/>
          </a:bodyPr>
          <a:lstStyle/>
          <a:p>
            <a:pPr indent="0" marL="0">
              <a:buNone/>
            </a:pPr>
            <a:r>
              <a:rPr lang="en-US" sz="1900" dirty="0">
                <a:solidFill>
                  <a:srgbClr val="9DB0C7"/>
                </a:solidFill>
                <a:latin typeface="Aptos" pitchFamily="34" charset="0"/>
                <a:ea typeface="Aptos" pitchFamily="34" charset="-122"/>
                <a:cs typeface="Aptos" pitchFamily="34" charset="-120"/>
              </a:rPr>
              <a:t>Il repository deve raccontare dove vive ogni responsabilità.</a:t>
            </a:r>
            <a:endParaRPr lang="en-US" sz="1900" dirty="0"/>
          </a:p>
        </p:txBody>
      </p:sp>
      <p:sp>
        <p:nvSpPr>
          <p:cNvPr id="7" name="Shape 5"/>
          <p:cNvSpPr/>
          <p:nvPr/>
        </p:nvSpPr>
        <p:spPr>
          <a:xfrm>
            <a:off x="4407408" y="4343400"/>
            <a:ext cx="5669280" cy="0"/>
          </a:xfrm>
          <a:prstGeom prst="line">
            <a:avLst/>
          </a:prstGeom>
          <a:noFill/>
          <a:ln w="19050">
            <a:solidFill>
              <a:srgbClr val="263A55"/>
            </a:solidFill>
            <a:prstDash val="solid"/>
          </a:ln>
        </p:spPr>
      </p:sp>
      <p:sp>
        <p:nvSpPr>
          <p:cNvPr id="8" name="Text 6"/>
          <p:cNvSpPr/>
          <p:nvPr/>
        </p:nvSpPr>
        <p:spPr>
          <a:xfrm>
            <a:off x="10424160" y="6172200"/>
            <a:ext cx="1097280" cy="219456"/>
          </a:xfrm>
          <a:prstGeom prst="rect">
            <a:avLst/>
          </a:prstGeom>
          <a:noFill/>
          <a:ln/>
        </p:spPr>
        <p:txBody>
          <a:bodyPr wrap="square" lIns="0" tIns="0" rIns="0" bIns="0" rtlCol="0" anchor="ctr"/>
          <a:lstStyle/>
          <a:p>
            <a:pPr algn="r" indent="0" marL="0">
              <a:buNone/>
            </a:pPr>
            <a:r>
              <a:rPr lang="en-US" sz="1000" b="1" dirty="0">
                <a:solidFill>
                  <a:srgbClr val="8296AE"/>
                </a:solidFill>
                <a:latin typeface="Aptos Mono" pitchFamily="34" charset="0"/>
                <a:ea typeface="Aptos Mono" pitchFamily="34" charset="-122"/>
                <a:cs typeface="Aptos Mono" pitchFamily="34" charset="-120"/>
              </a:rPr>
              <a:t>SLIDE 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06</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NAMING DELLE CARTELLE</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Minuscolo per la struttura, PascalCase per il componente</a:t>
            </a:r>
            <a:endParaRPr lang="en-US" sz="2700" dirty="0"/>
          </a:p>
        </p:txBody>
      </p:sp>
      <p:sp>
        <p:nvSpPr>
          <p:cNvPr id="29" name="Shape 27"/>
          <p:cNvSpPr/>
          <p:nvPr/>
        </p:nvSpPr>
        <p:spPr>
          <a:xfrm>
            <a:off x="530352" y="1591056"/>
            <a:ext cx="7589520" cy="4553712"/>
          </a:xfrm>
          <a:prstGeom prst="roundRect">
            <a:avLst>
              <a:gd name="adj" fmla="val 1004"/>
            </a:avLst>
          </a:prstGeom>
          <a:solidFill>
            <a:srgbClr val="0D1A2B"/>
          </a:solidFill>
          <a:ln w="13970">
            <a:solidFill>
              <a:srgbClr val="263A55"/>
            </a:solidFill>
            <a:prstDash val="solid"/>
          </a:ln>
        </p:spPr>
      </p:sp>
      <p:sp>
        <p:nvSpPr>
          <p:cNvPr id="30" name="Shape 28"/>
          <p:cNvSpPr/>
          <p:nvPr/>
        </p:nvSpPr>
        <p:spPr>
          <a:xfrm>
            <a:off x="530352" y="1591056"/>
            <a:ext cx="7589520" cy="347472"/>
          </a:xfrm>
          <a:prstGeom prst="rect">
            <a:avLst/>
          </a:prstGeom>
          <a:solidFill>
            <a:srgbClr val="122238"/>
          </a:solidFill>
          <a:ln w="12700">
            <a:solidFill>
              <a:srgbClr val="122238"/>
            </a:solidFill>
            <a:prstDash val="solid"/>
          </a:ln>
        </p:spPr>
      </p:sp>
      <p:sp>
        <p:nvSpPr>
          <p:cNvPr id="31" name="Shape 29"/>
          <p:cNvSpPr/>
          <p:nvPr/>
        </p:nvSpPr>
        <p:spPr>
          <a:xfrm>
            <a:off x="694944" y="1632204"/>
            <a:ext cx="1046988" cy="274320"/>
          </a:xfrm>
          <a:prstGeom prst="roundRect">
            <a:avLst>
              <a:gd name="adj" fmla="val 20000"/>
            </a:avLst>
          </a:prstGeom>
          <a:solidFill>
            <a:srgbClr val="7CD4FF">
              <a:alpha val="20000"/>
            </a:srgbClr>
          </a:solidFill>
          <a:ln w="10160">
            <a:solidFill>
              <a:srgbClr val="7CD4FF">
                <a:alpha val="55000"/>
              </a:srgbClr>
            </a:solidFill>
            <a:prstDash val="solid"/>
          </a:ln>
        </p:spPr>
      </p:sp>
      <p:sp>
        <p:nvSpPr>
          <p:cNvPr id="32" name="Text 30"/>
          <p:cNvSpPr/>
          <p:nvPr/>
        </p:nvSpPr>
        <p:spPr>
          <a:xfrm>
            <a:off x="786384" y="1691640"/>
            <a:ext cx="864108" cy="128016"/>
          </a:xfrm>
          <a:prstGeom prst="rect">
            <a:avLst/>
          </a:prstGeom>
          <a:noFill/>
          <a:ln/>
        </p:spPr>
        <p:txBody>
          <a:bodyPr wrap="square" lIns="0" tIns="0" rIns="0" bIns="0" rtlCol="0" anchor="ctr"/>
          <a:lstStyle/>
          <a:p>
            <a:pPr algn="ctr" indent="0" marL="0">
              <a:buNone/>
            </a:pPr>
            <a:r>
              <a:rPr lang="en-US" sz="820" b="1" dirty="0">
                <a:solidFill>
                  <a:srgbClr val="7CD4FF"/>
                </a:solidFill>
                <a:latin typeface="Aptos Mono" pitchFamily="34" charset="0"/>
                <a:ea typeface="Aptos Mono" pitchFamily="34" charset="-122"/>
                <a:cs typeface="Aptos Mono" pitchFamily="34" charset="-120"/>
              </a:rPr>
              <a:t>STRUTTURA</a:t>
            </a:r>
            <a:endParaRPr lang="en-US" sz="820" dirty="0"/>
          </a:p>
        </p:txBody>
      </p:sp>
      <p:sp>
        <p:nvSpPr>
          <p:cNvPr id="33" name="Text 31"/>
          <p:cNvSpPr/>
          <p:nvPr/>
        </p:nvSpPr>
        <p:spPr>
          <a:xfrm>
            <a:off x="640080" y="2052828"/>
            <a:ext cx="320040" cy="242316"/>
          </a:xfrm>
          <a:prstGeom prst="rect">
            <a:avLst/>
          </a:prstGeom>
          <a:noFill/>
          <a:ln/>
        </p:spPr>
        <p:txBody>
          <a:bodyPr wrap="square" lIns="0" tIns="0" rIns="0" bIns="0" rtlCol="0" anchor="ctr"/>
          <a:lstStyle/>
          <a:p>
            <a:pPr algn="r" indent="0" marL="0">
              <a:buNone/>
            </a:pPr>
            <a:r>
              <a:rPr lang="en-US" sz="1230" dirty="0">
                <a:solidFill>
                  <a:srgbClr val="8296AE"/>
                </a:solidFill>
                <a:latin typeface="Aptos Mono" pitchFamily="34" charset="0"/>
                <a:ea typeface="Aptos Mono" pitchFamily="34" charset="-122"/>
                <a:cs typeface="Aptos Mono" pitchFamily="34" charset="-120"/>
              </a:rPr>
              <a:t>01</a:t>
            </a:r>
            <a:endParaRPr lang="en-US" sz="1230" dirty="0"/>
          </a:p>
        </p:txBody>
      </p:sp>
      <p:sp>
        <p:nvSpPr>
          <p:cNvPr id="34" name="Text 32"/>
          <p:cNvSpPr/>
          <p:nvPr/>
        </p:nvSpPr>
        <p:spPr>
          <a:xfrm>
            <a:off x="1033272" y="2039112"/>
            <a:ext cx="6931152" cy="242316"/>
          </a:xfrm>
          <a:prstGeom prst="rect">
            <a:avLst/>
          </a:prstGeom>
          <a:noFill/>
          <a:ln/>
        </p:spPr>
        <p:txBody>
          <a:bodyPr wrap="square" lIns="0" tIns="0" rIns="0" bIns="0" rtlCol="0" anchor="ctr">
            <a:normAutofit/>
          </a:bodyPr>
          <a:lstStyle/>
          <a:p>
            <a:pPr indent="0" marL="0">
              <a:buNone/>
            </a:pPr>
            <a:r>
              <a:rPr lang="en-US" sz="1450" dirty="0">
                <a:solidFill>
                  <a:srgbClr val="D9E4F2"/>
                </a:solidFill>
                <a:latin typeface="Aptos Mono" pitchFamily="34" charset="0"/>
                <a:ea typeface="Aptos Mono" pitchFamily="34" charset="-122"/>
                <a:cs typeface="Aptos Mono" pitchFamily="34" charset="-120"/>
              </a:rPr>
              <a:t>src/</a:t>
            </a:r>
            <a:endParaRPr lang="en-US" sz="1450" dirty="0"/>
          </a:p>
        </p:txBody>
      </p:sp>
      <p:sp>
        <p:nvSpPr>
          <p:cNvPr id="35" name="Text 33"/>
          <p:cNvSpPr/>
          <p:nvPr/>
        </p:nvSpPr>
        <p:spPr>
          <a:xfrm>
            <a:off x="640080" y="2295144"/>
            <a:ext cx="320040" cy="242316"/>
          </a:xfrm>
          <a:prstGeom prst="rect">
            <a:avLst/>
          </a:prstGeom>
          <a:noFill/>
          <a:ln/>
        </p:spPr>
        <p:txBody>
          <a:bodyPr wrap="square" lIns="0" tIns="0" rIns="0" bIns="0" rtlCol="0" anchor="ctr"/>
          <a:lstStyle/>
          <a:p>
            <a:pPr algn="r" indent="0" marL="0">
              <a:buNone/>
            </a:pPr>
            <a:r>
              <a:rPr lang="en-US" sz="1230" dirty="0">
                <a:solidFill>
                  <a:srgbClr val="8296AE"/>
                </a:solidFill>
                <a:latin typeface="Aptos Mono" pitchFamily="34" charset="0"/>
                <a:ea typeface="Aptos Mono" pitchFamily="34" charset="-122"/>
                <a:cs typeface="Aptos Mono" pitchFamily="34" charset="-120"/>
              </a:rPr>
              <a:t>02</a:t>
            </a:r>
            <a:endParaRPr lang="en-US" sz="1230" dirty="0"/>
          </a:p>
        </p:txBody>
      </p:sp>
      <p:sp>
        <p:nvSpPr>
          <p:cNvPr id="36" name="Text 34"/>
          <p:cNvSpPr/>
          <p:nvPr/>
        </p:nvSpPr>
        <p:spPr>
          <a:xfrm>
            <a:off x="1033272" y="2281428"/>
            <a:ext cx="6931152" cy="242316"/>
          </a:xfrm>
          <a:prstGeom prst="rect">
            <a:avLst/>
          </a:prstGeom>
          <a:noFill/>
          <a:ln/>
        </p:spPr>
        <p:txBody>
          <a:bodyPr wrap="square" lIns="0" tIns="0" rIns="0" bIns="0" rtlCol="0" anchor="ctr">
            <a:normAutofit/>
          </a:bodyPr>
          <a:lstStyle/>
          <a:p>
            <a:pPr indent="0" marL="0">
              <a:buNone/>
            </a:pPr>
            <a:r>
              <a:rPr lang="en-US" sz="1450" dirty="0">
                <a:solidFill>
                  <a:srgbClr val="D9E4F2"/>
                </a:solidFill>
                <a:latin typeface="Aptos Mono" pitchFamily="34" charset="0"/>
                <a:ea typeface="Aptos Mono" pitchFamily="34" charset="-122"/>
                <a:cs typeface="Aptos Mono" pitchFamily="34" charset="-120"/>
              </a:rPr>
              <a:t>├── components/       // contenitore strutturale</a:t>
            </a:r>
            <a:endParaRPr lang="en-US" sz="1450" dirty="0"/>
          </a:p>
        </p:txBody>
      </p:sp>
      <p:sp>
        <p:nvSpPr>
          <p:cNvPr id="37" name="Text 35"/>
          <p:cNvSpPr/>
          <p:nvPr/>
        </p:nvSpPr>
        <p:spPr>
          <a:xfrm>
            <a:off x="640080" y="2537460"/>
            <a:ext cx="320040" cy="242316"/>
          </a:xfrm>
          <a:prstGeom prst="rect">
            <a:avLst/>
          </a:prstGeom>
          <a:noFill/>
          <a:ln/>
        </p:spPr>
        <p:txBody>
          <a:bodyPr wrap="square" lIns="0" tIns="0" rIns="0" bIns="0" rtlCol="0" anchor="ctr"/>
          <a:lstStyle/>
          <a:p>
            <a:pPr algn="r" indent="0" marL="0">
              <a:buNone/>
            </a:pPr>
            <a:r>
              <a:rPr lang="en-US" sz="1230" dirty="0">
                <a:solidFill>
                  <a:srgbClr val="8296AE"/>
                </a:solidFill>
                <a:latin typeface="Aptos Mono" pitchFamily="34" charset="0"/>
                <a:ea typeface="Aptos Mono" pitchFamily="34" charset="-122"/>
                <a:cs typeface="Aptos Mono" pitchFamily="34" charset="-120"/>
              </a:rPr>
              <a:t>03</a:t>
            </a:r>
            <a:endParaRPr lang="en-US" sz="1230" dirty="0"/>
          </a:p>
        </p:txBody>
      </p:sp>
      <p:sp>
        <p:nvSpPr>
          <p:cNvPr id="38" name="Text 36"/>
          <p:cNvSpPr/>
          <p:nvPr/>
        </p:nvSpPr>
        <p:spPr>
          <a:xfrm>
            <a:off x="1033272" y="2523744"/>
            <a:ext cx="6931152" cy="242316"/>
          </a:xfrm>
          <a:prstGeom prst="rect">
            <a:avLst/>
          </a:prstGeom>
          <a:noFill/>
          <a:ln/>
        </p:spPr>
        <p:txBody>
          <a:bodyPr wrap="square" lIns="0" tIns="0" rIns="0" bIns="0" rtlCol="0" anchor="ctr">
            <a:normAutofit/>
          </a:bodyPr>
          <a:lstStyle/>
          <a:p>
            <a:pPr indent="0" marL="0">
              <a:buNone/>
            </a:pPr>
            <a:r>
              <a:rPr lang="en-US" sz="1450" dirty="0">
                <a:solidFill>
                  <a:srgbClr val="D9E4F2"/>
                </a:solidFill>
                <a:latin typeface="Aptos Mono" pitchFamily="34" charset="0"/>
                <a:ea typeface="Aptos Mono" pitchFamily="34" charset="-122"/>
                <a:cs typeface="Aptos Mono" pitchFamily="34" charset="-120"/>
              </a:rPr>
              <a:t>│   ├── Button/       // identità React</a:t>
            </a:r>
            <a:endParaRPr lang="en-US" sz="1450" dirty="0"/>
          </a:p>
        </p:txBody>
      </p:sp>
      <p:sp>
        <p:nvSpPr>
          <p:cNvPr id="39" name="Text 37"/>
          <p:cNvSpPr/>
          <p:nvPr/>
        </p:nvSpPr>
        <p:spPr>
          <a:xfrm>
            <a:off x="640080" y="2779776"/>
            <a:ext cx="320040" cy="242316"/>
          </a:xfrm>
          <a:prstGeom prst="rect">
            <a:avLst/>
          </a:prstGeom>
          <a:noFill/>
          <a:ln/>
        </p:spPr>
        <p:txBody>
          <a:bodyPr wrap="square" lIns="0" tIns="0" rIns="0" bIns="0" rtlCol="0" anchor="ctr"/>
          <a:lstStyle/>
          <a:p>
            <a:pPr algn="r" indent="0" marL="0">
              <a:buNone/>
            </a:pPr>
            <a:r>
              <a:rPr lang="en-US" sz="1230" dirty="0">
                <a:solidFill>
                  <a:srgbClr val="8296AE"/>
                </a:solidFill>
                <a:latin typeface="Aptos Mono" pitchFamily="34" charset="0"/>
                <a:ea typeface="Aptos Mono" pitchFamily="34" charset="-122"/>
                <a:cs typeface="Aptos Mono" pitchFamily="34" charset="-120"/>
              </a:rPr>
              <a:t>04</a:t>
            </a:r>
            <a:endParaRPr lang="en-US" sz="1230" dirty="0"/>
          </a:p>
        </p:txBody>
      </p:sp>
      <p:sp>
        <p:nvSpPr>
          <p:cNvPr id="40" name="Text 38"/>
          <p:cNvSpPr/>
          <p:nvPr/>
        </p:nvSpPr>
        <p:spPr>
          <a:xfrm>
            <a:off x="1033272" y="2766060"/>
            <a:ext cx="6931152" cy="242316"/>
          </a:xfrm>
          <a:prstGeom prst="rect">
            <a:avLst/>
          </a:prstGeom>
          <a:noFill/>
          <a:ln/>
        </p:spPr>
        <p:txBody>
          <a:bodyPr wrap="square" lIns="0" tIns="0" rIns="0" bIns="0" rtlCol="0" anchor="ctr">
            <a:normAutofit/>
          </a:bodyPr>
          <a:lstStyle/>
          <a:p>
            <a:pPr indent="0" marL="0">
              <a:buNone/>
            </a:pPr>
            <a:r>
              <a:rPr lang="en-US" sz="1450" dirty="0">
                <a:solidFill>
                  <a:srgbClr val="D9E4F2"/>
                </a:solidFill>
                <a:latin typeface="Aptos Mono" pitchFamily="34" charset="0"/>
                <a:ea typeface="Aptos Mono" pitchFamily="34" charset="-122"/>
                <a:cs typeface="Aptos Mono" pitchFamily="34" charset="-120"/>
              </a:rPr>
              <a:t>│   └── ErrorBanner/</a:t>
            </a:r>
            <a:endParaRPr lang="en-US" sz="1450" dirty="0"/>
          </a:p>
        </p:txBody>
      </p:sp>
      <p:sp>
        <p:nvSpPr>
          <p:cNvPr id="41" name="Text 39"/>
          <p:cNvSpPr/>
          <p:nvPr/>
        </p:nvSpPr>
        <p:spPr>
          <a:xfrm>
            <a:off x="640080" y="3022092"/>
            <a:ext cx="320040" cy="242316"/>
          </a:xfrm>
          <a:prstGeom prst="rect">
            <a:avLst/>
          </a:prstGeom>
          <a:noFill/>
          <a:ln/>
        </p:spPr>
        <p:txBody>
          <a:bodyPr wrap="square" lIns="0" tIns="0" rIns="0" bIns="0" rtlCol="0" anchor="ctr"/>
          <a:lstStyle/>
          <a:p>
            <a:pPr algn="r" indent="0" marL="0">
              <a:buNone/>
            </a:pPr>
            <a:r>
              <a:rPr lang="en-US" sz="1230" dirty="0">
                <a:solidFill>
                  <a:srgbClr val="8296AE"/>
                </a:solidFill>
                <a:latin typeface="Aptos Mono" pitchFamily="34" charset="0"/>
                <a:ea typeface="Aptos Mono" pitchFamily="34" charset="-122"/>
                <a:cs typeface="Aptos Mono" pitchFamily="34" charset="-120"/>
              </a:rPr>
              <a:t>05</a:t>
            </a:r>
            <a:endParaRPr lang="en-US" sz="1230" dirty="0"/>
          </a:p>
        </p:txBody>
      </p:sp>
      <p:sp>
        <p:nvSpPr>
          <p:cNvPr id="42" name="Text 40"/>
          <p:cNvSpPr/>
          <p:nvPr/>
        </p:nvSpPr>
        <p:spPr>
          <a:xfrm>
            <a:off x="1033272" y="3008376"/>
            <a:ext cx="6931152" cy="242316"/>
          </a:xfrm>
          <a:prstGeom prst="rect">
            <a:avLst/>
          </a:prstGeom>
          <a:noFill/>
          <a:ln/>
        </p:spPr>
        <p:txBody>
          <a:bodyPr wrap="square" lIns="0" tIns="0" rIns="0" bIns="0" rtlCol="0" anchor="ctr">
            <a:normAutofit/>
          </a:bodyPr>
          <a:lstStyle/>
          <a:p>
            <a:pPr indent="0" marL="0">
              <a:buNone/>
            </a:pPr>
            <a:r>
              <a:rPr lang="en-US" sz="1450" dirty="0">
                <a:solidFill>
                  <a:srgbClr val="D9E4F2"/>
                </a:solidFill>
                <a:latin typeface="Aptos Mono" pitchFamily="34" charset="0"/>
                <a:ea typeface="Aptos Mono" pitchFamily="34" charset="-122"/>
                <a:cs typeface="Aptos Mono" pitchFamily="34" charset="-120"/>
              </a:rPr>
              <a:t>├── hooks/            // hook condivisi</a:t>
            </a:r>
            <a:endParaRPr lang="en-US" sz="1450" dirty="0"/>
          </a:p>
        </p:txBody>
      </p:sp>
      <p:sp>
        <p:nvSpPr>
          <p:cNvPr id="43" name="Text 41"/>
          <p:cNvSpPr/>
          <p:nvPr/>
        </p:nvSpPr>
        <p:spPr>
          <a:xfrm>
            <a:off x="640080" y="3264408"/>
            <a:ext cx="320040" cy="242316"/>
          </a:xfrm>
          <a:prstGeom prst="rect">
            <a:avLst/>
          </a:prstGeom>
          <a:noFill/>
          <a:ln/>
        </p:spPr>
        <p:txBody>
          <a:bodyPr wrap="square" lIns="0" tIns="0" rIns="0" bIns="0" rtlCol="0" anchor="ctr"/>
          <a:lstStyle/>
          <a:p>
            <a:pPr algn="r" indent="0" marL="0">
              <a:buNone/>
            </a:pPr>
            <a:r>
              <a:rPr lang="en-US" sz="1230" dirty="0">
                <a:solidFill>
                  <a:srgbClr val="8296AE"/>
                </a:solidFill>
                <a:latin typeface="Aptos Mono" pitchFamily="34" charset="0"/>
                <a:ea typeface="Aptos Mono" pitchFamily="34" charset="-122"/>
                <a:cs typeface="Aptos Mono" pitchFamily="34" charset="-120"/>
              </a:rPr>
              <a:t>06</a:t>
            </a:r>
            <a:endParaRPr lang="en-US" sz="1230" dirty="0"/>
          </a:p>
        </p:txBody>
      </p:sp>
      <p:sp>
        <p:nvSpPr>
          <p:cNvPr id="44" name="Text 42"/>
          <p:cNvSpPr/>
          <p:nvPr/>
        </p:nvSpPr>
        <p:spPr>
          <a:xfrm>
            <a:off x="1033272" y="3250692"/>
            <a:ext cx="6931152" cy="242316"/>
          </a:xfrm>
          <a:prstGeom prst="rect">
            <a:avLst/>
          </a:prstGeom>
          <a:noFill/>
          <a:ln/>
        </p:spPr>
        <p:txBody>
          <a:bodyPr wrap="square" lIns="0" tIns="0" rIns="0" bIns="0" rtlCol="0" anchor="ctr">
            <a:normAutofit/>
          </a:bodyPr>
          <a:lstStyle/>
          <a:p>
            <a:pPr indent="0" marL="0">
              <a:buNone/>
            </a:pPr>
            <a:r>
              <a:rPr lang="en-US" sz="1450" dirty="0">
                <a:solidFill>
                  <a:srgbClr val="D9E4F2"/>
                </a:solidFill>
                <a:latin typeface="Aptos Mono" pitchFamily="34" charset="0"/>
                <a:ea typeface="Aptos Mono" pitchFamily="34" charset="-122"/>
                <a:cs typeface="Aptos Mono" pitchFamily="34" charset="-120"/>
              </a:rPr>
              <a:t>├── services/         // accesso a sistemi esterni</a:t>
            </a:r>
            <a:endParaRPr lang="en-US" sz="1450" dirty="0"/>
          </a:p>
        </p:txBody>
      </p:sp>
      <p:sp>
        <p:nvSpPr>
          <p:cNvPr id="45" name="Text 43"/>
          <p:cNvSpPr/>
          <p:nvPr/>
        </p:nvSpPr>
        <p:spPr>
          <a:xfrm>
            <a:off x="640080" y="3506724"/>
            <a:ext cx="320040" cy="242316"/>
          </a:xfrm>
          <a:prstGeom prst="rect">
            <a:avLst/>
          </a:prstGeom>
          <a:noFill/>
          <a:ln/>
        </p:spPr>
        <p:txBody>
          <a:bodyPr wrap="square" lIns="0" tIns="0" rIns="0" bIns="0" rtlCol="0" anchor="ctr"/>
          <a:lstStyle/>
          <a:p>
            <a:pPr algn="r" indent="0" marL="0">
              <a:buNone/>
            </a:pPr>
            <a:r>
              <a:rPr lang="en-US" sz="1230" dirty="0">
                <a:solidFill>
                  <a:srgbClr val="8296AE"/>
                </a:solidFill>
                <a:latin typeface="Aptos Mono" pitchFamily="34" charset="0"/>
                <a:ea typeface="Aptos Mono" pitchFamily="34" charset="-122"/>
                <a:cs typeface="Aptos Mono" pitchFamily="34" charset="-120"/>
              </a:rPr>
              <a:t>07</a:t>
            </a:r>
            <a:endParaRPr lang="en-US" sz="1230" dirty="0"/>
          </a:p>
        </p:txBody>
      </p:sp>
      <p:sp>
        <p:nvSpPr>
          <p:cNvPr id="46" name="Text 44"/>
          <p:cNvSpPr/>
          <p:nvPr/>
        </p:nvSpPr>
        <p:spPr>
          <a:xfrm>
            <a:off x="1033272" y="3493008"/>
            <a:ext cx="6931152" cy="242316"/>
          </a:xfrm>
          <a:prstGeom prst="rect">
            <a:avLst/>
          </a:prstGeom>
          <a:noFill/>
          <a:ln/>
        </p:spPr>
        <p:txBody>
          <a:bodyPr wrap="square" lIns="0" tIns="0" rIns="0" bIns="0" rtlCol="0" anchor="ctr">
            <a:normAutofit/>
          </a:bodyPr>
          <a:lstStyle/>
          <a:p>
            <a:pPr indent="0" marL="0">
              <a:buNone/>
            </a:pPr>
            <a:r>
              <a:rPr lang="en-US" sz="1450" dirty="0">
                <a:solidFill>
                  <a:srgbClr val="D9E4F2"/>
                </a:solidFill>
                <a:latin typeface="Aptos Mono" pitchFamily="34" charset="0"/>
                <a:ea typeface="Aptos Mono" pitchFamily="34" charset="-122"/>
                <a:cs typeface="Aptos Mono" pitchFamily="34" charset="-120"/>
              </a:rPr>
              <a:t>└── features/</a:t>
            </a:r>
            <a:endParaRPr lang="en-US" sz="1450" dirty="0"/>
          </a:p>
        </p:txBody>
      </p:sp>
      <p:sp>
        <p:nvSpPr>
          <p:cNvPr id="47" name="Text 45"/>
          <p:cNvSpPr/>
          <p:nvPr/>
        </p:nvSpPr>
        <p:spPr>
          <a:xfrm>
            <a:off x="640080" y="3749040"/>
            <a:ext cx="320040" cy="242316"/>
          </a:xfrm>
          <a:prstGeom prst="rect">
            <a:avLst/>
          </a:prstGeom>
          <a:noFill/>
          <a:ln/>
        </p:spPr>
        <p:txBody>
          <a:bodyPr wrap="square" lIns="0" tIns="0" rIns="0" bIns="0" rtlCol="0" anchor="ctr"/>
          <a:lstStyle/>
          <a:p>
            <a:pPr algn="r" indent="0" marL="0">
              <a:buNone/>
            </a:pPr>
            <a:r>
              <a:rPr lang="en-US" sz="1230" dirty="0">
                <a:solidFill>
                  <a:srgbClr val="8296AE"/>
                </a:solidFill>
                <a:latin typeface="Aptos Mono" pitchFamily="34" charset="0"/>
                <a:ea typeface="Aptos Mono" pitchFamily="34" charset="-122"/>
                <a:cs typeface="Aptos Mono" pitchFamily="34" charset="-120"/>
              </a:rPr>
              <a:t>08</a:t>
            </a:r>
            <a:endParaRPr lang="en-US" sz="1230" dirty="0"/>
          </a:p>
        </p:txBody>
      </p:sp>
      <p:sp>
        <p:nvSpPr>
          <p:cNvPr id="48" name="Text 46"/>
          <p:cNvSpPr/>
          <p:nvPr/>
        </p:nvSpPr>
        <p:spPr>
          <a:xfrm>
            <a:off x="1033272" y="3735324"/>
            <a:ext cx="6931152" cy="242316"/>
          </a:xfrm>
          <a:prstGeom prst="rect">
            <a:avLst/>
          </a:prstGeom>
          <a:noFill/>
          <a:ln/>
        </p:spPr>
        <p:txBody>
          <a:bodyPr wrap="square" lIns="0" tIns="0" rIns="0" bIns="0" rtlCol="0" anchor="ctr">
            <a:normAutofit/>
          </a:bodyPr>
          <a:lstStyle/>
          <a:p>
            <a:pPr indent="0" marL="0">
              <a:buNone/>
            </a:pPr>
            <a:r>
              <a:rPr lang="en-US" sz="1450" dirty="0">
                <a:solidFill>
                  <a:srgbClr val="D9E4F2"/>
                </a:solidFill>
                <a:latin typeface="Aptos Mono" pitchFamily="34" charset="0"/>
                <a:ea typeface="Aptos Mono" pitchFamily="34" charset="-122"/>
                <a:cs typeface="Aptos Mono" pitchFamily="34" charset="-120"/>
              </a:rPr>
              <a:t>    └── Dashboard/    // feature riconoscibile</a:t>
            </a:r>
            <a:endParaRPr lang="en-US" sz="1450" dirty="0"/>
          </a:p>
        </p:txBody>
      </p:sp>
      <p:sp>
        <p:nvSpPr>
          <p:cNvPr id="49" name="Shape 47"/>
          <p:cNvSpPr/>
          <p:nvPr/>
        </p:nvSpPr>
        <p:spPr>
          <a:xfrm>
            <a:off x="8366760" y="1591056"/>
            <a:ext cx="3310128" cy="4553712"/>
          </a:xfrm>
          <a:prstGeom prst="roundRect">
            <a:avLst>
              <a:gd name="adj" fmla="val 1381"/>
            </a:avLst>
          </a:prstGeom>
          <a:solidFill>
            <a:srgbClr val="122238"/>
          </a:solidFill>
          <a:ln w="12700">
            <a:solidFill>
              <a:srgbClr val="263A55"/>
            </a:solidFill>
            <a:prstDash val="solid"/>
          </a:ln>
        </p:spPr>
      </p:sp>
      <p:sp>
        <p:nvSpPr>
          <p:cNvPr id="50" name="Text 48"/>
          <p:cNvSpPr/>
          <p:nvPr/>
        </p:nvSpPr>
        <p:spPr>
          <a:xfrm>
            <a:off x="8586216" y="1801368"/>
            <a:ext cx="2871216" cy="182880"/>
          </a:xfrm>
          <a:prstGeom prst="rect">
            <a:avLst/>
          </a:prstGeom>
          <a:noFill/>
          <a:ln/>
        </p:spPr>
        <p:txBody>
          <a:bodyPr wrap="square" lIns="0" tIns="0" rIns="0" bIns="0" rtlCol="0" anchor="ctr"/>
          <a:lstStyle/>
          <a:p>
            <a:pPr indent="0" marL="0">
              <a:buNone/>
            </a:pPr>
            <a:r>
              <a:rPr lang="en-US" sz="950" b="1" spc="115" kern="0" dirty="0">
                <a:solidFill>
                  <a:srgbClr val="F5C96A"/>
                </a:solidFill>
                <a:latin typeface="Aptos" pitchFamily="34" charset="0"/>
                <a:ea typeface="Aptos" pitchFamily="34" charset="-122"/>
                <a:cs typeface="Aptos" pitchFamily="34" charset="-120"/>
              </a:rPr>
              <a:t>DA OSSERVARE</a:t>
            </a:r>
            <a:endParaRPr lang="en-US" sz="950" dirty="0"/>
          </a:p>
        </p:txBody>
      </p:sp>
      <p:sp>
        <p:nvSpPr>
          <p:cNvPr id="51" name="Shape 49"/>
          <p:cNvSpPr/>
          <p:nvPr/>
        </p:nvSpPr>
        <p:spPr>
          <a:xfrm>
            <a:off x="8586216" y="2267712"/>
            <a:ext cx="91440" cy="91440"/>
          </a:xfrm>
          <a:prstGeom prst="ellipse">
            <a:avLst/>
          </a:prstGeom>
          <a:solidFill>
            <a:srgbClr val="7CD4FF"/>
          </a:solidFill>
          <a:ln w="12700">
            <a:solidFill>
              <a:srgbClr val="7CD4FF"/>
            </a:solidFill>
            <a:prstDash val="solid"/>
          </a:ln>
        </p:spPr>
      </p:sp>
      <p:sp>
        <p:nvSpPr>
          <p:cNvPr id="52" name="Text 50"/>
          <p:cNvSpPr/>
          <p:nvPr/>
        </p:nvSpPr>
        <p:spPr>
          <a:xfrm>
            <a:off x="8778240" y="2212848"/>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Il nome anticipa la funzione.</a:t>
            </a:r>
            <a:endParaRPr lang="en-US" sz="1420" dirty="0"/>
          </a:p>
        </p:txBody>
      </p:sp>
      <p:sp>
        <p:nvSpPr>
          <p:cNvPr id="53" name="Shape 51"/>
          <p:cNvSpPr/>
          <p:nvPr/>
        </p:nvSpPr>
        <p:spPr>
          <a:xfrm>
            <a:off x="8586216" y="2980944"/>
            <a:ext cx="91440" cy="91440"/>
          </a:xfrm>
          <a:prstGeom prst="ellipse">
            <a:avLst/>
          </a:prstGeom>
          <a:solidFill>
            <a:srgbClr val="7CD4FF"/>
          </a:solidFill>
          <a:ln w="12700">
            <a:solidFill>
              <a:srgbClr val="7CD4FF"/>
            </a:solidFill>
            <a:prstDash val="solid"/>
          </a:ln>
        </p:spPr>
      </p:sp>
      <p:sp>
        <p:nvSpPr>
          <p:cNvPr id="54" name="Text 52"/>
          <p:cNvSpPr/>
          <p:nvPr/>
        </p:nvSpPr>
        <p:spPr>
          <a:xfrm>
            <a:off x="8778240" y="2926080"/>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Le cartelle tecniche restano minuscole.</a:t>
            </a:r>
            <a:endParaRPr lang="en-US" sz="1420" dirty="0"/>
          </a:p>
        </p:txBody>
      </p:sp>
      <p:sp>
        <p:nvSpPr>
          <p:cNvPr id="55" name="Shape 53"/>
          <p:cNvSpPr/>
          <p:nvPr/>
        </p:nvSpPr>
        <p:spPr>
          <a:xfrm>
            <a:off x="8586216" y="3694176"/>
            <a:ext cx="91440" cy="91440"/>
          </a:xfrm>
          <a:prstGeom prst="ellipse">
            <a:avLst/>
          </a:prstGeom>
          <a:solidFill>
            <a:srgbClr val="7CD4FF"/>
          </a:solidFill>
          <a:ln w="12700">
            <a:solidFill>
              <a:srgbClr val="7CD4FF"/>
            </a:solidFill>
            <a:prstDash val="solid"/>
          </a:ln>
        </p:spPr>
      </p:sp>
      <p:sp>
        <p:nvSpPr>
          <p:cNvPr id="56" name="Text 54"/>
          <p:cNvSpPr/>
          <p:nvPr/>
        </p:nvSpPr>
        <p:spPr>
          <a:xfrm>
            <a:off x="8778240" y="3639312"/>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Le identità React usano PascalCase.</a:t>
            </a:r>
            <a:endParaRPr lang="en-US" sz="14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07</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NAMING DEI FILE</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Il nome del file comunica il ruolo</a:t>
            </a:r>
            <a:endParaRPr lang="en-US" sz="2700" dirty="0"/>
          </a:p>
        </p:txBody>
      </p:sp>
      <p:sp>
        <p:nvSpPr>
          <p:cNvPr id="29" name="Shape 27"/>
          <p:cNvSpPr/>
          <p:nvPr/>
        </p:nvSpPr>
        <p:spPr>
          <a:xfrm>
            <a:off x="530352" y="1591056"/>
            <a:ext cx="7589520" cy="4553712"/>
          </a:xfrm>
          <a:prstGeom prst="roundRect">
            <a:avLst>
              <a:gd name="adj" fmla="val 1004"/>
            </a:avLst>
          </a:prstGeom>
          <a:solidFill>
            <a:srgbClr val="0D1A2B"/>
          </a:solidFill>
          <a:ln w="13970">
            <a:solidFill>
              <a:srgbClr val="263A55"/>
            </a:solidFill>
            <a:prstDash val="solid"/>
          </a:ln>
        </p:spPr>
      </p:sp>
      <p:sp>
        <p:nvSpPr>
          <p:cNvPr id="30" name="Shape 28"/>
          <p:cNvSpPr/>
          <p:nvPr/>
        </p:nvSpPr>
        <p:spPr>
          <a:xfrm>
            <a:off x="530352" y="1591056"/>
            <a:ext cx="7589520" cy="347472"/>
          </a:xfrm>
          <a:prstGeom prst="rect">
            <a:avLst/>
          </a:prstGeom>
          <a:solidFill>
            <a:srgbClr val="122238"/>
          </a:solidFill>
          <a:ln w="12700">
            <a:solidFill>
              <a:srgbClr val="122238"/>
            </a:solidFill>
            <a:prstDash val="solid"/>
          </a:ln>
        </p:spPr>
      </p:sp>
      <p:sp>
        <p:nvSpPr>
          <p:cNvPr id="31" name="Shape 29"/>
          <p:cNvSpPr/>
          <p:nvPr/>
        </p:nvSpPr>
        <p:spPr>
          <a:xfrm>
            <a:off x="694944" y="1632204"/>
            <a:ext cx="658368" cy="274320"/>
          </a:xfrm>
          <a:prstGeom prst="roundRect">
            <a:avLst>
              <a:gd name="adj" fmla="val 20000"/>
            </a:avLst>
          </a:prstGeom>
          <a:solidFill>
            <a:srgbClr val="7CD4FF">
              <a:alpha val="20000"/>
            </a:srgbClr>
          </a:solidFill>
          <a:ln w="10160">
            <a:solidFill>
              <a:srgbClr val="7CD4FF">
                <a:alpha val="55000"/>
              </a:srgbClr>
            </a:solidFill>
            <a:prstDash val="solid"/>
          </a:ln>
        </p:spPr>
      </p:sp>
      <p:sp>
        <p:nvSpPr>
          <p:cNvPr id="32" name="Text 30"/>
          <p:cNvSpPr/>
          <p:nvPr/>
        </p:nvSpPr>
        <p:spPr>
          <a:xfrm>
            <a:off x="786384" y="1691640"/>
            <a:ext cx="475488" cy="128016"/>
          </a:xfrm>
          <a:prstGeom prst="rect">
            <a:avLst/>
          </a:prstGeom>
          <a:noFill/>
          <a:ln/>
        </p:spPr>
        <p:txBody>
          <a:bodyPr wrap="square" lIns="0" tIns="0" rIns="0" bIns="0" rtlCol="0" anchor="ctr"/>
          <a:lstStyle/>
          <a:p>
            <a:pPr algn="ctr" indent="0" marL="0">
              <a:buNone/>
            </a:pPr>
            <a:r>
              <a:rPr lang="en-US" sz="820" b="1" dirty="0">
                <a:solidFill>
                  <a:srgbClr val="7CD4FF"/>
                </a:solidFill>
                <a:latin typeface="Aptos Mono" pitchFamily="34" charset="0"/>
                <a:ea typeface="Aptos Mono" pitchFamily="34" charset="-122"/>
                <a:cs typeface="Aptos Mono" pitchFamily="34" charset="-120"/>
              </a:rPr>
              <a:t>TS</a:t>
            </a:r>
            <a:endParaRPr lang="en-US" sz="820" dirty="0"/>
          </a:p>
        </p:txBody>
      </p:sp>
      <p:sp>
        <p:nvSpPr>
          <p:cNvPr id="33" name="Text 31"/>
          <p:cNvSpPr/>
          <p:nvPr/>
        </p:nvSpPr>
        <p:spPr>
          <a:xfrm>
            <a:off x="1490472" y="1687068"/>
            <a:ext cx="635508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convenzioni.ts</a:t>
            </a:r>
            <a:endParaRPr lang="en-US" sz="880" dirty="0"/>
          </a:p>
        </p:txBody>
      </p:sp>
      <p:sp>
        <p:nvSpPr>
          <p:cNvPr id="34" name="Text 32"/>
          <p:cNvSpPr/>
          <p:nvPr/>
        </p:nvSpPr>
        <p:spPr>
          <a:xfrm>
            <a:off x="640080" y="205282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01</a:t>
            </a:r>
            <a:endParaRPr lang="en-US" sz="1200" dirty="0"/>
          </a:p>
        </p:txBody>
      </p:sp>
      <p:sp>
        <p:nvSpPr>
          <p:cNvPr id="35" name="Text 33"/>
          <p:cNvSpPr/>
          <p:nvPr/>
        </p:nvSpPr>
        <p:spPr>
          <a:xfrm>
            <a:off x="1033272" y="2039112"/>
            <a:ext cx="6931152" cy="242316"/>
          </a:xfrm>
          <a:prstGeom prst="rect">
            <a:avLst/>
          </a:prstGeom>
          <a:noFill/>
          <a:ln/>
        </p:spPr>
        <p:txBody>
          <a:bodyPr wrap="square" lIns="0" tIns="0" rIns="0" bIns="0" rtlCol="0" anchor="ctr">
            <a:normAutofit/>
          </a:bodyPr>
          <a:lstStyle/>
          <a:p>
            <a:pPr indent="0" marL="0">
              <a:buNone/>
            </a:pPr>
            <a:r>
              <a:rPr lang="en-US" sz="1420" dirty="0">
                <a:solidFill>
                  <a:srgbClr val="78C9A6"/>
                </a:solidFill>
                <a:latin typeface="Aptos Mono" pitchFamily="34" charset="0"/>
                <a:ea typeface="Aptos Mono" pitchFamily="34" charset="-122"/>
                <a:cs typeface="Aptos Mono" pitchFamily="34" charset="-120"/>
              </a:rPr>
              <a:t>// Componenti e tipi React</a:t>
            </a:r>
            <a:endParaRPr lang="en-US" sz="1420" dirty="0"/>
          </a:p>
        </p:txBody>
      </p:sp>
      <p:sp>
        <p:nvSpPr>
          <p:cNvPr id="36" name="Text 34"/>
          <p:cNvSpPr/>
          <p:nvPr/>
        </p:nvSpPr>
        <p:spPr>
          <a:xfrm>
            <a:off x="640080" y="229514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02</a:t>
            </a:r>
            <a:endParaRPr lang="en-US" sz="1200" dirty="0"/>
          </a:p>
        </p:txBody>
      </p:sp>
      <p:sp>
        <p:nvSpPr>
          <p:cNvPr id="37" name="Text 35"/>
          <p:cNvSpPr/>
          <p:nvPr/>
        </p:nvSpPr>
        <p:spPr>
          <a:xfrm>
            <a:off x="1033272" y="228142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TicketList.tsx</a:t>
            </a:r>
            <a:endParaRPr lang="en-US" sz="1420" dirty="0"/>
          </a:p>
        </p:txBody>
      </p:sp>
      <p:sp>
        <p:nvSpPr>
          <p:cNvPr id="38" name="Text 36"/>
          <p:cNvSpPr/>
          <p:nvPr/>
        </p:nvSpPr>
        <p:spPr>
          <a:xfrm>
            <a:off x="640080" y="253746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03</a:t>
            </a:r>
            <a:endParaRPr lang="en-US" sz="1200" dirty="0"/>
          </a:p>
        </p:txBody>
      </p:sp>
      <p:sp>
        <p:nvSpPr>
          <p:cNvPr id="39" name="Text 37"/>
          <p:cNvSpPr/>
          <p:nvPr/>
        </p:nvSpPr>
        <p:spPr>
          <a:xfrm>
            <a:off x="1033272" y="2523744"/>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TicketList.types.ts</a:t>
            </a:r>
            <a:endParaRPr lang="en-US" sz="1420" dirty="0"/>
          </a:p>
        </p:txBody>
      </p:sp>
      <p:sp>
        <p:nvSpPr>
          <p:cNvPr id="40" name="Text 38"/>
          <p:cNvSpPr/>
          <p:nvPr/>
        </p:nvSpPr>
        <p:spPr>
          <a:xfrm>
            <a:off x="640080" y="277977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04</a:t>
            </a:r>
            <a:endParaRPr lang="en-US" sz="1200" dirty="0"/>
          </a:p>
        </p:txBody>
      </p:sp>
      <p:sp>
        <p:nvSpPr>
          <p:cNvPr id="41" name="Text 39"/>
          <p:cNvSpPr/>
          <p:nvPr/>
        </p:nvSpPr>
        <p:spPr>
          <a:xfrm>
            <a:off x="1033272" y="2766060"/>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42" name="Text 40"/>
          <p:cNvSpPr/>
          <p:nvPr/>
        </p:nvSpPr>
        <p:spPr>
          <a:xfrm>
            <a:off x="640080" y="3022092"/>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05</a:t>
            </a:r>
            <a:endParaRPr lang="en-US" sz="1200" dirty="0"/>
          </a:p>
        </p:txBody>
      </p:sp>
      <p:sp>
        <p:nvSpPr>
          <p:cNvPr id="43" name="Text 41"/>
          <p:cNvSpPr/>
          <p:nvPr/>
        </p:nvSpPr>
        <p:spPr>
          <a:xfrm>
            <a:off x="1033272" y="3008376"/>
            <a:ext cx="6931152" cy="242316"/>
          </a:xfrm>
          <a:prstGeom prst="rect">
            <a:avLst/>
          </a:prstGeom>
          <a:noFill/>
          <a:ln/>
        </p:spPr>
        <p:txBody>
          <a:bodyPr wrap="square" lIns="0" tIns="0" rIns="0" bIns="0" rtlCol="0" anchor="ctr">
            <a:normAutofit/>
          </a:bodyPr>
          <a:lstStyle/>
          <a:p>
            <a:pPr indent="0" marL="0">
              <a:buNone/>
            </a:pPr>
            <a:r>
              <a:rPr lang="en-US" sz="1420" dirty="0">
                <a:solidFill>
                  <a:srgbClr val="78C9A6"/>
                </a:solidFill>
                <a:latin typeface="Aptos Mono" pitchFamily="34" charset="0"/>
                <a:ea typeface="Aptos Mono" pitchFamily="34" charset="-122"/>
                <a:cs typeface="Aptos Mono" pitchFamily="34" charset="-120"/>
              </a:rPr>
              <a:t>// Hook: prefisso use obbligatorio</a:t>
            </a:r>
            <a:endParaRPr lang="en-US" sz="1420" dirty="0"/>
          </a:p>
        </p:txBody>
      </p:sp>
      <p:sp>
        <p:nvSpPr>
          <p:cNvPr id="44" name="Text 42"/>
          <p:cNvSpPr/>
          <p:nvPr/>
        </p:nvSpPr>
        <p:spPr>
          <a:xfrm>
            <a:off x="640080" y="326440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06</a:t>
            </a:r>
            <a:endParaRPr lang="en-US" sz="1200" dirty="0"/>
          </a:p>
        </p:txBody>
      </p:sp>
      <p:sp>
        <p:nvSpPr>
          <p:cNvPr id="45" name="Text 43"/>
          <p:cNvSpPr/>
          <p:nvPr/>
        </p:nvSpPr>
        <p:spPr>
          <a:xfrm>
            <a:off x="1033272" y="325069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useTickets.ts</a:t>
            </a:r>
            <a:endParaRPr lang="en-US" sz="1420" dirty="0"/>
          </a:p>
        </p:txBody>
      </p:sp>
      <p:sp>
        <p:nvSpPr>
          <p:cNvPr id="46" name="Text 44"/>
          <p:cNvSpPr/>
          <p:nvPr/>
        </p:nvSpPr>
        <p:spPr>
          <a:xfrm>
            <a:off x="640080" y="350672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07</a:t>
            </a:r>
            <a:endParaRPr lang="en-US" sz="1200" dirty="0"/>
          </a:p>
        </p:txBody>
      </p:sp>
      <p:sp>
        <p:nvSpPr>
          <p:cNvPr id="47" name="Text 45"/>
          <p:cNvSpPr/>
          <p:nvPr/>
        </p:nvSpPr>
        <p:spPr>
          <a:xfrm>
            <a:off x="1033272" y="349300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48" name="Text 46"/>
          <p:cNvSpPr/>
          <p:nvPr/>
        </p:nvSpPr>
        <p:spPr>
          <a:xfrm>
            <a:off x="640080" y="374904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08</a:t>
            </a:r>
            <a:endParaRPr lang="en-US" sz="1200" dirty="0"/>
          </a:p>
        </p:txBody>
      </p:sp>
      <p:sp>
        <p:nvSpPr>
          <p:cNvPr id="49" name="Text 47"/>
          <p:cNvSpPr/>
          <p:nvPr/>
        </p:nvSpPr>
        <p:spPr>
          <a:xfrm>
            <a:off x="1033272" y="3735324"/>
            <a:ext cx="6931152" cy="242316"/>
          </a:xfrm>
          <a:prstGeom prst="rect">
            <a:avLst/>
          </a:prstGeom>
          <a:noFill/>
          <a:ln/>
        </p:spPr>
        <p:txBody>
          <a:bodyPr wrap="square" lIns="0" tIns="0" rIns="0" bIns="0" rtlCol="0" anchor="ctr">
            <a:normAutofit/>
          </a:bodyPr>
          <a:lstStyle/>
          <a:p>
            <a:pPr indent="0" marL="0">
              <a:buNone/>
            </a:pPr>
            <a:r>
              <a:rPr lang="en-US" sz="1420" dirty="0">
                <a:solidFill>
                  <a:srgbClr val="78C9A6"/>
                </a:solidFill>
                <a:latin typeface="Aptos Mono" pitchFamily="34" charset="0"/>
                <a:ea typeface="Aptos Mono" pitchFamily="34" charset="-122"/>
                <a:cs typeface="Aptos Mono" pitchFamily="34" charset="-120"/>
              </a:rPr>
              <a:t>// Funzione pura</a:t>
            </a:r>
            <a:endParaRPr lang="en-US" sz="1420" dirty="0"/>
          </a:p>
        </p:txBody>
      </p:sp>
      <p:sp>
        <p:nvSpPr>
          <p:cNvPr id="50" name="Text 48"/>
          <p:cNvSpPr/>
          <p:nvPr/>
        </p:nvSpPr>
        <p:spPr>
          <a:xfrm>
            <a:off x="640080" y="399135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09</a:t>
            </a:r>
            <a:endParaRPr lang="en-US" sz="1200" dirty="0"/>
          </a:p>
        </p:txBody>
      </p:sp>
      <p:sp>
        <p:nvSpPr>
          <p:cNvPr id="51" name="Text 49"/>
          <p:cNvSpPr/>
          <p:nvPr/>
        </p:nvSpPr>
        <p:spPr>
          <a:xfrm>
            <a:off x="1033272" y="3977640"/>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formatTicketStatus.ts</a:t>
            </a:r>
            <a:endParaRPr lang="en-US" sz="1420" dirty="0"/>
          </a:p>
        </p:txBody>
      </p:sp>
      <p:sp>
        <p:nvSpPr>
          <p:cNvPr id="52" name="Text 50"/>
          <p:cNvSpPr/>
          <p:nvPr/>
        </p:nvSpPr>
        <p:spPr>
          <a:xfrm>
            <a:off x="640080" y="4233672"/>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10</a:t>
            </a:r>
            <a:endParaRPr lang="en-US" sz="1200" dirty="0"/>
          </a:p>
        </p:txBody>
      </p:sp>
      <p:sp>
        <p:nvSpPr>
          <p:cNvPr id="53" name="Text 51"/>
          <p:cNvSpPr/>
          <p:nvPr/>
        </p:nvSpPr>
        <p:spPr>
          <a:xfrm>
            <a:off x="1033272" y="4219956"/>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54" name="Text 52"/>
          <p:cNvSpPr/>
          <p:nvPr/>
        </p:nvSpPr>
        <p:spPr>
          <a:xfrm>
            <a:off x="640080" y="447598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11</a:t>
            </a:r>
            <a:endParaRPr lang="en-US" sz="1200" dirty="0"/>
          </a:p>
        </p:txBody>
      </p:sp>
      <p:sp>
        <p:nvSpPr>
          <p:cNvPr id="55" name="Text 53"/>
          <p:cNvSpPr/>
          <p:nvPr/>
        </p:nvSpPr>
        <p:spPr>
          <a:xfrm>
            <a:off x="1033272" y="4462272"/>
            <a:ext cx="6931152" cy="242316"/>
          </a:xfrm>
          <a:prstGeom prst="rect">
            <a:avLst/>
          </a:prstGeom>
          <a:noFill/>
          <a:ln/>
        </p:spPr>
        <p:txBody>
          <a:bodyPr wrap="square" lIns="0" tIns="0" rIns="0" bIns="0" rtlCol="0" anchor="ctr">
            <a:normAutofit/>
          </a:bodyPr>
          <a:lstStyle/>
          <a:p>
            <a:pPr indent="0" marL="0">
              <a:buNone/>
            </a:pPr>
            <a:r>
              <a:rPr lang="en-US" sz="1420" dirty="0">
                <a:solidFill>
                  <a:srgbClr val="78C9A6"/>
                </a:solidFill>
                <a:latin typeface="Aptos Mono" pitchFamily="34" charset="0"/>
                <a:ea typeface="Aptos Mono" pitchFamily="34" charset="-122"/>
                <a:cs typeface="Aptos Mono" pitchFamily="34" charset="-120"/>
              </a:rPr>
              <a:t>// Sass partial</a:t>
            </a:r>
            <a:endParaRPr lang="en-US" sz="1420" dirty="0"/>
          </a:p>
        </p:txBody>
      </p:sp>
      <p:sp>
        <p:nvSpPr>
          <p:cNvPr id="56" name="Text 54"/>
          <p:cNvSpPr/>
          <p:nvPr/>
        </p:nvSpPr>
        <p:spPr>
          <a:xfrm>
            <a:off x="640080" y="471830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12</a:t>
            </a:r>
            <a:endParaRPr lang="en-US" sz="1200" dirty="0"/>
          </a:p>
        </p:txBody>
      </p:sp>
      <p:sp>
        <p:nvSpPr>
          <p:cNvPr id="57" name="Text 55"/>
          <p:cNvSpPr/>
          <p:nvPr/>
        </p:nvSpPr>
        <p:spPr>
          <a:xfrm>
            <a:off x="1033272" y="470458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_variables.scss</a:t>
            </a:r>
            <a:endParaRPr lang="en-US" sz="1420" dirty="0"/>
          </a:p>
        </p:txBody>
      </p:sp>
      <p:sp>
        <p:nvSpPr>
          <p:cNvPr id="58" name="Shape 56"/>
          <p:cNvSpPr/>
          <p:nvPr/>
        </p:nvSpPr>
        <p:spPr>
          <a:xfrm>
            <a:off x="8366760" y="1591056"/>
            <a:ext cx="3310128" cy="4553712"/>
          </a:xfrm>
          <a:prstGeom prst="roundRect">
            <a:avLst>
              <a:gd name="adj" fmla="val 1381"/>
            </a:avLst>
          </a:prstGeom>
          <a:solidFill>
            <a:srgbClr val="122238"/>
          </a:solidFill>
          <a:ln w="12700">
            <a:solidFill>
              <a:srgbClr val="263A55"/>
            </a:solidFill>
            <a:prstDash val="solid"/>
          </a:ln>
        </p:spPr>
      </p:sp>
      <p:sp>
        <p:nvSpPr>
          <p:cNvPr id="59" name="Text 57"/>
          <p:cNvSpPr/>
          <p:nvPr/>
        </p:nvSpPr>
        <p:spPr>
          <a:xfrm>
            <a:off x="8586216" y="1801368"/>
            <a:ext cx="2871216" cy="182880"/>
          </a:xfrm>
          <a:prstGeom prst="rect">
            <a:avLst/>
          </a:prstGeom>
          <a:noFill/>
          <a:ln/>
        </p:spPr>
        <p:txBody>
          <a:bodyPr wrap="square" lIns="0" tIns="0" rIns="0" bIns="0" rtlCol="0" anchor="ctr"/>
          <a:lstStyle/>
          <a:p>
            <a:pPr indent="0" marL="0">
              <a:buNone/>
            </a:pPr>
            <a:r>
              <a:rPr lang="en-US" sz="950" b="1" spc="115" kern="0" dirty="0">
                <a:solidFill>
                  <a:srgbClr val="F5C96A"/>
                </a:solidFill>
                <a:latin typeface="Aptos" pitchFamily="34" charset="0"/>
                <a:ea typeface="Aptos" pitchFamily="34" charset="-122"/>
                <a:cs typeface="Aptos" pitchFamily="34" charset="-120"/>
              </a:rPr>
              <a:t>DA OSSERVARE</a:t>
            </a:r>
            <a:endParaRPr lang="en-US" sz="950" dirty="0"/>
          </a:p>
        </p:txBody>
      </p:sp>
      <p:sp>
        <p:nvSpPr>
          <p:cNvPr id="60" name="Shape 58"/>
          <p:cNvSpPr/>
          <p:nvPr/>
        </p:nvSpPr>
        <p:spPr>
          <a:xfrm>
            <a:off x="8586216" y="2267712"/>
            <a:ext cx="91440" cy="91440"/>
          </a:xfrm>
          <a:prstGeom prst="ellipse">
            <a:avLst/>
          </a:prstGeom>
          <a:solidFill>
            <a:srgbClr val="7CD4FF"/>
          </a:solidFill>
          <a:ln w="12700">
            <a:solidFill>
              <a:srgbClr val="7CD4FF"/>
            </a:solidFill>
            <a:prstDash val="solid"/>
          </a:ln>
        </p:spPr>
      </p:sp>
      <p:sp>
        <p:nvSpPr>
          <p:cNvPr id="61" name="Text 59"/>
          <p:cNvSpPr/>
          <p:nvPr/>
        </p:nvSpPr>
        <p:spPr>
          <a:xfrm>
            <a:off x="8778240" y="2212848"/>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Il tipo si riconosce senza aprire il file.</a:t>
            </a:r>
            <a:endParaRPr lang="en-US" sz="1420" dirty="0"/>
          </a:p>
        </p:txBody>
      </p:sp>
      <p:sp>
        <p:nvSpPr>
          <p:cNvPr id="62" name="Shape 60"/>
          <p:cNvSpPr/>
          <p:nvPr/>
        </p:nvSpPr>
        <p:spPr>
          <a:xfrm>
            <a:off x="8586216" y="2980944"/>
            <a:ext cx="91440" cy="91440"/>
          </a:xfrm>
          <a:prstGeom prst="ellipse">
            <a:avLst/>
          </a:prstGeom>
          <a:solidFill>
            <a:srgbClr val="7CD4FF"/>
          </a:solidFill>
          <a:ln w="12700">
            <a:solidFill>
              <a:srgbClr val="7CD4FF"/>
            </a:solidFill>
            <a:prstDash val="solid"/>
          </a:ln>
        </p:spPr>
      </p:sp>
      <p:sp>
        <p:nvSpPr>
          <p:cNvPr id="63" name="Text 61"/>
          <p:cNvSpPr/>
          <p:nvPr/>
        </p:nvSpPr>
        <p:spPr>
          <a:xfrm>
            <a:off x="8778240" y="2926080"/>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use rende visibile il contratto Hook.</a:t>
            </a:r>
            <a:endParaRPr lang="en-US" sz="1420" dirty="0"/>
          </a:p>
        </p:txBody>
      </p:sp>
      <p:sp>
        <p:nvSpPr>
          <p:cNvPr id="64" name="Shape 62"/>
          <p:cNvSpPr/>
          <p:nvPr/>
        </p:nvSpPr>
        <p:spPr>
          <a:xfrm>
            <a:off x="8586216" y="3694176"/>
            <a:ext cx="91440" cy="91440"/>
          </a:xfrm>
          <a:prstGeom prst="ellipse">
            <a:avLst/>
          </a:prstGeom>
          <a:solidFill>
            <a:srgbClr val="7CD4FF"/>
          </a:solidFill>
          <a:ln w="12700">
            <a:solidFill>
              <a:srgbClr val="7CD4FF"/>
            </a:solidFill>
            <a:prstDash val="solid"/>
          </a:ln>
        </p:spPr>
      </p:sp>
      <p:sp>
        <p:nvSpPr>
          <p:cNvPr id="65" name="Text 63"/>
          <p:cNvSpPr/>
          <p:nvPr/>
        </p:nvSpPr>
        <p:spPr>
          <a:xfrm>
            <a:off x="8778240" y="3639312"/>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Il nome descrive uno scopo, non una tecnica.</a:t>
            </a:r>
            <a:endParaRPr lang="en-US" sz="14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08</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STRUTTURA PER TIPO TECNICO</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Prima: il codice collegato vive in rami lontani</a:t>
            </a:r>
            <a:endParaRPr lang="en-US" sz="2700" dirty="0"/>
          </a:p>
        </p:txBody>
      </p:sp>
      <p:sp>
        <p:nvSpPr>
          <p:cNvPr id="29" name="Shape 27"/>
          <p:cNvSpPr/>
          <p:nvPr/>
        </p:nvSpPr>
        <p:spPr>
          <a:xfrm>
            <a:off x="530352" y="1581912"/>
            <a:ext cx="5440680" cy="4526280"/>
          </a:xfrm>
          <a:prstGeom prst="roundRect">
            <a:avLst>
              <a:gd name="adj" fmla="val 1010"/>
            </a:avLst>
          </a:prstGeom>
          <a:solidFill>
            <a:srgbClr val="0D1A2B"/>
          </a:solidFill>
          <a:ln w="13970">
            <a:solidFill>
              <a:srgbClr val="263A55"/>
            </a:solidFill>
            <a:prstDash val="solid"/>
          </a:ln>
        </p:spPr>
      </p:sp>
      <p:sp>
        <p:nvSpPr>
          <p:cNvPr id="30" name="Shape 28"/>
          <p:cNvSpPr/>
          <p:nvPr/>
        </p:nvSpPr>
        <p:spPr>
          <a:xfrm>
            <a:off x="530352" y="1581912"/>
            <a:ext cx="5440680" cy="347472"/>
          </a:xfrm>
          <a:prstGeom prst="rect">
            <a:avLst/>
          </a:prstGeom>
          <a:solidFill>
            <a:srgbClr val="122238"/>
          </a:solidFill>
          <a:ln w="12700">
            <a:solidFill>
              <a:srgbClr val="122238"/>
            </a:solidFill>
            <a:prstDash val="solid"/>
          </a:ln>
        </p:spPr>
      </p:sp>
      <p:sp>
        <p:nvSpPr>
          <p:cNvPr id="31" name="Shape 29"/>
          <p:cNvSpPr/>
          <p:nvPr/>
        </p:nvSpPr>
        <p:spPr>
          <a:xfrm>
            <a:off x="694944" y="1623060"/>
            <a:ext cx="658368" cy="274320"/>
          </a:xfrm>
          <a:prstGeom prst="roundRect">
            <a:avLst>
              <a:gd name="adj" fmla="val 20000"/>
            </a:avLst>
          </a:prstGeom>
          <a:solidFill>
            <a:srgbClr val="FF7A8A">
              <a:alpha val="20000"/>
            </a:srgbClr>
          </a:solidFill>
          <a:ln w="10160">
            <a:solidFill>
              <a:srgbClr val="FF7A8A">
                <a:alpha val="55000"/>
              </a:srgbClr>
            </a:solidFill>
            <a:prstDash val="solid"/>
          </a:ln>
        </p:spPr>
      </p:sp>
      <p:sp>
        <p:nvSpPr>
          <p:cNvPr id="32" name="Text 30"/>
          <p:cNvSpPr/>
          <p:nvPr/>
        </p:nvSpPr>
        <p:spPr>
          <a:xfrm>
            <a:off x="786384" y="1682496"/>
            <a:ext cx="475488" cy="128016"/>
          </a:xfrm>
          <a:prstGeom prst="rect">
            <a:avLst/>
          </a:prstGeom>
          <a:noFill/>
          <a:ln/>
        </p:spPr>
        <p:txBody>
          <a:bodyPr wrap="square" lIns="0" tIns="0" rIns="0" bIns="0" rtlCol="0" anchor="ctr"/>
          <a:lstStyle/>
          <a:p>
            <a:pPr algn="ctr" indent="0" marL="0">
              <a:buNone/>
            </a:pPr>
            <a:r>
              <a:rPr lang="en-US" sz="820" b="1" dirty="0">
                <a:solidFill>
                  <a:srgbClr val="FF7A8A"/>
                </a:solidFill>
                <a:latin typeface="Aptos Mono" pitchFamily="34" charset="0"/>
                <a:ea typeface="Aptos Mono" pitchFamily="34" charset="-122"/>
                <a:cs typeface="Aptos Mono" pitchFamily="34" charset="-120"/>
              </a:rPr>
              <a:t>TREE</a:t>
            </a:r>
            <a:endParaRPr lang="en-US" sz="820" dirty="0"/>
          </a:p>
        </p:txBody>
      </p:sp>
      <p:sp>
        <p:nvSpPr>
          <p:cNvPr id="33" name="Text 31"/>
          <p:cNvSpPr/>
          <p:nvPr/>
        </p:nvSpPr>
        <p:spPr>
          <a:xfrm>
            <a:off x="1490472" y="1677924"/>
            <a:ext cx="420624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PRIMA</a:t>
            </a:r>
            <a:endParaRPr lang="en-US" sz="880" dirty="0"/>
          </a:p>
        </p:txBody>
      </p:sp>
      <p:sp>
        <p:nvSpPr>
          <p:cNvPr id="34" name="Text 32"/>
          <p:cNvSpPr/>
          <p:nvPr/>
        </p:nvSpPr>
        <p:spPr>
          <a:xfrm>
            <a:off x="640080" y="204368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01</a:t>
            </a:r>
            <a:endParaRPr lang="en-US" sz="1060" dirty="0"/>
          </a:p>
        </p:txBody>
      </p:sp>
      <p:sp>
        <p:nvSpPr>
          <p:cNvPr id="35" name="Text 33"/>
          <p:cNvSpPr/>
          <p:nvPr/>
        </p:nvSpPr>
        <p:spPr>
          <a:xfrm>
            <a:off x="1033272" y="202996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src/</a:t>
            </a:r>
            <a:endParaRPr lang="en-US" sz="1280" dirty="0"/>
          </a:p>
        </p:txBody>
      </p:sp>
      <p:sp>
        <p:nvSpPr>
          <p:cNvPr id="36" name="Text 34"/>
          <p:cNvSpPr/>
          <p:nvPr/>
        </p:nvSpPr>
        <p:spPr>
          <a:xfrm>
            <a:off x="640080" y="228600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02</a:t>
            </a:r>
            <a:endParaRPr lang="en-US" sz="1060" dirty="0"/>
          </a:p>
        </p:txBody>
      </p:sp>
      <p:sp>
        <p:nvSpPr>
          <p:cNvPr id="37" name="Text 35"/>
          <p:cNvSpPr/>
          <p:nvPr/>
        </p:nvSpPr>
        <p:spPr>
          <a:xfrm>
            <a:off x="1033272" y="227228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components/</a:t>
            </a:r>
            <a:endParaRPr lang="en-US" sz="1280" dirty="0"/>
          </a:p>
        </p:txBody>
      </p:sp>
      <p:sp>
        <p:nvSpPr>
          <p:cNvPr id="38" name="Text 36"/>
          <p:cNvSpPr/>
          <p:nvPr/>
        </p:nvSpPr>
        <p:spPr>
          <a:xfrm>
            <a:off x="640080" y="252831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03</a:t>
            </a:r>
            <a:endParaRPr lang="en-US" sz="1060" dirty="0"/>
          </a:p>
        </p:txBody>
      </p:sp>
      <p:sp>
        <p:nvSpPr>
          <p:cNvPr id="39" name="Text 37"/>
          <p:cNvSpPr/>
          <p:nvPr/>
        </p:nvSpPr>
        <p:spPr>
          <a:xfrm>
            <a:off x="1033272" y="2514600"/>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 Dashboard.tsx</a:t>
            </a:r>
            <a:endParaRPr lang="en-US" sz="1280" dirty="0"/>
          </a:p>
        </p:txBody>
      </p:sp>
      <p:sp>
        <p:nvSpPr>
          <p:cNvPr id="40" name="Text 38"/>
          <p:cNvSpPr/>
          <p:nvPr/>
        </p:nvSpPr>
        <p:spPr>
          <a:xfrm>
            <a:off x="640080" y="2770632"/>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04</a:t>
            </a:r>
            <a:endParaRPr lang="en-US" sz="1060" dirty="0"/>
          </a:p>
        </p:txBody>
      </p:sp>
      <p:sp>
        <p:nvSpPr>
          <p:cNvPr id="41" name="Text 39"/>
          <p:cNvSpPr/>
          <p:nvPr/>
        </p:nvSpPr>
        <p:spPr>
          <a:xfrm>
            <a:off x="1033272" y="2756916"/>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 TicketList.tsx</a:t>
            </a:r>
            <a:endParaRPr lang="en-US" sz="1280" dirty="0"/>
          </a:p>
        </p:txBody>
      </p:sp>
      <p:sp>
        <p:nvSpPr>
          <p:cNvPr id="42" name="Text 40"/>
          <p:cNvSpPr/>
          <p:nvPr/>
        </p:nvSpPr>
        <p:spPr>
          <a:xfrm>
            <a:off x="640080" y="3012948"/>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05</a:t>
            </a:r>
            <a:endParaRPr lang="en-US" sz="1060" dirty="0"/>
          </a:p>
        </p:txBody>
      </p:sp>
      <p:sp>
        <p:nvSpPr>
          <p:cNvPr id="43" name="Text 41"/>
          <p:cNvSpPr/>
          <p:nvPr/>
        </p:nvSpPr>
        <p:spPr>
          <a:xfrm>
            <a:off x="1033272" y="2999232"/>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hooks/</a:t>
            </a:r>
            <a:endParaRPr lang="en-US" sz="1280" dirty="0"/>
          </a:p>
        </p:txBody>
      </p:sp>
      <p:sp>
        <p:nvSpPr>
          <p:cNvPr id="44" name="Text 42"/>
          <p:cNvSpPr/>
          <p:nvPr/>
        </p:nvSpPr>
        <p:spPr>
          <a:xfrm>
            <a:off x="640080" y="325526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06</a:t>
            </a:r>
            <a:endParaRPr lang="en-US" sz="1060" dirty="0"/>
          </a:p>
        </p:txBody>
      </p:sp>
      <p:sp>
        <p:nvSpPr>
          <p:cNvPr id="45" name="Text 43"/>
          <p:cNvSpPr/>
          <p:nvPr/>
        </p:nvSpPr>
        <p:spPr>
          <a:xfrm>
            <a:off x="1033272" y="324154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 useTickets.ts</a:t>
            </a:r>
            <a:endParaRPr lang="en-US" sz="1280" dirty="0"/>
          </a:p>
        </p:txBody>
      </p:sp>
      <p:sp>
        <p:nvSpPr>
          <p:cNvPr id="46" name="Text 44"/>
          <p:cNvSpPr/>
          <p:nvPr/>
        </p:nvSpPr>
        <p:spPr>
          <a:xfrm>
            <a:off x="640080" y="349758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07</a:t>
            </a:r>
            <a:endParaRPr lang="en-US" sz="1060" dirty="0"/>
          </a:p>
        </p:txBody>
      </p:sp>
      <p:sp>
        <p:nvSpPr>
          <p:cNvPr id="47" name="Text 45"/>
          <p:cNvSpPr/>
          <p:nvPr/>
        </p:nvSpPr>
        <p:spPr>
          <a:xfrm>
            <a:off x="1033272" y="348386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services/</a:t>
            </a:r>
            <a:endParaRPr lang="en-US" sz="1280" dirty="0"/>
          </a:p>
        </p:txBody>
      </p:sp>
      <p:sp>
        <p:nvSpPr>
          <p:cNvPr id="48" name="Text 46"/>
          <p:cNvSpPr/>
          <p:nvPr/>
        </p:nvSpPr>
        <p:spPr>
          <a:xfrm>
            <a:off x="640080" y="373989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08</a:t>
            </a:r>
            <a:endParaRPr lang="en-US" sz="1060" dirty="0"/>
          </a:p>
        </p:txBody>
      </p:sp>
      <p:sp>
        <p:nvSpPr>
          <p:cNvPr id="49" name="Text 47"/>
          <p:cNvSpPr/>
          <p:nvPr/>
        </p:nvSpPr>
        <p:spPr>
          <a:xfrm>
            <a:off x="1033272" y="3726180"/>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 ticketsApi.ts</a:t>
            </a:r>
            <a:endParaRPr lang="en-US" sz="1280" dirty="0"/>
          </a:p>
        </p:txBody>
      </p:sp>
      <p:sp>
        <p:nvSpPr>
          <p:cNvPr id="50" name="Text 48"/>
          <p:cNvSpPr/>
          <p:nvPr/>
        </p:nvSpPr>
        <p:spPr>
          <a:xfrm>
            <a:off x="640080" y="3982212"/>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09</a:t>
            </a:r>
            <a:endParaRPr lang="en-US" sz="1060" dirty="0"/>
          </a:p>
        </p:txBody>
      </p:sp>
      <p:sp>
        <p:nvSpPr>
          <p:cNvPr id="51" name="Text 49"/>
          <p:cNvSpPr/>
          <p:nvPr/>
        </p:nvSpPr>
        <p:spPr>
          <a:xfrm>
            <a:off x="1033272" y="3968496"/>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styles/</a:t>
            </a:r>
            <a:endParaRPr lang="en-US" sz="1280" dirty="0"/>
          </a:p>
        </p:txBody>
      </p:sp>
      <p:sp>
        <p:nvSpPr>
          <p:cNvPr id="52" name="Text 50"/>
          <p:cNvSpPr/>
          <p:nvPr/>
        </p:nvSpPr>
        <p:spPr>
          <a:xfrm>
            <a:off x="640080" y="4224528"/>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10</a:t>
            </a:r>
            <a:endParaRPr lang="en-US" sz="1060" dirty="0"/>
          </a:p>
        </p:txBody>
      </p:sp>
      <p:sp>
        <p:nvSpPr>
          <p:cNvPr id="53" name="Text 51"/>
          <p:cNvSpPr/>
          <p:nvPr/>
        </p:nvSpPr>
        <p:spPr>
          <a:xfrm>
            <a:off x="1033272" y="4210812"/>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 dashboard.scss</a:t>
            </a:r>
            <a:endParaRPr lang="en-US" sz="1280" dirty="0"/>
          </a:p>
        </p:txBody>
      </p:sp>
      <p:sp>
        <p:nvSpPr>
          <p:cNvPr id="54" name="Text 52"/>
          <p:cNvSpPr/>
          <p:nvPr/>
        </p:nvSpPr>
        <p:spPr>
          <a:xfrm>
            <a:off x="640080" y="446684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11</a:t>
            </a:r>
            <a:endParaRPr lang="en-US" sz="1060" dirty="0"/>
          </a:p>
        </p:txBody>
      </p:sp>
      <p:sp>
        <p:nvSpPr>
          <p:cNvPr id="55" name="Text 53"/>
          <p:cNvSpPr/>
          <p:nvPr/>
        </p:nvSpPr>
        <p:spPr>
          <a:xfrm>
            <a:off x="1033272" y="445312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 ticket-list.scss</a:t>
            </a:r>
            <a:endParaRPr lang="en-US" sz="1280" dirty="0"/>
          </a:p>
        </p:txBody>
      </p:sp>
      <p:sp>
        <p:nvSpPr>
          <p:cNvPr id="56" name="Shape 54"/>
          <p:cNvSpPr/>
          <p:nvPr/>
        </p:nvSpPr>
        <p:spPr>
          <a:xfrm>
            <a:off x="6217920" y="1581912"/>
            <a:ext cx="5440680" cy="4526280"/>
          </a:xfrm>
          <a:prstGeom prst="roundRect">
            <a:avLst>
              <a:gd name="adj" fmla="val 1010"/>
            </a:avLst>
          </a:prstGeom>
          <a:solidFill>
            <a:srgbClr val="0D1A2B"/>
          </a:solidFill>
          <a:ln w="13970">
            <a:solidFill>
              <a:srgbClr val="263A55"/>
            </a:solidFill>
            <a:prstDash val="solid"/>
          </a:ln>
        </p:spPr>
      </p:sp>
      <p:sp>
        <p:nvSpPr>
          <p:cNvPr id="57" name="Shape 55"/>
          <p:cNvSpPr/>
          <p:nvPr/>
        </p:nvSpPr>
        <p:spPr>
          <a:xfrm>
            <a:off x="6217920" y="1581912"/>
            <a:ext cx="5440680" cy="347472"/>
          </a:xfrm>
          <a:prstGeom prst="rect">
            <a:avLst/>
          </a:prstGeom>
          <a:solidFill>
            <a:srgbClr val="122238"/>
          </a:solidFill>
          <a:ln w="12700">
            <a:solidFill>
              <a:srgbClr val="122238"/>
            </a:solidFill>
            <a:prstDash val="solid"/>
          </a:ln>
        </p:spPr>
      </p:sp>
      <p:sp>
        <p:nvSpPr>
          <p:cNvPr id="58" name="Shape 56"/>
          <p:cNvSpPr/>
          <p:nvPr/>
        </p:nvSpPr>
        <p:spPr>
          <a:xfrm>
            <a:off x="6382512" y="1623060"/>
            <a:ext cx="658368" cy="274320"/>
          </a:xfrm>
          <a:prstGeom prst="roundRect">
            <a:avLst>
              <a:gd name="adj" fmla="val 20000"/>
            </a:avLst>
          </a:prstGeom>
          <a:solidFill>
            <a:srgbClr val="6FE3B1">
              <a:alpha val="20000"/>
            </a:srgbClr>
          </a:solidFill>
          <a:ln w="10160">
            <a:solidFill>
              <a:srgbClr val="6FE3B1">
                <a:alpha val="55000"/>
              </a:srgbClr>
            </a:solidFill>
            <a:prstDash val="solid"/>
          </a:ln>
        </p:spPr>
      </p:sp>
      <p:sp>
        <p:nvSpPr>
          <p:cNvPr id="59" name="Text 57"/>
          <p:cNvSpPr/>
          <p:nvPr/>
        </p:nvSpPr>
        <p:spPr>
          <a:xfrm>
            <a:off x="6473952" y="1682496"/>
            <a:ext cx="475488" cy="128016"/>
          </a:xfrm>
          <a:prstGeom prst="rect">
            <a:avLst/>
          </a:prstGeom>
          <a:noFill/>
          <a:ln/>
        </p:spPr>
        <p:txBody>
          <a:bodyPr wrap="square" lIns="0" tIns="0" rIns="0" bIns="0" rtlCol="0" anchor="ctr"/>
          <a:lstStyle/>
          <a:p>
            <a:pPr algn="ctr" indent="0" marL="0">
              <a:buNone/>
            </a:pPr>
            <a:r>
              <a:rPr lang="en-US" sz="820" b="1" dirty="0">
                <a:solidFill>
                  <a:srgbClr val="6FE3B1"/>
                </a:solidFill>
                <a:latin typeface="Aptos Mono" pitchFamily="34" charset="0"/>
                <a:ea typeface="Aptos Mono" pitchFamily="34" charset="-122"/>
                <a:cs typeface="Aptos Mono" pitchFamily="34" charset="-120"/>
              </a:rPr>
              <a:t>TREE</a:t>
            </a:r>
            <a:endParaRPr lang="en-US" sz="820" dirty="0"/>
          </a:p>
        </p:txBody>
      </p:sp>
      <p:sp>
        <p:nvSpPr>
          <p:cNvPr id="60" name="Text 58"/>
          <p:cNvSpPr/>
          <p:nvPr/>
        </p:nvSpPr>
        <p:spPr>
          <a:xfrm>
            <a:off x="7178040" y="1677924"/>
            <a:ext cx="420624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DOPO</a:t>
            </a:r>
            <a:endParaRPr lang="en-US" sz="880" dirty="0"/>
          </a:p>
        </p:txBody>
      </p:sp>
      <p:sp>
        <p:nvSpPr>
          <p:cNvPr id="61" name="Text 59"/>
          <p:cNvSpPr/>
          <p:nvPr/>
        </p:nvSpPr>
        <p:spPr>
          <a:xfrm>
            <a:off x="6327648" y="204368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01</a:t>
            </a:r>
            <a:endParaRPr lang="en-US" sz="1060" dirty="0"/>
          </a:p>
        </p:txBody>
      </p:sp>
      <p:sp>
        <p:nvSpPr>
          <p:cNvPr id="62" name="Text 60"/>
          <p:cNvSpPr/>
          <p:nvPr/>
        </p:nvSpPr>
        <p:spPr>
          <a:xfrm>
            <a:off x="6720840" y="202996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src/features/Dashboard/</a:t>
            </a:r>
            <a:endParaRPr lang="en-US" sz="1280" dirty="0"/>
          </a:p>
        </p:txBody>
      </p:sp>
      <p:sp>
        <p:nvSpPr>
          <p:cNvPr id="63" name="Text 61"/>
          <p:cNvSpPr/>
          <p:nvPr/>
        </p:nvSpPr>
        <p:spPr>
          <a:xfrm>
            <a:off x="6327648" y="228600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02</a:t>
            </a:r>
            <a:endParaRPr lang="en-US" sz="1060" dirty="0"/>
          </a:p>
        </p:txBody>
      </p:sp>
      <p:sp>
        <p:nvSpPr>
          <p:cNvPr id="64" name="Text 62"/>
          <p:cNvSpPr/>
          <p:nvPr/>
        </p:nvSpPr>
        <p:spPr>
          <a:xfrm>
            <a:off x="6720840" y="227228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Dashboard.tsx</a:t>
            </a:r>
            <a:endParaRPr lang="en-US" sz="1280" dirty="0"/>
          </a:p>
        </p:txBody>
      </p:sp>
      <p:sp>
        <p:nvSpPr>
          <p:cNvPr id="65" name="Text 63"/>
          <p:cNvSpPr/>
          <p:nvPr/>
        </p:nvSpPr>
        <p:spPr>
          <a:xfrm>
            <a:off x="6327648" y="252831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03</a:t>
            </a:r>
            <a:endParaRPr lang="en-US" sz="1060" dirty="0"/>
          </a:p>
        </p:txBody>
      </p:sp>
      <p:sp>
        <p:nvSpPr>
          <p:cNvPr id="66" name="Text 64"/>
          <p:cNvSpPr/>
          <p:nvPr/>
        </p:nvSpPr>
        <p:spPr>
          <a:xfrm>
            <a:off x="6720840" y="2514600"/>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Dashboard.scss</a:t>
            </a:r>
            <a:endParaRPr lang="en-US" sz="1280" dirty="0"/>
          </a:p>
        </p:txBody>
      </p:sp>
      <p:sp>
        <p:nvSpPr>
          <p:cNvPr id="67" name="Text 65"/>
          <p:cNvSpPr/>
          <p:nvPr/>
        </p:nvSpPr>
        <p:spPr>
          <a:xfrm>
            <a:off x="6327648" y="2770632"/>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04</a:t>
            </a:r>
            <a:endParaRPr lang="en-US" sz="1060" dirty="0"/>
          </a:p>
        </p:txBody>
      </p:sp>
      <p:sp>
        <p:nvSpPr>
          <p:cNvPr id="68" name="Text 66"/>
          <p:cNvSpPr/>
          <p:nvPr/>
        </p:nvSpPr>
        <p:spPr>
          <a:xfrm>
            <a:off x="6720840" y="2756916"/>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useTickets.ts</a:t>
            </a:r>
            <a:endParaRPr lang="en-US" sz="1280" dirty="0"/>
          </a:p>
        </p:txBody>
      </p:sp>
      <p:sp>
        <p:nvSpPr>
          <p:cNvPr id="69" name="Text 67"/>
          <p:cNvSpPr/>
          <p:nvPr/>
        </p:nvSpPr>
        <p:spPr>
          <a:xfrm>
            <a:off x="6327648" y="3012948"/>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05</a:t>
            </a:r>
            <a:endParaRPr lang="en-US" sz="1060" dirty="0"/>
          </a:p>
        </p:txBody>
      </p:sp>
      <p:sp>
        <p:nvSpPr>
          <p:cNvPr id="70" name="Text 68"/>
          <p:cNvSpPr/>
          <p:nvPr/>
        </p:nvSpPr>
        <p:spPr>
          <a:xfrm>
            <a:off x="6720840" y="2999232"/>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ticketsApi.ts</a:t>
            </a:r>
            <a:endParaRPr lang="en-US" sz="1280" dirty="0"/>
          </a:p>
        </p:txBody>
      </p:sp>
      <p:sp>
        <p:nvSpPr>
          <p:cNvPr id="71" name="Text 69"/>
          <p:cNvSpPr/>
          <p:nvPr/>
        </p:nvSpPr>
        <p:spPr>
          <a:xfrm>
            <a:off x="6327648" y="325526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06</a:t>
            </a:r>
            <a:endParaRPr lang="en-US" sz="1060" dirty="0"/>
          </a:p>
        </p:txBody>
      </p:sp>
      <p:sp>
        <p:nvSpPr>
          <p:cNvPr id="72" name="Text 70"/>
          <p:cNvSpPr/>
          <p:nvPr/>
        </p:nvSpPr>
        <p:spPr>
          <a:xfrm>
            <a:off x="6720840" y="324154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TicketList/</a:t>
            </a:r>
            <a:endParaRPr lang="en-US" sz="1280" dirty="0"/>
          </a:p>
        </p:txBody>
      </p:sp>
      <p:sp>
        <p:nvSpPr>
          <p:cNvPr id="73" name="Text 71"/>
          <p:cNvSpPr/>
          <p:nvPr/>
        </p:nvSpPr>
        <p:spPr>
          <a:xfrm>
            <a:off x="6327648" y="349758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07</a:t>
            </a:r>
            <a:endParaRPr lang="en-US" sz="1060" dirty="0"/>
          </a:p>
        </p:txBody>
      </p:sp>
      <p:sp>
        <p:nvSpPr>
          <p:cNvPr id="74" name="Text 72"/>
          <p:cNvSpPr/>
          <p:nvPr/>
        </p:nvSpPr>
        <p:spPr>
          <a:xfrm>
            <a:off x="6720840" y="348386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 TicketList.tsx</a:t>
            </a:r>
            <a:endParaRPr lang="en-US" sz="1280" dirty="0"/>
          </a:p>
        </p:txBody>
      </p:sp>
      <p:sp>
        <p:nvSpPr>
          <p:cNvPr id="75" name="Text 73"/>
          <p:cNvSpPr/>
          <p:nvPr/>
        </p:nvSpPr>
        <p:spPr>
          <a:xfrm>
            <a:off x="6327648" y="373989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08</a:t>
            </a:r>
            <a:endParaRPr lang="en-US" sz="1060" dirty="0"/>
          </a:p>
        </p:txBody>
      </p:sp>
      <p:sp>
        <p:nvSpPr>
          <p:cNvPr id="76" name="Text 74"/>
          <p:cNvSpPr/>
          <p:nvPr/>
        </p:nvSpPr>
        <p:spPr>
          <a:xfrm>
            <a:off x="6720840" y="3726180"/>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 TicketList.scss</a:t>
            </a:r>
            <a:endParaRPr lang="en-US" sz="1280" dirty="0"/>
          </a:p>
        </p:txBody>
      </p:sp>
      <p:sp>
        <p:nvSpPr>
          <p:cNvPr id="77" name="Shape 75"/>
          <p:cNvSpPr/>
          <p:nvPr/>
        </p:nvSpPr>
        <p:spPr>
          <a:xfrm>
            <a:off x="5870448" y="3310128"/>
            <a:ext cx="274320" cy="475488"/>
          </a:xfrm>
          <a:prstGeom prst="chevron">
            <a:avLst/>
          </a:prstGeom>
          <a:solidFill>
            <a:srgbClr val="4C7DFF"/>
          </a:solidFill>
          <a:ln w="12700">
            <a:solidFill>
              <a:srgbClr val="4C7DFF"/>
            </a:solidFill>
            <a:prstDash val="solid"/>
          </a:ln>
        </p:spPr>
      </p:sp>
      <p:sp>
        <p:nvSpPr>
          <p:cNvPr id="78" name="Text 76"/>
          <p:cNvSpPr/>
          <p:nvPr/>
        </p:nvSpPr>
        <p:spPr>
          <a:xfrm>
            <a:off x="1828800" y="6217920"/>
            <a:ext cx="8503920" cy="210312"/>
          </a:xfrm>
          <a:prstGeom prst="rect">
            <a:avLst/>
          </a:prstGeom>
          <a:noFill/>
          <a:ln/>
        </p:spPr>
        <p:txBody>
          <a:bodyPr wrap="square" lIns="0" tIns="0" rIns="0" bIns="0" rtlCol="0" anchor="ctr"/>
          <a:lstStyle/>
          <a:p>
            <a:pPr algn="ctr" indent="0" marL="0">
              <a:buNone/>
            </a:pPr>
            <a:r>
              <a:rPr lang="en-US" sz="1050" b="1" dirty="0">
                <a:solidFill>
                  <a:srgbClr val="F5C96A"/>
                </a:solidFill>
                <a:latin typeface="Aptos" pitchFamily="34" charset="0"/>
                <a:ea typeface="Aptos" pitchFamily="34" charset="-122"/>
                <a:cs typeface="Aptos" pitchFamily="34" charset="-120"/>
              </a:rPr>
              <a:t>La struttura feature-based avvicina ciò che cambia insieme.</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09</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FEATURE-BASED STRUCTURE</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La feature può crescere senza perdere la simmetria</a:t>
            </a:r>
            <a:endParaRPr lang="en-US" sz="2700" dirty="0"/>
          </a:p>
        </p:txBody>
      </p:sp>
      <p:sp>
        <p:nvSpPr>
          <p:cNvPr id="29" name="Shape 27"/>
          <p:cNvSpPr/>
          <p:nvPr/>
        </p:nvSpPr>
        <p:spPr>
          <a:xfrm>
            <a:off x="530352" y="1591056"/>
            <a:ext cx="7589520" cy="4553712"/>
          </a:xfrm>
          <a:prstGeom prst="roundRect">
            <a:avLst>
              <a:gd name="adj" fmla="val 1004"/>
            </a:avLst>
          </a:prstGeom>
          <a:solidFill>
            <a:srgbClr val="0D1A2B"/>
          </a:solidFill>
          <a:ln w="13970">
            <a:solidFill>
              <a:srgbClr val="263A55"/>
            </a:solidFill>
            <a:prstDash val="solid"/>
          </a:ln>
        </p:spPr>
      </p:sp>
      <p:sp>
        <p:nvSpPr>
          <p:cNvPr id="30" name="Shape 28"/>
          <p:cNvSpPr/>
          <p:nvPr/>
        </p:nvSpPr>
        <p:spPr>
          <a:xfrm>
            <a:off x="530352" y="1591056"/>
            <a:ext cx="7589520" cy="347472"/>
          </a:xfrm>
          <a:prstGeom prst="rect">
            <a:avLst/>
          </a:prstGeom>
          <a:solidFill>
            <a:srgbClr val="122238"/>
          </a:solidFill>
          <a:ln w="12700">
            <a:solidFill>
              <a:srgbClr val="122238"/>
            </a:solidFill>
            <a:prstDash val="solid"/>
          </a:ln>
        </p:spPr>
      </p:sp>
      <p:sp>
        <p:nvSpPr>
          <p:cNvPr id="31" name="Shape 29"/>
          <p:cNvSpPr/>
          <p:nvPr/>
        </p:nvSpPr>
        <p:spPr>
          <a:xfrm>
            <a:off x="694944" y="1632204"/>
            <a:ext cx="1046988" cy="274320"/>
          </a:xfrm>
          <a:prstGeom prst="roundRect">
            <a:avLst>
              <a:gd name="adj" fmla="val 20000"/>
            </a:avLst>
          </a:prstGeom>
          <a:solidFill>
            <a:srgbClr val="7CD4FF">
              <a:alpha val="20000"/>
            </a:srgbClr>
          </a:solidFill>
          <a:ln w="10160">
            <a:solidFill>
              <a:srgbClr val="7CD4FF">
                <a:alpha val="55000"/>
              </a:srgbClr>
            </a:solidFill>
            <a:prstDash val="solid"/>
          </a:ln>
        </p:spPr>
      </p:sp>
      <p:sp>
        <p:nvSpPr>
          <p:cNvPr id="32" name="Text 30"/>
          <p:cNvSpPr/>
          <p:nvPr/>
        </p:nvSpPr>
        <p:spPr>
          <a:xfrm>
            <a:off x="786384" y="1691640"/>
            <a:ext cx="864108" cy="128016"/>
          </a:xfrm>
          <a:prstGeom prst="rect">
            <a:avLst/>
          </a:prstGeom>
          <a:noFill/>
          <a:ln/>
        </p:spPr>
        <p:txBody>
          <a:bodyPr wrap="square" lIns="0" tIns="0" rIns="0" bIns="0" rtlCol="0" anchor="ctr"/>
          <a:lstStyle/>
          <a:p>
            <a:pPr algn="ctr" indent="0" marL="0">
              <a:buNone/>
            </a:pPr>
            <a:r>
              <a:rPr lang="en-US" sz="820" b="1" dirty="0">
                <a:solidFill>
                  <a:srgbClr val="7CD4FF"/>
                </a:solidFill>
                <a:latin typeface="Aptos Mono" pitchFamily="34" charset="0"/>
                <a:ea typeface="Aptos Mono" pitchFamily="34" charset="-122"/>
                <a:cs typeface="Aptos Mono" pitchFamily="34" charset="-120"/>
              </a:rPr>
              <a:t>STRUTTURA</a:t>
            </a:r>
            <a:endParaRPr lang="en-US" sz="820" dirty="0"/>
          </a:p>
        </p:txBody>
      </p:sp>
      <p:sp>
        <p:nvSpPr>
          <p:cNvPr id="33" name="Text 31"/>
          <p:cNvSpPr/>
          <p:nvPr/>
        </p:nvSpPr>
        <p:spPr>
          <a:xfrm>
            <a:off x="640080" y="2052828"/>
            <a:ext cx="320040" cy="242316"/>
          </a:xfrm>
          <a:prstGeom prst="rect">
            <a:avLst/>
          </a:prstGeom>
          <a:noFill/>
          <a:ln/>
        </p:spPr>
        <p:txBody>
          <a:bodyPr wrap="square" lIns="0" tIns="0" rIns="0" bIns="0" rtlCol="0" anchor="ctr"/>
          <a:lstStyle/>
          <a:p>
            <a:pPr algn="r" indent="0" marL="0">
              <a:buNone/>
            </a:pPr>
            <a:r>
              <a:rPr lang="en-US" sz="1230" dirty="0">
                <a:solidFill>
                  <a:srgbClr val="8296AE"/>
                </a:solidFill>
                <a:latin typeface="Aptos Mono" pitchFamily="34" charset="0"/>
                <a:ea typeface="Aptos Mono" pitchFamily="34" charset="-122"/>
                <a:cs typeface="Aptos Mono" pitchFamily="34" charset="-120"/>
              </a:rPr>
              <a:t>01</a:t>
            </a:r>
            <a:endParaRPr lang="en-US" sz="1230" dirty="0"/>
          </a:p>
        </p:txBody>
      </p:sp>
      <p:sp>
        <p:nvSpPr>
          <p:cNvPr id="34" name="Text 32"/>
          <p:cNvSpPr/>
          <p:nvPr/>
        </p:nvSpPr>
        <p:spPr>
          <a:xfrm>
            <a:off x="1033272" y="2039112"/>
            <a:ext cx="6931152" cy="242316"/>
          </a:xfrm>
          <a:prstGeom prst="rect">
            <a:avLst/>
          </a:prstGeom>
          <a:noFill/>
          <a:ln/>
        </p:spPr>
        <p:txBody>
          <a:bodyPr wrap="square" lIns="0" tIns="0" rIns="0" bIns="0" rtlCol="0" anchor="ctr">
            <a:normAutofit/>
          </a:bodyPr>
          <a:lstStyle/>
          <a:p>
            <a:pPr indent="0" marL="0">
              <a:buNone/>
            </a:pPr>
            <a:r>
              <a:rPr lang="en-US" sz="1450" dirty="0">
                <a:solidFill>
                  <a:srgbClr val="D9E4F2"/>
                </a:solidFill>
                <a:latin typeface="Aptos Mono" pitchFamily="34" charset="0"/>
                <a:ea typeface="Aptos Mono" pitchFamily="34" charset="-122"/>
                <a:cs typeface="Aptos Mono" pitchFamily="34" charset="-120"/>
              </a:rPr>
              <a:t>Dashboard/</a:t>
            </a:r>
            <a:endParaRPr lang="en-US" sz="1450" dirty="0"/>
          </a:p>
        </p:txBody>
      </p:sp>
      <p:sp>
        <p:nvSpPr>
          <p:cNvPr id="35" name="Text 33"/>
          <p:cNvSpPr/>
          <p:nvPr/>
        </p:nvSpPr>
        <p:spPr>
          <a:xfrm>
            <a:off x="640080" y="2295144"/>
            <a:ext cx="320040" cy="242316"/>
          </a:xfrm>
          <a:prstGeom prst="rect">
            <a:avLst/>
          </a:prstGeom>
          <a:noFill/>
          <a:ln/>
        </p:spPr>
        <p:txBody>
          <a:bodyPr wrap="square" lIns="0" tIns="0" rIns="0" bIns="0" rtlCol="0" anchor="ctr"/>
          <a:lstStyle/>
          <a:p>
            <a:pPr algn="r" indent="0" marL="0">
              <a:buNone/>
            </a:pPr>
            <a:r>
              <a:rPr lang="en-US" sz="1230" dirty="0">
                <a:solidFill>
                  <a:srgbClr val="8296AE"/>
                </a:solidFill>
                <a:latin typeface="Aptos Mono" pitchFamily="34" charset="0"/>
                <a:ea typeface="Aptos Mono" pitchFamily="34" charset="-122"/>
                <a:cs typeface="Aptos Mono" pitchFamily="34" charset="-120"/>
              </a:rPr>
              <a:t>02</a:t>
            </a:r>
            <a:endParaRPr lang="en-US" sz="1230" dirty="0"/>
          </a:p>
        </p:txBody>
      </p:sp>
      <p:sp>
        <p:nvSpPr>
          <p:cNvPr id="36" name="Text 34"/>
          <p:cNvSpPr/>
          <p:nvPr/>
        </p:nvSpPr>
        <p:spPr>
          <a:xfrm>
            <a:off x="1033272" y="2281428"/>
            <a:ext cx="6931152" cy="242316"/>
          </a:xfrm>
          <a:prstGeom prst="rect">
            <a:avLst/>
          </a:prstGeom>
          <a:noFill/>
          <a:ln/>
        </p:spPr>
        <p:txBody>
          <a:bodyPr wrap="square" lIns="0" tIns="0" rIns="0" bIns="0" rtlCol="0" anchor="ctr">
            <a:normAutofit/>
          </a:bodyPr>
          <a:lstStyle/>
          <a:p>
            <a:pPr indent="0" marL="0">
              <a:buNone/>
            </a:pPr>
            <a:r>
              <a:rPr lang="en-US" sz="1450" dirty="0">
                <a:solidFill>
                  <a:srgbClr val="D9E4F2"/>
                </a:solidFill>
                <a:latin typeface="Aptos Mono" pitchFamily="34" charset="0"/>
                <a:ea typeface="Aptos Mono" pitchFamily="34" charset="-122"/>
                <a:cs typeface="Aptos Mono" pitchFamily="34" charset="-120"/>
              </a:rPr>
              <a:t>├── Dashboard.tsx</a:t>
            </a:r>
            <a:endParaRPr lang="en-US" sz="1450" dirty="0"/>
          </a:p>
        </p:txBody>
      </p:sp>
      <p:sp>
        <p:nvSpPr>
          <p:cNvPr id="37" name="Text 35"/>
          <p:cNvSpPr/>
          <p:nvPr/>
        </p:nvSpPr>
        <p:spPr>
          <a:xfrm>
            <a:off x="640080" y="2537460"/>
            <a:ext cx="320040" cy="242316"/>
          </a:xfrm>
          <a:prstGeom prst="rect">
            <a:avLst/>
          </a:prstGeom>
          <a:noFill/>
          <a:ln/>
        </p:spPr>
        <p:txBody>
          <a:bodyPr wrap="square" lIns="0" tIns="0" rIns="0" bIns="0" rtlCol="0" anchor="ctr"/>
          <a:lstStyle/>
          <a:p>
            <a:pPr algn="r" indent="0" marL="0">
              <a:buNone/>
            </a:pPr>
            <a:r>
              <a:rPr lang="en-US" sz="1230" dirty="0">
                <a:solidFill>
                  <a:srgbClr val="8296AE"/>
                </a:solidFill>
                <a:latin typeface="Aptos Mono" pitchFamily="34" charset="0"/>
                <a:ea typeface="Aptos Mono" pitchFamily="34" charset="-122"/>
                <a:cs typeface="Aptos Mono" pitchFamily="34" charset="-120"/>
              </a:rPr>
              <a:t>03</a:t>
            </a:r>
            <a:endParaRPr lang="en-US" sz="1230" dirty="0"/>
          </a:p>
        </p:txBody>
      </p:sp>
      <p:sp>
        <p:nvSpPr>
          <p:cNvPr id="38" name="Text 36"/>
          <p:cNvSpPr/>
          <p:nvPr/>
        </p:nvSpPr>
        <p:spPr>
          <a:xfrm>
            <a:off x="1033272" y="2523744"/>
            <a:ext cx="6931152" cy="242316"/>
          </a:xfrm>
          <a:prstGeom prst="rect">
            <a:avLst/>
          </a:prstGeom>
          <a:noFill/>
          <a:ln/>
        </p:spPr>
        <p:txBody>
          <a:bodyPr wrap="square" lIns="0" tIns="0" rIns="0" bIns="0" rtlCol="0" anchor="ctr">
            <a:normAutofit/>
          </a:bodyPr>
          <a:lstStyle/>
          <a:p>
            <a:pPr indent="0" marL="0">
              <a:buNone/>
            </a:pPr>
            <a:r>
              <a:rPr lang="en-US" sz="1450" dirty="0">
                <a:solidFill>
                  <a:srgbClr val="D9E4F2"/>
                </a:solidFill>
                <a:latin typeface="Aptos Mono" pitchFamily="34" charset="0"/>
                <a:ea typeface="Aptos Mono" pitchFamily="34" charset="-122"/>
                <a:cs typeface="Aptos Mono" pitchFamily="34" charset="-120"/>
              </a:rPr>
              <a:t>├── Dashboard.scss</a:t>
            </a:r>
            <a:endParaRPr lang="en-US" sz="1450" dirty="0"/>
          </a:p>
        </p:txBody>
      </p:sp>
      <p:sp>
        <p:nvSpPr>
          <p:cNvPr id="39" name="Text 37"/>
          <p:cNvSpPr/>
          <p:nvPr/>
        </p:nvSpPr>
        <p:spPr>
          <a:xfrm>
            <a:off x="640080" y="2779776"/>
            <a:ext cx="320040" cy="242316"/>
          </a:xfrm>
          <a:prstGeom prst="rect">
            <a:avLst/>
          </a:prstGeom>
          <a:noFill/>
          <a:ln/>
        </p:spPr>
        <p:txBody>
          <a:bodyPr wrap="square" lIns="0" tIns="0" rIns="0" bIns="0" rtlCol="0" anchor="ctr"/>
          <a:lstStyle/>
          <a:p>
            <a:pPr algn="r" indent="0" marL="0">
              <a:buNone/>
            </a:pPr>
            <a:r>
              <a:rPr lang="en-US" sz="1230" dirty="0">
                <a:solidFill>
                  <a:srgbClr val="8296AE"/>
                </a:solidFill>
                <a:latin typeface="Aptos Mono" pitchFamily="34" charset="0"/>
                <a:ea typeface="Aptos Mono" pitchFamily="34" charset="-122"/>
                <a:cs typeface="Aptos Mono" pitchFamily="34" charset="-120"/>
              </a:rPr>
              <a:t>04</a:t>
            </a:r>
            <a:endParaRPr lang="en-US" sz="1230" dirty="0"/>
          </a:p>
        </p:txBody>
      </p:sp>
      <p:sp>
        <p:nvSpPr>
          <p:cNvPr id="40" name="Text 38"/>
          <p:cNvSpPr/>
          <p:nvPr/>
        </p:nvSpPr>
        <p:spPr>
          <a:xfrm>
            <a:off x="1033272" y="2766060"/>
            <a:ext cx="6931152" cy="242316"/>
          </a:xfrm>
          <a:prstGeom prst="rect">
            <a:avLst/>
          </a:prstGeom>
          <a:noFill/>
          <a:ln/>
        </p:spPr>
        <p:txBody>
          <a:bodyPr wrap="square" lIns="0" tIns="0" rIns="0" bIns="0" rtlCol="0" anchor="ctr">
            <a:normAutofit/>
          </a:bodyPr>
          <a:lstStyle/>
          <a:p>
            <a:pPr indent="0" marL="0">
              <a:buNone/>
            </a:pPr>
            <a:r>
              <a:rPr lang="en-US" sz="1450" dirty="0">
                <a:solidFill>
                  <a:srgbClr val="D9E4F2"/>
                </a:solidFill>
                <a:latin typeface="Aptos Mono" pitchFamily="34" charset="0"/>
                <a:ea typeface="Aptos Mono" pitchFamily="34" charset="-122"/>
                <a:cs typeface="Aptos Mono" pitchFamily="34" charset="-120"/>
              </a:rPr>
              <a:t>├── Dashboard.test.tsx</a:t>
            </a:r>
            <a:endParaRPr lang="en-US" sz="1450" dirty="0"/>
          </a:p>
        </p:txBody>
      </p:sp>
      <p:sp>
        <p:nvSpPr>
          <p:cNvPr id="41" name="Text 39"/>
          <p:cNvSpPr/>
          <p:nvPr/>
        </p:nvSpPr>
        <p:spPr>
          <a:xfrm>
            <a:off x="640080" y="3022092"/>
            <a:ext cx="320040" cy="242316"/>
          </a:xfrm>
          <a:prstGeom prst="rect">
            <a:avLst/>
          </a:prstGeom>
          <a:noFill/>
          <a:ln/>
        </p:spPr>
        <p:txBody>
          <a:bodyPr wrap="square" lIns="0" tIns="0" rIns="0" bIns="0" rtlCol="0" anchor="ctr"/>
          <a:lstStyle/>
          <a:p>
            <a:pPr algn="r" indent="0" marL="0">
              <a:buNone/>
            </a:pPr>
            <a:r>
              <a:rPr lang="en-US" sz="1230" dirty="0">
                <a:solidFill>
                  <a:srgbClr val="8296AE"/>
                </a:solidFill>
                <a:latin typeface="Aptos Mono" pitchFamily="34" charset="0"/>
                <a:ea typeface="Aptos Mono" pitchFamily="34" charset="-122"/>
                <a:cs typeface="Aptos Mono" pitchFamily="34" charset="-120"/>
              </a:rPr>
              <a:t>05</a:t>
            </a:r>
            <a:endParaRPr lang="en-US" sz="1230" dirty="0"/>
          </a:p>
        </p:txBody>
      </p:sp>
      <p:sp>
        <p:nvSpPr>
          <p:cNvPr id="42" name="Text 40"/>
          <p:cNvSpPr/>
          <p:nvPr/>
        </p:nvSpPr>
        <p:spPr>
          <a:xfrm>
            <a:off x="1033272" y="3008376"/>
            <a:ext cx="6931152" cy="242316"/>
          </a:xfrm>
          <a:prstGeom prst="rect">
            <a:avLst/>
          </a:prstGeom>
          <a:noFill/>
          <a:ln/>
        </p:spPr>
        <p:txBody>
          <a:bodyPr wrap="square" lIns="0" tIns="0" rIns="0" bIns="0" rtlCol="0" anchor="ctr">
            <a:normAutofit/>
          </a:bodyPr>
          <a:lstStyle/>
          <a:p>
            <a:pPr indent="0" marL="0">
              <a:buNone/>
            </a:pPr>
            <a:r>
              <a:rPr lang="en-US" sz="1450" dirty="0">
                <a:solidFill>
                  <a:srgbClr val="D9E4F2"/>
                </a:solidFill>
                <a:latin typeface="Aptos Mono" pitchFamily="34" charset="0"/>
                <a:ea typeface="Aptos Mono" pitchFamily="34" charset="-122"/>
                <a:cs typeface="Aptos Mono" pitchFamily="34" charset="-120"/>
              </a:rPr>
              <a:t>├── TicketList/</a:t>
            </a:r>
            <a:endParaRPr lang="en-US" sz="1450" dirty="0"/>
          </a:p>
        </p:txBody>
      </p:sp>
      <p:sp>
        <p:nvSpPr>
          <p:cNvPr id="43" name="Text 41"/>
          <p:cNvSpPr/>
          <p:nvPr/>
        </p:nvSpPr>
        <p:spPr>
          <a:xfrm>
            <a:off x="640080" y="3264408"/>
            <a:ext cx="320040" cy="242316"/>
          </a:xfrm>
          <a:prstGeom prst="rect">
            <a:avLst/>
          </a:prstGeom>
          <a:noFill/>
          <a:ln/>
        </p:spPr>
        <p:txBody>
          <a:bodyPr wrap="square" lIns="0" tIns="0" rIns="0" bIns="0" rtlCol="0" anchor="ctr"/>
          <a:lstStyle/>
          <a:p>
            <a:pPr algn="r" indent="0" marL="0">
              <a:buNone/>
            </a:pPr>
            <a:r>
              <a:rPr lang="en-US" sz="1230" dirty="0">
                <a:solidFill>
                  <a:srgbClr val="8296AE"/>
                </a:solidFill>
                <a:latin typeface="Aptos Mono" pitchFamily="34" charset="0"/>
                <a:ea typeface="Aptos Mono" pitchFamily="34" charset="-122"/>
                <a:cs typeface="Aptos Mono" pitchFamily="34" charset="-120"/>
              </a:rPr>
              <a:t>06</a:t>
            </a:r>
            <a:endParaRPr lang="en-US" sz="1230" dirty="0"/>
          </a:p>
        </p:txBody>
      </p:sp>
      <p:sp>
        <p:nvSpPr>
          <p:cNvPr id="44" name="Text 42"/>
          <p:cNvSpPr/>
          <p:nvPr/>
        </p:nvSpPr>
        <p:spPr>
          <a:xfrm>
            <a:off x="1033272" y="3250692"/>
            <a:ext cx="6931152" cy="242316"/>
          </a:xfrm>
          <a:prstGeom prst="rect">
            <a:avLst/>
          </a:prstGeom>
          <a:noFill/>
          <a:ln/>
        </p:spPr>
        <p:txBody>
          <a:bodyPr wrap="square" lIns="0" tIns="0" rIns="0" bIns="0" rtlCol="0" anchor="ctr">
            <a:normAutofit/>
          </a:bodyPr>
          <a:lstStyle/>
          <a:p>
            <a:pPr indent="0" marL="0">
              <a:buNone/>
            </a:pPr>
            <a:r>
              <a:rPr lang="en-US" sz="1450" dirty="0">
                <a:solidFill>
                  <a:srgbClr val="D9E4F2"/>
                </a:solidFill>
                <a:latin typeface="Aptos Mono" pitchFamily="34" charset="0"/>
                <a:ea typeface="Aptos Mono" pitchFamily="34" charset="-122"/>
                <a:cs typeface="Aptos Mono" pitchFamily="34" charset="-120"/>
              </a:rPr>
              <a:t>│   ├── TicketList.tsx</a:t>
            </a:r>
            <a:endParaRPr lang="en-US" sz="1450" dirty="0"/>
          </a:p>
        </p:txBody>
      </p:sp>
      <p:sp>
        <p:nvSpPr>
          <p:cNvPr id="45" name="Text 43"/>
          <p:cNvSpPr/>
          <p:nvPr/>
        </p:nvSpPr>
        <p:spPr>
          <a:xfrm>
            <a:off x="640080" y="3506724"/>
            <a:ext cx="320040" cy="242316"/>
          </a:xfrm>
          <a:prstGeom prst="rect">
            <a:avLst/>
          </a:prstGeom>
          <a:noFill/>
          <a:ln/>
        </p:spPr>
        <p:txBody>
          <a:bodyPr wrap="square" lIns="0" tIns="0" rIns="0" bIns="0" rtlCol="0" anchor="ctr"/>
          <a:lstStyle/>
          <a:p>
            <a:pPr algn="r" indent="0" marL="0">
              <a:buNone/>
            </a:pPr>
            <a:r>
              <a:rPr lang="en-US" sz="1230" dirty="0">
                <a:solidFill>
                  <a:srgbClr val="8296AE"/>
                </a:solidFill>
                <a:latin typeface="Aptos Mono" pitchFamily="34" charset="0"/>
                <a:ea typeface="Aptos Mono" pitchFamily="34" charset="-122"/>
                <a:cs typeface="Aptos Mono" pitchFamily="34" charset="-120"/>
              </a:rPr>
              <a:t>07</a:t>
            </a:r>
            <a:endParaRPr lang="en-US" sz="1230" dirty="0"/>
          </a:p>
        </p:txBody>
      </p:sp>
      <p:sp>
        <p:nvSpPr>
          <p:cNvPr id="46" name="Text 44"/>
          <p:cNvSpPr/>
          <p:nvPr/>
        </p:nvSpPr>
        <p:spPr>
          <a:xfrm>
            <a:off x="1033272" y="3493008"/>
            <a:ext cx="6931152" cy="242316"/>
          </a:xfrm>
          <a:prstGeom prst="rect">
            <a:avLst/>
          </a:prstGeom>
          <a:noFill/>
          <a:ln/>
        </p:spPr>
        <p:txBody>
          <a:bodyPr wrap="square" lIns="0" tIns="0" rIns="0" bIns="0" rtlCol="0" anchor="ctr">
            <a:normAutofit/>
          </a:bodyPr>
          <a:lstStyle/>
          <a:p>
            <a:pPr indent="0" marL="0">
              <a:buNone/>
            </a:pPr>
            <a:r>
              <a:rPr lang="en-US" sz="1450" dirty="0">
                <a:solidFill>
                  <a:srgbClr val="D9E4F2"/>
                </a:solidFill>
                <a:latin typeface="Aptos Mono" pitchFamily="34" charset="0"/>
                <a:ea typeface="Aptos Mono" pitchFamily="34" charset="-122"/>
                <a:cs typeface="Aptos Mono" pitchFamily="34" charset="-120"/>
              </a:rPr>
              <a:t>│   ├── TicketList.scss</a:t>
            </a:r>
            <a:endParaRPr lang="en-US" sz="1450" dirty="0"/>
          </a:p>
        </p:txBody>
      </p:sp>
      <p:sp>
        <p:nvSpPr>
          <p:cNvPr id="47" name="Text 45"/>
          <p:cNvSpPr/>
          <p:nvPr/>
        </p:nvSpPr>
        <p:spPr>
          <a:xfrm>
            <a:off x="640080" y="3749040"/>
            <a:ext cx="320040" cy="242316"/>
          </a:xfrm>
          <a:prstGeom prst="rect">
            <a:avLst/>
          </a:prstGeom>
          <a:noFill/>
          <a:ln/>
        </p:spPr>
        <p:txBody>
          <a:bodyPr wrap="square" lIns="0" tIns="0" rIns="0" bIns="0" rtlCol="0" anchor="ctr"/>
          <a:lstStyle/>
          <a:p>
            <a:pPr algn="r" indent="0" marL="0">
              <a:buNone/>
            </a:pPr>
            <a:r>
              <a:rPr lang="en-US" sz="1230" dirty="0">
                <a:solidFill>
                  <a:srgbClr val="8296AE"/>
                </a:solidFill>
                <a:latin typeface="Aptos Mono" pitchFamily="34" charset="0"/>
                <a:ea typeface="Aptos Mono" pitchFamily="34" charset="-122"/>
                <a:cs typeface="Aptos Mono" pitchFamily="34" charset="-120"/>
              </a:rPr>
              <a:t>08</a:t>
            </a:r>
            <a:endParaRPr lang="en-US" sz="1230" dirty="0"/>
          </a:p>
        </p:txBody>
      </p:sp>
      <p:sp>
        <p:nvSpPr>
          <p:cNvPr id="48" name="Text 46"/>
          <p:cNvSpPr/>
          <p:nvPr/>
        </p:nvSpPr>
        <p:spPr>
          <a:xfrm>
            <a:off x="1033272" y="3735324"/>
            <a:ext cx="6931152" cy="242316"/>
          </a:xfrm>
          <a:prstGeom prst="rect">
            <a:avLst/>
          </a:prstGeom>
          <a:noFill/>
          <a:ln/>
        </p:spPr>
        <p:txBody>
          <a:bodyPr wrap="square" lIns="0" tIns="0" rIns="0" bIns="0" rtlCol="0" anchor="ctr">
            <a:normAutofit/>
          </a:bodyPr>
          <a:lstStyle/>
          <a:p>
            <a:pPr indent="0" marL="0">
              <a:buNone/>
            </a:pPr>
            <a:r>
              <a:rPr lang="en-US" sz="1450" dirty="0">
                <a:solidFill>
                  <a:srgbClr val="D9E4F2"/>
                </a:solidFill>
                <a:latin typeface="Aptos Mono" pitchFamily="34" charset="0"/>
                <a:ea typeface="Aptos Mono" pitchFamily="34" charset="-122"/>
                <a:cs typeface="Aptos Mono" pitchFamily="34" charset="-120"/>
              </a:rPr>
              <a:t>│   └── TicketList.test.tsx</a:t>
            </a:r>
            <a:endParaRPr lang="en-US" sz="1450" dirty="0"/>
          </a:p>
        </p:txBody>
      </p:sp>
      <p:sp>
        <p:nvSpPr>
          <p:cNvPr id="49" name="Text 47"/>
          <p:cNvSpPr/>
          <p:nvPr/>
        </p:nvSpPr>
        <p:spPr>
          <a:xfrm>
            <a:off x="640080" y="3991356"/>
            <a:ext cx="320040" cy="242316"/>
          </a:xfrm>
          <a:prstGeom prst="rect">
            <a:avLst/>
          </a:prstGeom>
          <a:noFill/>
          <a:ln/>
        </p:spPr>
        <p:txBody>
          <a:bodyPr wrap="square" lIns="0" tIns="0" rIns="0" bIns="0" rtlCol="0" anchor="ctr"/>
          <a:lstStyle/>
          <a:p>
            <a:pPr algn="r" indent="0" marL="0">
              <a:buNone/>
            </a:pPr>
            <a:r>
              <a:rPr lang="en-US" sz="1230" dirty="0">
                <a:solidFill>
                  <a:srgbClr val="8296AE"/>
                </a:solidFill>
                <a:latin typeface="Aptos Mono" pitchFamily="34" charset="0"/>
                <a:ea typeface="Aptos Mono" pitchFamily="34" charset="-122"/>
                <a:cs typeface="Aptos Mono" pitchFamily="34" charset="-120"/>
              </a:rPr>
              <a:t>09</a:t>
            </a:r>
            <a:endParaRPr lang="en-US" sz="1230" dirty="0"/>
          </a:p>
        </p:txBody>
      </p:sp>
      <p:sp>
        <p:nvSpPr>
          <p:cNvPr id="50" name="Text 48"/>
          <p:cNvSpPr/>
          <p:nvPr/>
        </p:nvSpPr>
        <p:spPr>
          <a:xfrm>
            <a:off x="1033272" y="3977640"/>
            <a:ext cx="6931152" cy="242316"/>
          </a:xfrm>
          <a:prstGeom prst="rect">
            <a:avLst/>
          </a:prstGeom>
          <a:noFill/>
          <a:ln/>
        </p:spPr>
        <p:txBody>
          <a:bodyPr wrap="square" lIns="0" tIns="0" rIns="0" bIns="0" rtlCol="0" anchor="ctr">
            <a:normAutofit/>
          </a:bodyPr>
          <a:lstStyle/>
          <a:p>
            <a:pPr indent="0" marL="0">
              <a:buNone/>
            </a:pPr>
            <a:r>
              <a:rPr lang="en-US" sz="1450" dirty="0">
                <a:solidFill>
                  <a:srgbClr val="D9E4F2"/>
                </a:solidFill>
                <a:latin typeface="Aptos Mono" pitchFamily="34" charset="0"/>
                <a:ea typeface="Aptos Mono" pitchFamily="34" charset="-122"/>
                <a:cs typeface="Aptos Mono" pitchFamily="34" charset="-120"/>
              </a:rPr>
              <a:t>├── hooks/</a:t>
            </a:r>
            <a:endParaRPr lang="en-US" sz="1450" dirty="0"/>
          </a:p>
        </p:txBody>
      </p:sp>
      <p:sp>
        <p:nvSpPr>
          <p:cNvPr id="51" name="Text 49"/>
          <p:cNvSpPr/>
          <p:nvPr/>
        </p:nvSpPr>
        <p:spPr>
          <a:xfrm>
            <a:off x="640080" y="4233672"/>
            <a:ext cx="320040" cy="242316"/>
          </a:xfrm>
          <a:prstGeom prst="rect">
            <a:avLst/>
          </a:prstGeom>
          <a:noFill/>
          <a:ln/>
        </p:spPr>
        <p:txBody>
          <a:bodyPr wrap="square" lIns="0" tIns="0" rIns="0" bIns="0" rtlCol="0" anchor="ctr"/>
          <a:lstStyle/>
          <a:p>
            <a:pPr algn="r" indent="0" marL="0">
              <a:buNone/>
            </a:pPr>
            <a:r>
              <a:rPr lang="en-US" sz="1230" dirty="0">
                <a:solidFill>
                  <a:srgbClr val="8296AE"/>
                </a:solidFill>
                <a:latin typeface="Aptos Mono" pitchFamily="34" charset="0"/>
                <a:ea typeface="Aptos Mono" pitchFamily="34" charset="-122"/>
                <a:cs typeface="Aptos Mono" pitchFamily="34" charset="-120"/>
              </a:rPr>
              <a:t>10</a:t>
            </a:r>
            <a:endParaRPr lang="en-US" sz="1230" dirty="0"/>
          </a:p>
        </p:txBody>
      </p:sp>
      <p:sp>
        <p:nvSpPr>
          <p:cNvPr id="52" name="Text 50"/>
          <p:cNvSpPr/>
          <p:nvPr/>
        </p:nvSpPr>
        <p:spPr>
          <a:xfrm>
            <a:off x="1033272" y="4219956"/>
            <a:ext cx="6931152" cy="242316"/>
          </a:xfrm>
          <a:prstGeom prst="rect">
            <a:avLst/>
          </a:prstGeom>
          <a:noFill/>
          <a:ln/>
        </p:spPr>
        <p:txBody>
          <a:bodyPr wrap="square" lIns="0" tIns="0" rIns="0" bIns="0" rtlCol="0" anchor="ctr">
            <a:normAutofit/>
          </a:bodyPr>
          <a:lstStyle/>
          <a:p>
            <a:pPr indent="0" marL="0">
              <a:buNone/>
            </a:pPr>
            <a:r>
              <a:rPr lang="en-US" sz="1450" dirty="0">
                <a:solidFill>
                  <a:srgbClr val="D9E4F2"/>
                </a:solidFill>
                <a:latin typeface="Aptos Mono" pitchFamily="34" charset="0"/>
                <a:ea typeface="Aptos Mono" pitchFamily="34" charset="-122"/>
                <a:cs typeface="Aptos Mono" pitchFamily="34" charset="-120"/>
              </a:rPr>
              <a:t>│   └── useTickets.ts</a:t>
            </a:r>
            <a:endParaRPr lang="en-US" sz="1450" dirty="0"/>
          </a:p>
        </p:txBody>
      </p:sp>
      <p:sp>
        <p:nvSpPr>
          <p:cNvPr id="53" name="Text 51"/>
          <p:cNvSpPr/>
          <p:nvPr/>
        </p:nvSpPr>
        <p:spPr>
          <a:xfrm>
            <a:off x="640080" y="4475988"/>
            <a:ext cx="320040" cy="242316"/>
          </a:xfrm>
          <a:prstGeom prst="rect">
            <a:avLst/>
          </a:prstGeom>
          <a:noFill/>
          <a:ln/>
        </p:spPr>
        <p:txBody>
          <a:bodyPr wrap="square" lIns="0" tIns="0" rIns="0" bIns="0" rtlCol="0" anchor="ctr"/>
          <a:lstStyle/>
          <a:p>
            <a:pPr algn="r" indent="0" marL="0">
              <a:buNone/>
            </a:pPr>
            <a:r>
              <a:rPr lang="en-US" sz="1230" dirty="0">
                <a:solidFill>
                  <a:srgbClr val="8296AE"/>
                </a:solidFill>
                <a:latin typeface="Aptos Mono" pitchFamily="34" charset="0"/>
                <a:ea typeface="Aptos Mono" pitchFamily="34" charset="-122"/>
                <a:cs typeface="Aptos Mono" pitchFamily="34" charset="-120"/>
              </a:rPr>
              <a:t>11</a:t>
            </a:r>
            <a:endParaRPr lang="en-US" sz="1230" dirty="0"/>
          </a:p>
        </p:txBody>
      </p:sp>
      <p:sp>
        <p:nvSpPr>
          <p:cNvPr id="54" name="Text 52"/>
          <p:cNvSpPr/>
          <p:nvPr/>
        </p:nvSpPr>
        <p:spPr>
          <a:xfrm>
            <a:off x="1033272" y="4462272"/>
            <a:ext cx="6931152" cy="242316"/>
          </a:xfrm>
          <a:prstGeom prst="rect">
            <a:avLst/>
          </a:prstGeom>
          <a:noFill/>
          <a:ln/>
        </p:spPr>
        <p:txBody>
          <a:bodyPr wrap="square" lIns="0" tIns="0" rIns="0" bIns="0" rtlCol="0" anchor="ctr">
            <a:normAutofit/>
          </a:bodyPr>
          <a:lstStyle/>
          <a:p>
            <a:pPr indent="0" marL="0">
              <a:buNone/>
            </a:pPr>
            <a:r>
              <a:rPr lang="en-US" sz="1450" dirty="0">
                <a:solidFill>
                  <a:srgbClr val="D9E4F2"/>
                </a:solidFill>
                <a:latin typeface="Aptos Mono" pitchFamily="34" charset="0"/>
                <a:ea typeface="Aptos Mono" pitchFamily="34" charset="-122"/>
                <a:cs typeface="Aptos Mono" pitchFamily="34" charset="-120"/>
              </a:rPr>
              <a:t>└── services/</a:t>
            </a:r>
            <a:endParaRPr lang="en-US" sz="1450" dirty="0"/>
          </a:p>
        </p:txBody>
      </p:sp>
      <p:sp>
        <p:nvSpPr>
          <p:cNvPr id="55" name="Text 53"/>
          <p:cNvSpPr/>
          <p:nvPr/>
        </p:nvSpPr>
        <p:spPr>
          <a:xfrm>
            <a:off x="640080" y="4718304"/>
            <a:ext cx="320040" cy="242316"/>
          </a:xfrm>
          <a:prstGeom prst="rect">
            <a:avLst/>
          </a:prstGeom>
          <a:noFill/>
          <a:ln/>
        </p:spPr>
        <p:txBody>
          <a:bodyPr wrap="square" lIns="0" tIns="0" rIns="0" bIns="0" rtlCol="0" anchor="ctr"/>
          <a:lstStyle/>
          <a:p>
            <a:pPr algn="r" indent="0" marL="0">
              <a:buNone/>
            </a:pPr>
            <a:r>
              <a:rPr lang="en-US" sz="1230" dirty="0">
                <a:solidFill>
                  <a:srgbClr val="8296AE"/>
                </a:solidFill>
                <a:latin typeface="Aptos Mono" pitchFamily="34" charset="0"/>
                <a:ea typeface="Aptos Mono" pitchFamily="34" charset="-122"/>
                <a:cs typeface="Aptos Mono" pitchFamily="34" charset="-120"/>
              </a:rPr>
              <a:t>12</a:t>
            </a:r>
            <a:endParaRPr lang="en-US" sz="1230" dirty="0"/>
          </a:p>
        </p:txBody>
      </p:sp>
      <p:sp>
        <p:nvSpPr>
          <p:cNvPr id="56" name="Text 54"/>
          <p:cNvSpPr/>
          <p:nvPr/>
        </p:nvSpPr>
        <p:spPr>
          <a:xfrm>
            <a:off x="1033272" y="4704588"/>
            <a:ext cx="6931152" cy="242316"/>
          </a:xfrm>
          <a:prstGeom prst="rect">
            <a:avLst/>
          </a:prstGeom>
          <a:noFill/>
          <a:ln/>
        </p:spPr>
        <p:txBody>
          <a:bodyPr wrap="square" lIns="0" tIns="0" rIns="0" bIns="0" rtlCol="0" anchor="ctr">
            <a:normAutofit/>
          </a:bodyPr>
          <a:lstStyle/>
          <a:p>
            <a:pPr indent="0" marL="0">
              <a:buNone/>
            </a:pPr>
            <a:r>
              <a:rPr lang="en-US" sz="1450" dirty="0">
                <a:solidFill>
                  <a:srgbClr val="D9E4F2"/>
                </a:solidFill>
                <a:latin typeface="Aptos Mono" pitchFamily="34" charset="0"/>
                <a:ea typeface="Aptos Mono" pitchFamily="34" charset="-122"/>
                <a:cs typeface="Aptos Mono" pitchFamily="34" charset="-120"/>
              </a:rPr>
              <a:t>    └── ticketsApi.ts</a:t>
            </a:r>
            <a:endParaRPr lang="en-US" sz="1450" dirty="0"/>
          </a:p>
        </p:txBody>
      </p:sp>
      <p:sp>
        <p:nvSpPr>
          <p:cNvPr id="57" name="Shape 55"/>
          <p:cNvSpPr/>
          <p:nvPr/>
        </p:nvSpPr>
        <p:spPr>
          <a:xfrm>
            <a:off x="8366760" y="1591056"/>
            <a:ext cx="3310128" cy="4553712"/>
          </a:xfrm>
          <a:prstGeom prst="roundRect">
            <a:avLst>
              <a:gd name="adj" fmla="val 1381"/>
            </a:avLst>
          </a:prstGeom>
          <a:solidFill>
            <a:srgbClr val="122238"/>
          </a:solidFill>
          <a:ln w="12700">
            <a:solidFill>
              <a:srgbClr val="263A55"/>
            </a:solidFill>
            <a:prstDash val="solid"/>
          </a:ln>
        </p:spPr>
      </p:sp>
      <p:sp>
        <p:nvSpPr>
          <p:cNvPr id="58" name="Text 56"/>
          <p:cNvSpPr/>
          <p:nvPr/>
        </p:nvSpPr>
        <p:spPr>
          <a:xfrm>
            <a:off x="8586216" y="1801368"/>
            <a:ext cx="2871216" cy="182880"/>
          </a:xfrm>
          <a:prstGeom prst="rect">
            <a:avLst/>
          </a:prstGeom>
          <a:noFill/>
          <a:ln/>
        </p:spPr>
        <p:txBody>
          <a:bodyPr wrap="square" lIns="0" tIns="0" rIns="0" bIns="0" rtlCol="0" anchor="ctr"/>
          <a:lstStyle/>
          <a:p>
            <a:pPr indent="0" marL="0">
              <a:buNone/>
            </a:pPr>
            <a:r>
              <a:rPr lang="en-US" sz="950" b="1" spc="115" kern="0" dirty="0">
                <a:solidFill>
                  <a:srgbClr val="F5C96A"/>
                </a:solidFill>
                <a:latin typeface="Aptos" pitchFamily="34" charset="0"/>
                <a:ea typeface="Aptos" pitchFamily="34" charset="-122"/>
                <a:cs typeface="Aptos" pitchFamily="34" charset="-120"/>
              </a:rPr>
              <a:t>DA OSSERVARE</a:t>
            </a:r>
            <a:endParaRPr lang="en-US" sz="950" dirty="0"/>
          </a:p>
        </p:txBody>
      </p:sp>
      <p:sp>
        <p:nvSpPr>
          <p:cNvPr id="59" name="Shape 57"/>
          <p:cNvSpPr/>
          <p:nvPr/>
        </p:nvSpPr>
        <p:spPr>
          <a:xfrm>
            <a:off x="8586216" y="2267712"/>
            <a:ext cx="91440" cy="91440"/>
          </a:xfrm>
          <a:prstGeom prst="ellipse">
            <a:avLst/>
          </a:prstGeom>
          <a:solidFill>
            <a:srgbClr val="7CD4FF"/>
          </a:solidFill>
          <a:ln w="12700">
            <a:solidFill>
              <a:srgbClr val="7CD4FF"/>
            </a:solidFill>
            <a:prstDash val="solid"/>
          </a:ln>
        </p:spPr>
      </p:sp>
      <p:sp>
        <p:nvSpPr>
          <p:cNvPr id="60" name="Text 58"/>
          <p:cNvSpPr/>
          <p:nvPr/>
        </p:nvSpPr>
        <p:spPr>
          <a:xfrm>
            <a:off x="8778240" y="2212848"/>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Artefatti vicini alla responsabilità.</a:t>
            </a:r>
            <a:endParaRPr lang="en-US" sz="1420" dirty="0"/>
          </a:p>
        </p:txBody>
      </p:sp>
      <p:sp>
        <p:nvSpPr>
          <p:cNvPr id="61" name="Shape 59"/>
          <p:cNvSpPr/>
          <p:nvPr/>
        </p:nvSpPr>
        <p:spPr>
          <a:xfrm>
            <a:off x="8586216" y="2980944"/>
            <a:ext cx="91440" cy="91440"/>
          </a:xfrm>
          <a:prstGeom prst="ellipse">
            <a:avLst/>
          </a:prstGeom>
          <a:solidFill>
            <a:srgbClr val="7CD4FF"/>
          </a:solidFill>
          <a:ln w="12700">
            <a:solidFill>
              <a:srgbClr val="7CD4FF"/>
            </a:solidFill>
            <a:prstDash val="solid"/>
          </a:ln>
        </p:spPr>
      </p:sp>
      <p:sp>
        <p:nvSpPr>
          <p:cNvPr id="62" name="Text 60"/>
          <p:cNvSpPr/>
          <p:nvPr/>
        </p:nvSpPr>
        <p:spPr>
          <a:xfrm>
            <a:off x="8778240" y="2926080"/>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Sottocartelle solo quando servono.</a:t>
            </a:r>
            <a:endParaRPr lang="en-US" sz="1420" dirty="0"/>
          </a:p>
        </p:txBody>
      </p:sp>
      <p:sp>
        <p:nvSpPr>
          <p:cNvPr id="63" name="Shape 61"/>
          <p:cNvSpPr/>
          <p:nvPr/>
        </p:nvSpPr>
        <p:spPr>
          <a:xfrm>
            <a:off x="8586216" y="3694176"/>
            <a:ext cx="91440" cy="91440"/>
          </a:xfrm>
          <a:prstGeom prst="ellipse">
            <a:avLst/>
          </a:prstGeom>
          <a:solidFill>
            <a:srgbClr val="7CD4FF"/>
          </a:solidFill>
          <a:ln w="12700">
            <a:solidFill>
              <a:srgbClr val="7CD4FF"/>
            </a:solidFill>
            <a:prstDash val="solid"/>
          </a:ln>
        </p:spPr>
      </p:sp>
      <p:sp>
        <p:nvSpPr>
          <p:cNvPr id="64" name="Text 62"/>
          <p:cNvSpPr/>
          <p:nvPr/>
        </p:nvSpPr>
        <p:spPr>
          <a:xfrm>
            <a:off x="8778240" y="3639312"/>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Test vicino al codice verificato.</a:t>
            </a:r>
            <a:endParaRPr lang="en-US" sz="14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10</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PAIRING PATTERN</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Component Pairing: stesso nome base, responsabilità visibile</a:t>
            </a:r>
            <a:endParaRPr lang="en-US" sz="2700" dirty="0"/>
          </a:p>
        </p:txBody>
      </p:sp>
      <p:sp>
        <p:nvSpPr>
          <p:cNvPr id="29" name="Shape 27"/>
          <p:cNvSpPr/>
          <p:nvPr/>
        </p:nvSpPr>
        <p:spPr>
          <a:xfrm>
            <a:off x="530352" y="1591056"/>
            <a:ext cx="7589520" cy="4553712"/>
          </a:xfrm>
          <a:prstGeom prst="roundRect">
            <a:avLst>
              <a:gd name="adj" fmla="val 1004"/>
            </a:avLst>
          </a:prstGeom>
          <a:solidFill>
            <a:srgbClr val="0D1A2B"/>
          </a:solidFill>
          <a:ln w="13970">
            <a:solidFill>
              <a:srgbClr val="263A55"/>
            </a:solidFill>
            <a:prstDash val="solid"/>
          </a:ln>
        </p:spPr>
      </p:sp>
      <p:sp>
        <p:nvSpPr>
          <p:cNvPr id="30" name="Shape 28"/>
          <p:cNvSpPr/>
          <p:nvPr/>
        </p:nvSpPr>
        <p:spPr>
          <a:xfrm>
            <a:off x="530352" y="1591056"/>
            <a:ext cx="7589520" cy="347472"/>
          </a:xfrm>
          <a:prstGeom prst="rect">
            <a:avLst/>
          </a:prstGeom>
          <a:solidFill>
            <a:srgbClr val="122238"/>
          </a:solidFill>
          <a:ln w="12700">
            <a:solidFill>
              <a:srgbClr val="122238"/>
            </a:solidFill>
            <a:prstDash val="solid"/>
          </a:ln>
        </p:spPr>
      </p:sp>
      <p:sp>
        <p:nvSpPr>
          <p:cNvPr id="31" name="Shape 29"/>
          <p:cNvSpPr/>
          <p:nvPr/>
        </p:nvSpPr>
        <p:spPr>
          <a:xfrm>
            <a:off x="694944" y="1632204"/>
            <a:ext cx="658368" cy="274320"/>
          </a:xfrm>
          <a:prstGeom prst="roundRect">
            <a:avLst>
              <a:gd name="adj" fmla="val 20000"/>
            </a:avLst>
          </a:prstGeom>
          <a:solidFill>
            <a:srgbClr val="7CD4FF">
              <a:alpha val="20000"/>
            </a:srgbClr>
          </a:solidFill>
          <a:ln w="10160">
            <a:solidFill>
              <a:srgbClr val="7CD4FF">
                <a:alpha val="55000"/>
              </a:srgbClr>
            </a:solidFill>
            <a:prstDash val="solid"/>
          </a:ln>
        </p:spPr>
      </p:sp>
      <p:sp>
        <p:nvSpPr>
          <p:cNvPr id="32" name="Text 30"/>
          <p:cNvSpPr/>
          <p:nvPr/>
        </p:nvSpPr>
        <p:spPr>
          <a:xfrm>
            <a:off x="786384" y="1691640"/>
            <a:ext cx="475488" cy="128016"/>
          </a:xfrm>
          <a:prstGeom prst="rect">
            <a:avLst/>
          </a:prstGeom>
          <a:noFill/>
          <a:ln/>
        </p:spPr>
        <p:txBody>
          <a:bodyPr wrap="square" lIns="0" tIns="0" rIns="0" bIns="0" rtlCol="0" anchor="ctr"/>
          <a:lstStyle/>
          <a:p>
            <a:pPr algn="ctr" indent="0" marL="0">
              <a:buNone/>
            </a:pPr>
            <a:r>
              <a:rPr lang="en-US" sz="820" b="1" dirty="0">
                <a:solidFill>
                  <a:srgbClr val="7CD4FF"/>
                </a:solidFill>
                <a:latin typeface="Aptos Mono" pitchFamily="34" charset="0"/>
                <a:ea typeface="Aptos Mono" pitchFamily="34" charset="-122"/>
                <a:cs typeface="Aptos Mono" pitchFamily="34" charset="-120"/>
              </a:rPr>
              <a:t>TSX</a:t>
            </a:r>
            <a:endParaRPr lang="en-US" sz="820" dirty="0"/>
          </a:p>
        </p:txBody>
      </p:sp>
      <p:sp>
        <p:nvSpPr>
          <p:cNvPr id="33" name="Text 31"/>
          <p:cNvSpPr/>
          <p:nvPr/>
        </p:nvSpPr>
        <p:spPr>
          <a:xfrm>
            <a:off x="1490472" y="1687068"/>
            <a:ext cx="635508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Dashboard/Dashboard.tsx</a:t>
            </a:r>
            <a:endParaRPr lang="en-US" sz="880" dirty="0"/>
          </a:p>
        </p:txBody>
      </p:sp>
      <p:sp>
        <p:nvSpPr>
          <p:cNvPr id="34" name="Text 32"/>
          <p:cNvSpPr/>
          <p:nvPr/>
        </p:nvSpPr>
        <p:spPr>
          <a:xfrm>
            <a:off x="640080" y="205282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01</a:t>
            </a:r>
            <a:endParaRPr lang="en-US" sz="1200" dirty="0"/>
          </a:p>
        </p:txBody>
      </p:sp>
      <p:sp>
        <p:nvSpPr>
          <p:cNvPr id="35" name="Text 33"/>
          <p:cNvSpPr/>
          <p:nvPr/>
        </p:nvSpPr>
        <p:spPr>
          <a:xfrm>
            <a:off x="1033272" y="203911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import './Dashboard.scss';</a:t>
            </a:r>
            <a:endParaRPr lang="en-US" sz="1420" dirty="0"/>
          </a:p>
        </p:txBody>
      </p:sp>
      <p:sp>
        <p:nvSpPr>
          <p:cNvPr id="36" name="Text 34"/>
          <p:cNvSpPr/>
          <p:nvPr/>
        </p:nvSpPr>
        <p:spPr>
          <a:xfrm>
            <a:off x="640080" y="229514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02</a:t>
            </a:r>
            <a:endParaRPr lang="en-US" sz="1200" dirty="0"/>
          </a:p>
        </p:txBody>
      </p:sp>
      <p:sp>
        <p:nvSpPr>
          <p:cNvPr id="37" name="Text 35"/>
          <p:cNvSpPr/>
          <p:nvPr/>
        </p:nvSpPr>
        <p:spPr>
          <a:xfrm>
            <a:off x="1033272" y="228142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38" name="Text 36"/>
          <p:cNvSpPr/>
          <p:nvPr/>
        </p:nvSpPr>
        <p:spPr>
          <a:xfrm>
            <a:off x="640080" y="253746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03</a:t>
            </a:r>
            <a:endParaRPr lang="en-US" sz="1200" dirty="0"/>
          </a:p>
        </p:txBody>
      </p:sp>
      <p:sp>
        <p:nvSpPr>
          <p:cNvPr id="39" name="Text 37"/>
          <p:cNvSpPr/>
          <p:nvPr/>
        </p:nvSpPr>
        <p:spPr>
          <a:xfrm>
            <a:off x="1033272" y="2523744"/>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export function Dashboard() {</a:t>
            </a:r>
            <a:endParaRPr lang="en-US" sz="1420" dirty="0"/>
          </a:p>
        </p:txBody>
      </p:sp>
      <p:sp>
        <p:nvSpPr>
          <p:cNvPr id="40" name="Text 38"/>
          <p:cNvSpPr/>
          <p:nvPr/>
        </p:nvSpPr>
        <p:spPr>
          <a:xfrm>
            <a:off x="640080" y="277977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04</a:t>
            </a:r>
            <a:endParaRPr lang="en-US" sz="1200" dirty="0"/>
          </a:p>
        </p:txBody>
      </p:sp>
      <p:sp>
        <p:nvSpPr>
          <p:cNvPr id="41" name="Text 39"/>
          <p:cNvSpPr/>
          <p:nvPr/>
        </p:nvSpPr>
        <p:spPr>
          <a:xfrm>
            <a:off x="1033272" y="2766060"/>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return (</a:t>
            </a:r>
            <a:endParaRPr lang="en-US" sz="1420" dirty="0"/>
          </a:p>
        </p:txBody>
      </p:sp>
      <p:sp>
        <p:nvSpPr>
          <p:cNvPr id="42" name="Text 40"/>
          <p:cNvSpPr/>
          <p:nvPr/>
        </p:nvSpPr>
        <p:spPr>
          <a:xfrm>
            <a:off x="640080" y="3022092"/>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05</a:t>
            </a:r>
            <a:endParaRPr lang="en-US" sz="1200" dirty="0"/>
          </a:p>
        </p:txBody>
      </p:sp>
      <p:sp>
        <p:nvSpPr>
          <p:cNvPr id="43" name="Text 41"/>
          <p:cNvSpPr/>
          <p:nvPr/>
        </p:nvSpPr>
        <p:spPr>
          <a:xfrm>
            <a:off x="1033272" y="3008376"/>
            <a:ext cx="6931152" cy="242316"/>
          </a:xfrm>
          <a:prstGeom prst="rect">
            <a:avLst/>
          </a:prstGeom>
          <a:noFill/>
          <a:ln/>
        </p:spPr>
        <p:txBody>
          <a:bodyPr wrap="square" lIns="0" tIns="0" rIns="0" bIns="0" rtlCol="0" anchor="ctr">
            <a:normAutofit/>
          </a:bodyPr>
          <a:lstStyle/>
          <a:p>
            <a:pPr indent="0" marL="0">
              <a:buNone/>
            </a:pPr>
            <a:r>
              <a:rPr lang="en-US" sz="1420" dirty="0">
                <a:solidFill>
                  <a:srgbClr val="78C9A6"/>
                </a:solidFill>
                <a:latin typeface="Aptos Mono" pitchFamily="34" charset="0"/>
                <a:ea typeface="Aptos Mono" pitchFamily="34" charset="-122"/>
                <a:cs typeface="Aptos Mono" pitchFamily="34" charset="-120"/>
              </a:rPr>
              <a:t>    // Il prefisso lega markup e foglio locale.</a:t>
            </a:r>
            <a:endParaRPr lang="en-US" sz="1420" dirty="0"/>
          </a:p>
        </p:txBody>
      </p:sp>
      <p:sp>
        <p:nvSpPr>
          <p:cNvPr id="44" name="Text 42"/>
          <p:cNvSpPr/>
          <p:nvPr/>
        </p:nvSpPr>
        <p:spPr>
          <a:xfrm>
            <a:off x="640080" y="326440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06</a:t>
            </a:r>
            <a:endParaRPr lang="en-US" sz="1200" dirty="0"/>
          </a:p>
        </p:txBody>
      </p:sp>
      <p:sp>
        <p:nvSpPr>
          <p:cNvPr id="45" name="Text 43"/>
          <p:cNvSpPr/>
          <p:nvPr/>
        </p:nvSpPr>
        <p:spPr>
          <a:xfrm>
            <a:off x="1033272" y="325069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&lt;main className='dashboard'&gt;</a:t>
            </a:r>
            <a:endParaRPr lang="en-US" sz="1420" dirty="0"/>
          </a:p>
        </p:txBody>
      </p:sp>
      <p:sp>
        <p:nvSpPr>
          <p:cNvPr id="46" name="Text 44"/>
          <p:cNvSpPr/>
          <p:nvPr/>
        </p:nvSpPr>
        <p:spPr>
          <a:xfrm>
            <a:off x="640080" y="350672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07</a:t>
            </a:r>
            <a:endParaRPr lang="en-US" sz="1200" dirty="0"/>
          </a:p>
        </p:txBody>
      </p:sp>
      <p:sp>
        <p:nvSpPr>
          <p:cNvPr id="47" name="Text 45"/>
          <p:cNvSpPr/>
          <p:nvPr/>
        </p:nvSpPr>
        <p:spPr>
          <a:xfrm>
            <a:off x="1033272" y="349300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&lt;h1 className='dashboard__title'&gt;</a:t>
            </a:r>
            <a:endParaRPr lang="en-US" sz="1420" dirty="0"/>
          </a:p>
        </p:txBody>
      </p:sp>
      <p:sp>
        <p:nvSpPr>
          <p:cNvPr id="48" name="Text 46"/>
          <p:cNvSpPr/>
          <p:nvPr/>
        </p:nvSpPr>
        <p:spPr>
          <a:xfrm>
            <a:off x="640080" y="374904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08</a:t>
            </a:r>
            <a:endParaRPr lang="en-US" sz="1200" dirty="0"/>
          </a:p>
        </p:txBody>
      </p:sp>
      <p:sp>
        <p:nvSpPr>
          <p:cNvPr id="49" name="Text 47"/>
          <p:cNvSpPr/>
          <p:nvPr/>
        </p:nvSpPr>
        <p:spPr>
          <a:xfrm>
            <a:off x="1033272" y="3735324"/>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Operations</a:t>
            </a:r>
            <a:endParaRPr lang="en-US" sz="1420" dirty="0"/>
          </a:p>
        </p:txBody>
      </p:sp>
      <p:sp>
        <p:nvSpPr>
          <p:cNvPr id="50" name="Text 48"/>
          <p:cNvSpPr/>
          <p:nvPr/>
        </p:nvSpPr>
        <p:spPr>
          <a:xfrm>
            <a:off x="640080" y="399135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09</a:t>
            </a:r>
            <a:endParaRPr lang="en-US" sz="1200" dirty="0"/>
          </a:p>
        </p:txBody>
      </p:sp>
      <p:sp>
        <p:nvSpPr>
          <p:cNvPr id="51" name="Text 49"/>
          <p:cNvSpPr/>
          <p:nvPr/>
        </p:nvSpPr>
        <p:spPr>
          <a:xfrm>
            <a:off x="1033272" y="3977640"/>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&lt;/h1&gt;</a:t>
            </a:r>
            <a:endParaRPr lang="en-US" sz="1420" dirty="0"/>
          </a:p>
        </p:txBody>
      </p:sp>
      <p:sp>
        <p:nvSpPr>
          <p:cNvPr id="52" name="Text 50"/>
          <p:cNvSpPr/>
          <p:nvPr/>
        </p:nvSpPr>
        <p:spPr>
          <a:xfrm>
            <a:off x="640080" y="4233672"/>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10</a:t>
            </a:r>
            <a:endParaRPr lang="en-US" sz="1200" dirty="0"/>
          </a:p>
        </p:txBody>
      </p:sp>
      <p:sp>
        <p:nvSpPr>
          <p:cNvPr id="53" name="Text 51"/>
          <p:cNvSpPr/>
          <p:nvPr/>
        </p:nvSpPr>
        <p:spPr>
          <a:xfrm>
            <a:off x="1033272" y="4219956"/>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&lt;/main&gt;</a:t>
            </a:r>
            <a:endParaRPr lang="en-US" sz="1420" dirty="0"/>
          </a:p>
        </p:txBody>
      </p:sp>
      <p:sp>
        <p:nvSpPr>
          <p:cNvPr id="54" name="Text 52"/>
          <p:cNvSpPr/>
          <p:nvPr/>
        </p:nvSpPr>
        <p:spPr>
          <a:xfrm>
            <a:off x="640080" y="447598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11</a:t>
            </a:r>
            <a:endParaRPr lang="en-US" sz="1200" dirty="0"/>
          </a:p>
        </p:txBody>
      </p:sp>
      <p:sp>
        <p:nvSpPr>
          <p:cNvPr id="55" name="Text 53"/>
          <p:cNvSpPr/>
          <p:nvPr/>
        </p:nvSpPr>
        <p:spPr>
          <a:xfrm>
            <a:off x="1033272" y="446227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56" name="Text 54"/>
          <p:cNvSpPr/>
          <p:nvPr/>
        </p:nvSpPr>
        <p:spPr>
          <a:xfrm>
            <a:off x="640080" y="471830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12</a:t>
            </a:r>
            <a:endParaRPr lang="en-US" sz="1200" dirty="0"/>
          </a:p>
        </p:txBody>
      </p:sp>
      <p:sp>
        <p:nvSpPr>
          <p:cNvPr id="57" name="Text 55"/>
          <p:cNvSpPr/>
          <p:nvPr/>
        </p:nvSpPr>
        <p:spPr>
          <a:xfrm>
            <a:off x="1033272" y="470458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a:t>
            </a:r>
            <a:endParaRPr lang="en-US" sz="1420" dirty="0"/>
          </a:p>
        </p:txBody>
      </p:sp>
      <p:sp>
        <p:nvSpPr>
          <p:cNvPr id="58" name="Shape 56"/>
          <p:cNvSpPr/>
          <p:nvPr/>
        </p:nvSpPr>
        <p:spPr>
          <a:xfrm>
            <a:off x="8366760" y="1591056"/>
            <a:ext cx="3310128" cy="4553712"/>
          </a:xfrm>
          <a:prstGeom prst="roundRect">
            <a:avLst>
              <a:gd name="adj" fmla="val 1381"/>
            </a:avLst>
          </a:prstGeom>
          <a:solidFill>
            <a:srgbClr val="122238"/>
          </a:solidFill>
          <a:ln w="12700">
            <a:solidFill>
              <a:srgbClr val="263A55"/>
            </a:solidFill>
            <a:prstDash val="solid"/>
          </a:ln>
        </p:spPr>
      </p:sp>
      <p:sp>
        <p:nvSpPr>
          <p:cNvPr id="59" name="Text 57"/>
          <p:cNvSpPr/>
          <p:nvPr/>
        </p:nvSpPr>
        <p:spPr>
          <a:xfrm>
            <a:off x="8586216" y="1801368"/>
            <a:ext cx="2871216" cy="182880"/>
          </a:xfrm>
          <a:prstGeom prst="rect">
            <a:avLst/>
          </a:prstGeom>
          <a:noFill/>
          <a:ln/>
        </p:spPr>
        <p:txBody>
          <a:bodyPr wrap="square" lIns="0" tIns="0" rIns="0" bIns="0" rtlCol="0" anchor="ctr"/>
          <a:lstStyle/>
          <a:p>
            <a:pPr indent="0" marL="0">
              <a:buNone/>
            </a:pPr>
            <a:r>
              <a:rPr lang="en-US" sz="950" b="1" spc="115" kern="0" dirty="0">
                <a:solidFill>
                  <a:srgbClr val="F5C96A"/>
                </a:solidFill>
                <a:latin typeface="Aptos" pitchFamily="34" charset="0"/>
                <a:ea typeface="Aptos" pitchFamily="34" charset="-122"/>
                <a:cs typeface="Aptos" pitchFamily="34" charset="-120"/>
              </a:rPr>
              <a:t>DA OSSERVARE</a:t>
            </a:r>
            <a:endParaRPr lang="en-US" sz="950" dirty="0"/>
          </a:p>
        </p:txBody>
      </p:sp>
      <p:sp>
        <p:nvSpPr>
          <p:cNvPr id="60" name="Shape 58"/>
          <p:cNvSpPr/>
          <p:nvPr/>
        </p:nvSpPr>
        <p:spPr>
          <a:xfrm>
            <a:off x="8586216" y="2267712"/>
            <a:ext cx="91440" cy="91440"/>
          </a:xfrm>
          <a:prstGeom prst="ellipse">
            <a:avLst/>
          </a:prstGeom>
          <a:solidFill>
            <a:srgbClr val="7CD4FF"/>
          </a:solidFill>
          <a:ln w="12700">
            <a:solidFill>
              <a:srgbClr val="7CD4FF"/>
            </a:solidFill>
            <a:prstDash val="solid"/>
          </a:ln>
        </p:spPr>
      </p:sp>
      <p:sp>
        <p:nvSpPr>
          <p:cNvPr id="61" name="Text 59"/>
          <p:cNvSpPr/>
          <p:nvPr/>
        </p:nvSpPr>
        <p:spPr>
          <a:xfrm>
            <a:off x="8778240" y="2212848"/>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Dashboard.tsx ↔ Dashboard.scss</a:t>
            </a:r>
            <a:endParaRPr lang="en-US" sz="1420" dirty="0"/>
          </a:p>
        </p:txBody>
      </p:sp>
      <p:sp>
        <p:nvSpPr>
          <p:cNvPr id="62" name="Shape 60"/>
          <p:cNvSpPr/>
          <p:nvPr/>
        </p:nvSpPr>
        <p:spPr>
          <a:xfrm>
            <a:off x="8586216" y="2980944"/>
            <a:ext cx="91440" cy="91440"/>
          </a:xfrm>
          <a:prstGeom prst="ellipse">
            <a:avLst/>
          </a:prstGeom>
          <a:solidFill>
            <a:srgbClr val="7CD4FF"/>
          </a:solidFill>
          <a:ln w="12700">
            <a:solidFill>
              <a:srgbClr val="7CD4FF"/>
            </a:solidFill>
            <a:prstDash val="solid"/>
          </a:ln>
        </p:spPr>
      </p:sp>
      <p:sp>
        <p:nvSpPr>
          <p:cNvPr id="63" name="Text 61"/>
          <p:cNvSpPr/>
          <p:nvPr/>
        </p:nvSpPr>
        <p:spPr>
          <a:xfrm>
            <a:off x="8778240" y="2926080"/>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Import locale e cancellazione semplice.</a:t>
            </a:r>
            <a:endParaRPr lang="en-US" sz="1420" dirty="0"/>
          </a:p>
        </p:txBody>
      </p:sp>
      <p:sp>
        <p:nvSpPr>
          <p:cNvPr id="64" name="Shape 62"/>
          <p:cNvSpPr/>
          <p:nvPr/>
        </p:nvSpPr>
        <p:spPr>
          <a:xfrm>
            <a:off x="8586216" y="3694176"/>
            <a:ext cx="91440" cy="91440"/>
          </a:xfrm>
          <a:prstGeom prst="ellipse">
            <a:avLst/>
          </a:prstGeom>
          <a:solidFill>
            <a:srgbClr val="7CD4FF"/>
          </a:solidFill>
          <a:ln w="12700">
            <a:solidFill>
              <a:srgbClr val="7CD4FF"/>
            </a:solidFill>
            <a:prstDash val="solid"/>
          </a:ln>
        </p:spPr>
      </p:sp>
      <p:sp>
        <p:nvSpPr>
          <p:cNvPr id="65" name="Text 63"/>
          <p:cNvSpPr/>
          <p:nvPr/>
        </p:nvSpPr>
        <p:spPr>
          <a:xfrm>
            <a:off x="8778240" y="3639312"/>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Il prefisso limita collisioni globali.</a:t>
            </a:r>
            <a:endParaRPr lang="en-US" sz="14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11</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CONFINE DEL COMPONENTE</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Pairing completo: codice, stile, tipi e test</a:t>
            </a:r>
            <a:endParaRPr lang="en-US" sz="2700" dirty="0"/>
          </a:p>
        </p:txBody>
      </p:sp>
      <p:sp>
        <p:nvSpPr>
          <p:cNvPr id="29" name="Shape 27"/>
          <p:cNvSpPr/>
          <p:nvPr/>
        </p:nvSpPr>
        <p:spPr>
          <a:xfrm>
            <a:off x="530352" y="1591056"/>
            <a:ext cx="7589520" cy="4553712"/>
          </a:xfrm>
          <a:prstGeom prst="roundRect">
            <a:avLst>
              <a:gd name="adj" fmla="val 1004"/>
            </a:avLst>
          </a:prstGeom>
          <a:solidFill>
            <a:srgbClr val="0D1A2B"/>
          </a:solidFill>
          <a:ln w="13970">
            <a:solidFill>
              <a:srgbClr val="263A55"/>
            </a:solidFill>
            <a:prstDash val="solid"/>
          </a:ln>
        </p:spPr>
      </p:sp>
      <p:sp>
        <p:nvSpPr>
          <p:cNvPr id="30" name="Shape 28"/>
          <p:cNvSpPr/>
          <p:nvPr/>
        </p:nvSpPr>
        <p:spPr>
          <a:xfrm>
            <a:off x="530352" y="1591056"/>
            <a:ext cx="7589520" cy="347472"/>
          </a:xfrm>
          <a:prstGeom prst="rect">
            <a:avLst/>
          </a:prstGeom>
          <a:solidFill>
            <a:srgbClr val="122238"/>
          </a:solidFill>
          <a:ln w="12700">
            <a:solidFill>
              <a:srgbClr val="122238"/>
            </a:solidFill>
            <a:prstDash val="solid"/>
          </a:ln>
        </p:spPr>
      </p:sp>
      <p:sp>
        <p:nvSpPr>
          <p:cNvPr id="31" name="Shape 29"/>
          <p:cNvSpPr/>
          <p:nvPr/>
        </p:nvSpPr>
        <p:spPr>
          <a:xfrm>
            <a:off x="694944" y="1632204"/>
            <a:ext cx="1046988" cy="274320"/>
          </a:xfrm>
          <a:prstGeom prst="roundRect">
            <a:avLst>
              <a:gd name="adj" fmla="val 20000"/>
            </a:avLst>
          </a:prstGeom>
          <a:solidFill>
            <a:srgbClr val="7CD4FF">
              <a:alpha val="20000"/>
            </a:srgbClr>
          </a:solidFill>
          <a:ln w="10160">
            <a:solidFill>
              <a:srgbClr val="7CD4FF">
                <a:alpha val="55000"/>
              </a:srgbClr>
            </a:solidFill>
            <a:prstDash val="solid"/>
          </a:ln>
        </p:spPr>
      </p:sp>
      <p:sp>
        <p:nvSpPr>
          <p:cNvPr id="32" name="Text 30"/>
          <p:cNvSpPr/>
          <p:nvPr/>
        </p:nvSpPr>
        <p:spPr>
          <a:xfrm>
            <a:off x="786384" y="1691640"/>
            <a:ext cx="864108" cy="128016"/>
          </a:xfrm>
          <a:prstGeom prst="rect">
            <a:avLst/>
          </a:prstGeom>
          <a:noFill/>
          <a:ln/>
        </p:spPr>
        <p:txBody>
          <a:bodyPr wrap="square" lIns="0" tIns="0" rIns="0" bIns="0" rtlCol="0" anchor="ctr"/>
          <a:lstStyle/>
          <a:p>
            <a:pPr algn="ctr" indent="0" marL="0">
              <a:buNone/>
            </a:pPr>
            <a:r>
              <a:rPr lang="en-US" sz="820" b="1" dirty="0">
                <a:solidFill>
                  <a:srgbClr val="7CD4FF"/>
                </a:solidFill>
                <a:latin typeface="Aptos Mono" pitchFamily="34" charset="0"/>
                <a:ea typeface="Aptos Mono" pitchFamily="34" charset="-122"/>
                <a:cs typeface="Aptos Mono" pitchFamily="34" charset="-120"/>
              </a:rPr>
              <a:t>STRUTTURA</a:t>
            </a:r>
            <a:endParaRPr lang="en-US" sz="820" dirty="0"/>
          </a:p>
        </p:txBody>
      </p:sp>
      <p:sp>
        <p:nvSpPr>
          <p:cNvPr id="33" name="Text 31"/>
          <p:cNvSpPr/>
          <p:nvPr/>
        </p:nvSpPr>
        <p:spPr>
          <a:xfrm>
            <a:off x="640080" y="2052828"/>
            <a:ext cx="320040" cy="242316"/>
          </a:xfrm>
          <a:prstGeom prst="rect">
            <a:avLst/>
          </a:prstGeom>
          <a:noFill/>
          <a:ln/>
        </p:spPr>
        <p:txBody>
          <a:bodyPr wrap="square" lIns="0" tIns="0" rIns="0" bIns="0" rtlCol="0" anchor="ctr"/>
          <a:lstStyle/>
          <a:p>
            <a:pPr algn="r" indent="0" marL="0">
              <a:buNone/>
            </a:pPr>
            <a:r>
              <a:rPr lang="en-US" sz="1230" dirty="0">
                <a:solidFill>
                  <a:srgbClr val="8296AE"/>
                </a:solidFill>
                <a:latin typeface="Aptos Mono" pitchFamily="34" charset="0"/>
                <a:ea typeface="Aptos Mono" pitchFamily="34" charset="-122"/>
                <a:cs typeface="Aptos Mono" pitchFamily="34" charset="-120"/>
              </a:rPr>
              <a:t>01</a:t>
            </a:r>
            <a:endParaRPr lang="en-US" sz="1230" dirty="0"/>
          </a:p>
        </p:txBody>
      </p:sp>
      <p:sp>
        <p:nvSpPr>
          <p:cNvPr id="34" name="Text 32"/>
          <p:cNvSpPr/>
          <p:nvPr/>
        </p:nvSpPr>
        <p:spPr>
          <a:xfrm>
            <a:off x="1033272" y="2039112"/>
            <a:ext cx="6931152" cy="242316"/>
          </a:xfrm>
          <a:prstGeom prst="rect">
            <a:avLst/>
          </a:prstGeom>
          <a:noFill/>
          <a:ln/>
        </p:spPr>
        <p:txBody>
          <a:bodyPr wrap="square" lIns="0" tIns="0" rIns="0" bIns="0" rtlCol="0" anchor="ctr">
            <a:normAutofit/>
          </a:bodyPr>
          <a:lstStyle/>
          <a:p>
            <a:pPr indent="0" marL="0">
              <a:buNone/>
            </a:pPr>
            <a:r>
              <a:rPr lang="en-US" sz="1450" dirty="0">
                <a:solidFill>
                  <a:srgbClr val="D9E4F2"/>
                </a:solidFill>
                <a:latin typeface="Aptos Mono" pitchFamily="34" charset="0"/>
                <a:ea typeface="Aptos Mono" pitchFamily="34" charset="-122"/>
                <a:cs typeface="Aptos Mono" pitchFamily="34" charset="-120"/>
              </a:rPr>
              <a:t>TicketList/</a:t>
            </a:r>
            <a:endParaRPr lang="en-US" sz="1450" dirty="0"/>
          </a:p>
        </p:txBody>
      </p:sp>
      <p:sp>
        <p:nvSpPr>
          <p:cNvPr id="35" name="Text 33"/>
          <p:cNvSpPr/>
          <p:nvPr/>
        </p:nvSpPr>
        <p:spPr>
          <a:xfrm>
            <a:off x="640080" y="2295144"/>
            <a:ext cx="320040" cy="242316"/>
          </a:xfrm>
          <a:prstGeom prst="rect">
            <a:avLst/>
          </a:prstGeom>
          <a:noFill/>
          <a:ln/>
        </p:spPr>
        <p:txBody>
          <a:bodyPr wrap="square" lIns="0" tIns="0" rIns="0" bIns="0" rtlCol="0" anchor="ctr"/>
          <a:lstStyle/>
          <a:p>
            <a:pPr algn="r" indent="0" marL="0">
              <a:buNone/>
            </a:pPr>
            <a:r>
              <a:rPr lang="en-US" sz="1230" dirty="0">
                <a:solidFill>
                  <a:srgbClr val="8296AE"/>
                </a:solidFill>
                <a:latin typeface="Aptos Mono" pitchFamily="34" charset="0"/>
                <a:ea typeface="Aptos Mono" pitchFamily="34" charset="-122"/>
                <a:cs typeface="Aptos Mono" pitchFamily="34" charset="-120"/>
              </a:rPr>
              <a:t>02</a:t>
            </a:r>
            <a:endParaRPr lang="en-US" sz="1230" dirty="0"/>
          </a:p>
        </p:txBody>
      </p:sp>
      <p:sp>
        <p:nvSpPr>
          <p:cNvPr id="36" name="Text 34"/>
          <p:cNvSpPr/>
          <p:nvPr/>
        </p:nvSpPr>
        <p:spPr>
          <a:xfrm>
            <a:off x="1033272" y="2281428"/>
            <a:ext cx="6931152" cy="242316"/>
          </a:xfrm>
          <a:prstGeom prst="rect">
            <a:avLst/>
          </a:prstGeom>
          <a:noFill/>
          <a:ln/>
        </p:spPr>
        <p:txBody>
          <a:bodyPr wrap="square" lIns="0" tIns="0" rIns="0" bIns="0" rtlCol="0" anchor="ctr">
            <a:normAutofit/>
          </a:bodyPr>
          <a:lstStyle/>
          <a:p>
            <a:pPr indent="0" marL="0">
              <a:buNone/>
            </a:pPr>
            <a:r>
              <a:rPr lang="en-US" sz="1450" dirty="0">
                <a:solidFill>
                  <a:srgbClr val="D9E4F2"/>
                </a:solidFill>
                <a:latin typeface="Aptos Mono" pitchFamily="34" charset="0"/>
                <a:ea typeface="Aptos Mono" pitchFamily="34" charset="-122"/>
                <a:cs typeface="Aptos Mono" pitchFamily="34" charset="-120"/>
              </a:rPr>
              <a:t>├── TicketList.tsx       // implementazione</a:t>
            </a:r>
            <a:endParaRPr lang="en-US" sz="1450" dirty="0"/>
          </a:p>
        </p:txBody>
      </p:sp>
      <p:sp>
        <p:nvSpPr>
          <p:cNvPr id="37" name="Text 35"/>
          <p:cNvSpPr/>
          <p:nvPr/>
        </p:nvSpPr>
        <p:spPr>
          <a:xfrm>
            <a:off x="640080" y="2537460"/>
            <a:ext cx="320040" cy="242316"/>
          </a:xfrm>
          <a:prstGeom prst="rect">
            <a:avLst/>
          </a:prstGeom>
          <a:noFill/>
          <a:ln/>
        </p:spPr>
        <p:txBody>
          <a:bodyPr wrap="square" lIns="0" tIns="0" rIns="0" bIns="0" rtlCol="0" anchor="ctr"/>
          <a:lstStyle/>
          <a:p>
            <a:pPr algn="r" indent="0" marL="0">
              <a:buNone/>
            </a:pPr>
            <a:r>
              <a:rPr lang="en-US" sz="1230" dirty="0">
                <a:solidFill>
                  <a:srgbClr val="8296AE"/>
                </a:solidFill>
                <a:latin typeface="Aptos Mono" pitchFamily="34" charset="0"/>
                <a:ea typeface="Aptos Mono" pitchFamily="34" charset="-122"/>
                <a:cs typeface="Aptos Mono" pitchFamily="34" charset="-120"/>
              </a:rPr>
              <a:t>03</a:t>
            </a:r>
            <a:endParaRPr lang="en-US" sz="1230" dirty="0"/>
          </a:p>
        </p:txBody>
      </p:sp>
      <p:sp>
        <p:nvSpPr>
          <p:cNvPr id="38" name="Text 36"/>
          <p:cNvSpPr/>
          <p:nvPr/>
        </p:nvSpPr>
        <p:spPr>
          <a:xfrm>
            <a:off x="1033272" y="2523744"/>
            <a:ext cx="6931152" cy="242316"/>
          </a:xfrm>
          <a:prstGeom prst="rect">
            <a:avLst/>
          </a:prstGeom>
          <a:noFill/>
          <a:ln/>
        </p:spPr>
        <p:txBody>
          <a:bodyPr wrap="square" lIns="0" tIns="0" rIns="0" bIns="0" rtlCol="0" anchor="ctr">
            <a:normAutofit/>
          </a:bodyPr>
          <a:lstStyle/>
          <a:p>
            <a:pPr indent="0" marL="0">
              <a:buNone/>
            </a:pPr>
            <a:r>
              <a:rPr lang="en-US" sz="1450" dirty="0">
                <a:solidFill>
                  <a:srgbClr val="D9E4F2"/>
                </a:solidFill>
                <a:latin typeface="Aptos Mono" pitchFamily="34" charset="0"/>
                <a:ea typeface="Aptos Mono" pitchFamily="34" charset="-122"/>
                <a:cs typeface="Aptos Mono" pitchFamily="34" charset="-120"/>
              </a:rPr>
              <a:t>├── TicketList.scss      // stile locale</a:t>
            </a:r>
            <a:endParaRPr lang="en-US" sz="1450" dirty="0"/>
          </a:p>
        </p:txBody>
      </p:sp>
      <p:sp>
        <p:nvSpPr>
          <p:cNvPr id="39" name="Text 37"/>
          <p:cNvSpPr/>
          <p:nvPr/>
        </p:nvSpPr>
        <p:spPr>
          <a:xfrm>
            <a:off x="640080" y="2779776"/>
            <a:ext cx="320040" cy="242316"/>
          </a:xfrm>
          <a:prstGeom prst="rect">
            <a:avLst/>
          </a:prstGeom>
          <a:noFill/>
          <a:ln/>
        </p:spPr>
        <p:txBody>
          <a:bodyPr wrap="square" lIns="0" tIns="0" rIns="0" bIns="0" rtlCol="0" anchor="ctr"/>
          <a:lstStyle/>
          <a:p>
            <a:pPr algn="r" indent="0" marL="0">
              <a:buNone/>
            </a:pPr>
            <a:r>
              <a:rPr lang="en-US" sz="1230" dirty="0">
                <a:solidFill>
                  <a:srgbClr val="8296AE"/>
                </a:solidFill>
                <a:latin typeface="Aptos Mono" pitchFamily="34" charset="0"/>
                <a:ea typeface="Aptos Mono" pitchFamily="34" charset="-122"/>
                <a:cs typeface="Aptos Mono" pitchFamily="34" charset="-120"/>
              </a:rPr>
              <a:t>04</a:t>
            </a:r>
            <a:endParaRPr lang="en-US" sz="1230" dirty="0"/>
          </a:p>
        </p:txBody>
      </p:sp>
      <p:sp>
        <p:nvSpPr>
          <p:cNvPr id="40" name="Text 38"/>
          <p:cNvSpPr/>
          <p:nvPr/>
        </p:nvSpPr>
        <p:spPr>
          <a:xfrm>
            <a:off x="1033272" y="2766060"/>
            <a:ext cx="6931152" cy="242316"/>
          </a:xfrm>
          <a:prstGeom prst="rect">
            <a:avLst/>
          </a:prstGeom>
          <a:noFill/>
          <a:ln/>
        </p:spPr>
        <p:txBody>
          <a:bodyPr wrap="square" lIns="0" tIns="0" rIns="0" bIns="0" rtlCol="0" anchor="ctr">
            <a:normAutofit/>
          </a:bodyPr>
          <a:lstStyle/>
          <a:p>
            <a:pPr indent="0" marL="0">
              <a:buNone/>
            </a:pPr>
            <a:r>
              <a:rPr lang="en-US" sz="1450" dirty="0">
                <a:solidFill>
                  <a:srgbClr val="D9E4F2"/>
                </a:solidFill>
                <a:latin typeface="Aptos Mono" pitchFamily="34" charset="0"/>
                <a:ea typeface="Aptos Mono" pitchFamily="34" charset="-122"/>
                <a:cs typeface="Aptos Mono" pitchFamily="34" charset="-120"/>
              </a:rPr>
              <a:t>├── TicketList.types.ts  // contratto pubblico</a:t>
            </a:r>
            <a:endParaRPr lang="en-US" sz="1450" dirty="0"/>
          </a:p>
        </p:txBody>
      </p:sp>
      <p:sp>
        <p:nvSpPr>
          <p:cNvPr id="41" name="Text 39"/>
          <p:cNvSpPr/>
          <p:nvPr/>
        </p:nvSpPr>
        <p:spPr>
          <a:xfrm>
            <a:off x="640080" y="3022092"/>
            <a:ext cx="320040" cy="242316"/>
          </a:xfrm>
          <a:prstGeom prst="rect">
            <a:avLst/>
          </a:prstGeom>
          <a:noFill/>
          <a:ln/>
        </p:spPr>
        <p:txBody>
          <a:bodyPr wrap="square" lIns="0" tIns="0" rIns="0" bIns="0" rtlCol="0" anchor="ctr"/>
          <a:lstStyle/>
          <a:p>
            <a:pPr algn="r" indent="0" marL="0">
              <a:buNone/>
            </a:pPr>
            <a:r>
              <a:rPr lang="en-US" sz="1230" dirty="0">
                <a:solidFill>
                  <a:srgbClr val="8296AE"/>
                </a:solidFill>
                <a:latin typeface="Aptos Mono" pitchFamily="34" charset="0"/>
                <a:ea typeface="Aptos Mono" pitchFamily="34" charset="-122"/>
                <a:cs typeface="Aptos Mono" pitchFamily="34" charset="-120"/>
              </a:rPr>
              <a:t>05</a:t>
            </a:r>
            <a:endParaRPr lang="en-US" sz="1230" dirty="0"/>
          </a:p>
        </p:txBody>
      </p:sp>
      <p:sp>
        <p:nvSpPr>
          <p:cNvPr id="42" name="Text 40"/>
          <p:cNvSpPr/>
          <p:nvPr/>
        </p:nvSpPr>
        <p:spPr>
          <a:xfrm>
            <a:off x="1033272" y="3008376"/>
            <a:ext cx="6931152" cy="242316"/>
          </a:xfrm>
          <a:prstGeom prst="rect">
            <a:avLst/>
          </a:prstGeom>
          <a:noFill/>
          <a:ln/>
        </p:spPr>
        <p:txBody>
          <a:bodyPr wrap="square" lIns="0" tIns="0" rIns="0" bIns="0" rtlCol="0" anchor="ctr">
            <a:normAutofit/>
          </a:bodyPr>
          <a:lstStyle/>
          <a:p>
            <a:pPr indent="0" marL="0">
              <a:buNone/>
            </a:pPr>
            <a:r>
              <a:rPr lang="en-US" sz="1450" dirty="0">
                <a:solidFill>
                  <a:srgbClr val="D9E4F2"/>
                </a:solidFill>
                <a:latin typeface="Aptos Mono" pitchFamily="34" charset="0"/>
                <a:ea typeface="Aptos Mono" pitchFamily="34" charset="-122"/>
                <a:cs typeface="Aptos Mono" pitchFamily="34" charset="-120"/>
              </a:rPr>
              <a:t>├── TicketList.test.tsx  // comportamento</a:t>
            </a:r>
            <a:endParaRPr lang="en-US" sz="1450" dirty="0"/>
          </a:p>
        </p:txBody>
      </p:sp>
      <p:sp>
        <p:nvSpPr>
          <p:cNvPr id="43" name="Text 41"/>
          <p:cNvSpPr/>
          <p:nvPr/>
        </p:nvSpPr>
        <p:spPr>
          <a:xfrm>
            <a:off x="640080" y="3264408"/>
            <a:ext cx="320040" cy="242316"/>
          </a:xfrm>
          <a:prstGeom prst="rect">
            <a:avLst/>
          </a:prstGeom>
          <a:noFill/>
          <a:ln/>
        </p:spPr>
        <p:txBody>
          <a:bodyPr wrap="square" lIns="0" tIns="0" rIns="0" bIns="0" rtlCol="0" anchor="ctr"/>
          <a:lstStyle/>
          <a:p>
            <a:pPr algn="r" indent="0" marL="0">
              <a:buNone/>
            </a:pPr>
            <a:r>
              <a:rPr lang="en-US" sz="1230" dirty="0">
                <a:solidFill>
                  <a:srgbClr val="8296AE"/>
                </a:solidFill>
                <a:latin typeface="Aptos Mono" pitchFamily="34" charset="0"/>
                <a:ea typeface="Aptos Mono" pitchFamily="34" charset="-122"/>
                <a:cs typeface="Aptos Mono" pitchFamily="34" charset="-120"/>
              </a:rPr>
              <a:t>06</a:t>
            </a:r>
            <a:endParaRPr lang="en-US" sz="1230" dirty="0"/>
          </a:p>
        </p:txBody>
      </p:sp>
      <p:sp>
        <p:nvSpPr>
          <p:cNvPr id="44" name="Text 42"/>
          <p:cNvSpPr/>
          <p:nvPr/>
        </p:nvSpPr>
        <p:spPr>
          <a:xfrm>
            <a:off x="1033272" y="3250692"/>
            <a:ext cx="6931152" cy="242316"/>
          </a:xfrm>
          <a:prstGeom prst="rect">
            <a:avLst/>
          </a:prstGeom>
          <a:noFill/>
          <a:ln/>
        </p:spPr>
        <p:txBody>
          <a:bodyPr wrap="square" lIns="0" tIns="0" rIns="0" bIns="0" rtlCol="0" anchor="ctr">
            <a:normAutofit/>
          </a:bodyPr>
          <a:lstStyle/>
          <a:p>
            <a:pPr indent="0" marL="0">
              <a:buNone/>
            </a:pPr>
            <a:r>
              <a:rPr lang="en-US" sz="1450" dirty="0">
                <a:solidFill>
                  <a:srgbClr val="D9E4F2"/>
                </a:solidFill>
                <a:latin typeface="Aptos Mono" pitchFamily="34" charset="0"/>
                <a:ea typeface="Aptos Mono" pitchFamily="34" charset="-122"/>
                <a:cs typeface="Aptos Mono" pitchFamily="34" charset="-120"/>
              </a:rPr>
              <a:t>└── index.ts             // API della cartella</a:t>
            </a:r>
            <a:endParaRPr lang="en-US" sz="1450" dirty="0"/>
          </a:p>
        </p:txBody>
      </p:sp>
      <p:sp>
        <p:nvSpPr>
          <p:cNvPr id="45" name="Shape 43"/>
          <p:cNvSpPr/>
          <p:nvPr/>
        </p:nvSpPr>
        <p:spPr>
          <a:xfrm>
            <a:off x="8366760" y="1591056"/>
            <a:ext cx="3310128" cy="4553712"/>
          </a:xfrm>
          <a:prstGeom prst="roundRect">
            <a:avLst>
              <a:gd name="adj" fmla="val 1381"/>
            </a:avLst>
          </a:prstGeom>
          <a:solidFill>
            <a:srgbClr val="122238"/>
          </a:solidFill>
          <a:ln w="12700">
            <a:solidFill>
              <a:srgbClr val="263A55"/>
            </a:solidFill>
            <a:prstDash val="solid"/>
          </a:ln>
        </p:spPr>
      </p:sp>
      <p:sp>
        <p:nvSpPr>
          <p:cNvPr id="46" name="Text 44"/>
          <p:cNvSpPr/>
          <p:nvPr/>
        </p:nvSpPr>
        <p:spPr>
          <a:xfrm>
            <a:off x="8586216" y="1801368"/>
            <a:ext cx="2871216" cy="182880"/>
          </a:xfrm>
          <a:prstGeom prst="rect">
            <a:avLst/>
          </a:prstGeom>
          <a:noFill/>
          <a:ln/>
        </p:spPr>
        <p:txBody>
          <a:bodyPr wrap="square" lIns="0" tIns="0" rIns="0" bIns="0" rtlCol="0" anchor="ctr"/>
          <a:lstStyle/>
          <a:p>
            <a:pPr indent="0" marL="0">
              <a:buNone/>
            </a:pPr>
            <a:r>
              <a:rPr lang="en-US" sz="950" b="1" spc="115" kern="0" dirty="0">
                <a:solidFill>
                  <a:srgbClr val="F5C96A"/>
                </a:solidFill>
                <a:latin typeface="Aptos" pitchFamily="34" charset="0"/>
                <a:ea typeface="Aptos" pitchFamily="34" charset="-122"/>
                <a:cs typeface="Aptos" pitchFamily="34" charset="-120"/>
              </a:rPr>
              <a:t>DA OSSERVARE</a:t>
            </a:r>
            <a:endParaRPr lang="en-US" sz="950" dirty="0"/>
          </a:p>
        </p:txBody>
      </p:sp>
      <p:sp>
        <p:nvSpPr>
          <p:cNvPr id="47" name="Shape 45"/>
          <p:cNvSpPr/>
          <p:nvPr/>
        </p:nvSpPr>
        <p:spPr>
          <a:xfrm>
            <a:off x="8586216" y="2267712"/>
            <a:ext cx="91440" cy="91440"/>
          </a:xfrm>
          <a:prstGeom prst="ellipse">
            <a:avLst/>
          </a:prstGeom>
          <a:solidFill>
            <a:srgbClr val="7CD4FF"/>
          </a:solidFill>
          <a:ln w="12700">
            <a:solidFill>
              <a:srgbClr val="7CD4FF"/>
            </a:solidFill>
            <a:prstDash val="solid"/>
          </a:ln>
        </p:spPr>
      </p:sp>
      <p:sp>
        <p:nvSpPr>
          <p:cNvPr id="48" name="Text 46"/>
          <p:cNvSpPr/>
          <p:nvPr/>
        </p:nvSpPr>
        <p:spPr>
          <a:xfrm>
            <a:off x="8778240" y="2212848"/>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Il nome base crea vicinanza visiva.</a:t>
            </a:r>
            <a:endParaRPr lang="en-US" sz="1420" dirty="0"/>
          </a:p>
        </p:txBody>
      </p:sp>
      <p:sp>
        <p:nvSpPr>
          <p:cNvPr id="49" name="Shape 47"/>
          <p:cNvSpPr/>
          <p:nvPr/>
        </p:nvSpPr>
        <p:spPr>
          <a:xfrm>
            <a:off x="8586216" y="2980944"/>
            <a:ext cx="91440" cy="91440"/>
          </a:xfrm>
          <a:prstGeom prst="ellipse">
            <a:avLst/>
          </a:prstGeom>
          <a:solidFill>
            <a:srgbClr val="7CD4FF"/>
          </a:solidFill>
          <a:ln w="12700">
            <a:solidFill>
              <a:srgbClr val="7CD4FF"/>
            </a:solidFill>
            <a:prstDash val="solid"/>
          </a:ln>
        </p:spPr>
      </p:sp>
      <p:sp>
        <p:nvSpPr>
          <p:cNvPr id="50" name="Text 48"/>
          <p:cNvSpPr/>
          <p:nvPr/>
        </p:nvSpPr>
        <p:spPr>
          <a:xfrm>
            <a:off x="8778240" y="2926080"/>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index.ts esporta solo ciò che serve.</a:t>
            </a:r>
            <a:endParaRPr lang="en-US" sz="1420" dirty="0"/>
          </a:p>
        </p:txBody>
      </p:sp>
      <p:sp>
        <p:nvSpPr>
          <p:cNvPr id="51" name="Shape 49"/>
          <p:cNvSpPr/>
          <p:nvPr/>
        </p:nvSpPr>
        <p:spPr>
          <a:xfrm>
            <a:off x="8586216" y="3694176"/>
            <a:ext cx="91440" cy="91440"/>
          </a:xfrm>
          <a:prstGeom prst="ellipse">
            <a:avLst/>
          </a:prstGeom>
          <a:solidFill>
            <a:srgbClr val="7CD4FF"/>
          </a:solidFill>
          <a:ln w="12700">
            <a:solidFill>
              <a:srgbClr val="7CD4FF"/>
            </a:solidFill>
            <a:prstDash val="solid"/>
          </a:ln>
        </p:spPr>
      </p:sp>
      <p:sp>
        <p:nvSpPr>
          <p:cNvPr id="52" name="Text 50"/>
          <p:cNvSpPr/>
          <p:nvPr/>
        </p:nvSpPr>
        <p:spPr>
          <a:xfrm>
            <a:off x="8778240" y="3639312"/>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Gli helper interni restano privati.</a:t>
            </a:r>
            <a:endParaRPr lang="en-US" sz="14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12</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PUBLIC BOUNDARY</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index.ts definisce l’API pubblica della cartella</a:t>
            </a:r>
            <a:endParaRPr lang="en-US" sz="2700" dirty="0"/>
          </a:p>
        </p:txBody>
      </p:sp>
      <p:sp>
        <p:nvSpPr>
          <p:cNvPr id="29" name="Shape 27"/>
          <p:cNvSpPr/>
          <p:nvPr/>
        </p:nvSpPr>
        <p:spPr>
          <a:xfrm>
            <a:off x="530352" y="1591056"/>
            <a:ext cx="7589520" cy="4553712"/>
          </a:xfrm>
          <a:prstGeom prst="roundRect">
            <a:avLst>
              <a:gd name="adj" fmla="val 1004"/>
            </a:avLst>
          </a:prstGeom>
          <a:solidFill>
            <a:srgbClr val="0D1A2B"/>
          </a:solidFill>
          <a:ln w="13970">
            <a:solidFill>
              <a:srgbClr val="263A55"/>
            </a:solidFill>
            <a:prstDash val="solid"/>
          </a:ln>
        </p:spPr>
      </p:sp>
      <p:sp>
        <p:nvSpPr>
          <p:cNvPr id="30" name="Shape 28"/>
          <p:cNvSpPr/>
          <p:nvPr/>
        </p:nvSpPr>
        <p:spPr>
          <a:xfrm>
            <a:off x="530352" y="1591056"/>
            <a:ext cx="7589520" cy="347472"/>
          </a:xfrm>
          <a:prstGeom prst="rect">
            <a:avLst/>
          </a:prstGeom>
          <a:solidFill>
            <a:srgbClr val="122238"/>
          </a:solidFill>
          <a:ln w="12700">
            <a:solidFill>
              <a:srgbClr val="122238"/>
            </a:solidFill>
            <a:prstDash val="solid"/>
          </a:ln>
        </p:spPr>
      </p:sp>
      <p:sp>
        <p:nvSpPr>
          <p:cNvPr id="31" name="Shape 29"/>
          <p:cNvSpPr/>
          <p:nvPr/>
        </p:nvSpPr>
        <p:spPr>
          <a:xfrm>
            <a:off x="694944" y="1632204"/>
            <a:ext cx="658368" cy="274320"/>
          </a:xfrm>
          <a:prstGeom prst="roundRect">
            <a:avLst>
              <a:gd name="adj" fmla="val 20000"/>
            </a:avLst>
          </a:prstGeom>
          <a:solidFill>
            <a:srgbClr val="7CD4FF">
              <a:alpha val="20000"/>
            </a:srgbClr>
          </a:solidFill>
          <a:ln w="10160">
            <a:solidFill>
              <a:srgbClr val="7CD4FF">
                <a:alpha val="55000"/>
              </a:srgbClr>
            </a:solidFill>
            <a:prstDash val="solid"/>
          </a:ln>
        </p:spPr>
      </p:sp>
      <p:sp>
        <p:nvSpPr>
          <p:cNvPr id="32" name="Text 30"/>
          <p:cNvSpPr/>
          <p:nvPr/>
        </p:nvSpPr>
        <p:spPr>
          <a:xfrm>
            <a:off x="786384" y="1691640"/>
            <a:ext cx="475488" cy="128016"/>
          </a:xfrm>
          <a:prstGeom prst="rect">
            <a:avLst/>
          </a:prstGeom>
          <a:noFill/>
          <a:ln/>
        </p:spPr>
        <p:txBody>
          <a:bodyPr wrap="square" lIns="0" tIns="0" rIns="0" bIns="0" rtlCol="0" anchor="ctr"/>
          <a:lstStyle/>
          <a:p>
            <a:pPr algn="ctr" indent="0" marL="0">
              <a:buNone/>
            </a:pPr>
            <a:r>
              <a:rPr lang="en-US" sz="820" b="1" dirty="0">
                <a:solidFill>
                  <a:srgbClr val="7CD4FF"/>
                </a:solidFill>
                <a:latin typeface="Aptos Mono" pitchFamily="34" charset="0"/>
                <a:ea typeface="Aptos Mono" pitchFamily="34" charset="-122"/>
                <a:cs typeface="Aptos Mono" pitchFamily="34" charset="-120"/>
              </a:rPr>
              <a:t>TS</a:t>
            </a:r>
            <a:endParaRPr lang="en-US" sz="820" dirty="0"/>
          </a:p>
        </p:txBody>
      </p:sp>
      <p:sp>
        <p:nvSpPr>
          <p:cNvPr id="33" name="Text 31"/>
          <p:cNvSpPr/>
          <p:nvPr/>
        </p:nvSpPr>
        <p:spPr>
          <a:xfrm>
            <a:off x="1490472" y="1687068"/>
            <a:ext cx="635508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TicketList/index.ts</a:t>
            </a:r>
            <a:endParaRPr lang="en-US" sz="880" dirty="0"/>
          </a:p>
        </p:txBody>
      </p:sp>
      <p:sp>
        <p:nvSpPr>
          <p:cNvPr id="34" name="Text 32"/>
          <p:cNvSpPr/>
          <p:nvPr/>
        </p:nvSpPr>
        <p:spPr>
          <a:xfrm>
            <a:off x="640080" y="205282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01</a:t>
            </a:r>
            <a:endParaRPr lang="en-US" sz="1200" dirty="0"/>
          </a:p>
        </p:txBody>
      </p:sp>
      <p:sp>
        <p:nvSpPr>
          <p:cNvPr id="35" name="Text 33"/>
          <p:cNvSpPr/>
          <p:nvPr/>
        </p:nvSpPr>
        <p:spPr>
          <a:xfrm>
            <a:off x="1033272" y="2039112"/>
            <a:ext cx="6931152" cy="242316"/>
          </a:xfrm>
          <a:prstGeom prst="rect">
            <a:avLst/>
          </a:prstGeom>
          <a:noFill/>
          <a:ln/>
        </p:spPr>
        <p:txBody>
          <a:bodyPr wrap="square" lIns="0" tIns="0" rIns="0" bIns="0" rtlCol="0" anchor="ctr">
            <a:normAutofit/>
          </a:bodyPr>
          <a:lstStyle/>
          <a:p>
            <a:pPr indent="0" marL="0">
              <a:buNone/>
            </a:pPr>
            <a:r>
              <a:rPr lang="en-US" sz="1420" dirty="0">
                <a:solidFill>
                  <a:srgbClr val="78C9A6"/>
                </a:solidFill>
                <a:latin typeface="Aptos Mono" pitchFamily="34" charset="0"/>
                <a:ea typeface="Aptos Mono" pitchFamily="34" charset="-122"/>
                <a:cs typeface="Aptos Mono" pitchFamily="34" charset="-120"/>
              </a:rPr>
              <a:t>// Espone il componente principale.</a:t>
            </a:r>
            <a:endParaRPr lang="en-US" sz="1420" dirty="0"/>
          </a:p>
        </p:txBody>
      </p:sp>
      <p:sp>
        <p:nvSpPr>
          <p:cNvPr id="36" name="Text 34"/>
          <p:cNvSpPr/>
          <p:nvPr/>
        </p:nvSpPr>
        <p:spPr>
          <a:xfrm>
            <a:off x="640080" y="229514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02</a:t>
            </a:r>
            <a:endParaRPr lang="en-US" sz="1200" dirty="0"/>
          </a:p>
        </p:txBody>
      </p:sp>
      <p:sp>
        <p:nvSpPr>
          <p:cNvPr id="37" name="Text 35"/>
          <p:cNvSpPr/>
          <p:nvPr/>
        </p:nvSpPr>
        <p:spPr>
          <a:xfrm>
            <a:off x="1033272" y="228142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export { TicketList } from './TicketList';</a:t>
            </a:r>
            <a:endParaRPr lang="en-US" sz="1420" dirty="0"/>
          </a:p>
        </p:txBody>
      </p:sp>
      <p:sp>
        <p:nvSpPr>
          <p:cNvPr id="38" name="Text 36"/>
          <p:cNvSpPr/>
          <p:nvPr/>
        </p:nvSpPr>
        <p:spPr>
          <a:xfrm>
            <a:off x="640080" y="253746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03</a:t>
            </a:r>
            <a:endParaRPr lang="en-US" sz="1200" dirty="0"/>
          </a:p>
        </p:txBody>
      </p:sp>
      <p:sp>
        <p:nvSpPr>
          <p:cNvPr id="39" name="Text 37"/>
          <p:cNvSpPr/>
          <p:nvPr/>
        </p:nvSpPr>
        <p:spPr>
          <a:xfrm>
            <a:off x="1033272" y="2523744"/>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40" name="Text 38"/>
          <p:cNvSpPr/>
          <p:nvPr/>
        </p:nvSpPr>
        <p:spPr>
          <a:xfrm>
            <a:off x="640080" y="277977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04</a:t>
            </a:r>
            <a:endParaRPr lang="en-US" sz="1200" dirty="0"/>
          </a:p>
        </p:txBody>
      </p:sp>
      <p:sp>
        <p:nvSpPr>
          <p:cNvPr id="41" name="Text 39"/>
          <p:cNvSpPr/>
          <p:nvPr/>
        </p:nvSpPr>
        <p:spPr>
          <a:xfrm>
            <a:off x="1033272" y="2766060"/>
            <a:ext cx="6931152" cy="242316"/>
          </a:xfrm>
          <a:prstGeom prst="rect">
            <a:avLst/>
          </a:prstGeom>
          <a:noFill/>
          <a:ln/>
        </p:spPr>
        <p:txBody>
          <a:bodyPr wrap="square" lIns="0" tIns="0" rIns="0" bIns="0" rtlCol="0" anchor="ctr">
            <a:normAutofit/>
          </a:bodyPr>
          <a:lstStyle/>
          <a:p>
            <a:pPr indent="0" marL="0">
              <a:buNone/>
            </a:pPr>
            <a:r>
              <a:rPr lang="en-US" sz="1420" dirty="0">
                <a:solidFill>
                  <a:srgbClr val="78C9A6"/>
                </a:solidFill>
                <a:latin typeface="Aptos Mono" pitchFamily="34" charset="0"/>
                <a:ea typeface="Aptos Mono" pitchFamily="34" charset="-122"/>
                <a:cs typeface="Aptos Mono" pitchFamily="34" charset="-120"/>
              </a:rPr>
              <a:t>// Espone solo il tipo necessario al chiamante.</a:t>
            </a:r>
            <a:endParaRPr lang="en-US" sz="1420" dirty="0"/>
          </a:p>
        </p:txBody>
      </p:sp>
      <p:sp>
        <p:nvSpPr>
          <p:cNvPr id="42" name="Text 40"/>
          <p:cNvSpPr/>
          <p:nvPr/>
        </p:nvSpPr>
        <p:spPr>
          <a:xfrm>
            <a:off x="640080" y="3022092"/>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05</a:t>
            </a:r>
            <a:endParaRPr lang="en-US" sz="1200" dirty="0"/>
          </a:p>
        </p:txBody>
      </p:sp>
      <p:sp>
        <p:nvSpPr>
          <p:cNvPr id="43" name="Text 41"/>
          <p:cNvSpPr/>
          <p:nvPr/>
        </p:nvSpPr>
        <p:spPr>
          <a:xfrm>
            <a:off x="1033272" y="3008376"/>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export type { TicketListProps }</a:t>
            </a:r>
            <a:endParaRPr lang="en-US" sz="1420" dirty="0"/>
          </a:p>
        </p:txBody>
      </p:sp>
      <p:sp>
        <p:nvSpPr>
          <p:cNvPr id="44" name="Text 42"/>
          <p:cNvSpPr/>
          <p:nvPr/>
        </p:nvSpPr>
        <p:spPr>
          <a:xfrm>
            <a:off x="640080" y="326440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06</a:t>
            </a:r>
            <a:endParaRPr lang="en-US" sz="1200" dirty="0"/>
          </a:p>
        </p:txBody>
      </p:sp>
      <p:sp>
        <p:nvSpPr>
          <p:cNvPr id="45" name="Text 43"/>
          <p:cNvSpPr/>
          <p:nvPr/>
        </p:nvSpPr>
        <p:spPr>
          <a:xfrm>
            <a:off x="1033272" y="325069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from './TicketList.types';</a:t>
            </a:r>
            <a:endParaRPr lang="en-US" sz="1420" dirty="0"/>
          </a:p>
        </p:txBody>
      </p:sp>
      <p:sp>
        <p:nvSpPr>
          <p:cNvPr id="46" name="Text 44"/>
          <p:cNvSpPr/>
          <p:nvPr/>
        </p:nvSpPr>
        <p:spPr>
          <a:xfrm>
            <a:off x="640080" y="350672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07</a:t>
            </a:r>
            <a:endParaRPr lang="en-US" sz="1200" dirty="0"/>
          </a:p>
        </p:txBody>
      </p:sp>
      <p:sp>
        <p:nvSpPr>
          <p:cNvPr id="47" name="Text 45"/>
          <p:cNvSpPr/>
          <p:nvPr/>
        </p:nvSpPr>
        <p:spPr>
          <a:xfrm>
            <a:off x="1033272" y="349300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48" name="Text 46"/>
          <p:cNvSpPr/>
          <p:nvPr/>
        </p:nvSpPr>
        <p:spPr>
          <a:xfrm>
            <a:off x="640080" y="374904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08</a:t>
            </a:r>
            <a:endParaRPr lang="en-US" sz="1200" dirty="0"/>
          </a:p>
        </p:txBody>
      </p:sp>
      <p:sp>
        <p:nvSpPr>
          <p:cNvPr id="49" name="Text 47"/>
          <p:cNvSpPr/>
          <p:nvPr/>
        </p:nvSpPr>
        <p:spPr>
          <a:xfrm>
            <a:off x="1033272" y="3735324"/>
            <a:ext cx="6931152" cy="242316"/>
          </a:xfrm>
          <a:prstGeom prst="rect">
            <a:avLst/>
          </a:prstGeom>
          <a:noFill/>
          <a:ln/>
        </p:spPr>
        <p:txBody>
          <a:bodyPr wrap="square" lIns="0" tIns="0" rIns="0" bIns="0" rtlCol="0" anchor="ctr">
            <a:normAutofit/>
          </a:bodyPr>
          <a:lstStyle/>
          <a:p>
            <a:pPr indent="0" marL="0">
              <a:buNone/>
            </a:pPr>
            <a:r>
              <a:rPr lang="en-US" sz="1420" dirty="0">
                <a:solidFill>
                  <a:srgbClr val="78C9A6"/>
                </a:solidFill>
                <a:latin typeface="Aptos Mono" pitchFamily="34" charset="0"/>
                <a:ea typeface="Aptos Mono" pitchFamily="34" charset="-122"/>
                <a:cs typeface="Aptos Mono" pitchFamily="34" charset="-120"/>
              </a:rPr>
              <a:t>// NON esportare formatter e costanti interne.</a:t>
            </a:r>
            <a:endParaRPr lang="en-US" sz="1420" dirty="0"/>
          </a:p>
        </p:txBody>
      </p:sp>
      <p:sp>
        <p:nvSpPr>
          <p:cNvPr id="50" name="Text 48"/>
          <p:cNvSpPr/>
          <p:nvPr/>
        </p:nvSpPr>
        <p:spPr>
          <a:xfrm>
            <a:off x="640080" y="399135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09</a:t>
            </a:r>
            <a:endParaRPr lang="en-US" sz="1200" dirty="0"/>
          </a:p>
        </p:txBody>
      </p:sp>
      <p:sp>
        <p:nvSpPr>
          <p:cNvPr id="51" name="Text 49"/>
          <p:cNvSpPr/>
          <p:nvPr/>
        </p:nvSpPr>
        <p:spPr>
          <a:xfrm>
            <a:off x="1033272" y="3977640"/>
            <a:ext cx="6931152" cy="242316"/>
          </a:xfrm>
          <a:prstGeom prst="rect">
            <a:avLst/>
          </a:prstGeom>
          <a:noFill/>
          <a:ln/>
        </p:spPr>
        <p:txBody>
          <a:bodyPr wrap="square" lIns="0" tIns="0" rIns="0" bIns="0" rtlCol="0" anchor="ctr">
            <a:normAutofit/>
          </a:bodyPr>
          <a:lstStyle/>
          <a:p>
            <a:pPr indent="0" marL="0">
              <a:buNone/>
            </a:pPr>
            <a:r>
              <a:rPr lang="en-US" sz="1420" dirty="0">
                <a:solidFill>
                  <a:srgbClr val="78C9A6"/>
                </a:solidFill>
                <a:latin typeface="Aptos Mono" pitchFamily="34" charset="0"/>
                <a:ea typeface="Aptos Mono" pitchFamily="34" charset="-122"/>
                <a:cs typeface="Aptos Mono" pitchFamily="34" charset="-120"/>
              </a:rPr>
              <a:t>// export * from './internal'; // evita</a:t>
            </a:r>
            <a:endParaRPr lang="en-US" sz="1420" dirty="0"/>
          </a:p>
        </p:txBody>
      </p:sp>
      <p:sp>
        <p:nvSpPr>
          <p:cNvPr id="52" name="Shape 50"/>
          <p:cNvSpPr/>
          <p:nvPr/>
        </p:nvSpPr>
        <p:spPr>
          <a:xfrm>
            <a:off x="8366760" y="1591056"/>
            <a:ext cx="3310128" cy="4553712"/>
          </a:xfrm>
          <a:prstGeom prst="roundRect">
            <a:avLst>
              <a:gd name="adj" fmla="val 1381"/>
            </a:avLst>
          </a:prstGeom>
          <a:solidFill>
            <a:srgbClr val="122238"/>
          </a:solidFill>
          <a:ln w="12700">
            <a:solidFill>
              <a:srgbClr val="263A55"/>
            </a:solidFill>
            <a:prstDash val="solid"/>
          </a:ln>
        </p:spPr>
      </p:sp>
      <p:sp>
        <p:nvSpPr>
          <p:cNvPr id="53" name="Text 51"/>
          <p:cNvSpPr/>
          <p:nvPr/>
        </p:nvSpPr>
        <p:spPr>
          <a:xfrm>
            <a:off x="8586216" y="1801368"/>
            <a:ext cx="2871216" cy="182880"/>
          </a:xfrm>
          <a:prstGeom prst="rect">
            <a:avLst/>
          </a:prstGeom>
          <a:noFill/>
          <a:ln/>
        </p:spPr>
        <p:txBody>
          <a:bodyPr wrap="square" lIns="0" tIns="0" rIns="0" bIns="0" rtlCol="0" anchor="ctr"/>
          <a:lstStyle/>
          <a:p>
            <a:pPr indent="0" marL="0">
              <a:buNone/>
            </a:pPr>
            <a:r>
              <a:rPr lang="en-US" sz="950" b="1" spc="115" kern="0" dirty="0">
                <a:solidFill>
                  <a:srgbClr val="F5C96A"/>
                </a:solidFill>
                <a:latin typeface="Aptos" pitchFamily="34" charset="0"/>
                <a:ea typeface="Aptos" pitchFamily="34" charset="-122"/>
                <a:cs typeface="Aptos" pitchFamily="34" charset="-120"/>
              </a:rPr>
              <a:t>DA OSSERVARE</a:t>
            </a:r>
            <a:endParaRPr lang="en-US" sz="950" dirty="0"/>
          </a:p>
        </p:txBody>
      </p:sp>
      <p:sp>
        <p:nvSpPr>
          <p:cNvPr id="54" name="Shape 52"/>
          <p:cNvSpPr/>
          <p:nvPr/>
        </p:nvSpPr>
        <p:spPr>
          <a:xfrm>
            <a:off x="8586216" y="2267712"/>
            <a:ext cx="91440" cy="91440"/>
          </a:xfrm>
          <a:prstGeom prst="ellipse">
            <a:avLst/>
          </a:prstGeom>
          <a:solidFill>
            <a:srgbClr val="7CD4FF"/>
          </a:solidFill>
          <a:ln w="12700">
            <a:solidFill>
              <a:srgbClr val="7CD4FF"/>
            </a:solidFill>
            <a:prstDash val="solid"/>
          </a:ln>
        </p:spPr>
      </p:sp>
      <p:sp>
        <p:nvSpPr>
          <p:cNvPr id="55" name="Text 53"/>
          <p:cNvSpPr/>
          <p:nvPr/>
        </p:nvSpPr>
        <p:spPr>
          <a:xfrm>
            <a:off x="8778240" y="2212848"/>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Il chiamante vede un contratto piccolo.</a:t>
            </a:r>
            <a:endParaRPr lang="en-US" sz="1420" dirty="0"/>
          </a:p>
        </p:txBody>
      </p:sp>
      <p:sp>
        <p:nvSpPr>
          <p:cNvPr id="56" name="Shape 54"/>
          <p:cNvSpPr/>
          <p:nvPr/>
        </p:nvSpPr>
        <p:spPr>
          <a:xfrm>
            <a:off x="8586216" y="2980944"/>
            <a:ext cx="91440" cy="91440"/>
          </a:xfrm>
          <a:prstGeom prst="ellipse">
            <a:avLst/>
          </a:prstGeom>
          <a:solidFill>
            <a:srgbClr val="7CD4FF"/>
          </a:solidFill>
          <a:ln w="12700">
            <a:solidFill>
              <a:srgbClr val="7CD4FF"/>
            </a:solidFill>
            <a:prstDash val="solid"/>
          </a:ln>
        </p:spPr>
      </p:sp>
      <p:sp>
        <p:nvSpPr>
          <p:cNvPr id="57" name="Text 55"/>
          <p:cNvSpPr/>
          <p:nvPr/>
        </p:nvSpPr>
        <p:spPr>
          <a:xfrm>
            <a:off x="8778240" y="2926080"/>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Gli interni possono cambiare liberamente.</a:t>
            </a:r>
            <a:endParaRPr lang="en-US" sz="1420" dirty="0"/>
          </a:p>
        </p:txBody>
      </p:sp>
      <p:sp>
        <p:nvSpPr>
          <p:cNvPr id="58" name="Shape 56"/>
          <p:cNvSpPr/>
          <p:nvPr/>
        </p:nvSpPr>
        <p:spPr>
          <a:xfrm>
            <a:off x="8586216" y="3694176"/>
            <a:ext cx="91440" cy="91440"/>
          </a:xfrm>
          <a:prstGeom prst="ellipse">
            <a:avLst/>
          </a:prstGeom>
          <a:solidFill>
            <a:srgbClr val="7CD4FF"/>
          </a:solidFill>
          <a:ln w="12700">
            <a:solidFill>
              <a:srgbClr val="7CD4FF"/>
            </a:solidFill>
            <a:prstDash val="solid"/>
          </a:ln>
        </p:spPr>
      </p:sp>
      <p:sp>
        <p:nvSpPr>
          <p:cNvPr id="59" name="Text 57"/>
          <p:cNvSpPr/>
          <p:nvPr/>
        </p:nvSpPr>
        <p:spPr>
          <a:xfrm>
            <a:off x="8778240" y="3639312"/>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Gli import raccontano il confine.</a:t>
            </a:r>
            <a:endParaRPr lang="en-US" sz="14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13</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IMPORT BOUNDARIES</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Le dipendenze devono rispettare la direzione</a:t>
            </a:r>
            <a:endParaRPr lang="en-US" sz="2700" dirty="0"/>
          </a:p>
        </p:txBody>
      </p:sp>
      <p:sp>
        <p:nvSpPr>
          <p:cNvPr id="29" name="Shape 27"/>
          <p:cNvSpPr/>
          <p:nvPr/>
        </p:nvSpPr>
        <p:spPr>
          <a:xfrm>
            <a:off x="530352" y="1581912"/>
            <a:ext cx="5440680" cy="4526280"/>
          </a:xfrm>
          <a:prstGeom prst="roundRect">
            <a:avLst>
              <a:gd name="adj" fmla="val 1010"/>
            </a:avLst>
          </a:prstGeom>
          <a:solidFill>
            <a:srgbClr val="0D1A2B"/>
          </a:solidFill>
          <a:ln w="13970">
            <a:solidFill>
              <a:srgbClr val="263A55"/>
            </a:solidFill>
            <a:prstDash val="solid"/>
          </a:ln>
        </p:spPr>
      </p:sp>
      <p:sp>
        <p:nvSpPr>
          <p:cNvPr id="30" name="Shape 28"/>
          <p:cNvSpPr/>
          <p:nvPr/>
        </p:nvSpPr>
        <p:spPr>
          <a:xfrm>
            <a:off x="530352" y="1581912"/>
            <a:ext cx="5440680" cy="347472"/>
          </a:xfrm>
          <a:prstGeom prst="rect">
            <a:avLst/>
          </a:prstGeom>
          <a:solidFill>
            <a:srgbClr val="122238"/>
          </a:solidFill>
          <a:ln w="12700">
            <a:solidFill>
              <a:srgbClr val="122238"/>
            </a:solidFill>
            <a:prstDash val="solid"/>
          </a:ln>
        </p:spPr>
      </p:sp>
      <p:sp>
        <p:nvSpPr>
          <p:cNvPr id="31" name="Shape 29"/>
          <p:cNvSpPr/>
          <p:nvPr/>
        </p:nvSpPr>
        <p:spPr>
          <a:xfrm>
            <a:off x="694944" y="1623060"/>
            <a:ext cx="658368" cy="274320"/>
          </a:xfrm>
          <a:prstGeom prst="roundRect">
            <a:avLst>
              <a:gd name="adj" fmla="val 20000"/>
            </a:avLst>
          </a:prstGeom>
          <a:solidFill>
            <a:srgbClr val="FF7A8A">
              <a:alpha val="20000"/>
            </a:srgbClr>
          </a:solidFill>
          <a:ln w="10160">
            <a:solidFill>
              <a:srgbClr val="FF7A8A">
                <a:alpha val="55000"/>
              </a:srgbClr>
            </a:solidFill>
            <a:prstDash val="solid"/>
          </a:ln>
        </p:spPr>
      </p:sp>
      <p:sp>
        <p:nvSpPr>
          <p:cNvPr id="32" name="Text 30"/>
          <p:cNvSpPr/>
          <p:nvPr/>
        </p:nvSpPr>
        <p:spPr>
          <a:xfrm>
            <a:off x="786384" y="1682496"/>
            <a:ext cx="475488" cy="128016"/>
          </a:xfrm>
          <a:prstGeom prst="rect">
            <a:avLst/>
          </a:prstGeom>
          <a:noFill/>
          <a:ln/>
        </p:spPr>
        <p:txBody>
          <a:bodyPr wrap="square" lIns="0" tIns="0" rIns="0" bIns="0" rtlCol="0" anchor="ctr"/>
          <a:lstStyle/>
          <a:p>
            <a:pPr algn="ctr" indent="0" marL="0">
              <a:buNone/>
            </a:pPr>
            <a:r>
              <a:rPr lang="en-US" sz="820" b="1" dirty="0">
                <a:solidFill>
                  <a:srgbClr val="FF7A8A"/>
                </a:solidFill>
                <a:latin typeface="Aptos Mono" pitchFamily="34" charset="0"/>
                <a:ea typeface="Aptos Mono" pitchFamily="34" charset="-122"/>
                <a:cs typeface="Aptos Mono" pitchFamily="34" charset="-120"/>
              </a:rPr>
              <a:t>TS</a:t>
            </a:r>
            <a:endParaRPr lang="en-US" sz="820" dirty="0"/>
          </a:p>
        </p:txBody>
      </p:sp>
      <p:sp>
        <p:nvSpPr>
          <p:cNvPr id="33" name="Text 31"/>
          <p:cNvSpPr/>
          <p:nvPr/>
        </p:nvSpPr>
        <p:spPr>
          <a:xfrm>
            <a:off x="1490472" y="1677924"/>
            <a:ext cx="420624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PRIMA</a:t>
            </a:r>
            <a:endParaRPr lang="en-US" sz="880" dirty="0"/>
          </a:p>
        </p:txBody>
      </p:sp>
      <p:sp>
        <p:nvSpPr>
          <p:cNvPr id="34" name="Text 32"/>
          <p:cNvSpPr/>
          <p:nvPr/>
        </p:nvSpPr>
        <p:spPr>
          <a:xfrm>
            <a:off x="640080" y="204368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01</a:t>
            </a:r>
            <a:endParaRPr lang="en-US" sz="1060" dirty="0"/>
          </a:p>
        </p:txBody>
      </p:sp>
      <p:sp>
        <p:nvSpPr>
          <p:cNvPr id="35" name="Text 33"/>
          <p:cNvSpPr/>
          <p:nvPr/>
        </p:nvSpPr>
        <p:spPr>
          <a:xfrm>
            <a:off x="1033272" y="2029968"/>
            <a:ext cx="4782312" cy="242316"/>
          </a:xfrm>
          <a:prstGeom prst="rect">
            <a:avLst/>
          </a:prstGeom>
          <a:noFill/>
          <a:ln/>
        </p:spPr>
        <p:txBody>
          <a:bodyPr wrap="square" lIns="0" tIns="0" rIns="0" bIns="0" rtlCol="0" anchor="ctr">
            <a:normAutofit/>
          </a:bodyPr>
          <a:lstStyle/>
          <a:p>
            <a:pPr indent="0" marL="0">
              <a:buNone/>
            </a:pPr>
            <a:r>
              <a:rPr lang="en-US" sz="1280" dirty="0">
                <a:solidFill>
                  <a:srgbClr val="78C9A6"/>
                </a:solidFill>
                <a:latin typeface="Aptos Mono" pitchFamily="34" charset="0"/>
                <a:ea typeface="Aptos Mono" pitchFamily="34" charset="-122"/>
                <a:cs typeface="Aptos Mono" pitchFamily="34" charset="-120"/>
              </a:rPr>
              <a:t>// shared/Button.tsx</a:t>
            </a:r>
            <a:endParaRPr lang="en-US" sz="1280" dirty="0"/>
          </a:p>
        </p:txBody>
      </p:sp>
      <p:sp>
        <p:nvSpPr>
          <p:cNvPr id="36" name="Text 34"/>
          <p:cNvSpPr/>
          <p:nvPr/>
        </p:nvSpPr>
        <p:spPr>
          <a:xfrm>
            <a:off x="640080" y="228600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02</a:t>
            </a:r>
            <a:endParaRPr lang="en-US" sz="1060" dirty="0"/>
          </a:p>
        </p:txBody>
      </p:sp>
      <p:sp>
        <p:nvSpPr>
          <p:cNvPr id="37" name="Text 35"/>
          <p:cNvSpPr/>
          <p:nvPr/>
        </p:nvSpPr>
        <p:spPr>
          <a:xfrm>
            <a:off x="1033272" y="2272284"/>
            <a:ext cx="4782312" cy="242316"/>
          </a:xfrm>
          <a:prstGeom prst="rect">
            <a:avLst/>
          </a:prstGeom>
          <a:noFill/>
          <a:ln/>
        </p:spPr>
        <p:txBody>
          <a:bodyPr wrap="square" lIns="0" tIns="0" rIns="0" bIns="0" rtlCol="0" anchor="ctr">
            <a:normAutofit/>
          </a:bodyPr>
          <a:lstStyle/>
          <a:p>
            <a:pPr indent="0" marL="0">
              <a:buNone/>
            </a:pPr>
            <a:r>
              <a:rPr lang="en-US" sz="1280" dirty="0">
                <a:solidFill>
                  <a:srgbClr val="78C9A6"/>
                </a:solidFill>
                <a:latin typeface="Aptos Mono" pitchFamily="34" charset="0"/>
                <a:ea typeface="Aptos Mono" pitchFamily="34" charset="-122"/>
                <a:cs typeface="Aptos Mono" pitchFamily="34" charset="-120"/>
              </a:rPr>
              <a:t>// Errore: shared conosce una feature.</a:t>
            </a:r>
            <a:endParaRPr lang="en-US" sz="1280" dirty="0"/>
          </a:p>
        </p:txBody>
      </p:sp>
      <p:sp>
        <p:nvSpPr>
          <p:cNvPr id="38" name="Text 36"/>
          <p:cNvSpPr/>
          <p:nvPr/>
        </p:nvSpPr>
        <p:spPr>
          <a:xfrm>
            <a:off x="640080" y="252831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03</a:t>
            </a:r>
            <a:endParaRPr lang="en-US" sz="1060" dirty="0"/>
          </a:p>
        </p:txBody>
      </p:sp>
      <p:sp>
        <p:nvSpPr>
          <p:cNvPr id="39" name="Text 37"/>
          <p:cNvSpPr/>
          <p:nvPr/>
        </p:nvSpPr>
        <p:spPr>
          <a:xfrm>
            <a:off x="1033272" y="2514600"/>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import { TicketStatus }</a:t>
            </a:r>
            <a:endParaRPr lang="en-US" sz="1280" dirty="0"/>
          </a:p>
        </p:txBody>
      </p:sp>
      <p:sp>
        <p:nvSpPr>
          <p:cNvPr id="40" name="Text 38"/>
          <p:cNvSpPr/>
          <p:nvPr/>
        </p:nvSpPr>
        <p:spPr>
          <a:xfrm>
            <a:off x="640080" y="2770632"/>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04</a:t>
            </a:r>
            <a:endParaRPr lang="en-US" sz="1060" dirty="0"/>
          </a:p>
        </p:txBody>
      </p:sp>
      <p:sp>
        <p:nvSpPr>
          <p:cNvPr id="41" name="Text 39"/>
          <p:cNvSpPr/>
          <p:nvPr/>
        </p:nvSpPr>
        <p:spPr>
          <a:xfrm>
            <a:off x="1033272" y="2756916"/>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from '../../features/Dashboard';</a:t>
            </a:r>
            <a:endParaRPr lang="en-US" sz="1280" dirty="0"/>
          </a:p>
        </p:txBody>
      </p:sp>
      <p:sp>
        <p:nvSpPr>
          <p:cNvPr id="42" name="Text 40"/>
          <p:cNvSpPr/>
          <p:nvPr/>
        </p:nvSpPr>
        <p:spPr>
          <a:xfrm>
            <a:off x="640080" y="3012948"/>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05</a:t>
            </a:r>
            <a:endParaRPr lang="en-US" sz="1060" dirty="0"/>
          </a:p>
        </p:txBody>
      </p:sp>
      <p:sp>
        <p:nvSpPr>
          <p:cNvPr id="43" name="Text 41"/>
          <p:cNvSpPr/>
          <p:nvPr/>
        </p:nvSpPr>
        <p:spPr>
          <a:xfrm>
            <a:off x="1033272" y="2999232"/>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t>
            </a:r>
            <a:endParaRPr lang="en-US" sz="1280" dirty="0"/>
          </a:p>
        </p:txBody>
      </p:sp>
      <p:sp>
        <p:nvSpPr>
          <p:cNvPr id="44" name="Text 42"/>
          <p:cNvSpPr/>
          <p:nvPr/>
        </p:nvSpPr>
        <p:spPr>
          <a:xfrm>
            <a:off x="640080" y="325526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06</a:t>
            </a:r>
            <a:endParaRPr lang="en-US" sz="1060" dirty="0"/>
          </a:p>
        </p:txBody>
      </p:sp>
      <p:sp>
        <p:nvSpPr>
          <p:cNvPr id="45" name="Text 43"/>
          <p:cNvSpPr/>
          <p:nvPr/>
        </p:nvSpPr>
        <p:spPr>
          <a:xfrm>
            <a:off x="1033272" y="324154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export function Button() {</a:t>
            </a:r>
            <a:endParaRPr lang="en-US" sz="1280" dirty="0"/>
          </a:p>
        </p:txBody>
      </p:sp>
      <p:sp>
        <p:nvSpPr>
          <p:cNvPr id="46" name="Text 44"/>
          <p:cNvSpPr/>
          <p:nvPr/>
        </p:nvSpPr>
        <p:spPr>
          <a:xfrm>
            <a:off x="640080" y="349758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07</a:t>
            </a:r>
            <a:endParaRPr lang="en-US" sz="1060" dirty="0"/>
          </a:p>
        </p:txBody>
      </p:sp>
      <p:sp>
        <p:nvSpPr>
          <p:cNvPr id="47" name="Text 45"/>
          <p:cNvSpPr/>
          <p:nvPr/>
        </p:nvSpPr>
        <p:spPr>
          <a:xfrm>
            <a:off x="1033272" y="3483864"/>
            <a:ext cx="4782312" cy="242316"/>
          </a:xfrm>
          <a:prstGeom prst="rect">
            <a:avLst/>
          </a:prstGeom>
          <a:noFill/>
          <a:ln/>
        </p:spPr>
        <p:txBody>
          <a:bodyPr wrap="square" lIns="0" tIns="0" rIns="0" bIns="0" rtlCol="0" anchor="ctr">
            <a:normAutofit/>
          </a:bodyPr>
          <a:lstStyle/>
          <a:p>
            <a:pPr indent="0" marL="0">
              <a:buNone/>
            </a:pPr>
            <a:r>
              <a:rPr lang="en-US" sz="1280" dirty="0">
                <a:solidFill>
                  <a:srgbClr val="78C9A6"/>
                </a:solidFill>
                <a:latin typeface="Aptos Mono" pitchFamily="34" charset="0"/>
                <a:ea typeface="Aptos Mono" pitchFamily="34" charset="-122"/>
                <a:cs typeface="Aptos Mono" pitchFamily="34" charset="-120"/>
              </a:rPr>
              <a:t>  // ...</a:t>
            </a:r>
            <a:endParaRPr lang="en-US" sz="1280" dirty="0"/>
          </a:p>
        </p:txBody>
      </p:sp>
      <p:sp>
        <p:nvSpPr>
          <p:cNvPr id="48" name="Text 46"/>
          <p:cNvSpPr/>
          <p:nvPr/>
        </p:nvSpPr>
        <p:spPr>
          <a:xfrm>
            <a:off x="640080" y="373989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08</a:t>
            </a:r>
            <a:endParaRPr lang="en-US" sz="1060" dirty="0"/>
          </a:p>
        </p:txBody>
      </p:sp>
      <p:sp>
        <p:nvSpPr>
          <p:cNvPr id="49" name="Text 47"/>
          <p:cNvSpPr/>
          <p:nvPr/>
        </p:nvSpPr>
        <p:spPr>
          <a:xfrm>
            <a:off x="1033272" y="3726180"/>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a:t>
            </a:r>
            <a:endParaRPr lang="en-US" sz="1280" dirty="0"/>
          </a:p>
        </p:txBody>
      </p:sp>
      <p:sp>
        <p:nvSpPr>
          <p:cNvPr id="50" name="Shape 48"/>
          <p:cNvSpPr/>
          <p:nvPr/>
        </p:nvSpPr>
        <p:spPr>
          <a:xfrm>
            <a:off x="6217920" y="1581912"/>
            <a:ext cx="5440680" cy="4526280"/>
          </a:xfrm>
          <a:prstGeom prst="roundRect">
            <a:avLst>
              <a:gd name="adj" fmla="val 1010"/>
            </a:avLst>
          </a:prstGeom>
          <a:solidFill>
            <a:srgbClr val="0D1A2B"/>
          </a:solidFill>
          <a:ln w="13970">
            <a:solidFill>
              <a:srgbClr val="263A55"/>
            </a:solidFill>
            <a:prstDash val="solid"/>
          </a:ln>
        </p:spPr>
      </p:sp>
      <p:sp>
        <p:nvSpPr>
          <p:cNvPr id="51" name="Shape 49"/>
          <p:cNvSpPr/>
          <p:nvPr/>
        </p:nvSpPr>
        <p:spPr>
          <a:xfrm>
            <a:off x="6217920" y="1581912"/>
            <a:ext cx="5440680" cy="347472"/>
          </a:xfrm>
          <a:prstGeom prst="rect">
            <a:avLst/>
          </a:prstGeom>
          <a:solidFill>
            <a:srgbClr val="122238"/>
          </a:solidFill>
          <a:ln w="12700">
            <a:solidFill>
              <a:srgbClr val="122238"/>
            </a:solidFill>
            <a:prstDash val="solid"/>
          </a:ln>
        </p:spPr>
      </p:sp>
      <p:sp>
        <p:nvSpPr>
          <p:cNvPr id="52" name="Shape 50"/>
          <p:cNvSpPr/>
          <p:nvPr/>
        </p:nvSpPr>
        <p:spPr>
          <a:xfrm>
            <a:off x="6382512" y="1623060"/>
            <a:ext cx="658368" cy="274320"/>
          </a:xfrm>
          <a:prstGeom prst="roundRect">
            <a:avLst>
              <a:gd name="adj" fmla="val 20000"/>
            </a:avLst>
          </a:prstGeom>
          <a:solidFill>
            <a:srgbClr val="6FE3B1">
              <a:alpha val="20000"/>
            </a:srgbClr>
          </a:solidFill>
          <a:ln w="10160">
            <a:solidFill>
              <a:srgbClr val="6FE3B1">
                <a:alpha val="55000"/>
              </a:srgbClr>
            </a:solidFill>
            <a:prstDash val="solid"/>
          </a:ln>
        </p:spPr>
      </p:sp>
      <p:sp>
        <p:nvSpPr>
          <p:cNvPr id="53" name="Text 51"/>
          <p:cNvSpPr/>
          <p:nvPr/>
        </p:nvSpPr>
        <p:spPr>
          <a:xfrm>
            <a:off x="6473952" y="1682496"/>
            <a:ext cx="475488" cy="128016"/>
          </a:xfrm>
          <a:prstGeom prst="rect">
            <a:avLst/>
          </a:prstGeom>
          <a:noFill/>
          <a:ln/>
        </p:spPr>
        <p:txBody>
          <a:bodyPr wrap="square" lIns="0" tIns="0" rIns="0" bIns="0" rtlCol="0" anchor="ctr"/>
          <a:lstStyle/>
          <a:p>
            <a:pPr algn="ctr" indent="0" marL="0">
              <a:buNone/>
            </a:pPr>
            <a:r>
              <a:rPr lang="en-US" sz="820" b="1" dirty="0">
                <a:solidFill>
                  <a:srgbClr val="6FE3B1"/>
                </a:solidFill>
                <a:latin typeface="Aptos Mono" pitchFamily="34" charset="0"/>
                <a:ea typeface="Aptos Mono" pitchFamily="34" charset="-122"/>
                <a:cs typeface="Aptos Mono" pitchFamily="34" charset="-120"/>
              </a:rPr>
              <a:t>TS</a:t>
            </a:r>
            <a:endParaRPr lang="en-US" sz="820" dirty="0"/>
          </a:p>
        </p:txBody>
      </p:sp>
      <p:sp>
        <p:nvSpPr>
          <p:cNvPr id="54" name="Text 52"/>
          <p:cNvSpPr/>
          <p:nvPr/>
        </p:nvSpPr>
        <p:spPr>
          <a:xfrm>
            <a:off x="7178040" y="1677924"/>
            <a:ext cx="420624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DOPO</a:t>
            </a:r>
            <a:endParaRPr lang="en-US" sz="880" dirty="0"/>
          </a:p>
        </p:txBody>
      </p:sp>
      <p:sp>
        <p:nvSpPr>
          <p:cNvPr id="55" name="Text 53"/>
          <p:cNvSpPr/>
          <p:nvPr/>
        </p:nvSpPr>
        <p:spPr>
          <a:xfrm>
            <a:off x="6327648" y="204368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01</a:t>
            </a:r>
            <a:endParaRPr lang="en-US" sz="1060" dirty="0"/>
          </a:p>
        </p:txBody>
      </p:sp>
      <p:sp>
        <p:nvSpPr>
          <p:cNvPr id="56" name="Text 54"/>
          <p:cNvSpPr/>
          <p:nvPr/>
        </p:nvSpPr>
        <p:spPr>
          <a:xfrm>
            <a:off x="6720840" y="2029968"/>
            <a:ext cx="4782312" cy="242316"/>
          </a:xfrm>
          <a:prstGeom prst="rect">
            <a:avLst/>
          </a:prstGeom>
          <a:noFill/>
          <a:ln/>
        </p:spPr>
        <p:txBody>
          <a:bodyPr wrap="square" lIns="0" tIns="0" rIns="0" bIns="0" rtlCol="0" anchor="ctr">
            <a:normAutofit/>
          </a:bodyPr>
          <a:lstStyle/>
          <a:p>
            <a:pPr indent="0" marL="0">
              <a:buNone/>
            </a:pPr>
            <a:r>
              <a:rPr lang="en-US" sz="1280" dirty="0">
                <a:solidFill>
                  <a:srgbClr val="78C9A6"/>
                </a:solidFill>
                <a:latin typeface="Aptos Mono" pitchFamily="34" charset="0"/>
                <a:ea typeface="Aptos Mono" pitchFamily="34" charset="-122"/>
                <a:cs typeface="Aptos Mono" pitchFamily="34" charset="-120"/>
              </a:rPr>
              <a:t>// features/Dashboard/TicketAction.tsx</a:t>
            </a:r>
            <a:endParaRPr lang="en-US" sz="1280" dirty="0"/>
          </a:p>
        </p:txBody>
      </p:sp>
      <p:sp>
        <p:nvSpPr>
          <p:cNvPr id="57" name="Text 55"/>
          <p:cNvSpPr/>
          <p:nvPr/>
        </p:nvSpPr>
        <p:spPr>
          <a:xfrm>
            <a:off x="6327648" y="228600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02</a:t>
            </a:r>
            <a:endParaRPr lang="en-US" sz="1060" dirty="0"/>
          </a:p>
        </p:txBody>
      </p:sp>
      <p:sp>
        <p:nvSpPr>
          <p:cNvPr id="58" name="Text 56"/>
          <p:cNvSpPr/>
          <p:nvPr/>
        </p:nvSpPr>
        <p:spPr>
          <a:xfrm>
            <a:off x="6720840" y="2272284"/>
            <a:ext cx="4782312" cy="242316"/>
          </a:xfrm>
          <a:prstGeom prst="rect">
            <a:avLst/>
          </a:prstGeom>
          <a:noFill/>
          <a:ln/>
        </p:spPr>
        <p:txBody>
          <a:bodyPr wrap="square" lIns="0" tIns="0" rIns="0" bIns="0" rtlCol="0" anchor="ctr">
            <a:normAutofit/>
          </a:bodyPr>
          <a:lstStyle/>
          <a:p>
            <a:pPr indent="0" marL="0">
              <a:buNone/>
            </a:pPr>
            <a:r>
              <a:rPr lang="en-US" sz="1280" dirty="0">
                <a:solidFill>
                  <a:srgbClr val="78C9A6"/>
                </a:solidFill>
                <a:latin typeface="Aptos Mono" pitchFamily="34" charset="0"/>
                <a:ea typeface="Aptos Mono" pitchFamily="34" charset="-122"/>
                <a:cs typeface="Aptos Mono" pitchFamily="34" charset="-120"/>
              </a:rPr>
              <a:t>// Corretto: la feature usa shared.</a:t>
            </a:r>
            <a:endParaRPr lang="en-US" sz="1280" dirty="0"/>
          </a:p>
        </p:txBody>
      </p:sp>
      <p:sp>
        <p:nvSpPr>
          <p:cNvPr id="59" name="Text 57"/>
          <p:cNvSpPr/>
          <p:nvPr/>
        </p:nvSpPr>
        <p:spPr>
          <a:xfrm>
            <a:off x="6327648" y="252831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03</a:t>
            </a:r>
            <a:endParaRPr lang="en-US" sz="1060" dirty="0"/>
          </a:p>
        </p:txBody>
      </p:sp>
      <p:sp>
        <p:nvSpPr>
          <p:cNvPr id="60" name="Text 58"/>
          <p:cNvSpPr/>
          <p:nvPr/>
        </p:nvSpPr>
        <p:spPr>
          <a:xfrm>
            <a:off x="6720840" y="2514600"/>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import { Button }</a:t>
            </a:r>
            <a:endParaRPr lang="en-US" sz="1280" dirty="0"/>
          </a:p>
        </p:txBody>
      </p:sp>
      <p:sp>
        <p:nvSpPr>
          <p:cNvPr id="61" name="Text 59"/>
          <p:cNvSpPr/>
          <p:nvPr/>
        </p:nvSpPr>
        <p:spPr>
          <a:xfrm>
            <a:off x="6327648" y="2770632"/>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04</a:t>
            </a:r>
            <a:endParaRPr lang="en-US" sz="1060" dirty="0"/>
          </a:p>
        </p:txBody>
      </p:sp>
      <p:sp>
        <p:nvSpPr>
          <p:cNvPr id="62" name="Text 60"/>
          <p:cNvSpPr/>
          <p:nvPr/>
        </p:nvSpPr>
        <p:spPr>
          <a:xfrm>
            <a:off x="6720840" y="2756916"/>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from '../../shared/components';</a:t>
            </a:r>
            <a:endParaRPr lang="en-US" sz="1280" dirty="0"/>
          </a:p>
        </p:txBody>
      </p:sp>
      <p:sp>
        <p:nvSpPr>
          <p:cNvPr id="63" name="Text 61"/>
          <p:cNvSpPr/>
          <p:nvPr/>
        </p:nvSpPr>
        <p:spPr>
          <a:xfrm>
            <a:off x="6327648" y="3012948"/>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05</a:t>
            </a:r>
            <a:endParaRPr lang="en-US" sz="1060" dirty="0"/>
          </a:p>
        </p:txBody>
      </p:sp>
      <p:sp>
        <p:nvSpPr>
          <p:cNvPr id="64" name="Text 62"/>
          <p:cNvSpPr/>
          <p:nvPr/>
        </p:nvSpPr>
        <p:spPr>
          <a:xfrm>
            <a:off x="6720840" y="2999232"/>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t>
            </a:r>
            <a:endParaRPr lang="en-US" sz="1280" dirty="0"/>
          </a:p>
        </p:txBody>
      </p:sp>
      <p:sp>
        <p:nvSpPr>
          <p:cNvPr id="65" name="Text 63"/>
          <p:cNvSpPr/>
          <p:nvPr/>
        </p:nvSpPr>
        <p:spPr>
          <a:xfrm>
            <a:off x="6327648" y="325526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06</a:t>
            </a:r>
            <a:endParaRPr lang="en-US" sz="1060" dirty="0"/>
          </a:p>
        </p:txBody>
      </p:sp>
      <p:sp>
        <p:nvSpPr>
          <p:cNvPr id="66" name="Text 64"/>
          <p:cNvSpPr/>
          <p:nvPr/>
        </p:nvSpPr>
        <p:spPr>
          <a:xfrm>
            <a:off x="6720840" y="324154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export function TicketAction() {</a:t>
            </a:r>
            <a:endParaRPr lang="en-US" sz="1280" dirty="0"/>
          </a:p>
        </p:txBody>
      </p:sp>
      <p:sp>
        <p:nvSpPr>
          <p:cNvPr id="67" name="Text 65"/>
          <p:cNvSpPr/>
          <p:nvPr/>
        </p:nvSpPr>
        <p:spPr>
          <a:xfrm>
            <a:off x="6327648" y="349758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07</a:t>
            </a:r>
            <a:endParaRPr lang="en-US" sz="1060" dirty="0"/>
          </a:p>
        </p:txBody>
      </p:sp>
      <p:sp>
        <p:nvSpPr>
          <p:cNvPr id="68" name="Text 66"/>
          <p:cNvSpPr/>
          <p:nvPr/>
        </p:nvSpPr>
        <p:spPr>
          <a:xfrm>
            <a:off x="6720840" y="348386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return &lt;Button&gt;Apri&lt;/Button&gt;;</a:t>
            </a:r>
            <a:endParaRPr lang="en-US" sz="1280" dirty="0"/>
          </a:p>
        </p:txBody>
      </p:sp>
      <p:sp>
        <p:nvSpPr>
          <p:cNvPr id="69" name="Text 67"/>
          <p:cNvSpPr/>
          <p:nvPr/>
        </p:nvSpPr>
        <p:spPr>
          <a:xfrm>
            <a:off x="6327648" y="373989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08</a:t>
            </a:r>
            <a:endParaRPr lang="en-US" sz="1060" dirty="0"/>
          </a:p>
        </p:txBody>
      </p:sp>
      <p:sp>
        <p:nvSpPr>
          <p:cNvPr id="70" name="Text 68"/>
          <p:cNvSpPr/>
          <p:nvPr/>
        </p:nvSpPr>
        <p:spPr>
          <a:xfrm>
            <a:off x="6720840" y="3726180"/>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a:t>
            </a:r>
            <a:endParaRPr lang="en-US" sz="1280" dirty="0"/>
          </a:p>
        </p:txBody>
      </p:sp>
      <p:sp>
        <p:nvSpPr>
          <p:cNvPr id="71" name="Shape 69"/>
          <p:cNvSpPr/>
          <p:nvPr/>
        </p:nvSpPr>
        <p:spPr>
          <a:xfrm>
            <a:off x="5870448" y="3310128"/>
            <a:ext cx="274320" cy="475488"/>
          </a:xfrm>
          <a:prstGeom prst="chevron">
            <a:avLst/>
          </a:prstGeom>
          <a:solidFill>
            <a:srgbClr val="4C7DFF"/>
          </a:solidFill>
          <a:ln w="12700">
            <a:solidFill>
              <a:srgbClr val="4C7DFF"/>
            </a:solidFill>
            <a:prstDash val="solid"/>
          </a:ln>
        </p:spPr>
      </p:sp>
      <p:sp>
        <p:nvSpPr>
          <p:cNvPr id="72" name="Text 70"/>
          <p:cNvSpPr/>
          <p:nvPr/>
        </p:nvSpPr>
        <p:spPr>
          <a:xfrm>
            <a:off x="1828800" y="6217920"/>
            <a:ext cx="8503920" cy="210312"/>
          </a:xfrm>
          <a:prstGeom prst="rect">
            <a:avLst/>
          </a:prstGeom>
          <a:noFill/>
          <a:ln/>
        </p:spPr>
        <p:txBody>
          <a:bodyPr wrap="square" lIns="0" tIns="0" rIns="0" bIns="0" rtlCol="0" anchor="ctr"/>
          <a:lstStyle/>
          <a:p>
            <a:pPr algn="ctr" indent="0" marL="0">
              <a:buNone/>
            </a:pPr>
            <a:r>
              <a:rPr lang="en-US" sz="1050" b="1" dirty="0">
                <a:solidFill>
                  <a:srgbClr val="F5C96A"/>
                </a:solidFill>
                <a:latin typeface="Aptos" pitchFamily="34" charset="0"/>
                <a:ea typeface="Aptos" pitchFamily="34" charset="-122"/>
                <a:cs typeface="Aptos" pitchFamily="34" charset="-120"/>
              </a:rPr>
              <a:t>app → features → shared → platform</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14</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ASTRAZIONE PROGRESSIVA</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Shared nasce dal secondo uso compatibile</a:t>
            </a:r>
            <a:endParaRPr lang="en-US" sz="2700" dirty="0"/>
          </a:p>
        </p:txBody>
      </p:sp>
      <p:sp>
        <p:nvSpPr>
          <p:cNvPr id="29" name="Shape 27"/>
          <p:cNvSpPr/>
          <p:nvPr/>
        </p:nvSpPr>
        <p:spPr>
          <a:xfrm>
            <a:off x="530352" y="1581912"/>
            <a:ext cx="5440680" cy="4526280"/>
          </a:xfrm>
          <a:prstGeom prst="roundRect">
            <a:avLst>
              <a:gd name="adj" fmla="val 1010"/>
            </a:avLst>
          </a:prstGeom>
          <a:solidFill>
            <a:srgbClr val="0D1A2B"/>
          </a:solidFill>
          <a:ln w="13970">
            <a:solidFill>
              <a:srgbClr val="263A55"/>
            </a:solidFill>
            <a:prstDash val="solid"/>
          </a:ln>
        </p:spPr>
      </p:sp>
      <p:sp>
        <p:nvSpPr>
          <p:cNvPr id="30" name="Shape 28"/>
          <p:cNvSpPr/>
          <p:nvPr/>
        </p:nvSpPr>
        <p:spPr>
          <a:xfrm>
            <a:off x="530352" y="1581912"/>
            <a:ext cx="5440680" cy="347472"/>
          </a:xfrm>
          <a:prstGeom prst="rect">
            <a:avLst/>
          </a:prstGeom>
          <a:solidFill>
            <a:srgbClr val="122238"/>
          </a:solidFill>
          <a:ln w="12700">
            <a:solidFill>
              <a:srgbClr val="122238"/>
            </a:solidFill>
            <a:prstDash val="solid"/>
          </a:ln>
        </p:spPr>
      </p:sp>
      <p:sp>
        <p:nvSpPr>
          <p:cNvPr id="31" name="Shape 29"/>
          <p:cNvSpPr/>
          <p:nvPr/>
        </p:nvSpPr>
        <p:spPr>
          <a:xfrm>
            <a:off x="694944" y="1623060"/>
            <a:ext cx="658368" cy="274320"/>
          </a:xfrm>
          <a:prstGeom prst="roundRect">
            <a:avLst>
              <a:gd name="adj" fmla="val 20000"/>
            </a:avLst>
          </a:prstGeom>
          <a:solidFill>
            <a:srgbClr val="FF7A8A">
              <a:alpha val="20000"/>
            </a:srgbClr>
          </a:solidFill>
          <a:ln w="10160">
            <a:solidFill>
              <a:srgbClr val="FF7A8A">
                <a:alpha val="55000"/>
              </a:srgbClr>
            </a:solidFill>
            <a:prstDash val="solid"/>
          </a:ln>
        </p:spPr>
      </p:sp>
      <p:sp>
        <p:nvSpPr>
          <p:cNvPr id="32" name="Text 30"/>
          <p:cNvSpPr/>
          <p:nvPr/>
        </p:nvSpPr>
        <p:spPr>
          <a:xfrm>
            <a:off x="786384" y="1682496"/>
            <a:ext cx="475488" cy="128016"/>
          </a:xfrm>
          <a:prstGeom prst="rect">
            <a:avLst/>
          </a:prstGeom>
          <a:noFill/>
          <a:ln/>
        </p:spPr>
        <p:txBody>
          <a:bodyPr wrap="square" lIns="0" tIns="0" rIns="0" bIns="0" rtlCol="0" anchor="ctr"/>
          <a:lstStyle/>
          <a:p>
            <a:pPr algn="ctr" indent="0" marL="0">
              <a:buNone/>
            </a:pPr>
            <a:r>
              <a:rPr lang="en-US" sz="820" b="1" dirty="0">
                <a:solidFill>
                  <a:srgbClr val="FF7A8A"/>
                </a:solidFill>
                <a:latin typeface="Aptos Mono" pitchFamily="34" charset="0"/>
                <a:ea typeface="Aptos Mono" pitchFamily="34" charset="-122"/>
                <a:cs typeface="Aptos Mono" pitchFamily="34" charset="-120"/>
              </a:rPr>
              <a:t>TSX</a:t>
            </a:r>
            <a:endParaRPr lang="en-US" sz="820" dirty="0"/>
          </a:p>
        </p:txBody>
      </p:sp>
      <p:sp>
        <p:nvSpPr>
          <p:cNvPr id="33" name="Text 31"/>
          <p:cNvSpPr/>
          <p:nvPr/>
        </p:nvSpPr>
        <p:spPr>
          <a:xfrm>
            <a:off x="1490472" y="1677924"/>
            <a:ext cx="420624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PRIMA</a:t>
            </a:r>
            <a:endParaRPr lang="en-US" sz="880" dirty="0"/>
          </a:p>
        </p:txBody>
      </p:sp>
      <p:sp>
        <p:nvSpPr>
          <p:cNvPr id="34" name="Text 32"/>
          <p:cNvSpPr/>
          <p:nvPr/>
        </p:nvSpPr>
        <p:spPr>
          <a:xfrm>
            <a:off x="640080" y="204368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01</a:t>
            </a:r>
            <a:endParaRPr lang="en-US" sz="1060" dirty="0"/>
          </a:p>
        </p:txBody>
      </p:sp>
      <p:sp>
        <p:nvSpPr>
          <p:cNvPr id="35" name="Text 33"/>
          <p:cNvSpPr/>
          <p:nvPr/>
        </p:nvSpPr>
        <p:spPr>
          <a:xfrm>
            <a:off x="1033272" y="2029968"/>
            <a:ext cx="4782312" cy="242316"/>
          </a:xfrm>
          <a:prstGeom prst="rect">
            <a:avLst/>
          </a:prstGeom>
          <a:noFill/>
          <a:ln/>
        </p:spPr>
        <p:txBody>
          <a:bodyPr wrap="square" lIns="0" tIns="0" rIns="0" bIns="0" rtlCol="0" anchor="ctr">
            <a:normAutofit/>
          </a:bodyPr>
          <a:lstStyle/>
          <a:p>
            <a:pPr indent="0" marL="0">
              <a:buNone/>
            </a:pPr>
            <a:r>
              <a:rPr lang="en-US" sz="1280" dirty="0">
                <a:solidFill>
                  <a:srgbClr val="78C9A6"/>
                </a:solidFill>
                <a:latin typeface="Aptos Mono" pitchFamily="34" charset="0"/>
                <a:ea typeface="Aptos Mono" pitchFamily="34" charset="-122"/>
                <a:cs typeface="Aptos Mono" pitchFamily="34" charset="-120"/>
              </a:rPr>
              <a:t>// Primo uso: resta nella feature.</a:t>
            </a:r>
            <a:endParaRPr lang="en-US" sz="1280" dirty="0"/>
          </a:p>
        </p:txBody>
      </p:sp>
      <p:sp>
        <p:nvSpPr>
          <p:cNvPr id="36" name="Text 34"/>
          <p:cNvSpPr/>
          <p:nvPr/>
        </p:nvSpPr>
        <p:spPr>
          <a:xfrm>
            <a:off x="640080" y="228600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02</a:t>
            </a:r>
            <a:endParaRPr lang="en-US" sz="1060" dirty="0"/>
          </a:p>
        </p:txBody>
      </p:sp>
      <p:sp>
        <p:nvSpPr>
          <p:cNvPr id="37" name="Text 35"/>
          <p:cNvSpPr/>
          <p:nvPr/>
        </p:nvSpPr>
        <p:spPr>
          <a:xfrm>
            <a:off x="1033272" y="227228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function TicketStatusBadge({ status }) {</a:t>
            </a:r>
            <a:endParaRPr lang="en-US" sz="1280" dirty="0"/>
          </a:p>
        </p:txBody>
      </p:sp>
      <p:sp>
        <p:nvSpPr>
          <p:cNvPr id="38" name="Text 36"/>
          <p:cNvSpPr/>
          <p:nvPr/>
        </p:nvSpPr>
        <p:spPr>
          <a:xfrm>
            <a:off x="640080" y="252831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03</a:t>
            </a:r>
            <a:endParaRPr lang="en-US" sz="1060" dirty="0"/>
          </a:p>
        </p:txBody>
      </p:sp>
      <p:sp>
        <p:nvSpPr>
          <p:cNvPr id="39" name="Text 37"/>
          <p:cNvSpPr/>
          <p:nvPr/>
        </p:nvSpPr>
        <p:spPr>
          <a:xfrm>
            <a:off x="1033272" y="2514600"/>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return &lt;span&gt;{status}&lt;/span&gt;;</a:t>
            </a:r>
            <a:endParaRPr lang="en-US" sz="1280" dirty="0"/>
          </a:p>
        </p:txBody>
      </p:sp>
      <p:sp>
        <p:nvSpPr>
          <p:cNvPr id="40" name="Text 38"/>
          <p:cNvSpPr/>
          <p:nvPr/>
        </p:nvSpPr>
        <p:spPr>
          <a:xfrm>
            <a:off x="640080" y="2770632"/>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04</a:t>
            </a:r>
            <a:endParaRPr lang="en-US" sz="1060" dirty="0"/>
          </a:p>
        </p:txBody>
      </p:sp>
      <p:sp>
        <p:nvSpPr>
          <p:cNvPr id="41" name="Text 39"/>
          <p:cNvSpPr/>
          <p:nvPr/>
        </p:nvSpPr>
        <p:spPr>
          <a:xfrm>
            <a:off x="1033272" y="2756916"/>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a:t>
            </a:r>
            <a:endParaRPr lang="en-US" sz="1280" dirty="0"/>
          </a:p>
        </p:txBody>
      </p:sp>
      <p:sp>
        <p:nvSpPr>
          <p:cNvPr id="42" name="Text 40"/>
          <p:cNvSpPr/>
          <p:nvPr/>
        </p:nvSpPr>
        <p:spPr>
          <a:xfrm>
            <a:off x="640080" y="3012948"/>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05</a:t>
            </a:r>
            <a:endParaRPr lang="en-US" sz="1060" dirty="0"/>
          </a:p>
        </p:txBody>
      </p:sp>
      <p:sp>
        <p:nvSpPr>
          <p:cNvPr id="43" name="Text 41"/>
          <p:cNvSpPr/>
          <p:nvPr/>
        </p:nvSpPr>
        <p:spPr>
          <a:xfrm>
            <a:off x="1033272" y="2999232"/>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t>
            </a:r>
            <a:endParaRPr lang="en-US" sz="1280" dirty="0"/>
          </a:p>
        </p:txBody>
      </p:sp>
      <p:sp>
        <p:nvSpPr>
          <p:cNvPr id="44" name="Text 42"/>
          <p:cNvSpPr/>
          <p:nvPr/>
        </p:nvSpPr>
        <p:spPr>
          <a:xfrm>
            <a:off x="640080" y="325526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06</a:t>
            </a:r>
            <a:endParaRPr lang="en-US" sz="1060" dirty="0"/>
          </a:p>
        </p:txBody>
      </p:sp>
      <p:sp>
        <p:nvSpPr>
          <p:cNvPr id="45" name="Text 43"/>
          <p:cNvSpPr/>
          <p:nvPr/>
        </p:nvSpPr>
        <p:spPr>
          <a:xfrm>
            <a:off x="1033272" y="3241548"/>
            <a:ext cx="4782312" cy="242316"/>
          </a:xfrm>
          <a:prstGeom prst="rect">
            <a:avLst/>
          </a:prstGeom>
          <a:noFill/>
          <a:ln/>
        </p:spPr>
        <p:txBody>
          <a:bodyPr wrap="square" lIns="0" tIns="0" rIns="0" bIns="0" rtlCol="0" anchor="ctr">
            <a:normAutofit/>
          </a:bodyPr>
          <a:lstStyle/>
          <a:p>
            <a:pPr indent="0" marL="0">
              <a:buNone/>
            </a:pPr>
            <a:r>
              <a:rPr lang="en-US" sz="1280" dirty="0">
                <a:solidFill>
                  <a:srgbClr val="78C9A6"/>
                </a:solidFill>
                <a:latin typeface="Aptos Mono" pitchFamily="34" charset="0"/>
                <a:ea typeface="Aptos Mono" pitchFamily="34" charset="-122"/>
                <a:cs typeface="Aptos Mono" pitchFamily="34" charset="-120"/>
              </a:rPr>
              <a:t>// Non prevedere dieci varianti future.</a:t>
            </a:r>
            <a:endParaRPr lang="en-US" sz="1280" dirty="0"/>
          </a:p>
        </p:txBody>
      </p:sp>
      <p:sp>
        <p:nvSpPr>
          <p:cNvPr id="46" name="Shape 44"/>
          <p:cNvSpPr/>
          <p:nvPr/>
        </p:nvSpPr>
        <p:spPr>
          <a:xfrm>
            <a:off x="6217920" y="1581912"/>
            <a:ext cx="5440680" cy="4526280"/>
          </a:xfrm>
          <a:prstGeom prst="roundRect">
            <a:avLst>
              <a:gd name="adj" fmla="val 1010"/>
            </a:avLst>
          </a:prstGeom>
          <a:solidFill>
            <a:srgbClr val="0D1A2B"/>
          </a:solidFill>
          <a:ln w="13970">
            <a:solidFill>
              <a:srgbClr val="263A55"/>
            </a:solidFill>
            <a:prstDash val="solid"/>
          </a:ln>
        </p:spPr>
      </p:sp>
      <p:sp>
        <p:nvSpPr>
          <p:cNvPr id="47" name="Shape 45"/>
          <p:cNvSpPr/>
          <p:nvPr/>
        </p:nvSpPr>
        <p:spPr>
          <a:xfrm>
            <a:off x="6217920" y="1581912"/>
            <a:ext cx="5440680" cy="347472"/>
          </a:xfrm>
          <a:prstGeom prst="rect">
            <a:avLst/>
          </a:prstGeom>
          <a:solidFill>
            <a:srgbClr val="122238"/>
          </a:solidFill>
          <a:ln w="12700">
            <a:solidFill>
              <a:srgbClr val="122238"/>
            </a:solidFill>
            <a:prstDash val="solid"/>
          </a:ln>
        </p:spPr>
      </p:sp>
      <p:sp>
        <p:nvSpPr>
          <p:cNvPr id="48" name="Shape 46"/>
          <p:cNvSpPr/>
          <p:nvPr/>
        </p:nvSpPr>
        <p:spPr>
          <a:xfrm>
            <a:off x="6382512" y="1623060"/>
            <a:ext cx="658368" cy="274320"/>
          </a:xfrm>
          <a:prstGeom prst="roundRect">
            <a:avLst>
              <a:gd name="adj" fmla="val 20000"/>
            </a:avLst>
          </a:prstGeom>
          <a:solidFill>
            <a:srgbClr val="6FE3B1">
              <a:alpha val="20000"/>
            </a:srgbClr>
          </a:solidFill>
          <a:ln w="10160">
            <a:solidFill>
              <a:srgbClr val="6FE3B1">
                <a:alpha val="55000"/>
              </a:srgbClr>
            </a:solidFill>
            <a:prstDash val="solid"/>
          </a:ln>
        </p:spPr>
      </p:sp>
      <p:sp>
        <p:nvSpPr>
          <p:cNvPr id="49" name="Text 47"/>
          <p:cNvSpPr/>
          <p:nvPr/>
        </p:nvSpPr>
        <p:spPr>
          <a:xfrm>
            <a:off x="6473952" y="1682496"/>
            <a:ext cx="475488" cy="128016"/>
          </a:xfrm>
          <a:prstGeom prst="rect">
            <a:avLst/>
          </a:prstGeom>
          <a:noFill/>
          <a:ln/>
        </p:spPr>
        <p:txBody>
          <a:bodyPr wrap="square" lIns="0" tIns="0" rIns="0" bIns="0" rtlCol="0" anchor="ctr"/>
          <a:lstStyle/>
          <a:p>
            <a:pPr algn="ctr" indent="0" marL="0">
              <a:buNone/>
            </a:pPr>
            <a:r>
              <a:rPr lang="en-US" sz="820" b="1" dirty="0">
                <a:solidFill>
                  <a:srgbClr val="6FE3B1"/>
                </a:solidFill>
                <a:latin typeface="Aptos Mono" pitchFamily="34" charset="0"/>
                <a:ea typeface="Aptos Mono" pitchFamily="34" charset="-122"/>
                <a:cs typeface="Aptos Mono" pitchFamily="34" charset="-120"/>
              </a:rPr>
              <a:t>TSX</a:t>
            </a:r>
            <a:endParaRPr lang="en-US" sz="820" dirty="0"/>
          </a:p>
        </p:txBody>
      </p:sp>
      <p:sp>
        <p:nvSpPr>
          <p:cNvPr id="50" name="Text 48"/>
          <p:cNvSpPr/>
          <p:nvPr/>
        </p:nvSpPr>
        <p:spPr>
          <a:xfrm>
            <a:off x="7178040" y="1677924"/>
            <a:ext cx="420624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DOPO</a:t>
            </a:r>
            <a:endParaRPr lang="en-US" sz="880" dirty="0"/>
          </a:p>
        </p:txBody>
      </p:sp>
      <p:sp>
        <p:nvSpPr>
          <p:cNvPr id="51" name="Text 49"/>
          <p:cNvSpPr/>
          <p:nvPr/>
        </p:nvSpPr>
        <p:spPr>
          <a:xfrm>
            <a:off x="6327648" y="204368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01</a:t>
            </a:r>
            <a:endParaRPr lang="en-US" sz="1060" dirty="0"/>
          </a:p>
        </p:txBody>
      </p:sp>
      <p:sp>
        <p:nvSpPr>
          <p:cNvPr id="52" name="Text 50"/>
          <p:cNvSpPr/>
          <p:nvPr/>
        </p:nvSpPr>
        <p:spPr>
          <a:xfrm>
            <a:off x="6720840" y="2029968"/>
            <a:ext cx="4782312" cy="242316"/>
          </a:xfrm>
          <a:prstGeom prst="rect">
            <a:avLst/>
          </a:prstGeom>
          <a:noFill/>
          <a:ln/>
        </p:spPr>
        <p:txBody>
          <a:bodyPr wrap="square" lIns="0" tIns="0" rIns="0" bIns="0" rtlCol="0" anchor="ctr">
            <a:normAutofit/>
          </a:bodyPr>
          <a:lstStyle/>
          <a:p>
            <a:pPr indent="0" marL="0">
              <a:buNone/>
            </a:pPr>
            <a:r>
              <a:rPr lang="en-US" sz="1280" dirty="0">
                <a:solidFill>
                  <a:srgbClr val="78C9A6"/>
                </a:solidFill>
                <a:latin typeface="Aptos Mono" pitchFamily="34" charset="0"/>
                <a:ea typeface="Aptos Mono" pitchFamily="34" charset="-122"/>
                <a:cs typeface="Aptos Mono" pitchFamily="34" charset="-120"/>
              </a:rPr>
              <a:t>// Secondo uso compatibile: estrai.</a:t>
            </a:r>
            <a:endParaRPr lang="en-US" sz="1280" dirty="0"/>
          </a:p>
        </p:txBody>
      </p:sp>
      <p:sp>
        <p:nvSpPr>
          <p:cNvPr id="53" name="Text 51"/>
          <p:cNvSpPr/>
          <p:nvPr/>
        </p:nvSpPr>
        <p:spPr>
          <a:xfrm>
            <a:off x="6327648" y="228600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02</a:t>
            </a:r>
            <a:endParaRPr lang="en-US" sz="1060" dirty="0"/>
          </a:p>
        </p:txBody>
      </p:sp>
      <p:sp>
        <p:nvSpPr>
          <p:cNvPr id="54" name="Text 52"/>
          <p:cNvSpPr/>
          <p:nvPr/>
        </p:nvSpPr>
        <p:spPr>
          <a:xfrm>
            <a:off x="6720840" y="227228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export function StatusBadge({</a:t>
            </a:r>
            <a:endParaRPr lang="en-US" sz="1280" dirty="0"/>
          </a:p>
        </p:txBody>
      </p:sp>
      <p:sp>
        <p:nvSpPr>
          <p:cNvPr id="55" name="Text 53"/>
          <p:cNvSpPr/>
          <p:nvPr/>
        </p:nvSpPr>
        <p:spPr>
          <a:xfrm>
            <a:off x="6327648" y="252831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03</a:t>
            </a:r>
            <a:endParaRPr lang="en-US" sz="1060" dirty="0"/>
          </a:p>
        </p:txBody>
      </p:sp>
      <p:sp>
        <p:nvSpPr>
          <p:cNvPr id="56" name="Text 54"/>
          <p:cNvSpPr/>
          <p:nvPr/>
        </p:nvSpPr>
        <p:spPr>
          <a:xfrm>
            <a:off x="6720840" y="2514600"/>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label, tone</a:t>
            </a:r>
            <a:endParaRPr lang="en-US" sz="1280" dirty="0"/>
          </a:p>
        </p:txBody>
      </p:sp>
      <p:sp>
        <p:nvSpPr>
          <p:cNvPr id="57" name="Text 55"/>
          <p:cNvSpPr/>
          <p:nvPr/>
        </p:nvSpPr>
        <p:spPr>
          <a:xfrm>
            <a:off x="6327648" y="2770632"/>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04</a:t>
            </a:r>
            <a:endParaRPr lang="en-US" sz="1060" dirty="0"/>
          </a:p>
        </p:txBody>
      </p:sp>
      <p:sp>
        <p:nvSpPr>
          <p:cNvPr id="58" name="Text 56"/>
          <p:cNvSpPr/>
          <p:nvPr/>
        </p:nvSpPr>
        <p:spPr>
          <a:xfrm>
            <a:off x="6720840" y="2756916"/>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StatusBadgeProps) {</a:t>
            </a:r>
            <a:endParaRPr lang="en-US" sz="1280" dirty="0"/>
          </a:p>
        </p:txBody>
      </p:sp>
      <p:sp>
        <p:nvSpPr>
          <p:cNvPr id="59" name="Text 57"/>
          <p:cNvSpPr/>
          <p:nvPr/>
        </p:nvSpPr>
        <p:spPr>
          <a:xfrm>
            <a:off x="6327648" y="3012948"/>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05</a:t>
            </a:r>
            <a:endParaRPr lang="en-US" sz="1060" dirty="0"/>
          </a:p>
        </p:txBody>
      </p:sp>
      <p:sp>
        <p:nvSpPr>
          <p:cNvPr id="60" name="Text 58"/>
          <p:cNvSpPr/>
          <p:nvPr/>
        </p:nvSpPr>
        <p:spPr>
          <a:xfrm>
            <a:off x="6720840" y="2999232"/>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return (</a:t>
            </a:r>
            <a:endParaRPr lang="en-US" sz="1280" dirty="0"/>
          </a:p>
        </p:txBody>
      </p:sp>
      <p:sp>
        <p:nvSpPr>
          <p:cNvPr id="61" name="Text 59"/>
          <p:cNvSpPr/>
          <p:nvPr/>
        </p:nvSpPr>
        <p:spPr>
          <a:xfrm>
            <a:off x="6327648" y="325526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06</a:t>
            </a:r>
            <a:endParaRPr lang="en-US" sz="1060" dirty="0"/>
          </a:p>
        </p:txBody>
      </p:sp>
      <p:sp>
        <p:nvSpPr>
          <p:cNvPr id="62" name="Text 60"/>
          <p:cNvSpPr/>
          <p:nvPr/>
        </p:nvSpPr>
        <p:spPr>
          <a:xfrm>
            <a:off x="6720840" y="324154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&lt;span data-tone={tone}&gt;{label}&lt;/span&gt;</a:t>
            </a:r>
            <a:endParaRPr lang="en-US" sz="1280" dirty="0"/>
          </a:p>
        </p:txBody>
      </p:sp>
      <p:sp>
        <p:nvSpPr>
          <p:cNvPr id="63" name="Text 61"/>
          <p:cNvSpPr/>
          <p:nvPr/>
        </p:nvSpPr>
        <p:spPr>
          <a:xfrm>
            <a:off x="6327648" y="349758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07</a:t>
            </a:r>
            <a:endParaRPr lang="en-US" sz="1060" dirty="0"/>
          </a:p>
        </p:txBody>
      </p:sp>
      <p:sp>
        <p:nvSpPr>
          <p:cNvPr id="64" name="Text 62"/>
          <p:cNvSpPr/>
          <p:nvPr/>
        </p:nvSpPr>
        <p:spPr>
          <a:xfrm>
            <a:off x="6720840" y="348386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t>
            </a:r>
            <a:endParaRPr lang="en-US" sz="1280" dirty="0"/>
          </a:p>
        </p:txBody>
      </p:sp>
      <p:sp>
        <p:nvSpPr>
          <p:cNvPr id="65" name="Text 63"/>
          <p:cNvSpPr/>
          <p:nvPr/>
        </p:nvSpPr>
        <p:spPr>
          <a:xfrm>
            <a:off x="6327648" y="373989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08</a:t>
            </a:r>
            <a:endParaRPr lang="en-US" sz="1060" dirty="0"/>
          </a:p>
        </p:txBody>
      </p:sp>
      <p:sp>
        <p:nvSpPr>
          <p:cNvPr id="66" name="Text 64"/>
          <p:cNvSpPr/>
          <p:nvPr/>
        </p:nvSpPr>
        <p:spPr>
          <a:xfrm>
            <a:off x="6720840" y="3726180"/>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a:t>
            </a:r>
            <a:endParaRPr lang="en-US" sz="1280" dirty="0"/>
          </a:p>
        </p:txBody>
      </p:sp>
      <p:sp>
        <p:nvSpPr>
          <p:cNvPr id="67" name="Shape 65"/>
          <p:cNvSpPr/>
          <p:nvPr/>
        </p:nvSpPr>
        <p:spPr>
          <a:xfrm>
            <a:off x="5870448" y="3310128"/>
            <a:ext cx="274320" cy="475488"/>
          </a:xfrm>
          <a:prstGeom prst="chevron">
            <a:avLst/>
          </a:prstGeom>
          <a:solidFill>
            <a:srgbClr val="4C7DFF"/>
          </a:solidFill>
          <a:ln w="12700">
            <a:solidFill>
              <a:srgbClr val="4C7DFF"/>
            </a:solidFill>
            <a:prstDash val="solid"/>
          </a:ln>
        </p:spPr>
      </p:sp>
      <p:sp>
        <p:nvSpPr>
          <p:cNvPr id="68" name="Text 66"/>
          <p:cNvSpPr/>
          <p:nvPr/>
        </p:nvSpPr>
        <p:spPr>
          <a:xfrm>
            <a:off x="1828800" y="6217920"/>
            <a:ext cx="8503920" cy="210312"/>
          </a:xfrm>
          <a:prstGeom prst="rect">
            <a:avLst/>
          </a:prstGeom>
          <a:noFill/>
          <a:ln/>
        </p:spPr>
        <p:txBody>
          <a:bodyPr wrap="square" lIns="0" tIns="0" rIns="0" bIns="0" rtlCol="0" anchor="ctr"/>
          <a:lstStyle/>
          <a:p>
            <a:pPr algn="ctr" indent="0" marL="0">
              <a:buNone/>
            </a:pPr>
            <a:r>
              <a:rPr lang="en-US" sz="1050" b="1" dirty="0">
                <a:solidFill>
                  <a:srgbClr val="F5C96A"/>
                </a:solidFill>
                <a:latin typeface="Aptos" pitchFamily="34" charset="0"/>
                <a:ea typeface="Aptos" pitchFamily="34" charset="-122"/>
                <a:cs typeface="Aptos" pitchFamily="34" charset="-120"/>
              </a:rPr>
              <a:t>Riuso provato, non riuso immaginato.</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15</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ACCESSO AI DATI</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Il service layer conosce HTTP, non la UI</a:t>
            </a:r>
            <a:endParaRPr lang="en-US" sz="2700" dirty="0"/>
          </a:p>
        </p:txBody>
      </p:sp>
      <p:sp>
        <p:nvSpPr>
          <p:cNvPr id="29" name="Shape 27"/>
          <p:cNvSpPr/>
          <p:nvPr/>
        </p:nvSpPr>
        <p:spPr>
          <a:xfrm>
            <a:off x="530352" y="1645920"/>
            <a:ext cx="7040880" cy="4343400"/>
          </a:xfrm>
          <a:prstGeom prst="roundRect">
            <a:avLst>
              <a:gd name="adj" fmla="val 1263"/>
            </a:avLst>
          </a:prstGeom>
          <a:solidFill>
            <a:srgbClr val="0D1A2B"/>
          </a:solidFill>
          <a:ln w="12700">
            <a:solidFill>
              <a:srgbClr val="263A55"/>
            </a:solidFill>
            <a:prstDash val="solid"/>
          </a:ln>
        </p:spPr>
      </p:sp>
      <p:sp>
        <p:nvSpPr>
          <p:cNvPr id="30" name="Text 28"/>
          <p:cNvSpPr/>
          <p:nvPr/>
        </p:nvSpPr>
        <p:spPr>
          <a:xfrm>
            <a:off x="804672" y="1938528"/>
            <a:ext cx="1828800" cy="182880"/>
          </a:xfrm>
          <a:prstGeom prst="rect">
            <a:avLst/>
          </a:prstGeom>
          <a:noFill/>
          <a:ln/>
        </p:spPr>
        <p:txBody>
          <a:bodyPr wrap="square" lIns="0" tIns="0" rIns="0" bIns="0" rtlCol="0" anchor="ctr"/>
          <a:lstStyle/>
          <a:p>
            <a:pPr indent="0" marL="0">
              <a:buNone/>
            </a:pPr>
            <a:r>
              <a:rPr lang="en-US" sz="950" b="1" spc="120" kern="0" dirty="0">
                <a:solidFill>
                  <a:srgbClr val="6FE3B1"/>
                </a:solidFill>
                <a:latin typeface="Aptos" pitchFamily="34" charset="0"/>
                <a:ea typeface="Aptos" pitchFamily="34" charset="-122"/>
                <a:cs typeface="Aptos" pitchFamily="34" charset="-120"/>
              </a:rPr>
              <a:t>DEFINIZIONE</a:t>
            </a:r>
            <a:endParaRPr lang="en-US" sz="950" dirty="0"/>
          </a:p>
        </p:txBody>
      </p:sp>
      <p:sp>
        <p:nvSpPr>
          <p:cNvPr id="31" name="Text 29"/>
          <p:cNvSpPr/>
          <p:nvPr/>
        </p:nvSpPr>
        <p:spPr>
          <a:xfrm>
            <a:off x="804672" y="2331720"/>
            <a:ext cx="6355080" cy="1325880"/>
          </a:xfrm>
          <a:prstGeom prst="rect">
            <a:avLst/>
          </a:prstGeom>
          <a:noFill/>
          <a:ln/>
        </p:spPr>
        <p:txBody>
          <a:bodyPr wrap="square" lIns="0" tIns="0" rIns="0" bIns="0" rtlCol="0" anchor="ctr">
            <a:normAutofit/>
          </a:bodyPr>
          <a:lstStyle/>
          <a:p>
            <a:pPr indent="0" marL="0">
              <a:buNone/>
            </a:pPr>
            <a:r>
              <a:rPr lang="en-US" sz="2300" b="1" dirty="0">
                <a:solidFill>
                  <a:srgbClr val="F4F7FB"/>
                </a:solidFill>
                <a:latin typeface="Aptos Display" pitchFamily="34" charset="0"/>
                <a:ea typeface="Aptos Display" pitchFamily="34" charset="-122"/>
                <a:cs typeface="Aptos Display" pitchFamily="34" charset="-120"/>
              </a:rPr>
              <a:t>Il service traduce endpoint, headers e payload in un contratto usabile dalla feature.</a:t>
            </a:r>
            <a:endParaRPr lang="en-US" sz="2300" dirty="0"/>
          </a:p>
        </p:txBody>
      </p:sp>
      <p:sp>
        <p:nvSpPr>
          <p:cNvPr id="32" name="Shape 30"/>
          <p:cNvSpPr/>
          <p:nvPr/>
        </p:nvSpPr>
        <p:spPr>
          <a:xfrm>
            <a:off x="804672" y="3886200"/>
            <a:ext cx="6309360" cy="0"/>
          </a:xfrm>
          <a:prstGeom prst="line">
            <a:avLst/>
          </a:prstGeom>
          <a:noFill/>
          <a:ln w="12700">
            <a:solidFill>
              <a:srgbClr val="263A55"/>
            </a:solidFill>
            <a:prstDash val="solid"/>
          </a:ln>
        </p:spPr>
      </p:sp>
      <p:sp>
        <p:nvSpPr>
          <p:cNvPr id="33" name="Text 31"/>
          <p:cNvSpPr/>
          <p:nvPr/>
        </p:nvSpPr>
        <p:spPr>
          <a:xfrm>
            <a:off x="804672" y="4160520"/>
            <a:ext cx="1828800" cy="182880"/>
          </a:xfrm>
          <a:prstGeom prst="rect">
            <a:avLst/>
          </a:prstGeom>
          <a:noFill/>
          <a:ln/>
        </p:spPr>
        <p:txBody>
          <a:bodyPr wrap="square" lIns="0" tIns="0" rIns="0" bIns="0" rtlCol="0" anchor="ctr"/>
          <a:lstStyle/>
          <a:p>
            <a:pPr indent="0" marL="0">
              <a:buNone/>
            </a:pPr>
            <a:r>
              <a:rPr lang="en-US" sz="950" b="1" spc="120" kern="0" dirty="0">
                <a:solidFill>
                  <a:srgbClr val="F5C96A"/>
                </a:solidFill>
                <a:latin typeface="Aptos" pitchFamily="34" charset="0"/>
                <a:ea typeface="Aptos" pitchFamily="34" charset="-122"/>
                <a:cs typeface="Aptos" pitchFamily="34" charset="-120"/>
              </a:rPr>
              <a:t>ESEMPIO</a:t>
            </a:r>
            <a:endParaRPr lang="en-US" sz="950" dirty="0"/>
          </a:p>
        </p:txBody>
      </p:sp>
      <p:sp>
        <p:nvSpPr>
          <p:cNvPr id="34" name="Text 32"/>
          <p:cNvSpPr/>
          <p:nvPr/>
        </p:nvSpPr>
        <p:spPr>
          <a:xfrm>
            <a:off x="804672" y="4507992"/>
            <a:ext cx="6355080" cy="868680"/>
          </a:xfrm>
          <a:prstGeom prst="rect">
            <a:avLst/>
          </a:prstGeom>
          <a:noFill/>
          <a:ln/>
        </p:spPr>
        <p:txBody>
          <a:bodyPr wrap="square" lIns="0" tIns="0" rIns="0" bIns="0" rtlCol="0" anchor="ctr">
            <a:normAutofit/>
          </a:bodyPr>
          <a:lstStyle/>
          <a:p>
            <a:pPr indent="0" marL="0">
              <a:buNone/>
            </a:pPr>
            <a:r>
              <a:rPr lang="en-US" sz="1800" b="1" dirty="0">
                <a:solidFill>
                  <a:srgbClr val="7CD4FF"/>
                </a:solidFill>
                <a:latin typeface="Aptos Mono" pitchFamily="34" charset="0"/>
                <a:ea typeface="Aptos Mono" pitchFamily="34" charset="-122"/>
                <a:cs typeface="Aptos Mono" pitchFamily="34" charset="-120"/>
              </a:rPr>
              <a:t>Component → custom hook → service → API</a:t>
            </a:r>
            <a:endParaRPr lang="en-US" sz="1800" dirty="0"/>
          </a:p>
        </p:txBody>
      </p:sp>
      <p:sp>
        <p:nvSpPr>
          <p:cNvPr id="35" name="Shape 33"/>
          <p:cNvSpPr/>
          <p:nvPr/>
        </p:nvSpPr>
        <p:spPr>
          <a:xfrm>
            <a:off x="7845552" y="1645920"/>
            <a:ext cx="3840480" cy="4343400"/>
          </a:xfrm>
          <a:prstGeom prst="roundRect">
            <a:avLst>
              <a:gd name="adj" fmla="val 1190"/>
            </a:avLst>
          </a:prstGeom>
          <a:solidFill>
            <a:srgbClr val="122238"/>
          </a:solidFill>
          <a:ln w="12700">
            <a:solidFill>
              <a:srgbClr val="263A55"/>
            </a:solidFill>
            <a:prstDash val="solid"/>
          </a:ln>
        </p:spPr>
      </p:sp>
      <p:sp>
        <p:nvSpPr>
          <p:cNvPr id="36" name="Text 34"/>
          <p:cNvSpPr/>
          <p:nvPr/>
        </p:nvSpPr>
        <p:spPr>
          <a:xfrm>
            <a:off x="8065008" y="1856232"/>
            <a:ext cx="3401568" cy="182880"/>
          </a:xfrm>
          <a:prstGeom prst="rect">
            <a:avLst/>
          </a:prstGeom>
          <a:noFill/>
          <a:ln/>
        </p:spPr>
        <p:txBody>
          <a:bodyPr wrap="square" lIns="0" tIns="0" rIns="0" bIns="0" rtlCol="0" anchor="ctr"/>
          <a:lstStyle/>
          <a:p>
            <a:pPr indent="0" marL="0">
              <a:buNone/>
            </a:pPr>
            <a:r>
              <a:rPr lang="en-US" sz="950" b="1" spc="115" kern="0" dirty="0">
                <a:solidFill>
                  <a:srgbClr val="4C7DFF"/>
                </a:solidFill>
                <a:latin typeface="Aptos" pitchFamily="34" charset="0"/>
                <a:ea typeface="Aptos" pitchFamily="34" charset="-122"/>
                <a:cs typeface="Aptos" pitchFamily="34" charset="-120"/>
              </a:rPr>
              <a:t>PERCHÉ CONTA</a:t>
            </a:r>
            <a:endParaRPr lang="en-US" sz="950" dirty="0"/>
          </a:p>
        </p:txBody>
      </p:sp>
      <p:sp>
        <p:nvSpPr>
          <p:cNvPr id="37" name="Shape 35"/>
          <p:cNvSpPr/>
          <p:nvPr/>
        </p:nvSpPr>
        <p:spPr>
          <a:xfrm>
            <a:off x="8065008" y="2322576"/>
            <a:ext cx="91440" cy="91440"/>
          </a:xfrm>
          <a:prstGeom prst="ellipse">
            <a:avLst/>
          </a:prstGeom>
          <a:solidFill>
            <a:srgbClr val="7CD4FF"/>
          </a:solidFill>
          <a:ln w="12700">
            <a:solidFill>
              <a:srgbClr val="7CD4FF"/>
            </a:solidFill>
            <a:prstDash val="solid"/>
          </a:ln>
        </p:spPr>
      </p:sp>
      <p:sp>
        <p:nvSpPr>
          <p:cNvPr id="38" name="Text 36"/>
          <p:cNvSpPr/>
          <p:nvPr/>
        </p:nvSpPr>
        <p:spPr>
          <a:xfrm>
            <a:off x="8257032" y="2267712"/>
            <a:ext cx="3209544"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La UI non costruisce URL.</a:t>
            </a:r>
            <a:endParaRPr lang="en-US" sz="1420" dirty="0"/>
          </a:p>
        </p:txBody>
      </p:sp>
      <p:sp>
        <p:nvSpPr>
          <p:cNvPr id="39" name="Shape 37"/>
          <p:cNvSpPr/>
          <p:nvPr/>
        </p:nvSpPr>
        <p:spPr>
          <a:xfrm>
            <a:off x="8065008" y="3035808"/>
            <a:ext cx="91440" cy="91440"/>
          </a:xfrm>
          <a:prstGeom prst="ellipse">
            <a:avLst/>
          </a:prstGeom>
          <a:solidFill>
            <a:srgbClr val="7CD4FF"/>
          </a:solidFill>
          <a:ln w="12700">
            <a:solidFill>
              <a:srgbClr val="7CD4FF"/>
            </a:solidFill>
            <a:prstDash val="solid"/>
          </a:ln>
        </p:spPr>
      </p:sp>
      <p:sp>
        <p:nvSpPr>
          <p:cNvPr id="40" name="Text 38"/>
          <p:cNvSpPr/>
          <p:nvPr/>
        </p:nvSpPr>
        <p:spPr>
          <a:xfrm>
            <a:off x="8257032" y="2980944"/>
            <a:ext cx="3209544"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Il hook gestisce lifecycle e stato.</a:t>
            </a:r>
            <a:endParaRPr lang="en-US" sz="1420" dirty="0"/>
          </a:p>
        </p:txBody>
      </p:sp>
      <p:sp>
        <p:nvSpPr>
          <p:cNvPr id="41" name="Shape 39"/>
          <p:cNvSpPr/>
          <p:nvPr/>
        </p:nvSpPr>
        <p:spPr>
          <a:xfrm>
            <a:off x="8065008" y="3749040"/>
            <a:ext cx="91440" cy="91440"/>
          </a:xfrm>
          <a:prstGeom prst="ellipse">
            <a:avLst/>
          </a:prstGeom>
          <a:solidFill>
            <a:srgbClr val="7CD4FF"/>
          </a:solidFill>
          <a:ln w="12700">
            <a:solidFill>
              <a:srgbClr val="7CD4FF"/>
            </a:solidFill>
            <a:prstDash val="solid"/>
          </a:ln>
        </p:spPr>
      </p:sp>
      <p:sp>
        <p:nvSpPr>
          <p:cNvPr id="42" name="Text 40"/>
          <p:cNvSpPr/>
          <p:nvPr/>
        </p:nvSpPr>
        <p:spPr>
          <a:xfrm>
            <a:off x="8257032" y="3694176"/>
            <a:ext cx="3209544"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Il service mappa i dati esterni.</a:t>
            </a:r>
            <a:endParaRPr lang="en-US" sz="14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16</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SERVICE LAYER</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Il service restituisce dati tipizzati e normalizzati</a:t>
            </a:r>
            <a:endParaRPr lang="en-US" sz="2700" dirty="0"/>
          </a:p>
        </p:txBody>
      </p:sp>
      <p:sp>
        <p:nvSpPr>
          <p:cNvPr id="29" name="Shape 27"/>
          <p:cNvSpPr/>
          <p:nvPr/>
        </p:nvSpPr>
        <p:spPr>
          <a:xfrm>
            <a:off x="530352" y="1591056"/>
            <a:ext cx="7589520" cy="4553712"/>
          </a:xfrm>
          <a:prstGeom prst="roundRect">
            <a:avLst>
              <a:gd name="adj" fmla="val 1004"/>
            </a:avLst>
          </a:prstGeom>
          <a:solidFill>
            <a:srgbClr val="0D1A2B"/>
          </a:solidFill>
          <a:ln w="13970">
            <a:solidFill>
              <a:srgbClr val="263A55"/>
            </a:solidFill>
            <a:prstDash val="solid"/>
          </a:ln>
        </p:spPr>
      </p:sp>
      <p:sp>
        <p:nvSpPr>
          <p:cNvPr id="30" name="Shape 28"/>
          <p:cNvSpPr/>
          <p:nvPr/>
        </p:nvSpPr>
        <p:spPr>
          <a:xfrm>
            <a:off x="530352" y="1591056"/>
            <a:ext cx="7589520" cy="347472"/>
          </a:xfrm>
          <a:prstGeom prst="rect">
            <a:avLst/>
          </a:prstGeom>
          <a:solidFill>
            <a:srgbClr val="122238"/>
          </a:solidFill>
          <a:ln w="12700">
            <a:solidFill>
              <a:srgbClr val="122238"/>
            </a:solidFill>
            <a:prstDash val="solid"/>
          </a:ln>
        </p:spPr>
      </p:sp>
      <p:sp>
        <p:nvSpPr>
          <p:cNvPr id="31" name="Shape 29"/>
          <p:cNvSpPr/>
          <p:nvPr/>
        </p:nvSpPr>
        <p:spPr>
          <a:xfrm>
            <a:off x="694944" y="1632204"/>
            <a:ext cx="658368" cy="274320"/>
          </a:xfrm>
          <a:prstGeom prst="roundRect">
            <a:avLst>
              <a:gd name="adj" fmla="val 20000"/>
            </a:avLst>
          </a:prstGeom>
          <a:solidFill>
            <a:srgbClr val="7CD4FF">
              <a:alpha val="20000"/>
            </a:srgbClr>
          </a:solidFill>
          <a:ln w="10160">
            <a:solidFill>
              <a:srgbClr val="7CD4FF">
                <a:alpha val="55000"/>
              </a:srgbClr>
            </a:solidFill>
            <a:prstDash val="solid"/>
          </a:ln>
        </p:spPr>
      </p:sp>
      <p:sp>
        <p:nvSpPr>
          <p:cNvPr id="32" name="Text 30"/>
          <p:cNvSpPr/>
          <p:nvPr/>
        </p:nvSpPr>
        <p:spPr>
          <a:xfrm>
            <a:off x="786384" y="1691640"/>
            <a:ext cx="475488" cy="128016"/>
          </a:xfrm>
          <a:prstGeom prst="rect">
            <a:avLst/>
          </a:prstGeom>
          <a:noFill/>
          <a:ln/>
        </p:spPr>
        <p:txBody>
          <a:bodyPr wrap="square" lIns="0" tIns="0" rIns="0" bIns="0" rtlCol="0" anchor="ctr"/>
          <a:lstStyle/>
          <a:p>
            <a:pPr algn="ctr" indent="0" marL="0">
              <a:buNone/>
            </a:pPr>
            <a:r>
              <a:rPr lang="en-US" sz="820" b="1" dirty="0">
                <a:solidFill>
                  <a:srgbClr val="7CD4FF"/>
                </a:solidFill>
                <a:latin typeface="Aptos Mono" pitchFamily="34" charset="0"/>
                <a:ea typeface="Aptos Mono" pitchFamily="34" charset="-122"/>
                <a:cs typeface="Aptos Mono" pitchFamily="34" charset="-120"/>
              </a:rPr>
              <a:t>TS</a:t>
            </a:r>
            <a:endParaRPr lang="en-US" sz="820" dirty="0"/>
          </a:p>
        </p:txBody>
      </p:sp>
      <p:sp>
        <p:nvSpPr>
          <p:cNvPr id="33" name="Text 31"/>
          <p:cNvSpPr/>
          <p:nvPr/>
        </p:nvSpPr>
        <p:spPr>
          <a:xfrm>
            <a:off x="1490472" y="1687068"/>
            <a:ext cx="635508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services/ticketsApi.ts</a:t>
            </a:r>
            <a:endParaRPr lang="en-US" sz="880" dirty="0"/>
          </a:p>
        </p:txBody>
      </p:sp>
      <p:sp>
        <p:nvSpPr>
          <p:cNvPr id="34" name="Text 32"/>
          <p:cNvSpPr/>
          <p:nvPr/>
        </p:nvSpPr>
        <p:spPr>
          <a:xfrm>
            <a:off x="640080" y="205282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01</a:t>
            </a:r>
            <a:endParaRPr lang="en-US" sz="1200" dirty="0"/>
          </a:p>
        </p:txBody>
      </p:sp>
      <p:sp>
        <p:nvSpPr>
          <p:cNvPr id="35" name="Text 33"/>
          <p:cNvSpPr/>
          <p:nvPr/>
        </p:nvSpPr>
        <p:spPr>
          <a:xfrm>
            <a:off x="1033272" y="203911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export async function fetchTickets(</a:t>
            </a:r>
            <a:endParaRPr lang="en-US" sz="1420" dirty="0"/>
          </a:p>
        </p:txBody>
      </p:sp>
      <p:sp>
        <p:nvSpPr>
          <p:cNvPr id="36" name="Text 34"/>
          <p:cNvSpPr/>
          <p:nvPr/>
        </p:nvSpPr>
        <p:spPr>
          <a:xfrm>
            <a:off x="640080" y="229514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02</a:t>
            </a:r>
            <a:endParaRPr lang="en-US" sz="1200" dirty="0"/>
          </a:p>
        </p:txBody>
      </p:sp>
      <p:sp>
        <p:nvSpPr>
          <p:cNvPr id="37" name="Text 35"/>
          <p:cNvSpPr/>
          <p:nvPr/>
        </p:nvSpPr>
        <p:spPr>
          <a:xfrm>
            <a:off x="1033272" y="228142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query: string,</a:t>
            </a:r>
            <a:endParaRPr lang="en-US" sz="1420" dirty="0"/>
          </a:p>
        </p:txBody>
      </p:sp>
      <p:sp>
        <p:nvSpPr>
          <p:cNvPr id="38" name="Text 36"/>
          <p:cNvSpPr/>
          <p:nvPr/>
        </p:nvSpPr>
        <p:spPr>
          <a:xfrm>
            <a:off x="640080" y="253746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03</a:t>
            </a:r>
            <a:endParaRPr lang="en-US" sz="1200" dirty="0"/>
          </a:p>
        </p:txBody>
      </p:sp>
      <p:sp>
        <p:nvSpPr>
          <p:cNvPr id="39" name="Text 37"/>
          <p:cNvSpPr/>
          <p:nvPr/>
        </p:nvSpPr>
        <p:spPr>
          <a:xfrm>
            <a:off x="1033272" y="2523744"/>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signal?: AbortSignal</a:t>
            </a:r>
            <a:endParaRPr lang="en-US" sz="1420" dirty="0"/>
          </a:p>
        </p:txBody>
      </p:sp>
      <p:sp>
        <p:nvSpPr>
          <p:cNvPr id="40" name="Text 38"/>
          <p:cNvSpPr/>
          <p:nvPr/>
        </p:nvSpPr>
        <p:spPr>
          <a:xfrm>
            <a:off x="640080" y="277977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04</a:t>
            </a:r>
            <a:endParaRPr lang="en-US" sz="1200" dirty="0"/>
          </a:p>
        </p:txBody>
      </p:sp>
      <p:sp>
        <p:nvSpPr>
          <p:cNvPr id="41" name="Text 39"/>
          <p:cNvSpPr/>
          <p:nvPr/>
        </p:nvSpPr>
        <p:spPr>
          <a:xfrm>
            <a:off x="1033272" y="2766060"/>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Promise&lt;Ticket[]&gt; {</a:t>
            </a:r>
            <a:endParaRPr lang="en-US" sz="1420" dirty="0"/>
          </a:p>
        </p:txBody>
      </p:sp>
      <p:sp>
        <p:nvSpPr>
          <p:cNvPr id="42" name="Text 40"/>
          <p:cNvSpPr/>
          <p:nvPr/>
        </p:nvSpPr>
        <p:spPr>
          <a:xfrm>
            <a:off x="640080" y="3022092"/>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05</a:t>
            </a:r>
            <a:endParaRPr lang="en-US" sz="1200" dirty="0"/>
          </a:p>
        </p:txBody>
      </p:sp>
      <p:sp>
        <p:nvSpPr>
          <p:cNvPr id="43" name="Text 41"/>
          <p:cNvSpPr/>
          <p:nvPr/>
        </p:nvSpPr>
        <p:spPr>
          <a:xfrm>
            <a:off x="1033272" y="3008376"/>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const params = new URLSearchParams({ q: query });</a:t>
            </a:r>
            <a:endParaRPr lang="en-US" sz="1420" dirty="0"/>
          </a:p>
        </p:txBody>
      </p:sp>
      <p:sp>
        <p:nvSpPr>
          <p:cNvPr id="44" name="Text 42"/>
          <p:cNvSpPr/>
          <p:nvPr/>
        </p:nvSpPr>
        <p:spPr>
          <a:xfrm>
            <a:off x="640080" y="326440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06</a:t>
            </a:r>
            <a:endParaRPr lang="en-US" sz="1200" dirty="0"/>
          </a:p>
        </p:txBody>
      </p:sp>
      <p:sp>
        <p:nvSpPr>
          <p:cNvPr id="45" name="Text 43"/>
          <p:cNvSpPr/>
          <p:nvPr/>
        </p:nvSpPr>
        <p:spPr>
          <a:xfrm>
            <a:off x="1033272" y="325069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46" name="Text 44"/>
          <p:cNvSpPr/>
          <p:nvPr/>
        </p:nvSpPr>
        <p:spPr>
          <a:xfrm>
            <a:off x="640080" y="350672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07</a:t>
            </a:r>
            <a:endParaRPr lang="en-US" sz="1200" dirty="0"/>
          </a:p>
        </p:txBody>
      </p:sp>
      <p:sp>
        <p:nvSpPr>
          <p:cNvPr id="47" name="Text 45"/>
          <p:cNvSpPr/>
          <p:nvPr/>
        </p:nvSpPr>
        <p:spPr>
          <a:xfrm>
            <a:off x="1033272" y="349300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const response = await fetch(</a:t>
            </a:r>
            <a:endParaRPr lang="en-US" sz="1420" dirty="0"/>
          </a:p>
        </p:txBody>
      </p:sp>
      <p:sp>
        <p:nvSpPr>
          <p:cNvPr id="48" name="Text 46"/>
          <p:cNvSpPr/>
          <p:nvPr/>
        </p:nvSpPr>
        <p:spPr>
          <a:xfrm>
            <a:off x="640080" y="374904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08</a:t>
            </a:r>
            <a:endParaRPr lang="en-US" sz="1200" dirty="0"/>
          </a:p>
        </p:txBody>
      </p:sp>
      <p:sp>
        <p:nvSpPr>
          <p:cNvPr id="49" name="Text 47"/>
          <p:cNvSpPr/>
          <p:nvPr/>
        </p:nvSpPr>
        <p:spPr>
          <a:xfrm>
            <a:off x="1033272" y="3735324"/>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'/api/tickets?' + params.toString(),</a:t>
            </a:r>
            <a:endParaRPr lang="en-US" sz="1420" dirty="0"/>
          </a:p>
        </p:txBody>
      </p:sp>
      <p:sp>
        <p:nvSpPr>
          <p:cNvPr id="50" name="Text 48"/>
          <p:cNvSpPr/>
          <p:nvPr/>
        </p:nvSpPr>
        <p:spPr>
          <a:xfrm>
            <a:off x="640080" y="399135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09</a:t>
            </a:r>
            <a:endParaRPr lang="en-US" sz="1200" dirty="0"/>
          </a:p>
        </p:txBody>
      </p:sp>
      <p:sp>
        <p:nvSpPr>
          <p:cNvPr id="51" name="Text 49"/>
          <p:cNvSpPr/>
          <p:nvPr/>
        </p:nvSpPr>
        <p:spPr>
          <a:xfrm>
            <a:off x="1033272" y="3977640"/>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 signal }</a:t>
            </a:r>
            <a:endParaRPr lang="en-US" sz="1420" dirty="0"/>
          </a:p>
        </p:txBody>
      </p:sp>
      <p:sp>
        <p:nvSpPr>
          <p:cNvPr id="52" name="Text 50"/>
          <p:cNvSpPr/>
          <p:nvPr/>
        </p:nvSpPr>
        <p:spPr>
          <a:xfrm>
            <a:off x="640080" y="4233672"/>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10</a:t>
            </a:r>
            <a:endParaRPr lang="en-US" sz="1200" dirty="0"/>
          </a:p>
        </p:txBody>
      </p:sp>
      <p:sp>
        <p:nvSpPr>
          <p:cNvPr id="53" name="Text 51"/>
          <p:cNvSpPr/>
          <p:nvPr/>
        </p:nvSpPr>
        <p:spPr>
          <a:xfrm>
            <a:off x="1033272" y="4219956"/>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54" name="Text 52"/>
          <p:cNvSpPr/>
          <p:nvPr/>
        </p:nvSpPr>
        <p:spPr>
          <a:xfrm>
            <a:off x="640080" y="447598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11</a:t>
            </a:r>
            <a:endParaRPr lang="en-US" sz="1200" dirty="0"/>
          </a:p>
        </p:txBody>
      </p:sp>
      <p:sp>
        <p:nvSpPr>
          <p:cNvPr id="55" name="Text 53"/>
          <p:cNvSpPr/>
          <p:nvPr/>
        </p:nvSpPr>
        <p:spPr>
          <a:xfrm>
            <a:off x="1033272" y="446227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56" name="Text 54"/>
          <p:cNvSpPr/>
          <p:nvPr/>
        </p:nvSpPr>
        <p:spPr>
          <a:xfrm>
            <a:off x="640080" y="471830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12</a:t>
            </a:r>
            <a:endParaRPr lang="en-US" sz="1200" dirty="0"/>
          </a:p>
        </p:txBody>
      </p:sp>
      <p:sp>
        <p:nvSpPr>
          <p:cNvPr id="57" name="Text 55"/>
          <p:cNvSpPr/>
          <p:nvPr/>
        </p:nvSpPr>
        <p:spPr>
          <a:xfrm>
            <a:off x="1033272" y="470458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if (!response.ok) throw new Error('Fetch failed');</a:t>
            </a:r>
            <a:endParaRPr lang="en-US" sz="1420" dirty="0"/>
          </a:p>
        </p:txBody>
      </p:sp>
      <p:sp>
        <p:nvSpPr>
          <p:cNvPr id="58" name="Text 56"/>
          <p:cNvSpPr/>
          <p:nvPr/>
        </p:nvSpPr>
        <p:spPr>
          <a:xfrm>
            <a:off x="640080" y="496062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13</a:t>
            </a:r>
            <a:endParaRPr lang="en-US" sz="1200" dirty="0"/>
          </a:p>
        </p:txBody>
      </p:sp>
      <p:sp>
        <p:nvSpPr>
          <p:cNvPr id="59" name="Text 57"/>
          <p:cNvSpPr/>
          <p:nvPr/>
        </p:nvSpPr>
        <p:spPr>
          <a:xfrm>
            <a:off x="1033272" y="4946904"/>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60" name="Text 58"/>
          <p:cNvSpPr/>
          <p:nvPr/>
        </p:nvSpPr>
        <p:spPr>
          <a:xfrm>
            <a:off x="640080" y="520293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14</a:t>
            </a:r>
            <a:endParaRPr lang="en-US" sz="1200" dirty="0"/>
          </a:p>
        </p:txBody>
      </p:sp>
      <p:sp>
        <p:nvSpPr>
          <p:cNvPr id="61" name="Text 59"/>
          <p:cNvSpPr/>
          <p:nvPr/>
        </p:nvSpPr>
        <p:spPr>
          <a:xfrm>
            <a:off x="1033272" y="5189220"/>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const dto: TicketDto[] = await response.json();</a:t>
            </a:r>
            <a:endParaRPr lang="en-US" sz="1420" dirty="0"/>
          </a:p>
        </p:txBody>
      </p:sp>
      <p:sp>
        <p:nvSpPr>
          <p:cNvPr id="62" name="Text 60"/>
          <p:cNvSpPr/>
          <p:nvPr/>
        </p:nvSpPr>
        <p:spPr>
          <a:xfrm>
            <a:off x="640080" y="5445252"/>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15</a:t>
            </a:r>
            <a:endParaRPr lang="en-US" sz="1200" dirty="0"/>
          </a:p>
        </p:txBody>
      </p:sp>
      <p:sp>
        <p:nvSpPr>
          <p:cNvPr id="63" name="Text 61"/>
          <p:cNvSpPr/>
          <p:nvPr/>
        </p:nvSpPr>
        <p:spPr>
          <a:xfrm>
            <a:off x="1033272" y="5431536"/>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return dto.map(mapTicketDto); // confine API → dominio</a:t>
            </a:r>
            <a:endParaRPr lang="en-US" sz="1420" dirty="0"/>
          </a:p>
        </p:txBody>
      </p:sp>
      <p:sp>
        <p:nvSpPr>
          <p:cNvPr id="64" name="Text 62"/>
          <p:cNvSpPr/>
          <p:nvPr/>
        </p:nvSpPr>
        <p:spPr>
          <a:xfrm>
            <a:off x="640080" y="568756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16</a:t>
            </a:r>
            <a:endParaRPr lang="en-US" sz="1200" dirty="0"/>
          </a:p>
        </p:txBody>
      </p:sp>
      <p:sp>
        <p:nvSpPr>
          <p:cNvPr id="65" name="Text 63"/>
          <p:cNvSpPr/>
          <p:nvPr/>
        </p:nvSpPr>
        <p:spPr>
          <a:xfrm>
            <a:off x="1033272" y="567385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a:t>
            </a:r>
            <a:endParaRPr lang="en-US" sz="1420" dirty="0"/>
          </a:p>
        </p:txBody>
      </p:sp>
      <p:sp>
        <p:nvSpPr>
          <p:cNvPr id="66" name="Shape 64"/>
          <p:cNvSpPr/>
          <p:nvPr/>
        </p:nvSpPr>
        <p:spPr>
          <a:xfrm>
            <a:off x="8366760" y="1591056"/>
            <a:ext cx="3310128" cy="4553712"/>
          </a:xfrm>
          <a:prstGeom prst="roundRect">
            <a:avLst>
              <a:gd name="adj" fmla="val 1381"/>
            </a:avLst>
          </a:prstGeom>
          <a:solidFill>
            <a:srgbClr val="122238"/>
          </a:solidFill>
          <a:ln w="12700">
            <a:solidFill>
              <a:srgbClr val="263A55"/>
            </a:solidFill>
            <a:prstDash val="solid"/>
          </a:ln>
        </p:spPr>
      </p:sp>
      <p:sp>
        <p:nvSpPr>
          <p:cNvPr id="67" name="Text 65"/>
          <p:cNvSpPr/>
          <p:nvPr/>
        </p:nvSpPr>
        <p:spPr>
          <a:xfrm>
            <a:off x="8586216" y="1801368"/>
            <a:ext cx="2871216" cy="182880"/>
          </a:xfrm>
          <a:prstGeom prst="rect">
            <a:avLst/>
          </a:prstGeom>
          <a:noFill/>
          <a:ln/>
        </p:spPr>
        <p:txBody>
          <a:bodyPr wrap="square" lIns="0" tIns="0" rIns="0" bIns="0" rtlCol="0" anchor="ctr"/>
          <a:lstStyle/>
          <a:p>
            <a:pPr indent="0" marL="0">
              <a:buNone/>
            </a:pPr>
            <a:r>
              <a:rPr lang="en-US" sz="950" b="1" spc="115" kern="0" dirty="0">
                <a:solidFill>
                  <a:srgbClr val="F5C96A"/>
                </a:solidFill>
                <a:latin typeface="Aptos" pitchFamily="34" charset="0"/>
                <a:ea typeface="Aptos" pitchFamily="34" charset="-122"/>
                <a:cs typeface="Aptos" pitchFamily="34" charset="-120"/>
              </a:rPr>
              <a:t>DA OSSERVARE</a:t>
            </a:r>
            <a:endParaRPr lang="en-US" sz="950" dirty="0"/>
          </a:p>
        </p:txBody>
      </p:sp>
      <p:sp>
        <p:nvSpPr>
          <p:cNvPr id="68" name="Shape 66"/>
          <p:cNvSpPr/>
          <p:nvPr/>
        </p:nvSpPr>
        <p:spPr>
          <a:xfrm>
            <a:off x="8586216" y="2267712"/>
            <a:ext cx="91440" cy="91440"/>
          </a:xfrm>
          <a:prstGeom prst="ellipse">
            <a:avLst/>
          </a:prstGeom>
          <a:solidFill>
            <a:srgbClr val="7CD4FF"/>
          </a:solidFill>
          <a:ln w="12700">
            <a:solidFill>
              <a:srgbClr val="7CD4FF"/>
            </a:solidFill>
            <a:prstDash val="solid"/>
          </a:ln>
        </p:spPr>
      </p:sp>
      <p:sp>
        <p:nvSpPr>
          <p:cNvPr id="69" name="Text 67"/>
          <p:cNvSpPr/>
          <p:nvPr/>
        </p:nvSpPr>
        <p:spPr>
          <a:xfrm>
            <a:off x="8778240" y="2212848"/>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Endpoint e mapping restano fuori dalla UI.</a:t>
            </a:r>
            <a:endParaRPr lang="en-US" sz="1420" dirty="0"/>
          </a:p>
        </p:txBody>
      </p:sp>
      <p:sp>
        <p:nvSpPr>
          <p:cNvPr id="70" name="Shape 68"/>
          <p:cNvSpPr/>
          <p:nvPr/>
        </p:nvSpPr>
        <p:spPr>
          <a:xfrm>
            <a:off x="8586216" y="2980944"/>
            <a:ext cx="91440" cy="91440"/>
          </a:xfrm>
          <a:prstGeom prst="ellipse">
            <a:avLst/>
          </a:prstGeom>
          <a:solidFill>
            <a:srgbClr val="7CD4FF"/>
          </a:solidFill>
          <a:ln w="12700">
            <a:solidFill>
              <a:srgbClr val="7CD4FF"/>
            </a:solidFill>
            <a:prstDash val="solid"/>
          </a:ln>
        </p:spPr>
      </p:sp>
      <p:sp>
        <p:nvSpPr>
          <p:cNvPr id="71" name="Text 69"/>
          <p:cNvSpPr/>
          <p:nvPr/>
        </p:nvSpPr>
        <p:spPr>
          <a:xfrm>
            <a:off x="8778240" y="2926080"/>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AbortSignal entra come dipendenza esplicita.</a:t>
            </a:r>
            <a:endParaRPr lang="en-US" sz="1420" dirty="0"/>
          </a:p>
        </p:txBody>
      </p:sp>
      <p:sp>
        <p:nvSpPr>
          <p:cNvPr id="72" name="Shape 70"/>
          <p:cNvSpPr/>
          <p:nvPr/>
        </p:nvSpPr>
        <p:spPr>
          <a:xfrm>
            <a:off x="8586216" y="3694176"/>
            <a:ext cx="91440" cy="91440"/>
          </a:xfrm>
          <a:prstGeom prst="ellipse">
            <a:avLst/>
          </a:prstGeom>
          <a:solidFill>
            <a:srgbClr val="7CD4FF"/>
          </a:solidFill>
          <a:ln w="12700">
            <a:solidFill>
              <a:srgbClr val="7CD4FF"/>
            </a:solidFill>
            <a:prstDash val="solid"/>
          </a:ln>
        </p:spPr>
      </p:sp>
      <p:sp>
        <p:nvSpPr>
          <p:cNvPr id="73" name="Text 71"/>
          <p:cNvSpPr/>
          <p:nvPr/>
        </p:nvSpPr>
        <p:spPr>
          <a:xfrm>
            <a:off x="8778240" y="3639312"/>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Gli errori HTTP diventano eccezioni coerenti.</a:t>
            </a:r>
            <a:endParaRPr lang="en-US" sz="14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17</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CONTAINER / PRESENTATIONAL</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Prima: pagina, rete e rendering sono fusi</a:t>
            </a:r>
            <a:endParaRPr lang="en-US" sz="2700" dirty="0"/>
          </a:p>
        </p:txBody>
      </p:sp>
      <p:sp>
        <p:nvSpPr>
          <p:cNvPr id="29" name="Shape 27"/>
          <p:cNvSpPr/>
          <p:nvPr/>
        </p:nvSpPr>
        <p:spPr>
          <a:xfrm>
            <a:off x="530352" y="1581912"/>
            <a:ext cx="5440680" cy="4526280"/>
          </a:xfrm>
          <a:prstGeom prst="roundRect">
            <a:avLst>
              <a:gd name="adj" fmla="val 1010"/>
            </a:avLst>
          </a:prstGeom>
          <a:solidFill>
            <a:srgbClr val="0D1A2B"/>
          </a:solidFill>
          <a:ln w="13970">
            <a:solidFill>
              <a:srgbClr val="263A55"/>
            </a:solidFill>
            <a:prstDash val="solid"/>
          </a:ln>
        </p:spPr>
      </p:sp>
      <p:sp>
        <p:nvSpPr>
          <p:cNvPr id="30" name="Shape 28"/>
          <p:cNvSpPr/>
          <p:nvPr/>
        </p:nvSpPr>
        <p:spPr>
          <a:xfrm>
            <a:off x="530352" y="1581912"/>
            <a:ext cx="5440680" cy="347472"/>
          </a:xfrm>
          <a:prstGeom prst="rect">
            <a:avLst/>
          </a:prstGeom>
          <a:solidFill>
            <a:srgbClr val="122238"/>
          </a:solidFill>
          <a:ln w="12700">
            <a:solidFill>
              <a:srgbClr val="122238"/>
            </a:solidFill>
            <a:prstDash val="solid"/>
          </a:ln>
        </p:spPr>
      </p:sp>
      <p:sp>
        <p:nvSpPr>
          <p:cNvPr id="31" name="Shape 29"/>
          <p:cNvSpPr/>
          <p:nvPr/>
        </p:nvSpPr>
        <p:spPr>
          <a:xfrm>
            <a:off x="694944" y="1623060"/>
            <a:ext cx="658368" cy="274320"/>
          </a:xfrm>
          <a:prstGeom prst="roundRect">
            <a:avLst>
              <a:gd name="adj" fmla="val 20000"/>
            </a:avLst>
          </a:prstGeom>
          <a:solidFill>
            <a:srgbClr val="FF7A8A">
              <a:alpha val="20000"/>
            </a:srgbClr>
          </a:solidFill>
          <a:ln w="10160">
            <a:solidFill>
              <a:srgbClr val="FF7A8A">
                <a:alpha val="55000"/>
              </a:srgbClr>
            </a:solidFill>
            <a:prstDash val="solid"/>
          </a:ln>
        </p:spPr>
      </p:sp>
      <p:sp>
        <p:nvSpPr>
          <p:cNvPr id="32" name="Text 30"/>
          <p:cNvSpPr/>
          <p:nvPr/>
        </p:nvSpPr>
        <p:spPr>
          <a:xfrm>
            <a:off x="786384" y="1682496"/>
            <a:ext cx="475488" cy="128016"/>
          </a:xfrm>
          <a:prstGeom prst="rect">
            <a:avLst/>
          </a:prstGeom>
          <a:noFill/>
          <a:ln/>
        </p:spPr>
        <p:txBody>
          <a:bodyPr wrap="square" lIns="0" tIns="0" rIns="0" bIns="0" rtlCol="0" anchor="ctr"/>
          <a:lstStyle/>
          <a:p>
            <a:pPr algn="ctr" indent="0" marL="0">
              <a:buNone/>
            </a:pPr>
            <a:r>
              <a:rPr lang="en-US" sz="820" b="1" dirty="0">
                <a:solidFill>
                  <a:srgbClr val="FF7A8A"/>
                </a:solidFill>
                <a:latin typeface="Aptos Mono" pitchFamily="34" charset="0"/>
                <a:ea typeface="Aptos Mono" pitchFamily="34" charset="-122"/>
                <a:cs typeface="Aptos Mono" pitchFamily="34" charset="-120"/>
              </a:rPr>
              <a:t>TSX</a:t>
            </a:r>
            <a:endParaRPr lang="en-US" sz="820" dirty="0"/>
          </a:p>
        </p:txBody>
      </p:sp>
      <p:sp>
        <p:nvSpPr>
          <p:cNvPr id="33" name="Text 31"/>
          <p:cNvSpPr/>
          <p:nvPr/>
        </p:nvSpPr>
        <p:spPr>
          <a:xfrm>
            <a:off x="1490472" y="1677924"/>
            <a:ext cx="420624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PRIMA</a:t>
            </a:r>
            <a:endParaRPr lang="en-US" sz="880" dirty="0"/>
          </a:p>
        </p:txBody>
      </p:sp>
      <p:sp>
        <p:nvSpPr>
          <p:cNvPr id="34" name="Text 32"/>
          <p:cNvSpPr/>
          <p:nvPr/>
        </p:nvSpPr>
        <p:spPr>
          <a:xfrm>
            <a:off x="640080" y="204368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01</a:t>
            </a:r>
            <a:endParaRPr lang="en-US" sz="1060" dirty="0"/>
          </a:p>
        </p:txBody>
      </p:sp>
      <p:sp>
        <p:nvSpPr>
          <p:cNvPr id="35" name="Text 33"/>
          <p:cNvSpPr/>
          <p:nvPr/>
        </p:nvSpPr>
        <p:spPr>
          <a:xfrm>
            <a:off x="1033272" y="202996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function TicketsPage() {</a:t>
            </a:r>
            <a:endParaRPr lang="en-US" sz="1280" dirty="0"/>
          </a:p>
        </p:txBody>
      </p:sp>
      <p:sp>
        <p:nvSpPr>
          <p:cNvPr id="36" name="Text 34"/>
          <p:cNvSpPr/>
          <p:nvPr/>
        </p:nvSpPr>
        <p:spPr>
          <a:xfrm>
            <a:off x="640080" y="228600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02</a:t>
            </a:r>
            <a:endParaRPr lang="en-US" sz="1060" dirty="0"/>
          </a:p>
        </p:txBody>
      </p:sp>
      <p:sp>
        <p:nvSpPr>
          <p:cNvPr id="37" name="Text 35"/>
          <p:cNvSpPr/>
          <p:nvPr/>
        </p:nvSpPr>
        <p:spPr>
          <a:xfrm>
            <a:off x="1033272" y="227228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const [tickets, setTickets] = useState([]);</a:t>
            </a:r>
            <a:endParaRPr lang="en-US" sz="1280" dirty="0"/>
          </a:p>
        </p:txBody>
      </p:sp>
      <p:sp>
        <p:nvSpPr>
          <p:cNvPr id="38" name="Text 36"/>
          <p:cNvSpPr/>
          <p:nvPr/>
        </p:nvSpPr>
        <p:spPr>
          <a:xfrm>
            <a:off x="640080" y="252831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03</a:t>
            </a:r>
            <a:endParaRPr lang="en-US" sz="1060" dirty="0"/>
          </a:p>
        </p:txBody>
      </p:sp>
      <p:sp>
        <p:nvSpPr>
          <p:cNvPr id="39" name="Text 37"/>
          <p:cNvSpPr/>
          <p:nvPr/>
        </p:nvSpPr>
        <p:spPr>
          <a:xfrm>
            <a:off x="1033272" y="2514600"/>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t>
            </a:r>
            <a:endParaRPr lang="en-US" sz="1280" dirty="0"/>
          </a:p>
        </p:txBody>
      </p:sp>
      <p:sp>
        <p:nvSpPr>
          <p:cNvPr id="40" name="Text 38"/>
          <p:cNvSpPr/>
          <p:nvPr/>
        </p:nvSpPr>
        <p:spPr>
          <a:xfrm>
            <a:off x="640080" y="2770632"/>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04</a:t>
            </a:r>
            <a:endParaRPr lang="en-US" sz="1060" dirty="0"/>
          </a:p>
        </p:txBody>
      </p:sp>
      <p:sp>
        <p:nvSpPr>
          <p:cNvPr id="41" name="Text 39"/>
          <p:cNvSpPr/>
          <p:nvPr/>
        </p:nvSpPr>
        <p:spPr>
          <a:xfrm>
            <a:off x="1033272" y="2756916"/>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useEffect(() =&gt; {</a:t>
            </a:r>
            <a:endParaRPr lang="en-US" sz="1280" dirty="0"/>
          </a:p>
        </p:txBody>
      </p:sp>
      <p:sp>
        <p:nvSpPr>
          <p:cNvPr id="42" name="Text 40"/>
          <p:cNvSpPr/>
          <p:nvPr/>
        </p:nvSpPr>
        <p:spPr>
          <a:xfrm>
            <a:off x="640080" y="3012948"/>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05</a:t>
            </a:r>
            <a:endParaRPr lang="en-US" sz="1060" dirty="0"/>
          </a:p>
        </p:txBody>
      </p:sp>
      <p:sp>
        <p:nvSpPr>
          <p:cNvPr id="43" name="Text 41"/>
          <p:cNvSpPr/>
          <p:nvPr/>
        </p:nvSpPr>
        <p:spPr>
          <a:xfrm>
            <a:off x="1033272" y="2999232"/>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fetch('/api/tickets')</a:t>
            </a:r>
            <a:endParaRPr lang="en-US" sz="1280" dirty="0"/>
          </a:p>
        </p:txBody>
      </p:sp>
      <p:sp>
        <p:nvSpPr>
          <p:cNvPr id="44" name="Text 42"/>
          <p:cNvSpPr/>
          <p:nvPr/>
        </p:nvSpPr>
        <p:spPr>
          <a:xfrm>
            <a:off x="640080" y="325526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06</a:t>
            </a:r>
            <a:endParaRPr lang="en-US" sz="1060" dirty="0"/>
          </a:p>
        </p:txBody>
      </p:sp>
      <p:sp>
        <p:nvSpPr>
          <p:cNvPr id="45" name="Text 43"/>
          <p:cNvSpPr/>
          <p:nvPr/>
        </p:nvSpPr>
        <p:spPr>
          <a:xfrm>
            <a:off x="1033272" y="324154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.then(r =&gt; r.json())</a:t>
            </a:r>
            <a:endParaRPr lang="en-US" sz="1280" dirty="0"/>
          </a:p>
        </p:txBody>
      </p:sp>
      <p:sp>
        <p:nvSpPr>
          <p:cNvPr id="46" name="Text 44"/>
          <p:cNvSpPr/>
          <p:nvPr/>
        </p:nvSpPr>
        <p:spPr>
          <a:xfrm>
            <a:off x="640080" y="349758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07</a:t>
            </a:r>
            <a:endParaRPr lang="en-US" sz="1060" dirty="0"/>
          </a:p>
        </p:txBody>
      </p:sp>
      <p:sp>
        <p:nvSpPr>
          <p:cNvPr id="47" name="Text 45"/>
          <p:cNvSpPr/>
          <p:nvPr/>
        </p:nvSpPr>
        <p:spPr>
          <a:xfrm>
            <a:off x="1033272" y="348386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.then(setTickets);</a:t>
            </a:r>
            <a:endParaRPr lang="en-US" sz="1280" dirty="0"/>
          </a:p>
        </p:txBody>
      </p:sp>
      <p:sp>
        <p:nvSpPr>
          <p:cNvPr id="48" name="Text 46"/>
          <p:cNvSpPr/>
          <p:nvPr/>
        </p:nvSpPr>
        <p:spPr>
          <a:xfrm>
            <a:off x="640080" y="373989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08</a:t>
            </a:r>
            <a:endParaRPr lang="en-US" sz="1060" dirty="0"/>
          </a:p>
        </p:txBody>
      </p:sp>
      <p:sp>
        <p:nvSpPr>
          <p:cNvPr id="49" name="Text 47"/>
          <p:cNvSpPr/>
          <p:nvPr/>
        </p:nvSpPr>
        <p:spPr>
          <a:xfrm>
            <a:off x="1033272" y="3726180"/>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 []);</a:t>
            </a:r>
            <a:endParaRPr lang="en-US" sz="1280" dirty="0"/>
          </a:p>
        </p:txBody>
      </p:sp>
      <p:sp>
        <p:nvSpPr>
          <p:cNvPr id="50" name="Text 48"/>
          <p:cNvSpPr/>
          <p:nvPr/>
        </p:nvSpPr>
        <p:spPr>
          <a:xfrm>
            <a:off x="640080" y="3982212"/>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09</a:t>
            </a:r>
            <a:endParaRPr lang="en-US" sz="1060" dirty="0"/>
          </a:p>
        </p:txBody>
      </p:sp>
      <p:sp>
        <p:nvSpPr>
          <p:cNvPr id="51" name="Text 49"/>
          <p:cNvSpPr/>
          <p:nvPr/>
        </p:nvSpPr>
        <p:spPr>
          <a:xfrm>
            <a:off x="1033272" y="3968496"/>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t>
            </a:r>
            <a:endParaRPr lang="en-US" sz="1280" dirty="0"/>
          </a:p>
        </p:txBody>
      </p:sp>
      <p:sp>
        <p:nvSpPr>
          <p:cNvPr id="52" name="Text 50"/>
          <p:cNvSpPr/>
          <p:nvPr/>
        </p:nvSpPr>
        <p:spPr>
          <a:xfrm>
            <a:off x="640080" y="4224528"/>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10</a:t>
            </a:r>
            <a:endParaRPr lang="en-US" sz="1060" dirty="0"/>
          </a:p>
        </p:txBody>
      </p:sp>
      <p:sp>
        <p:nvSpPr>
          <p:cNvPr id="53" name="Text 51"/>
          <p:cNvSpPr/>
          <p:nvPr/>
        </p:nvSpPr>
        <p:spPr>
          <a:xfrm>
            <a:off x="1033272" y="4210812"/>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return tickets.map(ticket =&gt; (</a:t>
            </a:r>
            <a:endParaRPr lang="en-US" sz="1280" dirty="0"/>
          </a:p>
        </p:txBody>
      </p:sp>
      <p:sp>
        <p:nvSpPr>
          <p:cNvPr id="54" name="Text 52"/>
          <p:cNvSpPr/>
          <p:nvPr/>
        </p:nvSpPr>
        <p:spPr>
          <a:xfrm>
            <a:off x="640080" y="446684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11</a:t>
            </a:r>
            <a:endParaRPr lang="en-US" sz="1060" dirty="0"/>
          </a:p>
        </p:txBody>
      </p:sp>
      <p:sp>
        <p:nvSpPr>
          <p:cNvPr id="55" name="Text 53"/>
          <p:cNvSpPr/>
          <p:nvPr/>
        </p:nvSpPr>
        <p:spPr>
          <a:xfrm>
            <a:off x="1033272" y="445312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&lt;article key={ticket.id}&gt;</a:t>
            </a:r>
            <a:endParaRPr lang="en-US" sz="1280" dirty="0"/>
          </a:p>
        </p:txBody>
      </p:sp>
      <p:sp>
        <p:nvSpPr>
          <p:cNvPr id="56" name="Text 54"/>
          <p:cNvSpPr/>
          <p:nvPr/>
        </p:nvSpPr>
        <p:spPr>
          <a:xfrm>
            <a:off x="640080" y="470916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12</a:t>
            </a:r>
            <a:endParaRPr lang="en-US" sz="1060" dirty="0"/>
          </a:p>
        </p:txBody>
      </p:sp>
      <p:sp>
        <p:nvSpPr>
          <p:cNvPr id="57" name="Text 55"/>
          <p:cNvSpPr/>
          <p:nvPr/>
        </p:nvSpPr>
        <p:spPr>
          <a:xfrm>
            <a:off x="1033272" y="469544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&lt;h2&gt;{ticket.title}&lt;/h2&gt;</a:t>
            </a:r>
            <a:endParaRPr lang="en-US" sz="1280" dirty="0"/>
          </a:p>
        </p:txBody>
      </p:sp>
      <p:sp>
        <p:nvSpPr>
          <p:cNvPr id="58" name="Text 56"/>
          <p:cNvSpPr/>
          <p:nvPr/>
        </p:nvSpPr>
        <p:spPr>
          <a:xfrm>
            <a:off x="640080" y="495147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13</a:t>
            </a:r>
            <a:endParaRPr lang="en-US" sz="1060" dirty="0"/>
          </a:p>
        </p:txBody>
      </p:sp>
      <p:sp>
        <p:nvSpPr>
          <p:cNvPr id="59" name="Text 57"/>
          <p:cNvSpPr/>
          <p:nvPr/>
        </p:nvSpPr>
        <p:spPr>
          <a:xfrm>
            <a:off x="1033272" y="4937760"/>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&lt;/article&gt;</a:t>
            </a:r>
            <a:endParaRPr lang="en-US" sz="1280" dirty="0"/>
          </a:p>
        </p:txBody>
      </p:sp>
      <p:sp>
        <p:nvSpPr>
          <p:cNvPr id="60" name="Text 58"/>
          <p:cNvSpPr/>
          <p:nvPr/>
        </p:nvSpPr>
        <p:spPr>
          <a:xfrm>
            <a:off x="640080" y="5193792"/>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14</a:t>
            </a:r>
            <a:endParaRPr lang="en-US" sz="1060" dirty="0"/>
          </a:p>
        </p:txBody>
      </p:sp>
      <p:sp>
        <p:nvSpPr>
          <p:cNvPr id="61" name="Text 59"/>
          <p:cNvSpPr/>
          <p:nvPr/>
        </p:nvSpPr>
        <p:spPr>
          <a:xfrm>
            <a:off x="1033272" y="5180076"/>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t>
            </a:r>
            <a:endParaRPr lang="en-US" sz="1280" dirty="0"/>
          </a:p>
        </p:txBody>
      </p:sp>
      <p:sp>
        <p:nvSpPr>
          <p:cNvPr id="62" name="Text 60"/>
          <p:cNvSpPr/>
          <p:nvPr/>
        </p:nvSpPr>
        <p:spPr>
          <a:xfrm>
            <a:off x="640080" y="5436108"/>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15</a:t>
            </a:r>
            <a:endParaRPr lang="en-US" sz="1060" dirty="0"/>
          </a:p>
        </p:txBody>
      </p:sp>
      <p:sp>
        <p:nvSpPr>
          <p:cNvPr id="63" name="Text 61"/>
          <p:cNvSpPr/>
          <p:nvPr/>
        </p:nvSpPr>
        <p:spPr>
          <a:xfrm>
            <a:off x="1033272" y="5422392"/>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a:t>
            </a:r>
            <a:endParaRPr lang="en-US" sz="1280" dirty="0"/>
          </a:p>
        </p:txBody>
      </p:sp>
      <p:sp>
        <p:nvSpPr>
          <p:cNvPr id="64" name="Shape 62"/>
          <p:cNvSpPr/>
          <p:nvPr/>
        </p:nvSpPr>
        <p:spPr>
          <a:xfrm>
            <a:off x="6217920" y="1581912"/>
            <a:ext cx="5440680" cy="4526280"/>
          </a:xfrm>
          <a:prstGeom prst="roundRect">
            <a:avLst>
              <a:gd name="adj" fmla="val 1010"/>
            </a:avLst>
          </a:prstGeom>
          <a:solidFill>
            <a:srgbClr val="0D1A2B"/>
          </a:solidFill>
          <a:ln w="13970">
            <a:solidFill>
              <a:srgbClr val="263A55"/>
            </a:solidFill>
            <a:prstDash val="solid"/>
          </a:ln>
        </p:spPr>
      </p:sp>
      <p:sp>
        <p:nvSpPr>
          <p:cNvPr id="65" name="Shape 63"/>
          <p:cNvSpPr/>
          <p:nvPr/>
        </p:nvSpPr>
        <p:spPr>
          <a:xfrm>
            <a:off x="6217920" y="1581912"/>
            <a:ext cx="5440680" cy="347472"/>
          </a:xfrm>
          <a:prstGeom prst="rect">
            <a:avLst/>
          </a:prstGeom>
          <a:solidFill>
            <a:srgbClr val="122238"/>
          </a:solidFill>
          <a:ln w="12700">
            <a:solidFill>
              <a:srgbClr val="122238"/>
            </a:solidFill>
            <a:prstDash val="solid"/>
          </a:ln>
        </p:spPr>
      </p:sp>
      <p:sp>
        <p:nvSpPr>
          <p:cNvPr id="66" name="Shape 64"/>
          <p:cNvSpPr/>
          <p:nvPr/>
        </p:nvSpPr>
        <p:spPr>
          <a:xfrm>
            <a:off x="6382512" y="1623060"/>
            <a:ext cx="658368" cy="274320"/>
          </a:xfrm>
          <a:prstGeom prst="roundRect">
            <a:avLst>
              <a:gd name="adj" fmla="val 20000"/>
            </a:avLst>
          </a:prstGeom>
          <a:solidFill>
            <a:srgbClr val="6FE3B1">
              <a:alpha val="20000"/>
            </a:srgbClr>
          </a:solidFill>
          <a:ln w="10160">
            <a:solidFill>
              <a:srgbClr val="6FE3B1">
                <a:alpha val="55000"/>
              </a:srgbClr>
            </a:solidFill>
            <a:prstDash val="solid"/>
          </a:ln>
        </p:spPr>
      </p:sp>
      <p:sp>
        <p:nvSpPr>
          <p:cNvPr id="67" name="Text 65"/>
          <p:cNvSpPr/>
          <p:nvPr/>
        </p:nvSpPr>
        <p:spPr>
          <a:xfrm>
            <a:off x="6473952" y="1682496"/>
            <a:ext cx="475488" cy="128016"/>
          </a:xfrm>
          <a:prstGeom prst="rect">
            <a:avLst/>
          </a:prstGeom>
          <a:noFill/>
          <a:ln/>
        </p:spPr>
        <p:txBody>
          <a:bodyPr wrap="square" lIns="0" tIns="0" rIns="0" bIns="0" rtlCol="0" anchor="ctr"/>
          <a:lstStyle/>
          <a:p>
            <a:pPr algn="ctr" indent="0" marL="0">
              <a:buNone/>
            </a:pPr>
            <a:r>
              <a:rPr lang="en-US" sz="820" b="1" dirty="0">
                <a:solidFill>
                  <a:srgbClr val="6FE3B1"/>
                </a:solidFill>
                <a:latin typeface="Aptos Mono" pitchFamily="34" charset="0"/>
                <a:ea typeface="Aptos Mono" pitchFamily="34" charset="-122"/>
                <a:cs typeface="Aptos Mono" pitchFamily="34" charset="-120"/>
              </a:rPr>
              <a:t>TSX</a:t>
            </a:r>
            <a:endParaRPr lang="en-US" sz="820" dirty="0"/>
          </a:p>
        </p:txBody>
      </p:sp>
      <p:sp>
        <p:nvSpPr>
          <p:cNvPr id="68" name="Text 66"/>
          <p:cNvSpPr/>
          <p:nvPr/>
        </p:nvSpPr>
        <p:spPr>
          <a:xfrm>
            <a:off x="7178040" y="1677924"/>
            <a:ext cx="420624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DOPO</a:t>
            </a:r>
            <a:endParaRPr lang="en-US" sz="880" dirty="0"/>
          </a:p>
        </p:txBody>
      </p:sp>
      <p:sp>
        <p:nvSpPr>
          <p:cNvPr id="69" name="Text 67"/>
          <p:cNvSpPr/>
          <p:nvPr/>
        </p:nvSpPr>
        <p:spPr>
          <a:xfrm>
            <a:off x="6327648" y="204368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01</a:t>
            </a:r>
            <a:endParaRPr lang="en-US" sz="1060" dirty="0"/>
          </a:p>
        </p:txBody>
      </p:sp>
      <p:sp>
        <p:nvSpPr>
          <p:cNvPr id="70" name="Text 68"/>
          <p:cNvSpPr/>
          <p:nvPr/>
        </p:nvSpPr>
        <p:spPr>
          <a:xfrm>
            <a:off x="6720840" y="202996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function TicketsPage() {</a:t>
            </a:r>
            <a:endParaRPr lang="en-US" sz="1280" dirty="0"/>
          </a:p>
        </p:txBody>
      </p:sp>
      <p:sp>
        <p:nvSpPr>
          <p:cNvPr id="71" name="Text 69"/>
          <p:cNvSpPr/>
          <p:nvPr/>
        </p:nvSpPr>
        <p:spPr>
          <a:xfrm>
            <a:off x="6327648" y="228600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02</a:t>
            </a:r>
            <a:endParaRPr lang="en-US" sz="1060" dirty="0"/>
          </a:p>
        </p:txBody>
      </p:sp>
      <p:sp>
        <p:nvSpPr>
          <p:cNvPr id="72" name="Text 70"/>
          <p:cNvSpPr/>
          <p:nvPr/>
        </p:nvSpPr>
        <p:spPr>
          <a:xfrm>
            <a:off x="6720840" y="227228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const result = useTickets();</a:t>
            </a:r>
            <a:endParaRPr lang="en-US" sz="1280" dirty="0"/>
          </a:p>
        </p:txBody>
      </p:sp>
      <p:sp>
        <p:nvSpPr>
          <p:cNvPr id="73" name="Text 71"/>
          <p:cNvSpPr/>
          <p:nvPr/>
        </p:nvSpPr>
        <p:spPr>
          <a:xfrm>
            <a:off x="6327648" y="252831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03</a:t>
            </a:r>
            <a:endParaRPr lang="en-US" sz="1060" dirty="0"/>
          </a:p>
        </p:txBody>
      </p:sp>
      <p:sp>
        <p:nvSpPr>
          <p:cNvPr id="74" name="Text 72"/>
          <p:cNvSpPr/>
          <p:nvPr/>
        </p:nvSpPr>
        <p:spPr>
          <a:xfrm>
            <a:off x="6720840" y="2514600"/>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t>
            </a:r>
            <a:endParaRPr lang="en-US" sz="1280" dirty="0"/>
          </a:p>
        </p:txBody>
      </p:sp>
      <p:sp>
        <p:nvSpPr>
          <p:cNvPr id="75" name="Text 73"/>
          <p:cNvSpPr/>
          <p:nvPr/>
        </p:nvSpPr>
        <p:spPr>
          <a:xfrm>
            <a:off x="6327648" y="2770632"/>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04</a:t>
            </a:r>
            <a:endParaRPr lang="en-US" sz="1060" dirty="0"/>
          </a:p>
        </p:txBody>
      </p:sp>
      <p:sp>
        <p:nvSpPr>
          <p:cNvPr id="76" name="Text 74"/>
          <p:cNvSpPr/>
          <p:nvPr/>
        </p:nvSpPr>
        <p:spPr>
          <a:xfrm>
            <a:off x="6720840" y="2756916"/>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return (</a:t>
            </a:r>
            <a:endParaRPr lang="en-US" sz="1280" dirty="0"/>
          </a:p>
        </p:txBody>
      </p:sp>
      <p:sp>
        <p:nvSpPr>
          <p:cNvPr id="77" name="Text 75"/>
          <p:cNvSpPr/>
          <p:nvPr/>
        </p:nvSpPr>
        <p:spPr>
          <a:xfrm>
            <a:off x="6327648" y="3012948"/>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05</a:t>
            </a:r>
            <a:endParaRPr lang="en-US" sz="1060" dirty="0"/>
          </a:p>
        </p:txBody>
      </p:sp>
      <p:sp>
        <p:nvSpPr>
          <p:cNvPr id="78" name="Text 76"/>
          <p:cNvSpPr/>
          <p:nvPr/>
        </p:nvSpPr>
        <p:spPr>
          <a:xfrm>
            <a:off x="6720840" y="2999232"/>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&lt;TicketList</a:t>
            </a:r>
            <a:endParaRPr lang="en-US" sz="1280" dirty="0"/>
          </a:p>
        </p:txBody>
      </p:sp>
      <p:sp>
        <p:nvSpPr>
          <p:cNvPr id="79" name="Text 77"/>
          <p:cNvSpPr/>
          <p:nvPr/>
        </p:nvSpPr>
        <p:spPr>
          <a:xfrm>
            <a:off x="6327648" y="325526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06</a:t>
            </a:r>
            <a:endParaRPr lang="en-US" sz="1060" dirty="0"/>
          </a:p>
        </p:txBody>
      </p:sp>
      <p:sp>
        <p:nvSpPr>
          <p:cNvPr id="80" name="Text 78"/>
          <p:cNvSpPr/>
          <p:nvPr/>
        </p:nvSpPr>
        <p:spPr>
          <a:xfrm>
            <a:off x="6720840" y="324154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tickets={result.tickets}</a:t>
            </a:r>
            <a:endParaRPr lang="en-US" sz="1280" dirty="0"/>
          </a:p>
        </p:txBody>
      </p:sp>
      <p:sp>
        <p:nvSpPr>
          <p:cNvPr id="81" name="Text 79"/>
          <p:cNvSpPr/>
          <p:nvPr/>
        </p:nvSpPr>
        <p:spPr>
          <a:xfrm>
            <a:off x="6327648" y="349758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07</a:t>
            </a:r>
            <a:endParaRPr lang="en-US" sz="1060" dirty="0"/>
          </a:p>
        </p:txBody>
      </p:sp>
      <p:sp>
        <p:nvSpPr>
          <p:cNvPr id="82" name="Text 80"/>
          <p:cNvSpPr/>
          <p:nvPr/>
        </p:nvSpPr>
        <p:spPr>
          <a:xfrm>
            <a:off x="6720840" y="348386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isLoading={result.isLoading}</a:t>
            </a:r>
            <a:endParaRPr lang="en-US" sz="1280" dirty="0"/>
          </a:p>
        </p:txBody>
      </p:sp>
      <p:sp>
        <p:nvSpPr>
          <p:cNvPr id="83" name="Text 81"/>
          <p:cNvSpPr/>
          <p:nvPr/>
        </p:nvSpPr>
        <p:spPr>
          <a:xfrm>
            <a:off x="6327648" y="373989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08</a:t>
            </a:r>
            <a:endParaRPr lang="en-US" sz="1060" dirty="0"/>
          </a:p>
        </p:txBody>
      </p:sp>
      <p:sp>
        <p:nvSpPr>
          <p:cNvPr id="84" name="Text 82"/>
          <p:cNvSpPr/>
          <p:nvPr/>
        </p:nvSpPr>
        <p:spPr>
          <a:xfrm>
            <a:off x="6720840" y="3726180"/>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error={result.error}</a:t>
            </a:r>
            <a:endParaRPr lang="en-US" sz="1280" dirty="0"/>
          </a:p>
        </p:txBody>
      </p:sp>
      <p:sp>
        <p:nvSpPr>
          <p:cNvPr id="85" name="Text 83"/>
          <p:cNvSpPr/>
          <p:nvPr/>
        </p:nvSpPr>
        <p:spPr>
          <a:xfrm>
            <a:off x="6327648" y="3982212"/>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09</a:t>
            </a:r>
            <a:endParaRPr lang="en-US" sz="1060" dirty="0"/>
          </a:p>
        </p:txBody>
      </p:sp>
      <p:sp>
        <p:nvSpPr>
          <p:cNvPr id="86" name="Text 84"/>
          <p:cNvSpPr/>
          <p:nvPr/>
        </p:nvSpPr>
        <p:spPr>
          <a:xfrm>
            <a:off x="6720840" y="3968496"/>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/&gt;</a:t>
            </a:r>
            <a:endParaRPr lang="en-US" sz="1280" dirty="0"/>
          </a:p>
        </p:txBody>
      </p:sp>
      <p:sp>
        <p:nvSpPr>
          <p:cNvPr id="87" name="Text 85"/>
          <p:cNvSpPr/>
          <p:nvPr/>
        </p:nvSpPr>
        <p:spPr>
          <a:xfrm>
            <a:off x="6327648" y="4224528"/>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10</a:t>
            </a:r>
            <a:endParaRPr lang="en-US" sz="1060" dirty="0"/>
          </a:p>
        </p:txBody>
      </p:sp>
      <p:sp>
        <p:nvSpPr>
          <p:cNvPr id="88" name="Text 86"/>
          <p:cNvSpPr/>
          <p:nvPr/>
        </p:nvSpPr>
        <p:spPr>
          <a:xfrm>
            <a:off x="6720840" y="4210812"/>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t>
            </a:r>
            <a:endParaRPr lang="en-US" sz="1280" dirty="0"/>
          </a:p>
        </p:txBody>
      </p:sp>
      <p:sp>
        <p:nvSpPr>
          <p:cNvPr id="89" name="Text 87"/>
          <p:cNvSpPr/>
          <p:nvPr/>
        </p:nvSpPr>
        <p:spPr>
          <a:xfrm>
            <a:off x="6327648" y="446684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11</a:t>
            </a:r>
            <a:endParaRPr lang="en-US" sz="1060" dirty="0"/>
          </a:p>
        </p:txBody>
      </p:sp>
      <p:sp>
        <p:nvSpPr>
          <p:cNvPr id="90" name="Text 88"/>
          <p:cNvSpPr/>
          <p:nvPr/>
        </p:nvSpPr>
        <p:spPr>
          <a:xfrm>
            <a:off x="6720840" y="445312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a:t>
            </a:r>
            <a:endParaRPr lang="en-US" sz="1280" dirty="0"/>
          </a:p>
        </p:txBody>
      </p:sp>
      <p:sp>
        <p:nvSpPr>
          <p:cNvPr id="91" name="Shape 89"/>
          <p:cNvSpPr/>
          <p:nvPr/>
        </p:nvSpPr>
        <p:spPr>
          <a:xfrm>
            <a:off x="5870448" y="3310128"/>
            <a:ext cx="274320" cy="475488"/>
          </a:xfrm>
          <a:prstGeom prst="chevron">
            <a:avLst/>
          </a:prstGeom>
          <a:solidFill>
            <a:srgbClr val="4C7DFF"/>
          </a:solidFill>
          <a:ln w="12700">
            <a:solidFill>
              <a:srgbClr val="4C7DFF"/>
            </a:solidFill>
            <a:prstDash val="solid"/>
          </a:ln>
        </p:spPr>
      </p:sp>
      <p:sp>
        <p:nvSpPr>
          <p:cNvPr id="92" name="Text 90"/>
          <p:cNvSpPr/>
          <p:nvPr/>
        </p:nvSpPr>
        <p:spPr>
          <a:xfrm>
            <a:off x="1828800" y="6217920"/>
            <a:ext cx="8503920" cy="210312"/>
          </a:xfrm>
          <a:prstGeom prst="rect">
            <a:avLst/>
          </a:prstGeom>
          <a:noFill/>
          <a:ln/>
        </p:spPr>
        <p:txBody>
          <a:bodyPr wrap="square" lIns="0" tIns="0" rIns="0" bIns="0" rtlCol="0" anchor="ctr"/>
          <a:lstStyle/>
          <a:p>
            <a:pPr algn="ctr" indent="0" marL="0">
              <a:buNone/>
            </a:pPr>
            <a:r>
              <a:rPr lang="en-US" sz="1050" b="1" dirty="0">
                <a:solidFill>
                  <a:srgbClr val="F5C96A"/>
                </a:solidFill>
                <a:latin typeface="Aptos" pitchFamily="34" charset="0"/>
                <a:ea typeface="Aptos" pitchFamily="34" charset="-122"/>
                <a:cs typeface="Aptos" pitchFamily="34" charset="-120"/>
              </a:rPr>
              <a:t>La pagina orchestra; il hook sincronizza; la view renderizza.</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18</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PRESENTATIONAL COMPONENT</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La view riceve dati e callback, non sistemi esterni</a:t>
            </a:r>
            <a:endParaRPr lang="en-US" sz="2700" dirty="0"/>
          </a:p>
        </p:txBody>
      </p:sp>
      <p:sp>
        <p:nvSpPr>
          <p:cNvPr id="29" name="Shape 27"/>
          <p:cNvSpPr/>
          <p:nvPr/>
        </p:nvSpPr>
        <p:spPr>
          <a:xfrm>
            <a:off x="530352" y="1591056"/>
            <a:ext cx="7589520" cy="4553712"/>
          </a:xfrm>
          <a:prstGeom prst="roundRect">
            <a:avLst>
              <a:gd name="adj" fmla="val 1004"/>
            </a:avLst>
          </a:prstGeom>
          <a:solidFill>
            <a:srgbClr val="0D1A2B"/>
          </a:solidFill>
          <a:ln w="13970">
            <a:solidFill>
              <a:srgbClr val="263A55"/>
            </a:solidFill>
            <a:prstDash val="solid"/>
          </a:ln>
        </p:spPr>
      </p:sp>
      <p:sp>
        <p:nvSpPr>
          <p:cNvPr id="30" name="Shape 28"/>
          <p:cNvSpPr/>
          <p:nvPr/>
        </p:nvSpPr>
        <p:spPr>
          <a:xfrm>
            <a:off x="530352" y="1591056"/>
            <a:ext cx="7589520" cy="347472"/>
          </a:xfrm>
          <a:prstGeom prst="rect">
            <a:avLst/>
          </a:prstGeom>
          <a:solidFill>
            <a:srgbClr val="122238"/>
          </a:solidFill>
          <a:ln w="12700">
            <a:solidFill>
              <a:srgbClr val="122238"/>
            </a:solidFill>
            <a:prstDash val="solid"/>
          </a:ln>
        </p:spPr>
      </p:sp>
      <p:sp>
        <p:nvSpPr>
          <p:cNvPr id="31" name="Shape 29"/>
          <p:cNvSpPr/>
          <p:nvPr/>
        </p:nvSpPr>
        <p:spPr>
          <a:xfrm>
            <a:off x="694944" y="1632204"/>
            <a:ext cx="658368" cy="274320"/>
          </a:xfrm>
          <a:prstGeom prst="roundRect">
            <a:avLst>
              <a:gd name="adj" fmla="val 20000"/>
            </a:avLst>
          </a:prstGeom>
          <a:solidFill>
            <a:srgbClr val="7CD4FF">
              <a:alpha val="20000"/>
            </a:srgbClr>
          </a:solidFill>
          <a:ln w="10160">
            <a:solidFill>
              <a:srgbClr val="7CD4FF">
                <a:alpha val="55000"/>
              </a:srgbClr>
            </a:solidFill>
            <a:prstDash val="solid"/>
          </a:ln>
        </p:spPr>
      </p:sp>
      <p:sp>
        <p:nvSpPr>
          <p:cNvPr id="32" name="Text 30"/>
          <p:cNvSpPr/>
          <p:nvPr/>
        </p:nvSpPr>
        <p:spPr>
          <a:xfrm>
            <a:off x="786384" y="1691640"/>
            <a:ext cx="475488" cy="128016"/>
          </a:xfrm>
          <a:prstGeom prst="rect">
            <a:avLst/>
          </a:prstGeom>
          <a:noFill/>
          <a:ln/>
        </p:spPr>
        <p:txBody>
          <a:bodyPr wrap="square" lIns="0" tIns="0" rIns="0" bIns="0" rtlCol="0" anchor="ctr"/>
          <a:lstStyle/>
          <a:p>
            <a:pPr algn="ctr" indent="0" marL="0">
              <a:buNone/>
            </a:pPr>
            <a:r>
              <a:rPr lang="en-US" sz="820" b="1" dirty="0">
                <a:solidFill>
                  <a:srgbClr val="7CD4FF"/>
                </a:solidFill>
                <a:latin typeface="Aptos Mono" pitchFamily="34" charset="0"/>
                <a:ea typeface="Aptos Mono" pitchFamily="34" charset="-122"/>
                <a:cs typeface="Aptos Mono" pitchFamily="34" charset="-120"/>
              </a:rPr>
              <a:t>TSX</a:t>
            </a:r>
            <a:endParaRPr lang="en-US" sz="820" dirty="0"/>
          </a:p>
        </p:txBody>
      </p:sp>
      <p:sp>
        <p:nvSpPr>
          <p:cNvPr id="33" name="Text 31"/>
          <p:cNvSpPr/>
          <p:nvPr/>
        </p:nvSpPr>
        <p:spPr>
          <a:xfrm>
            <a:off x="1490472" y="1687068"/>
            <a:ext cx="635508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TicketList/TicketList.tsx</a:t>
            </a:r>
            <a:endParaRPr lang="en-US" sz="880" dirty="0"/>
          </a:p>
        </p:txBody>
      </p:sp>
      <p:sp>
        <p:nvSpPr>
          <p:cNvPr id="34" name="Text 32"/>
          <p:cNvSpPr/>
          <p:nvPr/>
        </p:nvSpPr>
        <p:spPr>
          <a:xfrm>
            <a:off x="640080" y="2052828"/>
            <a:ext cx="320040" cy="202082"/>
          </a:xfrm>
          <a:prstGeom prst="rect">
            <a:avLst/>
          </a:prstGeom>
          <a:noFill/>
          <a:ln/>
        </p:spPr>
        <p:txBody>
          <a:bodyPr wrap="square" lIns="0" tIns="0" rIns="0" bIns="0" rtlCol="0" anchor="ctr"/>
          <a:lstStyle/>
          <a:p>
            <a:pPr algn="r" indent="0" marL="0">
              <a:buNone/>
            </a:pPr>
            <a:r>
              <a:rPr lang="en-US" sz="1018" dirty="0">
                <a:solidFill>
                  <a:srgbClr val="8296AE"/>
                </a:solidFill>
                <a:latin typeface="Aptos Mono" pitchFamily="34" charset="0"/>
                <a:ea typeface="Aptos Mono" pitchFamily="34" charset="-122"/>
                <a:cs typeface="Aptos Mono" pitchFamily="34" charset="-120"/>
              </a:rPr>
              <a:t>01</a:t>
            </a:r>
            <a:endParaRPr lang="en-US" sz="1018" dirty="0"/>
          </a:p>
        </p:txBody>
      </p:sp>
      <p:sp>
        <p:nvSpPr>
          <p:cNvPr id="35" name="Text 33"/>
          <p:cNvSpPr/>
          <p:nvPr/>
        </p:nvSpPr>
        <p:spPr>
          <a:xfrm>
            <a:off x="1033272" y="2039112"/>
            <a:ext cx="6931152" cy="202082"/>
          </a:xfrm>
          <a:prstGeom prst="rect">
            <a:avLst/>
          </a:prstGeom>
          <a:noFill/>
          <a:ln/>
        </p:spPr>
        <p:txBody>
          <a:bodyPr wrap="square" lIns="0" tIns="0" rIns="0" bIns="0" rtlCol="0" anchor="ctr">
            <a:normAutofit/>
          </a:bodyPr>
          <a:lstStyle/>
          <a:p>
            <a:pPr indent="0" marL="0">
              <a:buNone/>
            </a:pPr>
            <a:r>
              <a:rPr lang="en-US" sz="1238" dirty="0">
                <a:solidFill>
                  <a:srgbClr val="D9E4F2"/>
                </a:solidFill>
                <a:latin typeface="Aptos Mono" pitchFamily="34" charset="0"/>
                <a:ea typeface="Aptos Mono" pitchFamily="34" charset="-122"/>
                <a:cs typeface="Aptos Mono" pitchFamily="34" charset="-120"/>
              </a:rPr>
              <a:t>type Props = {</a:t>
            </a:r>
            <a:endParaRPr lang="en-US" sz="1238" dirty="0"/>
          </a:p>
        </p:txBody>
      </p:sp>
      <p:sp>
        <p:nvSpPr>
          <p:cNvPr id="36" name="Text 34"/>
          <p:cNvSpPr/>
          <p:nvPr/>
        </p:nvSpPr>
        <p:spPr>
          <a:xfrm>
            <a:off x="640080" y="2254910"/>
            <a:ext cx="320040" cy="202082"/>
          </a:xfrm>
          <a:prstGeom prst="rect">
            <a:avLst/>
          </a:prstGeom>
          <a:noFill/>
          <a:ln/>
        </p:spPr>
        <p:txBody>
          <a:bodyPr wrap="square" lIns="0" tIns="0" rIns="0" bIns="0" rtlCol="0" anchor="ctr"/>
          <a:lstStyle/>
          <a:p>
            <a:pPr algn="r" indent="0" marL="0">
              <a:buNone/>
            </a:pPr>
            <a:r>
              <a:rPr lang="en-US" sz="1018" dirty="0">
                <a:solidFill>
                  <a:srgbClr val="8296AE"/>
                </a:solidFill>
                <a:latin typeface="Aptos Mono" pitchFamily="34" charset="0"/>
                <a:ea typeface="Aptos Mono" pitchFamily="34" charset="-122"/>
                <a:cs typeface="Aptos Mono" pitchFamily="34" charset="-120"/>
              </a:rPr>
              <a:t>02</a:t>
            </a:r>
            <a:endParaRPr lang="en-US" sz="1018" dirty="0"/>
          </a:p>
        </p:txBody>
      </p:sp>
      <p:sp>
        <p:nvSpPr>
          <p:cNvPr id="37" name="Text 35"/>
          <p:cNvSpPr/>
          <p:nvPr/>
        </p:nvSpPr>
        <p:spPr>
          <a:xfrm>
            <a:off x="1033272" y="2241194"/>
            <a:ext cx="6931152" cy="202082"/>
          </a:xfrm>
          <a:prstGeom prst="rect">
            <a:avLst/>
          </a:prstGeom>
          <a:noFill/>
          <a:ln/>
        </p:spPr>
        <p:txBody>
          <a:bodyPr wrap="square" lIns="0" tIns="0" rIns="0" bIns="0" rtlCol="0" anchor="ctr">
            <a:normAutofit/>
          </a:bodyPr>
          <a:lstStyle/>
          <a:p>
            <a:pPr indent="0" marL="0">
              <a:buNone/>
            </a:pPr>
            <a:r>
              <a:rPr lang="en-US" sz="1238" dirty="0">
                <a:solidFill>
                  <a:srgbClr val="D9E4F2"/>
                </a:solidFill>
                <a:latin typeface="Aptos Mono" pitchFamily="34" charset="0"/>
                <a:ea typeface="Aptos Mono" pitchFamily="34" charset="-122"/>
                <a:cs typeface="Aptos Mono" pitchFamily="34" charset="-120"/>
              </a:rPr>
              <a:t>  tickets: Ticket[];</a:t>
            </a:r>
            <a:endParaRPr lang="en-US" sz="1238" dirty="0"/>
          </a:p>
        </p:txBody>
      </p:sp>
      <p:sp>
        <p:nvSpPr>
          <p:cNvPr id="38" name="Text 36"/>
          <p:cNvSpPr/>
          <p:nvPr/>
        </p:nvSpPr>
        <p:spPr>
          <a:xfrm>
            <a:off x="640080" y="2456993"/>
            <a:ext cx="320040" cy="202082"/>
          </a:xfrm>
          <a:prstGeom prst="rect">
            <a:avLst/>
          </a:prstGeom>
          <a:noFill/>
          <a:ln/>
        </p:spPr>
        <p:txBody>
          <a:bodyPr wrap="square" lIns="0" tIns="0" rIns="0" bIns="0" rtlCol="0" anchor="ctr"/>
          <a:lstStyle/>
          <a:p>
            <a:pPr algn="r" indent="0" marL="0">
              <a:buNone/>
            </a:pPr>
            <a:r>
              <a:rPr lang="en-US" sz="1018" dirty="0">
                <a:solidFill>
                  <a:srgbClr val="8296AE"/>
                </a:solidFill>
                <a:latin typeface="Aptos Mono" pitchFamily="34" charset="0"/>
                <a:ea typeface="Aptos Mono" pitchFamily="34" charset="-122"/>
                <a:cs typeface="Aptos Mono" pitchFamily="34" charset="-120"/>
              </a:rPr>
              <a:t>03</a:t>
            </a:r>
            <a:endParaRPr lang="en-US" sz="1018" dirty="0"/>
          </a:p>
        </p:txBody>
      </p:sp>
      <p:sp>
        <p:nvSpPr>
          <p:cNvPr id="39" name="Text 37"/>
          <p:cNvSpPr/>
          <p:nvPr/>
        </p:nvSpPr>
        <p:spPr>
          <a:xfrm>
            <a:off x="1033272" y="2443277"/>
            <a:ext cx="6931152" cy="202082"/>
          </a:xfrm>
          <a:prstGeom prst="rect">
            <a:avLst/>
          </a:prstGeom>
          <a:noFill/>
          <a:ln/>
        </p:spPr>
        <p:txBody>
          <a:bodyPr wrap="square" lIns="0" tIns="0" rIns="0" bIns="0" rtlCol="0" anchor="ctr">
            <a:normAutofit/>
          </a:bodyPr>
          <a:lstStyle/>
          <a:p>
            <a:pPr indent="0" marL="0">
              <a:buNone/>
            </a:pPr>
            <a:r>
              <a:rPr lang="en-US" sz="1238" dirty="0">
                <a:solidFill>
                  <a:srgbClr val="D9E4F2"/>
                </a:solidFill>
                <a:latin typeface="Aptos Mono" pitchFamily="34" charset="0"/>
                <a:ea typeface="Aptos Mono" pitchFamily="34" charset="-122"/>
                <a:cs typeface="Aptos Mono" pitchFamily="34" charset="-120"/>
              </a:rPr>
              <a:t>  isLoading: boolean;</a:t>
            </a:r>
            <a:endParaRPr lang="en-US" sz="1238" dirty="0"/>
          </a:p>
        </p:txBody>
      </p:sp>
      <p:sp>
        <p:nvSpPr>
          <p:cNvPr id="40" name="Text 38"/>
          <p:cNvSpPr/>
          <p:nvPr/>
        </p:nvSpPr>
        <p:spPr>
          <a:xfrm>
            <a:off x="640080" y="2659075"/>
            <a:ext cx="320040" cy="202082"/>
          </a:xfrm>
          <a:prstGeom prst="rect">
            <a:avLst/>
          </a:prstGeom>
          <a:noFill/>
          <a:ln/>
        </p:spPr>
        <p:txBody>
          <a:bodyPr wrap="square" lIns="0" tIns="0" rIns="0" bIns="0" rtlCol="0" anchor="ctr"/>
          <a:lstStyle/>
          <a:p>
            <a:pPr algn="r" indent="0" marL="0">
              <a:buNone/>
            </a:pPr>
            <a:r>
              <a:rPr lang="en-US" sz="1018" dirty="0">
                <a:solidFill>
                  <a:srgbClr val="8296AE"/>
                </a:solidFill>
                <a:latin typeface="Aptos Mono" pitchFamily="34" charset="0"/>
                <a:ea typeface="Aptos Mono" pitchFamily="34" charset="-122"/>
                <a:cs typeface="Aptos Mono" pitchFamily="34" charset="-120"/>
              </a:rPr>
              <a:t>04</a:t>
            </a:r>
            <a:endParaRPr lang="en-US" sz="1018" dirty="0"/>
          </a:p>
        </p:txBody>
      </p:sp>
      <p:sp>
        <p:nvSpPr>
          <p:cNvPr id="41" name="Text 39"/>
          <p:cNvSpPr/>
          <p:nvPr/>
        </p:nvSpPr>
        <p:spPr>
          <a:xfrm>
            <a:off x="1033272" y="2645359"/>
            <a:ext cx="6931152" cy="202082"/>
          </a:xfrm>
          <a:prstGeom prst="rect">
            <a:avLst/>
          </a:prstGeom>
          <a:noFill/>
          <a:ln/>
        </p:spPr>
        <p:txBody>
          <a:bodyPr wrap="square" lIns="0" tIns="0" rIns="0" bIns="0" rtlCol="0" anchor="ctr">
            <a:normAutofit/>
          </a:bodyPr>
          <a:lstStyle/>
          <a:p>
            <a:pPr indent="0" marL="0">
              <a:buNone/>
            </a:pPr>
            <a:r>
              <a:rPr lang="en-US" sz="1238" dirty="0">
                <a:solidFill>
                  <a:srgbClr val="D9E4F2"/>
                </a:solidFill>
                <a:latin typeface="Aptos Mono" pitchFamily="34" charset="0"/>
                <a:ea typeface="Aptos Mono" pitchFamily="34" charset="-122"/>
                <a:cs typeface="Aptos Mono" pitchFamily="34" charset="-120"/>
              </a:rPr>
              <a:t>  error: Error | null;</a:t>
            </a:r>
            <a:endParaRPr lang="en-US" sz="1238" dirty="0"/>
          </a:p>
        </p:txBody>
      </p:sp>
      <p:sp>
        <p:nvSpPr>
          <p:cNvPr id="42" name="Text 40"/>
          <p:cNvSpPr/>
          <p:nvPr/>
        </p:nvSpPr>
        <p:spPr>
          <a:xfrm>
            <a:off x="640080" y="2861158"/>
            <a:ext cx="320040" cy="202082"/>
          </a:xfrm>
          <a:prstGeom prst="rect">
            <a:avLst/>
          </a:prstGeom>
          <a:noFill/>
          <a:ln/>
        </p:spPr>
        <p:txBody>
          <a:bodyPr wrap="square" lIns="0" tIns="0" rIns="0" bIns="0" rtlCol="0" anchor="ctr"/>
          <a:lstStyle/>
          <a:p>
            <a:pPr algn="r" indent="0" marL="0">
              <a:buNone/>
            </a:pPr>
            <a:r>
              <a:rPr lang="en-US" sz="1018" dirty="0">
                <a:solidFill>
                  <a:srgbClr val="8296AE"/>
                </a:solidFill>
                <a:latin typeface="Aptos Mono" pitchFamily="34" charset="0"/>
                <a:ea typeface="Aptos Mono" pitchFamily="34" charset="-122"/>
                <a:cs typeface="Aptos Mono" pitchFamily="34" charset="-120"/>
              </a:rPr>
              <a:t>05</a:t>
            </a:r>
            <a:endParaRPr lang="en-US" sz="1018" dirty="0"/>
          </a:p>
        </p:txBody>
      </p:sp>
      <p:sp>
        <p:nvSpPr>
          <p:cNvPr id="43" name="Text 41"/>
          <p:cNvSpPr/>
          <p:nvPr/>
        </p:nvSpPr>
        <p:spPr>
          <a:xfrm>
            <a:off x="1033272" y="2847442"/>
            <a:ext cx="6931152" cy="202082"/>
          </a:xfrm>
          <a:prstGeom prst="rect">
            <a:avLst/>
          </a:prstGeom>
          <a:noFill/>
          <a:ln/>
        </p:spPr>
        <p:txBody>
          <a:bodyPr wrap="square" lIns="0" tIns="0" rIns="0" bIns="0" rtlCol="0" anchor="ctr">
            <a:normAutofit/>
          </a:bodyPr>
          <a:lstStyle/>
          <a:p>
            <a:pPr indent="0" marL="0">
              <a:buNone/>
            </a:pPr>
            <a:r>
              <a:rPr lang="en-US" sz="1238" dirty="0">
                <a:solidFill>
                  <a:srgbClr val="D9E4F2"/>
                </a:solidFill>
                <a:latin typeface="Aptos Mono" pitchFamily="34" charset="0"/>
                <a:ea typeface="Aptos Mono" pitchFamily="34" charset="-122"/>
                <a:cs typeface="Aptos Mono" pitchFamily="34" charset="-120"/>
              </a:rPr>
              <a:t>  onSelect: (id: string) =&gt; void;</a:t>
            </a:r>
            <a:endParaRPr lang="en-US" sz="1238" dirty="0"/>
          </a:p>
        </p:txBody>
      </p:sp>
      <p:sp>
        <p:nvSpPr>
          <p:cNvPr id="44" name="Text 42"/>
          <p:cNvSpPr/>
          <p:nvPr/>
        </p:nvSpPr>
        <p:spPr>
          <a:xfrm>
            <a:off x="640080" y="3063240"/>
            <a:ext cx="320040" cy="202082"/>
          </a:xfrm>
          <a:prstGeom prst="rect">
            <a:avLst/>
          </a:prstGeom>
          <a:noFill/>
          <a:ln/>
        </p:spPr>
        <p:txBody>
          <a:bodyPr wrap="square" lIns="0" tIns="0" rIns="0" bIns="0" rtlCol="0" anchor="ctr"/>
          <a:lstStyle/>
          <a:p>
            <a:pPr algn="r" indent="0" marL="0">
              <a:buNone/>
            </a:pPr>
            <a:r>
              <a:rPr lang="en-US" sz="1018" dirty="0">
                <a:solidFill>
                  <a:srgbClr val="8296AE"/>
                </a:solidFill>
                <a:latin typeface="Aptos Mono" pitchFamily="34" charset="0"/>
                <a:ea typeface="Aptos Mono" pitchFamily="34" charset="-122"/>
                <a:cs typeface="Aptos Mono" pitchFamily="34" charset="-120"/>
              </a:rPr>
              <a:t>06</a:t>
            </a:r>
            <a:endParaRPr lang="en-US" sz="1018" dirty="0"/>
          </a:p>
        </p:txBody>
      </p:sp>
      <p:sp>
        <p:nvSpPr>
          <p:cNvPr id="45" name="Text 43"/>
          <p:cNvSpPr/>
          <p:nvPr/>
        </p:nvSpPr>
        <p:spPr>
          <a:xfrm>
            <a:off x="1033272" y="3049524"/>
            <a:ext cx="6931152" cy="202082"/>
          </a:xfrm>
          <a:prstGeom prst="rect">
            <a:avLst/>
          </a:prstGeom>
          <a:noFill/>
          <a:ln/>
        </p:spPr>
        <p:txBody>
          <a:bodyPr wrap="square" lIns="0" tIns="0" rIns="0" bIns="0" rtlCol="0" anchor="ctr">
            <a:normAutofit/>
          </a:bodyPr>
          <a:lstStyle/>
          <a:p>
            <a:pPr indent="0" marL="0">
              <a:buNone/>
            </a:pPr>
            <a:r>
              <a:rPr lang="en-US" sz="1238" dirty="0">
                <a:solidFill>
                  <a:srgbClr val="D9E4F2"/>
                </a:solidFill>
                <a:latin typeface="Aptos Mono" pitchFamily="34" charset="0"/>
                <a:ea typeface="Aptos Mono" pitchFamily="34" charset="-122"/>
                <a:cs typeface="Aptos Mono" pitchFamily="34" charset="-120"/>
              </a:rPr>
              <a:t>};</a:t>
            </a:r>
            <a:endParaRPr lang="en-US" sz="1238" dirty="0"/>
          </a:p>
        </p:txBody>
      </p:sp>
      <p:sp>
        <p:nvSpPr>
          <p:cNvPr id="46" name="Text 44"/>
          <p:cNvSpPr/>
          <p:nvPr/>
        </p:nvSpPr>
        <p:spPr>
          <a:xfrm>
            <a:off x="640080" y="3265322"/>
            <a:ext cx="320040" cy="202082"/>
          </a:xfrm>
          <a:prstGeom prst="rect">
            <a:avLst/>
          </a:prstGeom>
          <a:noFill/>
          <a:ln/>
        </p:spPr>
        <p:txBody>
          <a:bodyPr wrap="square" lIns="0" tIns="0" rIns="0" bIns="0" rtlCol="0" anchor="ctr"/>
          <a:lstStyle/>
          <a:p>
            <a:pPr algn="r" indent="0" marL="0">
              <a:buNone/>
            </a:pPr>
            <a:r>
              <a:rPr lang="en-US" sz="1018" dirty="0">
                <a:solidFill>
                  <a:srgbClr val="8296AE"/>
                </a:solidFill>
                <a:latin typeface="Aptos Mono" pitchFamily="34" charset="0"/>
                <a:ea typeface="Aptos Mono" pitchFamily="34" charset="-122"/>
                <a:cs typeface="Aptos Mono" pitchFamily="34" charset="-120"/>
              </a:rPr>
              <a:t>07</a:t>
            </a:r>
            <a:endParaRPr lang="en-US" sz="1018" dirty="0"/>
          </a:p>
        </p:txBody>
      </p:sp>
      <p:sp>
        <p:nvSpPr>
          <p:cNvPr id="47" name="Text 45"/>
          <p:cNvSpPr/>
          <p:nvPr/>
        </p:nvSpPr>
        <p:spPr>
          <a:xfrm>
            <a:off x="1033272" y="3251606"/>
            <a:ext cx="6931152" cy="202082"/>
          </a:xfrm>
          <a:prstGeom prst="rect">
            <a:avLst/>
          </a:prstGeom>
          <a:noFill/>
          <a:ln/>
        </p:spPr>
        <p:txBody>
          <a:bodyPr wrap="square" lIns="0" tIns="0" rIns="0" bIns="0" rtlCol="0" anchor="ctr">
            <a:normAutofit/>
          </a:bodyPr>
          <a:lstStyle/>
          <a:p>
            <a:pPr indent="0" marL="0">
              <a:buNone/>
            </a:pPr>
            <a:r>
              <a:rPr lang="en-US" sz="1238" dirty="0">
                <a:solidFill>
                  <a:srgbClr val="D9E4F2"/>
                </a:solidFill>
                <a:latin typeface="Aptos Mono" pitchFamily="34" charset="0"/>
                <a:ea typeface="Aptos Mono" pitchFamily="34" charset="-122"/>
                <a:cs typeface="Aptos Mono" pitchFamily="34" charset="-120"/>
              </a:rPr>
              <a:t> </a:t>
            </a:r>
            <a:endParaRPr lang="en-US" sz="1238" dirty="0"/>
          </a:p>
        </p:txBody>
      </p:sp>
      <p:sp>
        <p:nvSpPr>
          <p:cNvPr id="48" name="Text 46"/>
          <p:cNvSpPr/>
          <p:nvPr/>
        </p:nvSpPr>
        <p:spPr>
          <a:xfrm>
            <a:off x="640080" y="3467405"/>
            <a:ext cx="320040" cy="202082"/>
          </a:xfrm>
          <a:prstGeom prst="rect">
            <a:avLst/>
          </a:prstGeom>
          <a:noFill/>
          <a:ln/>
        </p:spPr>
        <p:txBody>
          <a:bodyPr wrap="square" lIns="0" tIns="0" rIns="0" bIns="0" rtlCol="0" anchor="ctr"/>
          <a:lstStyle/>
          <a:p>
            <a:pPr algn="r" indent="0" marL="0">
              <a:buNone/>
            </a:pPr>
            <a:r>
              <a:rPr lang="en-US" sz="1018" dirty="0">
                <a:solidFill>
                  <a:srgbClr val="8296AE"/>
                </a:solidFill>
                <a:latin typeface="Aptos Mono" pitchFamily="34" charset="0"/>
                <a:ea typeface="Aptos Mono" pitchFamily="34" charset="-122"/>
                <a:cs typeface="Aptos Mono" pitchFamily="34" charset="-120"/>
              </a:rPr>
              <a:t>08</a:t>
            </a:r>
            <a:endParaRPr lang="en-US" sz="1018" dirty="0"/>
          </a:p>
        </p:txBody>
      </p:sp>
      <p:sp>
        <p:nvSpPr>
          <p:cNvPr id="49" name="Text 47"/>
          <p:cNvSpPr/>
          <p:nvPr/>
        </p:nvSpPr>
        <p:spPr>
          <a:xfrm>
            <a:off x="1033272" y="3453689"/>
            <a:ext cx="6931152" cy="202082"/>
          </a:xfrm>
          <a:prstGeom prst="rect">
            <a:avLst/>
          </a:prstGeom>
          <a:noFill/>
          <a:ln/>
        </p:spPr>
        <p:txBody>
          <a:bodyPr wrap="square" lIns="0" tIns="0" rIns="0" bIns="0" rtlCol="0" anchor="ctr">
            <a:normAutofit/>
          </a:bodyPr>
          <a:lstStyle/>
          <a:p>
            <a:pPr indent="0" marL="0">
              <a:buNone/>
            </a:pPr>
            <a:r>
              <a:rPr lang="en-US" sz="1238" dirty="0">
                <a:solidFill>
                  <a:srgbClr val="D9E4F2"/>
                </a:solidFill>
                <a:latin typeface="Aptos Mono" pitchFamily="34" charset="0"/>
                <a:ea typeface="Aptos Mono" pitchFamily="34" charset="-122"/>
                <a:cs typeface="Aptos Mono" pitchFamily="34" charset="-120"/>
              </a:rPr>
              <a:t>export function TicketList(props: Props) {</a:t>
            </a:r>
            <a:endParaRPr lang="en-US" sz="1238" dirty="0"/>
          </a:p>
        </p:txBody>
      </p:sp>
      <p:sp>
        <p:nvSpPr>
          <p:cNvPr id="50" name="Text 48"/>
          <p:cNvSpPr/>
          <p:nvPr/>
        </p:nvSpPr>
        <p:spPr>
          <a:xfrm>
            <a:off x="640080" y="3669487"/>
            <a:ext cx="320040" cy="202082"/>
          </a:xfrm>
          <a:prstGeom prst="rect">
            <a:avLst/>
          </a:prstGeom>
          <a:noFill/>
          <a:ln/>
        </p:spPr>
        <p:txBody>
          <a:bodyPr wrap="square" lIns="0" tIns="0" rIns="0" bIns="0" rtlCol="0" anchor="ctr"/>
          <a:lstStyle/>
          <a:p>
            <a:pPr algn="r" indent="0" marL="0">
              <a:buNone/>
            </a:pPr>
            <a:r>
              <a:rPr lang="en-US" sz="1018" dirty="0">
                <a:solidFill>
                  <a:srgbClr val="8296AE"/>
                </a:solidFill>
                <a:latin typeface="Aptos Mono" pitchFamily="34" charset="0"/>
                <a:ea typeface="Aptos Mono" pitchFamily="34" charset="-122"/>
                <a:cs typeface="Aptos Mono" pitchFamily="34" charset="-120"/>
              </a:rPr>
              <a:t>09</a:t>
            </a:r>
            <a:endParaRPr lang="en-US" sz="1018" dirty="0"/>
          </a:p>
        </p:txBody>
      </p:sp>
      <p:sp>
        <p:nvSpPr>
          <p:cNvPr id="51" name="Text 49"/>
          <p:cNvSpPr/>
          <p:nvPr/>
        </p:nvSpPr>
        <p:spPr>
          <a:xfrm>
            <a:off x="1033272" y="3655771"/>
            <a:ext cx="6931152" cy="202082"/>
          </a:xfrm>
          <a:prstGeom prst="rect">
            <a:avLst/>
          </a:prstGeom>
          <a:noFill/>
          <a:ln/>
        </p:spPr>
        <p:txBody>
          <a:bodyPr wrap="square" lIns="0" tIns="0" rIns="0" bIns="0" rtlCol="0" anchor="ctr">
            <a:normAutofit/>
          </a:bodyPr>
          <a:lstStyle/>
          <a:p>
            <a:pPr indent="0" marL="0">
              <a:buNone/>
            </a:pPr>
            <a:r>
              <a:rPr lang="en-US" sz="1238" dirty="0">
                <a:solidFill>
                  <a:srgbClr val="D9E4F2"/>
                </a:solidFill>
                <a:latin typeface="Aptos Mono" pitchFamily="34" charset="0"/>
                <a:ea typeface="Aptos Mono" pitchFamily="34" charset="-122"/>
                <a:cs typeface="Aptos Mono" pitchFamily="34" charset="-120"/>
              </a:rPr>
              <a:t>  if (props.isLoading) return &lt;Spinner /&gt;;</a:t>
            </a:r>
            <a:endParaRPr lang="en-US" sz="1238" dirty="0"/>
          </a:p>
        </p:txBody>
      </p:sp>
      <p:sp>
        <p:nvSpPr>
          <p:cNvPr id="52" name="Text 50"/>
          <p:cNvSpPr/>
          <p:nvPr/>
        </p:nvSpPr>
        <p:spPr>
          <a:xfrm>
            <a:off x="640080" y="3871570"/>
            <a:ext cx="320040" cy="202082"/>
          </a:xfrm>
          <a:prstGeom prst="rect">
            <a:avLst/>
          </a:prstGeom>
          <a:noFill/>
          <a:ln/>
        </p:spPr>
        <p:txBody>
          <a:bodyPr wrap="square" lIns="0" tIns="0" rIns="0" bIns="0" rtlCol="0" anchor="ctr"/>
          <a:lstStyle/>
          <a:p>
            <a:pPr algn="r" indent="0" marL="0">
              <a:buNone/>
            </a:pPr>
            <a:r>
              <a:rPr lang="en-US" sz="1018" dirty="0">
                <a:solidFill>
                  <a:srgbClr val="8296AE"/>
                </a:solidFill>
                <a:latin typeface="Aptos Mono" pitchFamily="34" charset="0"/>
                <a:ea typeface="Aptos Mono" pitchFamily="34" charset="-122"/>
                <a:cs typeface="Aptos Mono" pitchFamily="34" charset="-120"/>
              </a:rPr>
              <a:t>10</a:t>
            </a:r>
            <a:endParaRPr lang="en-US" sz="1018" dirty="0"/>
          </a:p>
        </p:txBody>
      </p:sp>
      <p:sp>
        <p:nvSpPr>
          <p:cNvPr id="53" name="Text 51"/>
          <p:cNvSpPr/>
          <p:nvPr/>
        </p:nvSpPr>
        <p:spPr>
          <a:xfrm>
            <a:off x="1033272" y="3857854"/>
            <a:ext cx="6931152" cy="202082"/>
          </a:xfrm>
          <a:prstGeom prst="rect">
            <a:avLst/>
          </a:prstGeom>
          <a:noFill/>
          <a:ln/>
        </p:spPr>
        <p:txBody>
          <a:bodyPr wrap="square" lIns="0" tIns="0" rIns="0" bIns="0" rtlCol="0" anchor="ctr">
            <a:normAutofit/>
          </a:bodyPr>
          <a:lstStyle/>
          <a:p>
            <a:pPr indent="0" marL="0">
              <a:buNone/>
            </a:pPr>
            <a:r>
              <a:rPr lang="en-US" sz="1238" dirty="0">
                <a:solidFill>
                  <a:srgbClr val="D9E4F2"/>
                </a:solidFill>
                <a:latin typeface="Aptos Mono" pitchFamily="34" charset="0"/>
                <a:ea typeface="Aptos Mono" pitchFamily="34" charset="-122"/>
                <a:cs typeface="Aptos Mono" pitchFamily="34" charset="-120"/>
              </a:rPr>
              <a:t>  if (props.error) return &lt;ErrorBanner /&gt;;</a:t>
            </a:r>
            <a:endParaRPr lang="en-US" sz="1238" dirty="0"/>
          </a:p>
        </p:txBody>
      </p:sp>
      <p:sp>
        <p:nvSpPr>
          <p:cNvPr id="54" name="Text 52"/>
          <p:cNvSpPr/>
          <p:nvPr/>
        </p:nvSpPr>
        <p:spPr>
          <a:xfrm>
            <a:off x="640080" y="4073652"/>
            <a:ext cx="320040" cy="202082"/>
          </a:xfrm>
          <a:prstGeom prst="rect">
            <a:avLst/>
          </a:prstGeom>
          <a:noFill/>
          <a:ln/>
        </p:spPr>
        <p:txBody>
          <a:bodyPr wrap="square" lIns="0" tIns="0" rIns="0" bIns="0" rtlCol="0" anchor="ctr"/>
          <a:lstStyle/>
          <a:p>
            <a:pPr algn="r" indent="0" marL="0">
              <a:buNone/>
            </a:pPr>
            <a:r>
              <a:rPr lang="en-US" sz="1018" dirty="0">
                <a:solidFill>
                  <a:srgbClr val="8296AE"/>
                </a:solidFill>
                <a:latin typeface="Aptos Mono" pitchFamily="34" charset="0"/>
                <a:ea typeface="Aptos Mono" pitchFamily="34" charset="-122"/>
                <a:cs typeface="Aptos Mono" pitchFamily="34" charset="-120"/>
              </a:rPr>
              <a:t>11</a:t>
            </a:r>
            <a:endParaRPr lang="en-US" sz="1018" dirty="0"/>
          </a:p>
        </p:txBody>
      </p:sp>
      <p:sp>
        <p:nvSpPr>
          <p:cNvPr id="55" name="Text 53"/>
          <p:cNvSpPr/>
          <p:nvPr/>
        </p:nvSpPr>
        <p:spPr>
          <a:xfrm>
            <a:off x="1033272" y="4059936"/>
            <a:ext cx="6931152" cy="202082"/>
          </a:xfrm>
          <a:prstGeom prst="rect">
            <a:avLst/>
          </a:prstGeom>
          <a:noFill/>
          <a:ln/>
        </p:spPr>
        <p:txBody>
          <a:bodyPr wrap="square" lIns="0" tIns="0" rIns="0" bIns="0" rtlCol="0" anchor="ctr">
            <a:normAutofit/>
          </a:bodyPr>
          <a:lstStyle/>
          <a:p>
            <a:pPr indent="0" marL="0">
              <a:buNone/>
            </a:pPr>
            <a:r>
              <a:rPr lang="en-US" sz="1238" dirty="0">
                <a:solidFill>
                  <a:srgbClr val="D9E4F2"/>
                </a:solidFill>
                <a:latin typeface="Aptos Mono" pitchFamily="34" charset="0"/>
                <a:ea typeface="Aptos Mono" pitchFamily="34" charset="-122"/>
                <a:cs typeface="Aptos Mono" pitchFamily="34" charset="-120"/>
              </a:rPr>
              <a:t>  if (props.tickets.length === 0) return &lt;EmptyState /&gt;;</a:t>
            </a:r>
            <a:endParaRPr lang="en-US" sz="1238" dirty="0"/>
          </a:p>
        </p:txBody>
      </p:sp>
      <p:sp>
        <p:nvSpPr>
          <p:cNvPr id="56" name="Text 54"/>
          <p:cNvSpPr/>
          <p:nvPr/>
        </p:nvSpPr>
        <p:spPr>
          <a:xfrm>
            <a:off x="640080" y="4275734"/>
            <a:ext cx="320040" cy="202082"/>
          </a:xfrm>
          <a:prstGeom prst="rect">
            <a:avLst/>
          </a:prstGeom>
          <a:noFill/>
          <a:ln/>
        </p:spPr>
        <p:txBody>
          <a:bodyPr wrap="square" lIns="0" tIns="0" rIns="0" bIns="0" rtlCol="0" anchor="ctr"/>
          <a:lstStyle/>
          <a:p>
            <a:pPr algn="r" indent="0" marL="0">
              <a:buNone/>
            </a:pPr>
            <a:r>
              <a:rPr lang="en-US" sz="1018" dirty="0">
                <a:solidFill>
                  <a:srgbClr val="8296AE"/>
                </a:solidFill>
                <a:latin typeface="Aptos Mono" pitchFamily="34" charset="0"/>
                <a:ea typeface="Aptos Mono" pitchFamily="34" charset="-122"/>
                <a:cs typeface="Aptos Mono" pitchFamily="34" charset="-120"/>
              </a:rPr>
              <a:t>12</a:t>
            </a:r>
            <a:endParaRPr lang="en-US" sz="1018" dirty="0"/>
          </a:p>
        </p:txBody>
      </p:sp>
      <p:sp>
        <p:nvSpPr>
          <p:cNvPr id="57" name="Text 55"/>
          <p:cNvSpPr/>
          <p:nvPr/>
        </p:nvSpPr>
        <p:spPr>
          <a:xfrm>
            <a:off x="1033272" y="4262018"/>
            <a:ext cx="6931152" cy="202082"/>
          </a:xfrm>
          <a:prstGeom prst="rect">
            <a:avLst/>
          </a:prstGeom>
          <a:noFill/>
          <a:ln/>
        </p:spPr>
        <p:txBody>
          <a:bodyPr wrap="square" lIns="0" tIns="0" rIns="0" bIns="0" rtlCol="0" anchor="ctr">
            <a:normAutofit/>
          </a:bodyPr>
          <a:lstStyle/>
          <a:p>
            <a:pPr indent="0" marL="0">
              <a:buNone/>
            </a:pPr>
            <a:r>
              <a:rPr lang="en-US" sz="1238" dirty="0">
                <a:solidFill>
                  <a:srgbClr val="D9E4F2"/>
                </a:solidFill>
                <a:latin typeface="Aptos Mono" pitchFamily="34" charset="0"/>
                <a:ea typeface="Aptos Mono" pitchFamily="34" charset="-122"/>
                <a:cs typeface="Aptos Mono" pitchFamily="34" charset="-120"/>
              </a:rPr>
              <a:t> </a:t>
            </a:r>
            <a:endParaRPr lang="en-US" sz="1238" dirty="0"/>
          </a:p>
        </p:txBody>
      </p:sp>
      <p:sp>
        <p:nvSpPr>
          <p:cNvPr id="58" name="Text 56"/>
          <p:cNvSpPr/>
          <p:nvPr/>
        </p:nvSpPr>
        <p:spPr>
          <a:xfrm>
            <a:off x="640080" y="4477817"/>
            <a:ext cx="320040" cy="202082"/>
          </a:xfrm>
          <a:prstGeom prst="rect">
            <a:avLst/>
          </a:prstGeom>
          <a:noFill/>
          <a:ln/>
        </p:spPr>
        <p:txBody>
          <a:bodyPr wrap="square" lIns="0" tIns="0" rIns="0" bIns="0" rtlCol="0" anchor="ctr"/>
          <a:lstStyle/>
          <a:p>
            <a:pPr algn="r" indent="0" marL="0">
              <a:buNone/>
            </a:pPr>
            <a:r>
              <a:rPr lang="en-US" sz="1018" dirty="0">
                <a:solidFill>
                  <a:srgbClr val="8296AE"/>
                </a:solidFill>
                <a:latin typeface="Aptos Mono" pitchFamily="34" charset="0"/>
                <a:ea typeface="Aptos Mono" pitchFamily="34" charset="-122"/>
                <a:cs typeface="Aptos Mono" pitchFamily="34" charset="-120"/>
              </a:rPr>
              <a:t>13</a:t>
            </a:r>
            <a:endParaRPr lang="en-US" sz="1018" dirty="0"/>
          </a:p>
        </p:txBody>
      </p:sp>
      <p:sp>
        <p:nvSpPr>
          <p:cNvPr id="59" name="Text 57"/>
          <p:cNvSpPr/>
          <p:nvPr/>
        </p:nvSpPr>
        <p:spPr>
          <a:xfrm>
            <a:off x="1033272" y="4464101"/>
            <a:ext cx="6931152" cy="202082"/>
          </a:xfrm>
          <a:prstGeom prst="rect">
            <a:avLst/>
          </a:prstGeom>
          <a:noFill/>
          <a:ln/>
        </p:spPr>
        <p:txBody>
          <a:bodyPr wrap="square" lIns="0" tIns="0" rIns="0" bIns="0" rtlCol="0" anchor="ctr">
            <a:normAutofit/>
          </a:bodyPr>
          <a:lstStyle/>
          <a:p>
            <a:pPr indent="0" marL="0">
              <a:buNone/>
            </a:pPr>
            <a:r>
              <a:rPr lang="en-US" sz="1238" dirty="0">
                <a:solidFill>
                  <a:srgbClr val="D9E4F2"/>
                </a:solidFill>
                <a:latin typeface="Aptos Mono" pitchFamily="34" charset="0"/>
                <a:ea typeface="Aptos Mono" pitchFamily="34" charset="-122"/>
                <a:cs typeface="Aptos Mono" pitchFamily="34" charset="-120"/>
              </a:rPr>
              <a:t>  return props.tickets.map(ticket =&gt; (</a:t>
            </a:r>
            <a:endParaRPr lang="en-US" sz="1238" dirty="0"/>
          </a:p>
        </p:txBody>
      </p:sp>
      <p:sp>
        <p:nvSpPr>
          <p:cNvPr id="60" name="Text 58"/>
          <p:cNvSpPr/>
          <p:nvPr/>
        </p:nvSpPr>
        <p:spPr>
          <a:xfrm>
            <a:off x="640080" y="4679899"/>
            <a:ext cx="320040" cy="202082"/>
          </a:xfrm>
          <a:prstGeom prst="rect">
            <a:avLst/>
          </a:prstGeom>
          <a:noFill/>
          <a:ln/>
        </p:spPr>
        <p:txBody>
          <a:bodyPr wrap="square" lIns="0" tIns="0" rIns="0" bIns="0" rtlCol="0" anchor="ctr"/>
          <a:lstStyle/>
          <a:p>
            <a:pPr algn="r" indent="0" marL="0">
              <a:buNone/>
            </a:pPr>
            <a:r>
              <a:rPr lang="en-US" sz="1018" dirty="0">
                <a:solidFill>
                  <a:srgbClr val="8296AE"/>
                </a:solidFill>
                <a:latin typeface="Aptos Mono" pitchFamily="34" charset="0"/>
                <a:ea typeface="Aptos Mono" pitchFamily="34" charset="-122"/>
                <a:cs typeface="Aptos Mono" pitchFamily="34" charset="-120"/>
              </a:rPr>
              <a:t>14</a:t>
            </a:r>
            <a:endParaRPr lang="en-US" sz="1018" dirty="0"/>
          </a:p>
        </p:txBody>
      </p:sp>
      <p:sp>
        <p:nvSpPr>
          <p:cNvPr id="61" name="Text 59"/>
          <p:cNvSpPr/>
          <p:nvPr/>
        </p:nvSpPr>
        <p:spPr>
          <a:xfrm>
            <a:off x="1033272" y="4666183"/>
            <a:ext cx="6931152" cy="202082"/>
          </a:xfrm>
          <a:prstGeom prst="rect">
            <a:avLst/>
          </a:prstGeom>
          <a:noFill/>
          <a:ln/>
        </p:spPr>
        <p:txBody>
          <a:bodyPr wrap="square" lIns="0" tIns="0" rIns="0" bIns="0" rtlCol="0" anchor="ctr">
            <a:normAutofit/>
          </a:bodyPr>
          <a:lstStyle/>
          <a:p>
            <a:pPr indent="0" marL="0">
              <a:buNone/>
            </a:pPr>
            <a:r>
              <a:rPr lang="en-US" sz="1238" dirty="0">
                <a:solidFill>
                  <a:srgbClr val="D9E4F2"/>
                </a:solidFill>
                <a:latin typeface="Aptos Mono" pitchFamily="34" charset="0"/>
                <a:ea typeface="Aptos Mono" pitchFamily="34" charset="-122"/>
                <a:cs typeface="Aptos Mono" pitchFamily="34" charset="-120"/>
              </a:rPr>
              <a:t>    &lt;TicketRow</a:t>
            </a:r>
            <a:endParaRPr lang="en-US" sz="1238" dirty="0"/>
          </a:p>
        </p:txBody>
      </p:sp>
      <p:sp>
        <p:nvSpPr>
          <p:cNvPr id="62" name="Text 60"/>
          <p:cNvSpPr/>
          <p:nvPr/>
        </p:nvSpPr>
        <p:spPr>
          <a:xfrm>
            <a:off x="640080" y="4881982"/>
            <a:ext cx="320040" cy="202082"/>
          </a:xfrm>
          <a:prstGeom prst="rect">
            <a:avLst/>
          </a:prstGeom>
          <a:noFill/>
          <a:ln/>
        </p:spPr>
        <p:txBody>
          <a:bodyPr wrap="square" lIns="0" tIns="0" rIns="0" bIns="0" rtlCol="0" anchor="ctr"/>
          <a:lstStyle/>
          <a:p>
            <a:pPr algn="r" indent="0" marL="0">
              <a:buNone/>
            </a:pPr>
            <a:r>
              <a:rPr lang="en-US" sz="1018" dirty="0">
                <a:solidFill>
                  <a:srgbClr val="8296AE"/>
                </a:solidFill>
                <a:latin typeface="Aptos Mono" pitchFamily="34" charset="0"/>
                <a:ea typeface="Aptos Mono" pitchFamily="34" charset="-122"/>
                <a:cs typeface="Aptos Mono" pitchFamily="34" charset="-120"/>
              </a:rPr>
              <a:t>15</a:t>
            </a:r>
            <a:endParaRPr lang="en-US" sz="1018" dirty="0"/>
          </a:p>
        </p:txBody>
      </p:sp>
      <p:sp>
        <p:nvSpPr>
          <p:cNvPr id="63" name="Text 61"/>
          <p:cNvSpPr/>
          <p:nvPr/>
        </p:nvSpPr>
        <p:spPr>
          <a:xfrm>
            <a:off x="1033272" y="4868266"/>
            <a:ext cx="6931152" cy="202082"/>
          </a:xfrm>
          <a:prstGeom prst="rect">
            <a:avLst/>
          </a:prstGeom>
          <a:noFill/>
          <a:ln/>
        </p:spPr>
        <p:txBody>
          <a:bodyPr wrap="square" lIns="0" tIns="0" rIns="0" bIns="0" rtlCol="0" anchor="ctr">
            <a:normAutofit/>
          </a:bodyPr>
          <a:lstStyle/>
          <a:p>
            <a:pPr indent="0" marL="0">
              <a:buNone/>
            </a:pPr>
            <a:r>
              <a:rPr lang="en-US" sz="1238" dirty="0">
                <a:solidFill>
                  <a:srgbClr val="D9E4F2"/>
                </a:solidFill>
                <a:latin typeface="Aptos Mono" pitchFamily="34" charset="0"/>
                <a:ea typeface="Aptos Mono" pitchFamily="34" charset="-122"/>
                <a:cs typeface="Aptos Mono" pitchFamily="34" charset="-120"/>
              </a:rPr>
              <a:t>      key={ticket.id}</a:t>
            </a:r>
            <a:endParaRPr lang="en-US" sz="1238" dirty="0"/>
          </a:p>
        </p:txBody>
      </p:sp>
      <p:sp>
        <p:nvSpPr>
          <p:cNvPr id="64" name="Text 62"/>
          <p:cNvSpPr/>
          <p:nvPr/>
        </p:nvSpPr>
        <p:spPr>
          <a:xfrm>
            <a:off x="640080" y="5084064"/>
            <a:ext cx="320040" cy="202082"/>
          </a:xfrm>
          <a:prstGeom prst="rect">
            <a:avLst/>
          </a:prstGeom>
          <a:noFill/>
          <a:ln/>
        </p:spPr>
        <p:txBody>
          <a:bodyPr wrap="square" lIns="0" tIns="0" rIns="0" bIns="0" rtlCol="0" anchor="ctr"/>
          <a:lstStyle/>
          <a:p>
            <a:pPr algn="r" indent="0" marL="0">
              <a:buNone/>
            </a:pPr>
            <a:r>
              <a:rPr lang="en-US" sz="1018" dirty="0">
                <a:solidFill>
                  <a:srgbClr val="8296AE"/>
                </a:solidFill>
                <a:latin typeface="Aptos Mono" pitchFamily="34" charset="0"/>
                <a:ea typeface="Aptos Mono" pitchFamily="34" charset="-122"/>
                <a:cs typeface="Aptos Mono" pitchFamily="34" charset="-120"/>
              </a:rPr>
              <a:t>16</a:t>
            </a:r>
            <a:endParaRPr lang="en-US" sz="1018" dirty="0"/>
          </a:p>
        </p:txBody>
      </p:sp>
      <p:sp>
        <p:nvSpPr>
          <p:cNvPr id="65" name="Text 63"/>
          <p:cNvSpPr/>
          <p:nvPr/>
        </p:nvSpPr>
        <p:spPr>
          <a:xfrm>
            <a:off x="1033272" y="5070348"/>
            <a:ext cx="6931152" cy="202082"/>
          </a:xfrm>
          <a:prstGeom prst="rect">
            <a:avLst/>
          </a:prstGeom>
          <a:noFill/>
          <a:ln/>
        </p:spPr>
        <p:txBody>
          <a:bodyPr wrap="square" lIns="0" tIns="0" rIns="0" bIns="0" rtlCol="0" anchor="ctr">
            <a:normAutofit/>
          </a:bodyPr>
          <a:lstStyle/>
          <a:p>
            <a:pPr indent="0" marL="0">
              <a:buNone/>
            </a:pPr>
            <a:r>
              <a:rPr lang="en-US" sz="1238" dirty="0">
                <a:solidFill>
                  <a:srgbClr val="D9E4F2"/>
                </a:solidFill>
                <a:latin typeface="Aptos Mono" pitchFamily="34" charset="0"/>
                <a:ea typeface="Aptos Mono" pitchFamily="34" charset="-122"/>
                <a:cs typeface="Aptos Mono" pitchFamily="34" charset="-120"/>
              </a:rPr>
              <a:t>      ticket={ticket}</a:t>
            </a:r>
            <a:endParaRPr lang="en-US" sz="1238" dirty="0"/>
          </a:p>
        </p:txBody>
      </p:sp>
      <p:sp>
        <p:nvSpPr>
          <p:cNvPr id="66" name="Text 64"/>
          <p:cNvSpPr/>
          <p:nvPr/>
        </p:nvSpPr>
        <p:spPr>
          <a:xfrm>
            <a:off x="640080" y="5286146"/>
            <a:ext cx="320040" cy="202082"/>
          </a:xfrm>
          <a:prstGeom prst="rect">
            <a:avLst/>
          </a:prstGeom>
          <a:noFill/>
          <a:ln/>
        </p:spPr>
        <p:txBody>
          <a:bodyPr wrap="square" lIns="0" tIns="0" rIns="0" bIns="0" rtlCol="0" anchor="ctr"/>
          <a:lstStyle/>
          <a:p>
            <a:pPr algn="r" indent="0" marL="0">
              <a:buNone/>
            </a:pPr>
            <a:r>
              <a:rPr lang="en-US" sz="1018" dirty="0">
                <a:solidFill>
                  <a:srgbClr val="8296AE"/>
                </a:solidFill>
                <a:latin typeface="Aptos Mono" pitchFamily="34" charset="0"/>
                <a:ea typeface="Aptos Mono" pitchFamily="34" charset="-122"/>
                <a:cs typeface="Aptos Mono" pitchFamily="34" charset="-120"/>
              </a:rPr>
              <a:t>17</a:t>
            </a:r>
            <a:endParaRPr lang="en-US" sz="1018" dirty="0"/>
          </a:p>
        </p:txBody>
      </p:sp>
      <p:sp>
        <p:nvSpPr>
          <p:cNvPr id="67" name="Text 65"/>
          <p:cNvSpPr/>
          <p:nvPr/>
        </p:nvSpPr>
        <p:spPr>
          <a:xfrm>
            <a:off x="1033272" y="5272430"/>
            <a:ext cx="6931152" cy="202082"/>
          </a:xfrm>
          <a:prstGeom prst="rect">
            <a:avLst/>
          </a:prstGeom>
          <a:noFill/>
          <a:ln/>
        </p:spPr>
        <p:txBody>
          <a:bodyPr wrap="square" lIns="0" tIns="0" rIns="0" bIns="0" rtlCol="0" anchor="ctr">
            <a:normAutofit/>
          </a:bodyPr>
          <a:lstStyle/>
          <a:p>
            <a:pPr indent="0" marL="0">
              <a:buNone/>
            </a:pPr>
            <a:r>
              <a:rPr lang="en-US" sz="1238" dirty="0">
                <a:solidFill>
                  <a:srgbClr val="D9E4F2"/>
                </a:solidFill>
                <a:latin typeface="Aptos Mono" pitchFamily="34" charset="0"/>
                <a:ea typeface="Aptos Mono" pitchFamily="34" charset="-122"/>
                <a:cs typeface="Aptos Mono" pitchFamily="34" charset="-120"/>
              </a:rPr>
              <a:t>      onSelect={props.onSelect}</a:t>
            </a:r>
            <a:endParaRPr lang="en-US" sz="1238" dirty="0"/>
          </a:p>
        </p:txBody>
      </p:sp>
      <p:sp>
        <p:nvSpPr>
          <p:cNvPr id="68" name="Text 66"/>
          <p:cNvSpPr/>
          <p:nvPr/>
        </p:nvSpPr>
        <p:spPr>
          <a:xfrm>
            <a:off x="640080" y="5488229"/>
            <a:ext cx="320040" cy="202082"/>
          </a:xfrm>
          <a:prstGeom prst="rect">
            <a:avLst/>
          </a:prstGeom>
          <a:noFill/>
          <a:ln/>
        </p:spPr>
        <p:txBody>
          <a:bodyPr wrap="square" lIns="0" tIns="0" rIns="0" bIns="0" rtlCol="0" anchor="ctr"/>
          <a:lstStyle/>
          <a:p>
            <a:pPr algn="r" indent="0" marL="0">
              <a:buNone/>
            </a:pPr>
            <a:r>
              <a:rPr lang="en-US" sz="1018" dirty="0">
                <a:solidFill>
                  <a:srgbClr val="8296AE"/>
                </a:solidFill>
                <a:latin typeface="Aptos Mono" pitchFamily="34" charset="0"/>
                <a:ea typeface="Aptos Mono" pitchFamily="34" charset="-122"/>
                <a:cs typeface="Aptos Mono" pitchFamily="34" charset="-120"/>
              </a:rPr>
              <a:t>18</a:t>
            </a:r>
            <a:endParaRPr lang="en-US" sz="1018" dirty="0"/>
          </a:p>
        </p:txBody>
      </p:sp>
      <p:sp>
        <p:nvSpPr>
          <p:cNvPr id="69" name="Text 67"/>
          <p:cNvSpPr/>
          <p:nvPr/>
        </p:nvSpPr>
        <p:spPr>
          <a:xfrm>
            <a:off x="1033272" y="5474513"/>
            <a:ext cx="6931152" cy="202082"/>
          </a:xfrm>
          <a:prstGeom prst="rect">
            <a:avLst/>
          </a:prstGeom>
          <a:noFill/>
          <a:ln/>
        </p:spPr>
        <p:txBody>
          <a:bodyPr wrap="square" lIns="0" tIns="0" rIns="0" bIns="0" rtlCol="0" anchor="ctr">
            <a:normAutofit/>
          </a:bodyPr>
          <a:lstStyle/>
          <a:p>
            <a:pPr indent="0" marL="0">
              <a:buNone/>
            </a:pPr>
            <a:r>
              <a:rPr lang="en-US" sz="1238" dirty="0">
                <a:solidFill>
                  <a:srgbClr val="D9E4F2"/>
                </a:solidFill>
                <a:latin typeface="Aptos Mono" pitchFamily="34" charset="0"/>
                <a:ea typeface="Aptos Mono" pitchFamily="34" charset="-122"/>
                <a:cs typeface="Aptos Mono" pitchFamily="34" charset="-120"/>
              </a:rPr>
              <a:t>    /&gt;</a:t>
            </a:r>
            <a:endParaRPr lang="en-US" sz="1238" dirty="0"/>
          </a:p>
        </p:txBody>
      </p:sp>
      <p:sp>
        <p:nvSpPr>
          <p:cNvPr id="70" name="Text 68"/>
          <p:cNvSpPr/>
          <p:nvPr/>
        </p:nvSpPr>
        <p:spPr>
          <a:xfrm>
            <a:off x="640080" y="5690311"/>
            <a:ext cx="320040" cy="202082"/>
          </a:xfrm>
          <a:prstGeom prst="rect">
            <a:avLst/>
          </a:prstGeom>
          <a:noFill/>
          <a:ln/>
        </p:spPr>
        <p:txBody>
          <a:bodyPr wrap="square" lIns="0" tIns="0" rIns="0" bIns="0" rtlCol="0" anchor="ctr"/>
          <a:lstStyle/>
          <a:p>
            <a:pPr algn="r" indent="0" marL="0">
              <a:buNone/>
            </a:pPr>
            <a:r>
              <a:rPr lang="en-US" sz="1018" dirty="0">
                <a:solidFill>
                  <a:srgbClr val="8296AE"/>
                </a:solidFill>
                <a:latin typeface="Aptos Mono" pitchFamily="34" charset="0"/>
                <a:ea typeface="Aptos Mono" pitchFamily="34" charset="-122"/>
                <a:cs typeface="Aptos Mono" pitchFamily="34" charset="-120"/>
              </a:rPr>
              <a:t>19</a:t>
            </a:r>
            <a:endParaRPr lang="en-US" sz="1018" dirty="0"/>
          </a:p>
        </p:txBody>
      </p:sp>
      <p:sp>
        <p:nvSpPr>
          <p:cNvPr id="71" name="Text 69"/>
          <p:cNvSpPr/>
          <p:nvPr/>
        </p:nvSpPr>
        <p:spPr>
          <a:xfrm>
            <a:off x="1033272" y="5676595"/>
            <a:ext cx="6931152" cy="202082"/>
          </a:xfrm>
          <a:prstGeom prst="rect">
            <a:avLst/>
          </a:prstGeom>
          <a:noFill/>
          <a:ln/>
        </p:spPr>
        <p:txBody>
          <a:bodyPr wrap="square" lIns="0" tIns="0" rIns="0" bIns="0" rtlCol="0" anchor="ctr">
            <a:normAutofit/>
          </a:bodyPr>
          <a:lstStyle/>
          <a:p>
            <a:pPr indent="0" marL="0">
              <a:buNone/>
            </a:pPr>
            <a:r>
              <a:rPr lang="en-US" sz="1238" dirty="0">
                <a:solidFill>
                  <a:srgbClr val="D9E4F2"/>
                </a:solidFill>
                <a:latin typeface="Aptos Mono" pitchFamily="34" charset="0"/>
                <a:ea typeface="Aptos Mono" pitchFamily="34" charset="-122"/>
                <a:cs typeface="Aptos Mono" pitchFamily="34" charset="-120"/>
              </a:rPr>
              <a:t>  ));</a:t>
            </a:r>
            <a:endParaRPr lang="en-US" sz="1238" dirty="0"/>
          </a:p>
        </p:txBody>
      </p:sp>
      <p:sp>
        <p:nvSpPr>
          <p:cNvPr id="72" name="Text 70"/>
          <p:cNvSpPr/>
          <p:nvPr/>
        </p:nvSpPr>
        <p:spPr>
          <a:xfrm>
            <a:off x="640080" y="5892394"/>
            <a:ext cx="320040" cy="202082"/>
          </a:xfrm>
          <a:prstGeom prst="rect">
            <a:avLst/>
          </a:prstGeom>
          <a:noFill/>
          <a:ln/>
        </p:spPr>
        <p:txBody>
          <a:bodyPr wrap="square" lIns="0" tIns="0" rIns="0" bIns="0" rtlCol="0" anchor="ctr"/>
          <a:lstStyle/>
          <a:p>
            <a:pPr algn="r" indent="0" marL="0">
              <a:buNone/>
            </a:pPr>
            <a:r>
              <a:rPr lang="en-US" sz="1018" dirty="0">
                <a:solidFill>
                  <a:srgbClr val="8296AE"/>
                </a:solidFill>
                <a:latin typeface="Aptos Mono" pitchFamily="34" charset="0"/>
                <a:ea typeface="Aptos Mono" pitchFamily="34" charset="-122"/>
                <a:cs typeface="Aptos Mono" pitchFamily="34" charset="-120"/>
              </a:rPr>
              <a:t>20</a:t>
            </a:r>
            <a:endParaRPr lang="en-US" sz="1018" dirty="0"/>
          </a:p>
        </p:txBody>
      </p:sp>
      <p:sp>
        <p:nvSpPr>
          <p:cNvPr id="73" name="Text 71"/>
          <p:cNvSpPr/>
          <p:nvPr/>
        </p:nvSpPr>
        <p:spPr>
          <a:xfrm>
            <a:off x="1033272" y="5878678"/>
            <a:ext cx="6931152" cy="202082"/>
          </a:xfrm>
          <a:prstGeom prst="rect">
            <a:avLst/>
          </a:prstGeom>
          <a:noFill/>
          <a:ln/>
        </p:spPr>
        <p:txBody>
          <a:bodyPr wrap="square" lIns="0" tIns="0" rIns="0" bIns="0" rtlCol="0" anchor="ctr">
            <a:normAutofit/>
          </a:bodyPr>
          <a:lstStyle/>
          <a:p>
            <a:pPr indent="0" marL="0">
              <a:buNone/>
            </a:pPr>
            <a:r>
              <a:rPr lang="en-US" sz="1238" dirty="0">
                <a:solidFill>
                  <a:srgbClr val="D9E4F2"/>
                </a:solidFill>
                <a:latin typeface="Aptos Mono" pitchFamily="34" charset="0"/>
                <a:ea typeface="Aptos Mono" pitchFamily="34" charset="-122"/>
                <a:cs typeface="Aptos Mono" pitchFamily="34" charset="-120"/>
              </a:rPr>
              <a:t>}</a:t>
            </a:r>
            <a:endParaRPr lang="en-US" sz="1238" dirty="0"/>
          </a:p>
        </p:txBody>
      </p:sp>
      <p:sp>
        <p:nvSpPr>
          <p:cNvPr id="74" name="Shape 72"/>
          <p:cNvSpPr/>
          <p:nvPr/>
        </p:nvSpPr>
        <p:spPr>
          <a:xfrm>
            <a:off x="8366760" y="1591056"/>
            <a:ext cx="3310128" cy="4553712"/>
          </a:xfrm>
          <a:prstGeom prst="roundRect">
            <a:avLst>
              <a:gd name="adj" fmla="val 1381"/>
            </a:avLst>
          </a:prstGeom>
          <a:solidFill>
            <a:srgbClr val="122238"/>
          </a:solidFill>
          <a:ln w="12700">
            <a:solidFill>
              <a:srgbClr val="263A55"/>
            </a:solidFill>
            <a:prstDash val="solid"/>
          </a:ln>
        </p:spPr>
      </p:sp>
      <p:sp>
        <p:nvSpPr>
          <p:cNvPr id="75" name="Text 73"/>
          <p:cNvSpPr/>
          <p:nvPr/>
        </p:nvSpPr>
        <p:spPr>
          <a:xfrm>
            <a:off x="8586216" y="1801368"/>
            <a:ext cx="2871216" cy="182880"/>
          </a:xfrm>
          <a:prstGeom prst="rect">
            <a:avLst/>
          </a:prstGeom>
          <a:noFill/>
          <a:ln/>
        </p:spPr>
        <p:txBody>
          <a:bodyPr wrap="square" lIns="0" tIns="0" rIns="0" bIns="0" rtlCol="0" anchor="ctr"/>
          <a:lstStyle/>
          <a:p>
            <a:pPr indent="0" marL="0">
              <a:buNone/>
            </a:pPr>
            <a:r>
              <a:rPr lang="en-US" sz="950" b="1" spc="115" kern="0" dirty="0">
                <a:solidFill>
                  <a:srgbClr val="F5C96A"/>
                </a:solidFill>
                <a:latin typeface="Aptos" pitchFamily="34" charset="0"/>
                <a:ea typeface="Aptos" pitchFamily="34" charset="-122"/>
                <a:cs typeface="Aptos" pitchFamily="34" charset="-120"/>
              </a:rPr>
              <a:t>DA OSSERVARE</a:t>
            </a:r>
            <a:endParaRPr lang="en-US" sz="950" dirty="0"/>
          </a:p>
        </p:txBody>
      </p:sp>
      <p:sp>
        <p:nvSpPr>
          <p:cNvPr id="76" name="Shape 74"/>
          <p:cNvSpPr/>
          <p:nvPr/>
        </p:nvSpPr>
        <p:spPr>
          <a:xfrm>
            <a:off x="8586216" y="2267712"/>
            <a:ext cx="91440" cy="91440"/>
          </a:xfrm>
          <a:prstGeom prst="ellipse">
            <a:avLst/>
          </a:prstGeom>
          <a:solidFill>
            <a:srgbClr val="7CD4FF"/>
          </a:solidFill>
          <a:ln w="12700">
            <a:solidFill>
              <a:srgbClr val="7CD4FF"/>
            </a:solidFill>
            <a:prstDash val="solid"/>
          </a:ln>
        </p:spPr>
      </p:sp>
      <p:sp>
        <p:nvSpPr>
          <p:cNvPr id="77" name="Text 75"/>
          <p:cNvSpPr/>
          <p:nvPr/>
        </p:nvSpPr>
        <p:spPr>
          <a:xfrm>
            <a:off x="8778240" y="2212848"/>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Nessun endpoint o storage.</a:t>
            </a:r>
            <a:endParaRPr lang="en-US" sz="1420" dirty="0"/>
          </a:p>
        </p:txBody>
      </p:sp>
      <p:sp>
        <p:nvSpPr>
          <p:cNvPr id="78" name="Shape 76"/>
          <p:cNvSpPr/>
          <p:nvPr/>
        </p:nvSpPr>
        <p:spPr>
          <a:xfrm>
            <a:off x="8586216" y="2980944"/>
            <a:ext cx="91440" cy="91440"/>
          </a:xfrm>
          <a:prstGeom prst="ellipse">
            <a:avLst/>
          </a:prstGeom>
          <a:solidFill>
            <a:srgbClr val="7CD4FF"/>
          </a:solidFill>
          <a:ln w="12700">
            <a:solidFill>
              <a:srgbClr val="7CD4FF"/>
            </a:solidFill>
            <a:prstDash val="solid"/>
          </a:ln>
        </p:spPr>
      </p:sp>
      <p:sp>
        <p:nvSpPr>
          <p:cNvPr id="79" name="Text 77"/>
          <p:cNvSpPr/>
          <p:nvPr/>
        </p:nvSpPr>
        <p:spPr>
          <a:xfrm>
            <a:off x="8778240" y="2926080"/>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Stati UI espliciti nelle props.</a:t>
            </a:r>
            <a:endParaRPr lang="en-US" sz="1420" dirty="0"/>
          </a:p>
        </p:txBody>
      </p:sp>
      <p:sp>
        <p:nvSpPr>
          <p:cNvPr id="80" name="Shape 78"/>
          <p:cNvSpPr/>
          <p:nvPr/>
        </p:nvSpPr>
        <p:spPr>
          <a:xfrm>
            <a:off x="8586216" y="3694176"/>
            <a:ext cx="91440" cy="91440"/>
          </a:xfrm>
          <a:prstGeom prst="ellipse">
            <a:avLst/>
          </a:prstGeom>
          <a:solidFill>
            <a:srgbClr val="7CD4FF"/>
          </a:solidFill>
          <a:ln w="12700">
            <a:solidFill>
              <a:srgbClr val="7CD4FF"/>
            </a:solidFill>
            <a:prstDash val="solid"/>
          </a:ln>
        </p:spPr>
      </p:sp>
      <p:sp>
        <p:nvSpPr>
          <p:cNvPr id="81" name="Text 79"/>
          <p:cNvSpPr/>
          <p:nvPr/>
        </p:nvSpPr>
        <p:spPr>
          <a:xfrm>
            <a:off x="8778240" y="3639312"/>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Facile da renderizzare in test e Storybook.</a:t>
            </a:r>
            <a:endParaRPr lang="en-US" sz="14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19</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CONTAINER LOGIC</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Il custom hook isola la logica della feature</a:t>
            </a:r>
            <a:endParaRPr lang="en-US" sz="2700" dirty="0"/>
          </a:p>
        </p:txBody>
      </p:sp>
      <p:sp>
        <p:nvSpPr>
          <p:cNvPr id="29" name="Shape 27"/>
          <p:cNvSpPr/>
          <p:nvPr/>
        </p:nvSpPr>
        <p:spPr>
          <a:xfrm>
            <a:off x="530352" y="1591056"/>
            <a:ext cx="7589520" cy="4553712"/>
          </a:xfrm>
          <a:prstGeom prst="roundRect">
            <a:avLst>
              <a:gd name="adj" fmla="val 1004"/>
            </a:avLst>
          </a:prstGeom>
          <a:solidFill>
            <a:srgbClr val="0D1A2B"/>
          </a:solidFill>
          <a:ln w="13970">
            <a:solidFill>
              <a:srgbClr val="263A55"/>
            </a:solidFill>
            <a:prstDash val="solid"/>
          </a:ln>
        </p:spPr>
      </p:sp>
      <p:sp>
        <p:nvSpPr>
          <p:cNvPr id="30" name="Shape 28"/>
          <p:cNvSpPr/>
          <p:nvPr/>
        </p:nvSpPr>
        <p:spPr>
          <a:xfrm>
            <a:off x="530352" y="1591056"/>
            <a:ext cx="7589520" cy="347472"/>
          </a:xfrm>
          <a:prstGeom prst="rect">
            <a:avLst/>
          </a:prstGeom>
          <a:solidFill>
            <a:srgbClr val="122238"/>
          </a:solidFill>
          <a:ln w="12700">
            <a:solidFill>
              <a:srgbClr val="122238"/>
            </a:solidFill>
            <a:prstDash val="solid"/>
          </a:ln>
        </p:spPr>
      </p:sp>
      <p:sp>
        <p:nvSpPr>
          <p:cNvPr id="31" name="Shape 29"/>
          <p:cNvSpPr/>
          <p:nvPr/>
        </p:nvSpPr>
        <p:spPr>
          <a:xfrm>
            <a:off x="694944" y="1632204"/>
            <a:ext cx="658368" cy="274320"/>
          </a:xfrm>
          <a:prstGeom prst="roundRect">
            <a:avLst>
              <a:gd name="adj" fmla="val 20000"/>
            </a:avLst>
          </a:prstGeom>
          <a:solidFill>
            <a:srgbClr val="7CD4FF">
              <a:alpha val="20000"/>
            </a:srgbClr>
          </a:solidFill>
          <a:ln w="10160">
            <a:solidFill>
              <a:srgbClr val="7CD4FF">
                <a:alpha val="55000"/>
              </a:srgbClr>
            </a:solidFill>
            <a:prstDash val="solid"/>
          </a:ln>
        </p:spPr>
      </p:sp>
      <p:sp>
        <p:nvSpPr>
          <p:cNvPr id="32" name="Text 30"/>
          <p:cNvSpPr/>
          <p:nvPr/>
        </p:nvSpPr>
        <p:spPr>
          <a:xfrm>
            <a:off x="786384" y="1691640"/>
            <a:ext cx="475488" cy="128016"/>
          </a:xfrm>
          <a:prstGeom prst="rect">
            <a:avLst/>
          </a:prstGeom>
          <a:noFill/>
          <a:ln/>
        </p:spPr>
        <p:txBody>
          <a:bodyPr wrap="square" lIns="0" tIns="0" rIns="0" bIns="0" rtlCol="0" anchor="ctr"/>
          <a:lstStyle/>
          <a:p>
            <a:pPr algn="ctr" indent="0" marL="0">
              <a:buNone/>
            </a:pPr>
            <a:r>
              <a:rPr lang="en-US" sz="820" b="1" dirty="0">
                <a:solidFill>
                  <a:srgbClr val="7CD4FF"/>
                </a:solidFill>
                <a:latin typeface="Aptos Mono" pitchFamily="34" charset="0"/>
                <a:ea typeface="Aptos Mono" pitchFamily="34" charset="-122"/>
                <a:cs typeface="Aptos Mono" pitchFamily="34" charset="-120"/>
              </a:rPr>
              <a:t>TS</a:t>
            </a:r>
            <a:endParaRPr lang="en-US" sz="820" dirty="0"/>
          </a:p>
        </p:txBody>
      </p:sp>
      <p:sp>
        <p:nvSpPr>
          <p:cNvPr id="33" name="Text 31"/>
          <p:cNvSpPr/>
          <p:nvPr/>
        </p:nvSpPr>
        <p:spPr>
          <a:xfrm>
            <a:off x="1490472" y="1687068"/>
            <a:ext cx="635508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hooks/useTickets.ts</a:t>
            </a:r>
            <a:endParaRPr lang="en-US" sz="880" dirty="0"/>
          </a:p>
        </p:txBody>
      </p:sp>
      <p:sp>
        <p:nvSpPr>
          <p:cNvPr id="34" name="Text 32"/>
          <p:cNvSpPr/>
          <p:nvPr/>
        </p:nvSpPr>
        <p:spPr>
          <a:xfrm>
            <a:off x="640080" y="205282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01</a:t>
            </a:r>
            <a:endParaRPr lang="en-US" sz="1200" dirty="0"/>
          </a:p>
        </p:txBody>
      </p:sp>
      <p:sp>
        <p:nvSpPr>
          <p:cNvPr id="35" name="Text 33"/>
          <p:cNvSpPr/>
          <p:nvPr/>
        </p:nvSpPr>
        <p:spPr>
          <a:xfrm>
            <a:off x="1033272" y="203911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export function useTickets(query = '') {</a:t>
            </a:r>
            <a:endParaRPr lang="en-US" sz="1420" dirty="0"/>
          </a:p>
        </p:txBody>
      </p:sp>
      <p:sp>
        <p:nvSpPr>
          <p:cNvPr id="36" name="Text 34"/>
          <p:cNvSpPr/>
          <p:nvPr/>
        </p:nvSpPr>
        <p:spPr>
          <a:xfrm>
            <a:off x="640080" y="229514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02</a:t>
            </a:r>
            <a:endParaRPr lang="en-US" sz="1200" dirty="0"/>
          </a:p>
        </p:txBody>
      </p:sp>
      <p:sp>
        <p:nvSpPr>
          <p:cNvPr id="37" name="Text 35"/>
          <p:cNvSpPr/>
          <p:nvPr/>
        </p:nvSpPr>
        <p:spPr>
          <a:xfrm>
            <a:off x="1033272" y="228142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const [tickets, setTickets] = useState&lt;Ticket[]&gt;([]);</a:t>
            </a:r>
            <a:endParaRPr lang="en-US" sz="1420" dirty="0"/>
          </a:p>
        </p:txBody>
      </p:sp>
      <p:sp>
        <p:nvSpPr>
          <p:cNvPr id="38" name="Text 36"/>
          <p:cNvSpPr/>
          <p:nvPr/>
        </p:nvSpPr>
        <p:spPr>
          <a:xfrm>
            <a:off x="640080" y="253746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03</a:t>
            </a:r>
            <a:endParaRPr lang="en-US" sz="1200" dirty="0"/>
          </a:p>
        </p:txBody>
      </p:sp>
      <p:sp>
        <p:nvSpPr>
          <p:cNvPr id="39" name="Text 37"/>
          <p:cNvSpPr/>
          <p:nvPr/>
        </p:nvSpPr>
        <p:spPr>
          <a:xfrm>
            <a:off x="1033272" y="2523744"/>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const [status, setStatus] = useState&lt;'idle' | 'loading' | 'error'&gt;('idle');</a:t>
            </a:r>
            <a:endParaRPr lang="en-US" sz="1420" dirty="0"/>
          </a:p>
        </p:txBody>
      </p:sp>
      <p:sp>
        <p:nvSpPr>
          <p:cNvPr id="40" name="Text 38"/>
          <p:cNvSpPr/>
          <p:nvPr/>
        </p:nvSpPr>
        <p:spPr>
          <a:xfrm>
            <a:off x="640080" y="277977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04</a:t>
            </a:r>
            <a:endParaRPr lang="en-US" sz="1200" dirty="0"/>
          </a:p>
        </p:txBody>
      </p:sp>
      <p:sp>
        <p:nvSpPr>
          <p:cNvPr id="41" name="Text 39"/>
          <p:cNvSpPr/>
          <p:nvPr/>
        </p:nvSpPr>
        <p:spPr>
          <a:xfrm>
            <a:off x="1033272" y="2766060"/>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const [error, setError] = useState&lt;Error | null&gt;(null);</a:t>
            </a:r>
            <a:endParaRPr lang="en-US" sz="1420" dirty="0"/>
          </a:p>
        </p:txBody>
      </p:sp>
      <p:sp>
        <p:nvSpPr>
          <p:cNvPr id="42" name="Text 40"/>
          <p:cNvSpPr/>
          <p:nvPr/>
        </p:nvSpPr>
        <p:spPr>
          <a:xfrm>
            <a:off x="640080" y="3022092"/>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05</a:t>
            </a:r>
            <a:endParaRPr lang="en-US" sz="1200" dirty="0"/>
          </a:p>
        </p:txBody>
      </p:sp>
      <p:sp>
        <p:nvSpPr>
          <p:cNvPr id="43" name="Text 41"/>
          <p:cNvSpPr/>
          <p:nvPr/>
        </p:nvSpPr>
        <p:spPr>
          <a:xfrm>
            <a:off x="1033272" y="3008376"/>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44" name="Text 42"/>
          <p:cNvSpPr/>
          <p:nvPr/>
        </p:nvSpPr>
        <p:spPr>
          <a:xfrm>
            <a:off x="640080" y="326440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06</a:t>
            </a:r>
            <a:endParaRPr lang="en-US" sz="1200" dirty="0"/>
          </a:p>
        </p:txBody>
      </p:sp>
      <p:sp>
        <p:nvSpPr>
          <p:cNvPr id="45" name="Text 43"/>
          <p:cNvSpPr/>
          <p:nvPr/>
        </p:nvSpPr>
        <p:spPr>
          <a:xfrm>
            <a:off x="1033272" y="3250692"/>
            <a:ext cx="6931152" cy="242316"/>
          </a:xfrm>
          <a:prstGeom prst="rect">
            <a:avLst/>
          </a:prstGeom>
          <a:noFill/>
          <a:ln/>
        </p:spPr>
        <p:txBody>
          <a:bodyPr wrap="square" lIns="0" tIns="0" rIns="0" bIns="0" rtlCol="0" anchor="ctr">
            <a:normAutofit/>
          </a:bodyPr>
          <a:lstStyle/>
          <a:p>
            <a:pPr indent="0" marL="0">
              <a:buNone/>
            </a:pPr>
            <a:r>
              <a:rPr lang="en-US" sz="1420" dirty="0">
                <a:solidFill>
                  <a:srgbClr val="78C9A6"/>
                </a:solidFill>
                <a:latin typeface="Aptos Mono" pitchFamily="34" charset="0"/>
                <a:ea typeface="Aptos Mono" pitchFamily="34" charset="-122"/>
                <a:cs typeface="Aptos Mono" pitchFamily="34" charset="-120"/>
              </a:rPr>
              <a:t>  // Il lifecycle asincrono verrà completato nella sezione Effect.</a:t>
            </a:r>
            <a:endParaRPr lang="en-US" sz="1420" dirty="0"/>
          </a:p>
        </p:txBody>
      </p:sp>
      <p:sp>
        <p:nvSpPr>
          <p:cNvPr id="46" name="Text 44"/>
          <p:cNvSpPr/>
          <p:nvPr/>
        </p:nvSpPr>
        <p:spPr>
          <a:xfrm>
            <a:off x="640080" y="350672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07</a:t>
            </a:r>
            <a:endParaRPr lang="en-US" sz="1200" dirty="0"/>
          </a:p>
        </p:txBody>
      </p:sp>
      <p:sp>
        <p:nvSpPr>
          <p:cNvPr id="47" name="Text 45"/>
          <p:cNvSpPr/>
          <p:nvPr/>
        </p:nvSpPr>
        <p:spPr>
          <a:xfrm>
            <a:off x="1033272" y="349300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useEffect(() =&gt; {</a:t>
            </a:r>
            <a:endParaRPr lang="en-US" sz="1420" dirty="0"/>
          </a:p>
        </p:txBody>
      </p:sp>
      <p:sp>
        <p:nvSpPr>
          <p:cNvPr id="48" name="Text 46"/>
          <p:cNvSpPr/>
          <p:nvPr/>
        </p:nvSpPr>
        <p:spPr>
          <a:xfrm>
            <a:off x="640080" y="374904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08</a:t>
            </a:r>
            <a:endParaRPr lang="en-US" sz="1200" dirty="0"/>
          </a:p>
        </p:txBody>
      </p:sp>
      <p:sp>
        <p:nvSpPr>
          <p:cNvPr id="49" name="Text 47"/>
          <p:cNvSpPr/>
          <p:nvPr/>
        </p:nvSpPr>
        <p:spPr>
          <a:xfrm>
            <a:off x="1033272" y="3735324"/>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setStatus('loading');</a:t>
            </a:r>
            <a:endParaRPr lang="en-US" sz="1420" dirty="0"/>
          </a:p>
        </p:txBody>
      </p:sp>
      <p:sp>
        <p:nvSpPr>
          <p:cNvPr id="50" name="Text 48"/>
          <p:cNvSpPr/>
          <p:nvPr/>
        </p:nvSpPr>
        <p:spPr>
          <a:xfrm>
            <a:off x="640080" y="399135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09</a:t>
            </a:r>
            <a:endParaRPr lang="en-US" sz="1200" dirty="0"/>
          </a:p>
        </p:txBody>
      </p:sp>
      <p:sp>
        <p:nvSpPr>
          <p:cNvPr id="51" name="Text 49"/>
          <p:cNvSpPr/>
          <p:nvPr/>
        </p:nvSpPr>
        <p:spPr>
          <a:xfrm>
            <a:off x="1033272" y="3977640"/>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fetchTickets(query)</a:t>
            </a:r>
            <a:endParaRPr lang="en-US" sz="1420" dirty="0"/>
          </a:p>
        </p:txBody>
      </p:sp>
      <p:sp>
        <p:nvSpPr>
          <p:cNvPr id="52" name="Text 50"/>
          <p:cNvSpPr/>
          <p:nvPr/>
        </p:nvSpPr>
        <p:spPr>
          <a:xfrm>
            <a:off x="640080" y="4233672"/>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10</a:t>
            </a:r>
            <a:endParaRPr lang="en-US" sz="1200" dirty="0"/>
          </a:p>
        </p:txBody>
      </p:sp>
      <p:sp>
        <p:nvSpPr>
          <p:cNvPr id="53" name="Text 51"/>
          <p:cNvSpPr/>
          <p:nvPr/>
        </p:nvSpPr>
        <p:spPr>
          <a:xfrm>
            <a:off x="1033272" y="4219956"/>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.then(data =&gt; { setTickets(data); setStatus('idle'); })</a:t>
            </a:r>
            <a:endParaRPr lang="en-US" sz="1420" dirty="0"/>
          </a:p>
        </p:txBody>
      </p:sp>
      <p:sp>
        <p:nvSpPr>
          <p:cNvPr id="54" name="Text 52"/>
          <p:cNvSpPr/>
          <p:nvPr/>
        </p:nvSpPr>
        <p:spPr>
          <a:xfrm>
            <a:off x="640080" y="447598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11</a:t>
            </a:r>
            <a:endParaRPr lang="en-US" sz="1200" dirty="0"/>
          </a:p>
        </p:txBody>
      </p:sp>
      <p:sp>
        <p:nvSpPr>
          <p:cNvPr id="55" name="Text 53"/>
          <p:cNvSpPr/>
          <p:nvPr/>
        </p:nvSpPr>
        <p:spPr>
          <a:xfrm>
            <a:off x="1033272" y="446227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.catch(reason =&gt; { setError(reason); setStatus('error'); });</a:t>
            </a:r>
            <a:endParaRPr lang="en-US" sz="1420" dirty="0"/>
          </a:p>
        </p:txBody>
      </p:sp>
      <p:sp>
        <p:nvSpPr>
          <p:cNvPr id="56" name="Text 54"/>
          <p:cNvSpPr/>
          <p:nvPr/>
        </p:nvSpPr>
        <p:spPr>
          <a:xfrm>
            <a:off x="640080" y="471830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12</a:t>
            </a:r>
            <a:endParaRPr lang="en-US" sz="1200" dirty="0"/>
          </a:p>
        </p:txBody>
      </p:sp>
      <p:sp>
        <p:nvSpPr>
          <p:cNvPr id="57" name="Text 55"/>
          <p:cNvSpPr/>
          <p:nvPr/>
        </p:nvSpPr>
        <p:spPr>
          <a:xfrm>
            <a:off x="1033272" y="470458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 [query]);</a:t>
            </a:r>
            <a:endParaRPr lang="en-US" sz="1420" dirty="0"/>
          </a:p>
        </p:txBody>
      </p:sp>
      <p:sp>
        <p:nvSpPr>
          <p:cNvPr id="58" name="Text 56"/>
          <p:cNvSpPr/>
          <p:nvPr/>
        </p:nvSpPr>
        <p:spPr>
          <a:xfrm>
            <a:off x="640080" y="496062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13</a:t>
            </a:r>
            <a:endParaRPr lang="en-US" sz="1200" dirty="0"/>
          </a:p>
        </p:txBody>
      </p:sp>
      <p:sp>
        <p:nvSpPr>
          <p:cNvPr id="59" name="Text 57"/>
          <p:cNvSpPr/>
          <p:nvPr/>
        </p:nvSpPr>
        <p:spPr>
          <a:xfrm>
            <a:off x="1033272" y="4946904"/>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60" name="Text 58"/>
          <p:cNvSpPr/>
          <p:nvPr/>
        </p:nvSpPr>
        <p:spPr>
          <a:xfrm>
            <a:off x="640080" y="520293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14</a:t>
            </a:r>
            <a:endParaRPr lang="en-US" sz="1200" dirty="0"/>
          </a:p>
        </p:txBody>
      </p:sp>
      <p:sp>
        <p:nvSpPr>
          <p:cNvPr id="61" name="Text 59"/>
          <p:cNvSpPr/>
          <p:nvPr/>
        </p:nvSpPr>
        <p:spPr>
          <a:xfrm>
            <a:off x="1033272" y="5189220"/>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return { tickets, status, error };</a:t>
            </a:r>
            <a:endParaRPr lang="en-US" sz="1420" dirty="0"/>
          </a:p>
        </p:txBody>
      </p:sp>
      <p:sp>
        <p:nvSpPr>
          <p:cNvPr id="62" name="Text 60"/>
          <p:cNvSpPr/>
          <p:nvPr/>
        </p:nvSpPr>
        <p:spPr>
          <a:xfrm>
            <a:off x="640080" y="5445252"/>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15</a:t>
            </a:r>
            <a:endParaRPr lang="en-US" sz="1200" dirty="0"/>
          </a:p>
        </p:txBody>
      </p:sp>
      <p:sp>
        <p:nvSpPr>
          <p:cNvPr id="63" name="Text 61"/>
          <p:cNvSpPr/>
          <p:nvPr/>
        </p:nvSpPr>
        <p:spPr>
          <a:xfrm>
            <a:off x="1033272" y="5431536"/>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a:t>
            </a:r>
            <a:endParaRPr lang="en-US" sz="1420" dirty="0"/>
          </a:p>
        </p:txBody>
      </p:sp>
      <p:sp>
        <p:nvSpPr>
          <p:cNvPr id="64" name="Shape 62"/>
          <p:cNvSpPr/>
          <p:nvPr/>
        </p:nvSpPr>
        <p:spPr>
          <a:xfrm>
            <a:off x="8366760" y="1591056"/>
            <a:ext cx="3310128" cy="4553712"/>
          </a:xfrm>
          <a:prstGeom prst="roundRect">
            <a:avLst>
              <a:gd name="adj" fmla="val 1381"/>
            </a:avLst>
          </a:prstGeom>
          <a:solidFill>
            <a:srgbClr val="122238"/>
          </a:solidFill>
          <a:ln w="12700">
            <a:solidFill>
              <a:srgbClr val="263A55"/>
            </a:solidFill>
            <a:prstDash val="solid"/>
          </a:ln>
        </p:spPr>
      </p:sp>
      <p:sp>
        <p:nvSpPr>
          <p:cNvPr id="65" name="Text 63"/>
          <p:cNvSpPr/>
          <p:nvPr/>
        </p:nvSpPr>
        <p:spPr>
          <a:xfrm>
            <a:off x="8586216" y="1801368"/>
            <a:ext cx="2871216" cy="182880"/>
          </a:xfrm>
          <a:prstGeom prst="rect">
            <a:avLst/>
          </a:prstGeom>
          <a:noFill/>
          <a:ln/>
        </p:spPr>
        <p:txBody>
          <a:bodyPr wrap="square" lIns="0" tIns="0" rIns="0" bIns="0" rtlCol="0" anchor="ctr"/>
          <a:lstStyle/>
          <a:p>
            <a:pPr indent="0" marL="0">
              <a:buNone/>
            </a:pPr>
            <a:r>
              <a:rPr lang="en-US" sz="950" b="1" spc="115" kern="0" dirty="0">
                <a:solidFill>
                  <a:srgbClr val="F5C96A"/>
                </a:solidFill>
                <a:latin typeface="Aptos" pitchFamily="34" charset="0"/>
                <a:ea typeface="Aptos" pitchFamily="34" charset="-122"/>
                <a:cs typeface="Aptos" pitchFamily="34" charset="-120"/>
              </a:rPr>
              <a:t>DA OSSERVARE</a:t>
            </a:r>
            <a:endParaRPr lang="en-US" sz="950" dirty="0"/>
          </a:p>
        </p:txBody>
      </p:sp>
      <p:sp>
        <p:nvSpPr>
          <p:cNvPr id="66" name="Shape 64"/>
          <p:cNvSpPr/>
          <p:nvPr/>
        </p:nvSpPr>
        <p:spPr>
          <a:xfrm>
            <a:off x="8586216" y="2267712"/>
            <a:ext cx="91440" cy="91440"/>
          </a:xfrm>
          <a:prstGeom prst="ellipse">
            <a:avLst/>
          </a:prstGeom>
          <a:solidFill>
            <a:srgbClr val="7CD4FF"/>
          </a:solidFill>
          <a:ln w="12700">
            <a:solidFill>
              <a:srgbClr val="7CD4FF"/>
            </a:solidFill>
            <a:prstDash val="solid"/>
          </a:ln>
        </p:spPr>
      </p:sp>
      <p:sp>
        <p:nvSpPr>
          <p:cNvPr id="67" name="Text 65"/>
          <p:cNvSpPr/>
          <p:nvPr/>
        </p:nvSpPr>
        <p:spPr>
          <a:xfrm>
            <a:off x="8778240" y="2212848"/>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Il nome racconta il dominio.</a:t>
            </a:r>
            <a:endParaRPr lang="en-US" sz="1420" dirty="0"/>
          </a:p>
        </p:txBody>
      </p:sp>
      <p:sp>
        <p:nvSpPr>
          <p:cNvPr id="68" name="Shape 66"/>
          <p:cNvSpPr/>
          <p:nvPr/>
        </p:nvSpPr>
        <p:spPr>
          <a:xfrm>
            <a:off x="8586216" y="2980944"/>
            <a:ext cx="91440" cy="91440"/>
          </a:xfrm>
          <a:prstGeom prst="ellipse">
            <a:avLst/>
          </a:prstGeom>
          <a:solidFill>
            <a:srgbClr val="7CD4FF"/>
          </a:solidFill>
          <a:ln w="12700">
            <a:solidFill>
              <a:srgbClr val="7CD4FF"/>
            </a:solidFill>
            <a:prstDash val="solid"/>
          </a:ln>
        </p:spPr>
      </p:sp>
      <p:sp>
        <p:nvSpPr>
          <p:cNvPr id="69" name="Text 67"/>
          <p:cNvSpPr/>
          <p:nvPr/>
        </p:nvSpPr>
        <p:spPr>
          <a:xfrm>
            <a:off x="8778240" y="2926080"/>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Lo stato asincrono resta vicino al fetch.</a:t>
            </a:r>
            <a:endParaRPr lang="en-US" sz="1420" dirty="0"/>
          </a:p>
        </p:txBody>
      </p:sp>
      <p:sp>
        <p:nvSpPr>
          <p:cNvPr id="70" name="Shape 68"/>
          <p:cNvSpPr/>
          <p:nvPr/>
        </p:nvSpPr>
        <p:spPr>
          <a:xfrm>
            <a:off x="8586216" y="3694176"/>
            <a:ext cx="91440" cy="91440"/>
          </a:xfrm>
          <a:prstGeom prst="ellipse">
            <a:avLst/>
          </a:prstGeom>
          <a:solidFill>
            <a:srgbClr val="7CD4FF"/>
          </a:solidFill>
          <a:ln w="12700">
            <a:solidFill>
              <a:srgbClr val="7CD4FF"/>
            </a:solidFill>
            <a:prstDash val="solid"/>
          </a:ln>
        </p:spPr>
      </p:sp>
      <p:sp>
        <p:nvSpPr>
          <p:cNvPr id="71" name="Text 69"/>
          <p:cNvSpPr/>
          <p:nvPr/>
        </p:nvSpPr>
        <p:spPr>
          <a:xfrm>
            <a:off x="8778240" y="3639312"/>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Il componente usa un contratto piccolo.</a:t>
            </a:r>
            <a:endParaRPr lang="en-US" sz="14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20</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COMPOSITION ROOT LOCALE</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La page orchestra feature, layout e view</a:t>
            </a:r>
            <a:endParaRPr lang="en-US" sz="2700" dirty="0"/>
          </a:p>
        </p:txBody>
      </p:sp>
      <p:sp>
        <p:nvSpPr>
          <p:cNvPr id="29" name="Shape 27"/>
          <p:cNvSpPr/>
          <p:nvPr/>
        </p:nvSpPr>
        <p:spPr>
          <a:xfrm>
            <a:off x="530352" y="1591056"/>
            <a:ext cx="7589520" cy="4553712"/>
          </a:xfrm>
          <a:prstGeom prst="roundRect">
            <a:avLst>
              <a:gd name="adj" fmla="val 1004"/>
            </a:avLst>
          </a:prstGeom>
          <a:solidFill>
            <a:srgbClr val="0D1A2B"/>
          </a:solidFill>
          <a:ln w="13970">
            <a:solidFill>
              <a:srgbClr val="263A55"/>
            </a:solidFill>
            <a:prstDash val="solid"/>
          </a:ln>
        </p:spPr>
      </p:sp>
      <p:sp>
        <p:nvSpPr>
          <p:cNvPr id="30" name="Shape 28"/>
          <p:cNvSpPr/>
          <p:nvPr/>
        </p:nvSpPr>
        <p:spPr>
          <a:xfrm>
            <a:off x="530352" y="1591056"/>
            <a:ext cx="7589520" cy="347472"/>
          </a:xfrm>
          <a:prstGeom prst="rect">
            <a:avLst/>
          </a:prstGeom>
          <a:solidFill>
            <a:srgbClr val="122238"/>
          </a:solidFill>
          <a:ln w="12700">
            <a:solidFill>
              <a:srgbClr val="122238"/>
            </a:solidFill>
            <a:prstDash val="solid"/>
          </a:ln>
        </p:spPr>
      </p:sp>
      <p:sp>
        <p:nvSpPr>
          <p:cNvPr id="31" name="Shape 29"/>
          <p:cNvSpPr/>
          <p:nvPr/>
        </p:nvSpPr>
        <p:spPr>
          <a:xfrm>
            <a:off x="694944" y="1632204"/>
            <a:ext cx="658368" cy="274320"/>
          </a:xfrm>
          <a:prstGeom prst="roundRect">
            <a:avLst>
              <a:gd name="adj" fmla="val 20000"/>
            </a:avLst>
          </a:prstGeom>
          <a:solidFill>
            <a:srgbClr val="7CD4FF">
              <a:alpha val="20000"/>
            </a:srgbClr>
          </a:solidFill>
          <a:ln w="10160">
            <a:solidFill>
              <a:srgbClr val="7CD4FF">
                <a:alpha val="55000"/>
              </a:srgbClr>
            </a:solidFill>
            <a:prstDash val="solid"/>
          </a:ln>
        </p:spPr>
      </p:sp>
      <p:sp>
        <p:nvSpPr>
          <p:cNvPr id="32" name="Text 30"/>
          <p:cNvSpPr/>
          <p:nvPr/>
        </p:nvSpPr>
        <p:spPr>
          <a:xfrm>
            <a:off x="786384" y="1691640"/>
            <a:ext cx="475488" cy="128016"/>
          </a:xfrm>
          <a:prstGeom prst="rect">
            <a:avLst/>
          </a:prstGeom>
          <a:noFill/>
          <a:ln/>
        </p:spPr>
        <p:txBody>
          <a:bodyPr wrap="square" lIns="0" tIns="0" rIns="0" bIns="0" rtlCol="0" anchor="ctr"/>
          <a:lstStyle/>
          <a:p>
            <a:pPr algn="ctr" indent="0" marL="0">
              <a:buNone/>
            </a:pPr>
            <a:r>
              <a:rPr lang="en-US" sz="820" b="1" dirty="0">
                <a:solidFill>
                  <a:srgbClr val="7CD4FF"/>
                </a:solidFill>
                <a:latin typeface="Aptos Mono" pitchFamily="34" charset="0"/>
                <a:ea typeface="Aptos Mono" pitchFamily="34" charset="-122"/>
                <a:cs typeface="Aptos Mono" pitchFamily="34" charset="-120"/>
              </a:rPr>
              <a:t>TSX</a:t>
            </a:r>
            <a:endParaRPr lang="en-US" sz="820" dirty="0"/>
          </a:p>
        </p:txBody>
      </p:sp>
      <p:sp>
        <p:nvSpPr>
          <p:cNvPr id="33" name="Text 31"/>
          <p:cNvSpPr/>
          <p:nvPr/>
        </p:nvSpPr>
        <p:spPr>
          <a:xfrm>
            <a:off x="1490472" y="1687068"/>
            <a:ext cx="635508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TicketsPage.tsx</a:t>
            </a:r>
            <a:endParaRPr lang="en-US" sz="880" dirty="0"/>
          </a:p>
        </p:txBody>
      </p:sp>
      <p:sp>
        <p:nvSpPr>
          <p:cNvPr id="34" name="Text 32"/>
          <p:cNvSpPr/>
          <p:nvPr/>
        </p:nvSpPr>
        <p:spPr>
          <a:xfrm>
            <a:off x="640080" y="2052828"/>
            <a:ext cx="320040" cy="212718"/>
          </a:xfrm>
          <a:prstGeom prst="rect">
            <a:avLst/>
          </a:prstGeom>
          <a:noFill/>
          <a:ln/>
        </p:spPr>
        <p:txBody>
          <a:bodyPr wrap="square" lIns="0" tIns="0" rIns="0" bIns="0" rtlCol="0" anchor="ctr"/>
          <a:lstStyle/>
          <a:p>
            <a:pPr algn="r" indent="0" marL="0">
              <a:buNone/>
            </a:pPr>
            <a:r>
              <a:rPr lang="en-US" sz="1083" dirty="0">
                <a:solidFill>
                  <a:srgbClr val="8296AE"/>
                </a:solidFill>
                <a:latin typeface="Aptos Mono" pitchFamily="34" charset="0"/>
                <a:ea typeface="Aptos Mono" pitchFamily="34" charset="-122"/>
                <a:cs typeface="Aptos Mono" pitchFamily="34" charset="-120"/>
              </a:rPr>
              <a:t>01</a:t>
            </a:r>
            <a:endParaRPr lang="en-US" sz="1083" dirty="0"/>
          </a:p>
        </p:txBody>
      </p:sp>
      <p:sp>
        <p:nvSpPr>
          <p:cNvPr id="35" name="Text 33"/>
          <p:cNvSpPr/>
          <p:nvPr/>
        </p:nvSpPr>
        <p:spPr>
          <a:xfrm>
            <a:off x="1033272" y="2039112"/>
            <a:ext cx="6931152" cy="212718"/>
          </a:xfrm>
          <a:prstGeom prst="rect">
            <a:avLst/>
          </a:prstGeom>
          <a:noFill/>
          <a:ln/>
        </p:spPr>
        <p:txBody>
          <a:bodyPr wrap="square" lIns="0" tIns="0" rIns="0" bIns="0" rtlCol="0" anchor="ctr">
            <a:normAutofit/>
          </a:bodyPr>
          <a:lstStyle/>
          <a:p>
            <a:pPr indent="0" marL="0">
              <a:buNone/>
            </a:pPr>
            <a:r>
              <a:rPr lang="en-US" sz="1303" dirty="0">
                <a:solidFill>
                  <a:srgbClr val="D9E4F2"/>
                </a:solidFill>
                <a:latin typeface="Aptos Mono" pitchFamily="34" charset="0"/>
                <a:ea typeface="Aptos Mono" pitchFamily="34" charset="-122"/>
                <a:cs typeface="Aptos Mono" pitchFamily="34" charset="-120"/>
              </a:rPr>
              <a:t>export function TicketsPage() {</a:t>
            </a:r>
            <a:endParaRPr lang="en-US" sz="1303" dirty="0"/>
          </a:p>
        </p:txBody>
      </p:sp>
      <p:sp>
        <p:nvSpPr>
          <p:cNvPr id="36" name="Text 34"/>
          <p:cNvSpPr/>
          <p:nvPr/>
        </p:nvSpPr>
        <p:spPr>
          <a:xfrm>
            <a:off x="640080" y="2265546"/>
            <a:ext cx="320040" cy="212718"/>
          </a:xfrm>
          <a:prstGeom prst="rect">
            <a:avLst/>
          </a:prstGeom>
          <a:noFill/>
          <a:ln/>
        </p:spPr>
        <p:txBody>
          <a:bodyPr wrap="square" lIns="0" tIns="0" rIns="0" bIns="0" rtlCol="0" anchor="ctr"/>
          <a:lstStyle/>
          <a:p>
            <a:pPr algn="r" indent="0" marL="0">
              <a:buNone/>
            </a:pPr>
            <a:r>
              <a:rPr lang="en-US" sz="1083" dirty="0">
                <a:solidFill>
                  <a:srgbClr val="8296AE"/>
                </a:solidFill>
                <a:latin typeface="Aptos Mono" pitchFamily="34" charset="0"/>
                <a:ea typeface="Aptos Mono" pitchFamily="34" charset="-122"/>
                <a:cs typeface="Aptos Mono" pitchFamily="34" charset="-120"/>
              </a:rPr>
              <a:t>02</a:t>
            </a:r>
            <a:endParaRPr lang="en-US" sz="1083" dirty="0"/>
          </a:p>
        </p:txBody>
      </p:sp>
      <p:sp>
        <p:nvSpPr>
          <p:cNvPr id="37" name="Text 35"/>
          <p:cNvSpPr/>
          <p:nvPr/>
        </p:nvSpPr>
        <p:spPr>
          <a:xfrm>
            <a:off x="1033272" y="2251830"/>
            <a:ext cx="6931152" cy="212718"/>
          </a:xfrm>
          <a:prstGeom prst="rect">
            <a:avLst/>
          </a:prstGeom>
          <a:noFill/>
          <a:ln/>
        </p:spPr>
        <p:txBody>
          <a:bodyPr wrap="square" lIns="0" tIns="0" rIns="0" bIns="0" rtlCol="0" anchor="ctr">
            <a:normAutofit/>
          </a:bodyPr>
          <a:lstStyle/>
          <a:p>
            <a:pPr indent="0" marL="0">
              <a:buNone/>
            </a:pPr>
            <a:r>
              <a:rPr lang="en-US" sz="1303" dirty="0">
                <a:solidFill>
                  <a:srgbClr val="D9E4F2"/>
                </a:solidFill>
                <a:latin typeface="Aptos Mono" pitchFamily="34" charset="0"/>
                <a:ea typeface="Aptos Mono" pitchFamily="34" charset="-122"/>
                <a:cs typeface="Aptos Mono" pitchFamily="34" charset="-120"/>
              </a:rPr>
              <a:t>  const [query, setQuery] = useState('');</a:t>
            </a:r>
            <a:endParaRPr lang="en-US" sz="1303" dirty="0"/>
          </a:p>
        </p:txBody>
      </p:sp>
      <p:sp>
        <p:nvSpPr>
          <p:cNvPr id="38" name="Text 36"/>
          <p:cNvSpPr/>
          <p:nvPr/>
        </p:nvSpPr>
        <p:spPr>
          <a:xfrm>
            <a:off x="640080" y="2478265"/>
            <a:ext cx="320040" cy="212718"/>
          </a:xfrm>
          <a:prstGeom prst="rect">
            <a:avLst/>
          </a:prstGeom>
          <a:noFill/>
          <a:ln/>
        </p:spPr>
        <p:txBody>
          <a:bodyPr wrap="square" lIns="0" tIns="0" rIns="0" bIns="0" rtlCol="0" anchor="ctr"/>
          <a:lstStyle/>
          <a:p>
            <a:pPr algn="r" indent="0" marL="0">
              <a:buNone/>
            </a:pPr>
            <a:r>
              <a:rPr lang="en-US" sz="1083" dirty="0">
                <a:solidFill>
                  <a:srgbClr val="8296AE"/>
                </a:solidFill>
                <a:latin typeface="Aptos Mono" pitchFamily="34" charset="0"/>
                <a:ea typeface="Aptos Mono" pitchFamily="34" charset="-122"/>
                <a:cs typeface="Aptos Mono" pitchFamily="34" charset="-120"/>
              </a:rPr>
              <a:t>03</a:t>
            </a:r>
            <a:endParaRPr lang="en-US" sz="1083" dirty="0"/>
          </a:p>
        </p:txBody>
      </p:sp>
      <p:sp>
        <p:nvSpPr>
          <p:cNvPr id="39" name="Text 37"/>
          <p:cNvSpPr/>
          <p:nvPr/>
        </p:nvSpPr>
        <p:spPr>
          <a:xfrm>
            <a:off x="1033272" y="2464549"/>
            <a:ext cx="6931152" cy="212718"/>
          </a:xfrm>
          <a:prstGeom prst="rect">
            <a:avLst/>
          </a:prstGeom>
          <a:noFill/>
          <a:ln/>
        </p:spPr>
        <p:txBody>
          <a:bodyPr wrap="square" lIns="0" tIns="0" rIns="0" bIns="0" rtlCol="0" anchor="ctr">
            <a:normAutofit/>
          </a:bodyPr>
          <a:lstStyle/>
          <a:p>
            <a:pPr indent="0" marL="0">
              <a:buNone/>
            </a:pPr>
            <a:r>
              <a:rPr lang="en-US" sz="1303" dirty="0">
                <a:solidFill>
                  <a:srgbClr val="D9E4F2"/>
                </a:solidFill>
                <a:latin typeface="Aptos Mono" pitchFamily="34" charset="0"/>
                <a:ea typeface="Aptos Mono" pitchFamily="34" charset="-122"/>
                <a:cs typeface="Aptos Mono" pitchFamily="34" charset="-120"/>
              </a:rPr>
              <a:t>  const [selectedId, setSelectedId] = useState&lt;string | null&gt;(null);</a:t>
            </a:r>
            <a:endParaRPr lang="en-US" sz="1303" dirty="0"/>
          </a:p>
        </p:txBody>
      </p:sp>
      <p:sp>
        <p:nvSpPr>
          <p:cNvPr id="40" name="Text 38"/>
          <p:cNvSpPr/>
          <p:nvPr/>
        </p:nvSpPr>
        <p:spPr>
          <a:xfrm>
            <a:off x="640080" y="2690983"/>
            <a:ext cx="320040" cy="212718"/>
          </a:xfrm>
          <a:prstGeom prst="rect">
            <a:avLst/>
          </a:prstGeom>
          <a:noFill/>
          <a:ln/>
        </p:spPr>
        <p:txBody>
          <a:bodyPr wrap="square" lIns="0" tIns="0" rIns="0" bIns="0" rtlCol="0" anchor="ctr"/>
          <a:lstStyle/>
          <a:p>
            <a:pPr algn="r" indent="0" marL="0">
              <a:buNone/>
            </a:pPr>
            <a:r>
              <a:rPr lang="en-US" sz="1083" dirty="0">
                <a:solidFill>
                  <a:srgbClr val="8296AE"/>
                </a:solidFill>
                <a:latin typeface="Aptos Mono" pitchFamily="34" charset="0"/>
                <a:ea typeface="Aptos Mono" pitchFamily="34" charset="-122"/>
                <a:cs typeface="Aptos Mono" pitchFamily="34" charset="-120"/>
              </a:rPr>
              <a:t>04</a:t>
            </a:r>
            <a:endParaRPr lang="en-US" sz="1083" dirty="0"/>
          </a:p>
        </p:txBody>
      </p:sp>
      <p:sp>
        <p:nvSpPr>
          <p:cNvPr id="41" name="Text 39"/>
          <p:cNvSpPr/>
          <p:nvPr/>
        </p:nvSpPr>
        <p:spPr>
          <a:xfrm>
            <a:off x="1033272" y="2677267"/>
            <a:ext cx="6931152" cy="212718"/>
          </a:xfrm>
          <a:prstGeom prst="rect">
            <a:avLst/>
          </a:prstGeom>
          <a:noFill/>
          <a:ln/>
        </p:spPr>
        <p:txBody>
          <a:bodyPr wrap="square" lIns="0" tIns="0" rIns="0" bIns="0" rtlCol="0" anchor="ctr">
            <a:normAutofit/>
          </a:bodyPr>
          <a:lstStyle/>
          <a:p>
            <a:pPr indent="0" marL="0">
              <a:buNone/>
            </a:pPr>
            <a:r>
              <a:rPr lang="en-US" sz="1303" dirty="0">
                <a:solidFill>
                  <a:srgbClr val="D9E4F2"/>
                </a:solidFill>
                <a:latin typeface="Aptos Mono" pitchFamily="34" charset="0"/>
                <a:ea typeface="Aptos Mono" pitchFamily="34" charset="-122"/>
                <a:cs typeface="Aptos Mono" pitchFamily="34" charset="-120"/>
              </a:rPr>
              <a:t>  const tickets = useTickets(query);</a:t>
            </a:r>
            <a:endParaRPr lang="en-US" sz="1303" dirty="0"/>
          </a:p>
        </p:txBody>
      </p:sp>
      <p:sp>
        <p:nvSpPr>
          <p:cNvPr id="42" name="Text 40"/>
          <p:cNvSpPr/>
          <p:nvPr/>
        </p:nvSpPr>
        <p:spPr>
          <a:xfrm>
            <a:off x="640080" y="2903701"/>
            <a:ext cx="320040" cy="212718"/>
          </a:xfrm>
          <a:prstGeom prst="rect">
            <a:avLst/>
          </a:prstGeom>
          <a:noFill/>
          <a:ln/>
        </p:spPr>
        <p:txBody>
          <a:bodyPr wrap="square" lIns="0" tIns="0" rIns="0" bIns="0" rtlCol="0" anchor="ctr"/>
          <a:lstStyle/>
          <a:p>
            <a:pPr algn="r" indent="0" marL="0">
              <a:buNone/>
            </a:pPr>
            <a:r>
              <a:rPr lang="en-US" sz="1083" dirty="0">
                <a:solidFill>
                  <a:srgbClr val="8296AE"/>
                </a:solidFill>
                <a:latin typeface="Aptos Mono" pitchFamily="34" charset="0"/>
                <a:ea typeface="Aptos Mono" pitchFamily="34" charset="-122"/>
                <a:cs typeface="Aptos Mono" pitchFamily="34" charset="-120"/>
              </a:rPr>
              <a:t>05</a:t>
            </a:r>
            <a:endParaRPr lang="en-US" sz="1083" dirty="0"/>
          </a:p>
        </p:txBody>
      </p:sp>
      <p:sp>
        <p:nvSpPr>
          <p:cNvPr id="43" name="Text 41"/>
          <p:cNvSpPr/>
          <p:nvPr/>
        </p:nvSpPr>
        <p:spPr>
          <a:xfrm>
            <a:off x="1033272" y="2889985"/>
            <a:ext cx="6931152" cy="212718"/>
          </a:xfrm>
          <a:prstGeom prst="rect">
            <a:avLst/>
          </a:prstGeom>
          <a:noFill/>
          <a:ln/>
        </p:spPr>
        <p:txBody>
          <a:bodyPr wrap="square" lIns="0" tIns="0" rIns="0" bIns="0" rtlCol="0" anchor="ctr">
            <a:normAutofit/>
          </a:bodyPr>
          <a:lstStyle/>
          <a:p>
            <a:pPr indent="0" marL="0">
              <a:buNone/>
            </a:pPr>
            <a:r>
              <a:rPr lang="en-US" sz="1303" dirty="0">
                <a:solidFill>
                  <a:srgbClr val="D9E4F2"/>
                </a:solidFill>
                <a:latin typeface="Aptos Mono" pitchFamily="34" charset="0"/>
                <a:ea typeface="Aptos Mono" pitchFamily="34" charset="-122"/>
                <a:cs typeface="Aptos Mono" pitchFamily="34" charset="-120"/>
              </a:rPr>
              <a:t> </a:t>
            </a:r>
            <a:endParaRPr lang="en-US" sz="1303" dirty="0"/>
          </a:p>
        </p:txBody>
      </p:sp>
      <p:sp>
        <p:nvSpPr>
          <p:cNvPr id="44" name="Text 42"/>
          <p:cNvSpPr/>
          <p:nvPr/>
        </p:nvSpPr>
        <p:spPr>
          <a:xfrm>
            <a:off x="640080" y="3116420"/>
            <a:ext cx="320040" cy="212718"/>
          </a:xfrm>
          <a:prstGeom prst="rect">
            <a:avLst/>
          </a:prstGeom>
          <a:noFill/>
          <a:ln/>
        </p:spPr>
        <p:txBody>
          <a:bodyPr wrap="square" lIns="0" tIns="0" rIns="0" bIns="0" rtlCol="0" anchor="ctr"/>
          <a:lstStyle/>
          <a:p>
            <a:pPr algn="r" indent="0" marL="0">
              <a:buNone/>
            </a:pPr>
            <a:r>
              <a:rPr lang="en-US" sz="1083" dirty="0">
                <a:solidFill>
                  <a:srgbClr val="8296AE"/>
                </a:solidFill>
                <a:latin typeface="Aptos Mono" pitchFamily="34" charset="0"/>
                <a:ea typeface="Aptos Mono" pitchFamily="34" charset="-122"/>
                <a:cs typeface="Aptos Mono" pitchFamily="34" charset="-120"/>
              </a:rPr>
              <a:t>06</a:t>
            </a:r>
            <a:endParaRPr lang="en-US" sz="1083" dirty="0"/>
          </a:p>
        </p:txBody>
      </p:sp>
      <p:sp>
        <p:nvSpPr>
          <p:cNvPr id="45" name="Text 43"/>
          <p:cNvSpPr/>
          <p:nvPr/>
        </p:nvSpPr>
        <p:spPr>
          <a:xfrm>
            <a:off x="1033272" y="3102704"/>
            <a:ext cx="6931152" cy="212718"/>
          </a:xfrm>
          <a:prstGeom prst="rect">
            <a:avLst/>
          </a:prstGeom>
          <a:noFill/>
          <a:ln/>
        </p:spPr>
        <p:txBody>
          <a:bodyPr wrap="square" lIns="0" tIns="0" rIns="0" bIns="0" rtlCol="0" anchor="ctr">
            <a:normAutofit/>
          </a:bodyPr>
          <a:lstStyle/>
          <a:p>
            <a:pPr indent="0" marL="0">
              <a:buNone/>
            </a:pPr>
            <a:r>
              <a:rPr lang="en-US" sz="1303" dirty="0">
                <a:solidFill>
                  <a:srgbClr val="D9E4F2"/>
                </a:solidFill>
                <a:latin typeface="Aptos Mono" pitchFamily="34" charset="0"/>
                <a:ea typeface="Aptos Mono" pitchFamily="34" charset="-122"/>
                <a:cs typeface="Aptos Mono" pitchFamily="34" charset="-120"/>
              </a:rPr>
              <a:t>  return (</a:t>
            </a:r>
            <a:endParaRPr lang="en-US" sz="1303" dirty="0"/>
          </a:p>
        </p:txBody>
      </p:sp>
      <p:sp>
        <p:nvSpPr>
          <p:cNvPr id="46" name="Text 44"/>
          <p:cNvSpPr/>
          <p:nvPr/>
        </p:nvSpPr>
        <p:spPr>
          <a:xfrm>
            <a:off x="640080" y="3329138"/>
            <a:ext cx="320040" cy="212718"/>
          </a:xfrm>
          <a:prstGeom prst="rect">
            <a:avLst/>
          </a:prstGeom>
          <a:noFill/>
          <a:ln/>
        </p:spPr>
        <p:txBody>
          <a:bodyPr wrap="square" lIns="0" tIns="0" rIns="0" bIns="0" rtlCol="0" anchor="ctr"/>
          <a:lstStyle/>
          <a:p>
            <a:pPr algn="r" indent="0" marL="0">
              <a:buNone/>
            </a:pPr>
            <a:r>
              <a:rPr lang="en-US" sz="1083" dirty="0">
                <a:solidFill>
                  <a:srgbClr val="8296AE"/>
                </a:solidFill>
                <a:latin typeface="Aptos Mono" pitchFamily="34" charset="0"/>
                <a:ea typeface="Aptos Mono" pitchFamily="34" charset="-122"/>
                <a:cs typeface="Aptos Mono" pitchFamily="34" charset="-120"/>
              </a:rPr>
              <a:t>07</a:t>
            </a:r>
            <a:endParaRPr lang="en-US" sz="1083" dirty="0"/>
          </a:p>
        </p:txBody>
      </p:sp>
      <p:sp>
        <p:nvSpPr>
          <p:cNvPr id="47" name="Text 45"/>
          <p:cNvSpPr/>
          <p:nvPr/>
        </p:nvSpPr>
        <p:spPr>
          <a:xfrm>
            <a:off x="1033272" y="3315422"/>
            <a:ext cx="6931152" cy="212718"/>
          </a:xfrm>
          <a:prstGeom prst="rect">
            <a:avLst/>
          </a:prstGeom>
          <a:noFill/>
          <a:ln/>
        </p:spPr>
        <p:txBody>
          <a:bodyPr wrap="square" lIns="0" tIns="0" rIns="0" bIns="0" rtlCol="0" anchor="ctr">
            <a:normAutofit/>
          </a:bodyPr>
          <a:lstStyle/>
          <a:p>
            <a:pPr indent="0" marL="0">
              <a:buNone/>
            </a:pPr>
            <a:r>
              <a:rPr lang="en-US" sz="1303" dirty="0">
                <a:solidFill>
                  <a:srgbClr val="D9E4F2"/>
                </a:solidFill>
                <a:latin typeface="Aptos Mono" pitchFamily="34" charset="0"/>
                <a:ea typeface="Aptos Mono" pitchFamily="34" charset="-122"/>
                <a:cs typeface="Aptos Mono" pitchFamily="34" charset="-120"/>
              </a:rPr>
              <a:t>    &lt;DashboardLayout sidebar={&lt;TicketFilters /&gt;}&gt;</a:t>
            </a:r>
            <a:endParaRPr lang="en-US" sz="1303" dirty="0"/>
          </a:p>
        </p:txBody>
      </p:sp>
      <p:sp>
        <p:nvSpPr>
          <p:cNvPr id="48" name="Text 46"/>
          <p:cNvSpPr/>
          <p:nvPr/>
        </p:nvSpPr>
        <p:spPr>
          <a:xfrm>
            <a:off x="640080" y="3541856"/>
            <a:ext cx="320040" cy="212718"/>
          </a:xfrm>
          <a:prstGeom prst="rect">
            <a:avLst/>
          </a:prstGeom>
          <a:noFill/>
          <a:ln/>
        </p:spPr>
        <p:txBody>
          <a:bodyPr wrap="square" lIns="0" tIns="0" rIns="0" bIns="0" rtlCol="0" anchor="ctr"/>
          <a:lstStyle/>
          <a:p>
            <a:pPr algn="r" indent="0" marL="0">
              <a:buNone/>
            </a:pPr>
            <a:r>
              <a:rPr lang="en-US" sz="1083" dirty="0">
                <a:solidFill>
                  <a:srgbClr val="8296AE"/>
                </a:solidFill>
                <a:latin typeface="Aptos Mono" pitchFamily="34" charset="0"/>
                <a:ea typeface="Aptos Mono" pitchFamily="34" charset="-122"/>
                <a:cs typeface="Aptos Mono" pitchFamily="34" charset="-120"/>
              </a:rPr>
              <a:t>08</a:t>
            </a:r>
            <a:endParaRPr lang="en-US" sz="1083" dirty="0"/>
          </a:p>
        </p:txBody>
      </p:sp>
      <p:sp>
        <p:nvSpPr>
          <p:cNvPr id="49" name="Text 47"/>
          <p:cNvSpPr/>
          <p:nvPr/>
        </p:nvSpPr>
        <p:spPr>
          <a:xfrm>
            <a:off x="1033272" y="3528140"/>
            <a:ext cx="6931152" cy="212718"/>
          </a:xfrm>
          <a:prstGeom prst="rect">
            <a:avLst/>
          </a:prstGeom>
          <a:noFill/>
          <a:ln/>
        </p:spPr>
        <p:txBody>
          <a:bodyPr wrap="square" lIns="0" tIns="0" rIns="0" bIns="0" rtlCol="0" anchor="ctr">
            <a:normAutofit/>
          </a:bodyPr>
          <a:lstStyle/>
          <a:p>
            <a:pPr indent="0" marL="0">
              <a:buNone/>
            </a:pPr>
            <a:r>
              <a:rPr lang="en-US" sz="1303" dirty="0">
                <a:solidFill>
                  <a:srgbClr val="D9E4F2"/>
                </a:solidFill>
                <a:latin typeface="Aptos Mono" pitchFamily="34" charset="0"/>
                <a:ea typeface="Aptos Mono" pitchFamily="34" charset="-122"/>
                <a:cs typeface="Aptos Mono" pitchFamily="34" charset="-120"/>
              </a:rPr>
              <a:t>      &lt;PageHeader title='Tickets' /&gt;</a:t>
            </a:r>
            <a:endParaRPr lang="en-US" sz="1303" dirty="0"/>
          </a:p>
        </p:txBody>
      </p:sp>
      <p:sp>
        <p:nvSpPr>
          <p:cNvPr id="50" name="Text 48"/>
          <p:cNvSpPr/>
          <p:nvPr/>
        </p:nvSpPr>
        <p:spPr>
          <a:xfrm>
            <a:off x="640080" y="3754575"/>
            <a:ext cx="320040" cy="212718"/>
          </a:xfrm>
          <a:prstGeom prst="rect">
            <a:avLst/>
          </a:prstGeom>
          <a:noFill/>
          <a:ln/>
        </p:spPr>
        <p:txBody>
          <a:bodyPr wrap="square" lIns="0" tIns="0" rIns="0" bIns="0" rtlCol="0" anchor="ctr"/>
          <a:lstStyle/>
          <a:p>
            <a:pPr algn="r" indent="0" marL="0">
              <a:buNone/>
            </a:pPr>
            <a:r>
              <a:rPr lang="en-US" sz="1083" dirty="0">
                <a:solidFill>
                  <a:srgbClr val="8296AE"/>
                </a:solidFill>
                <a:latin typeface="Aptos Mono" pitchFamily="34" charset="0"/>
                <a:ea typeface="Aptos Mono" pitchFamily="34" charset="-122"/>
                <a:cs typeface="Aptos Mono" pitchFamily="34" charset="-120"/>
              </a:rPr>
              <a:t>09</a:t>
            </a:r>
            <a:endParaRPr lang="en-US" sz="1083" dirty="0"/>
          </a:p>
        </p:txBody>
      </p:sp>
      <p:sp>
        <p:nvSpPr>
          <p:cNvPr id="51" name="Text 49"/>
          <p:cNvSpPr/>
          <p:nvPr/>
        </p:nvSpPr>
        <p:spPr>
          <a:xfrm>
            <a:off x="1033272" y="3740859"/>
            <a:ext cx="6931152" cy="212718"/>
          </a:xfrm>
          <a:prstGeom prst="rect">
            <a:avLst/>
          </a:prstGeom>
          <a:noFill/>
          <a:ln/>
        </p:spPr>
        <p:txBody>
          <a:bodyPr wrap="square" lIns="0" tIns="0" rIns="0" bIns="0" rtlCol="0" anchor="ctr">
            <a:normAutofit/>
          </a:bodyPr>
          <a:lstStyle/>
          <a:p>
            <a:pPr indent="0" marL="0">
              <a:buNone/>
            </a:pPr>
            <a:r>
              <a:rPr lang="en-US" sz="1303" dirty="0">
                <a:solidFill>
                  <a:srgbClr val="D9E4F2"/>
                </a:solidFill>
                <a:latin typeface="Aptos Mono" pitchFamily="34" charset="0"/>
                <a:ea typeface="Aptos Mono" pitchFamily="34" charset="-122"/>
                <a:cs typeface="Aptos Mono" pitchFamily="34" charset="-120"/>
              </a:rPr>
              <a:t>      &lt;SearchField value={query} onChange={setQuery} /&gt;</a:t>
            </a:r>
            <a:endParaRPr lang="en-US" sz="1303" dirty="0"/>
          </a:p>
        </p:txBody>
      </p:sp>
      <p:sp>
        <p:nvSpPr>
          <p:cNvPr id="52" name="Text 50"/>
          <p:cNvSpPr/>
          <p:nvPr/>
        </p:nvSpPr>
        <p:spPr>
          <a:xfrm>
            <a:off x="640080" y="3967293"/>
            <a:ext cx="320040" cy="212718"/>
          </a:xfrm>
          <a:prstGeom prst="rect">
            <a:avLst/>
          </a:prstGeom>
          <a:noFill/>
          <a:ln/>
        </p:spPr>
        <p:txBody>
          <a:bodyPr wrap="square" lIns="0" tIns="0" rIns="0" bIns="0" rtlCol="0" anchor="ctr"/>
          <a:lstStyle/>
          <a:p>
            <a:pPr algn="r" indent="0" marL="0">
              <a:buNone/>
            </a:pPr>
            <a:r>
              <a:rPr lang="en-US" sz="1083" dirty="0">
                <a:solidFill>
                  <a:srgbClr val="8296AE"/>
                </a:solidFill>
                <a:latin typeface="Aptos Mono" pitchFamily="34" charset="0"/>
                <a:ea typeface="Aptos Mono" pitchFamily="34" charset="-122"/>
                <a:cs typeface="Aptos Mono" pitchFamily="34" charset="-120"/>
              </a:rPr>
              <a:t>10</a:t>
            </a:r>
            <a:endParaRPr lang="en-US" sz="1083" dirty="0"/>
          </a:p>
        </p:txBody>
      </p:sp>
      <p:sp>
        <p:nvSpPr>
          <p:cNvPr id="53" name="Text 51"/>
          <p:cNvSpPr/>
          <p:nvPr/>
        </p:nvSpPr>
        <p:spPr>
          <a:xfrm>
            <a:off x="1033272" y="3953577"/>
            <a:ext cx="6931152" cy="212718"/>
          </a:xfrm>
          <a:prstGeom prst="rect">
            <a:avLst/>
          </a:prstGeom>
          <a:noFill/>
          <a:ln/>
        </p:spPr>
        <p:txBody>
          <a:bodyPr wrap="square" lIns="0" tIns="0" rIns="0" bIns="0" rtlCol="0" anchor="ctr">
            <a:normAutofit/>
          </a:bodyPr>
          <a:lstStyle/>
          <a:p>
            <a:pPr indent="0" marL="0">
              <a:buNone/>
            </a:pPr>
            <a:r>
              <a:rPr lang="en-US" sz="1303" dirty="0">
                <a:solidFill>
                  <a:srgbClr val="D9E4F2"/>
                </a:solidFill>
                <a:latin typeface="Aptos Mono" pitchFamily="34" charset="0"/>
                <a:ea typeface="Aptos Mono" pitchFamily="34" charset="-122"/>
                <a:cs typeface="Aptos Mono" pitchFamily="34" charset="-120"/>
              </a:rPr>
              <a:t>      &lt;TicketList</a:t>
            </a:r>
            <a:endParaRPr lang="en-US" sz="1303" dirty="0"/>
          </a:p>
        </p:txBody>
      </p:sp>
      <p:sp>
        <p:nvSpPr>
          <p:cNvPr id="54" name="Text 52"/>
          <p:cNvSpPr/>
          <p:nvPr/>
        </p:nvSpPr>
        <p:spPr>
          <a:xfrm>
            <a:off x="640080" y="4180011"/>
            <a:ext cx="320040" cy="212718"/>
          </a:xfrm>
          <a:prstGeom prst="rect">
            <a:avLst/>
          </a:prstGeom>
          <a:noFill/>
          <a:ln/>
        </p:spPr>
        <p:txBody>
          <a:bodyPr wrap="square" lIns="0" tIns="0" rIns="0" bIns="0" rtlCol="0" anchor="ctr"/>
          <a:lstStyle/>
          <a:p>
            <a:pPr algn="r" indent="0" marL="0">
              <a:buNone/>
            </a:pPr>
            <a:r>
              <a:rPr lang="en-US" sz="1083" dirty="0">
                <a:solidFill>
                  <a:srgbClr val="8296AE"/>
                </a:solidFill>
                <a:latin typeface="Aptos Mono" pitchFamily="34" charset="0"/>
                <a:ea typeface="Aptos Mono" pitchFamily="34" charset="-122"/>
                <a:cs typeface="Aptos Mono" pitchFamily="34" charset="-120"/>
              </a:rPr>
              <a:t>11</a:t>
            </a:r>
            <a:endParaRPr lang="en-US" sz="1083" dirty="0"/>
          </a:p>
        </p:txBody>
      </p:sp>
      <p:sp>
        <p:nvSpPr>
          <p:cNvPr id="55" name="Text 53"/>
          <p:cNvSpPr/>
          <p:nvPr/>
        </p:nvSpPr>
        <p:spPr>
          <a:xfrm>
            <a:off x="1033272" y="4166295"/>
            <a:ext cx="6931152" cy="212718"/>
          </a:xfrm>
          <a:prstGeom prst="rect">
            <a:avLst/>
          </a:prstGeom>
          <a:noFill/>
          <a:ln/>
        </p:spPr>
        <p:txBody>
          <a:bodyPr wrap="square" lIns="0" tIns="0" rIns="0" bIns="0" rtlCol="0" anchor="ctr">
            <a:normAutofit/>
          </a:bodyPr>
          <a:lstStyle/>
          <a:p>
            <a:pPr indent="0" marL="0">
              <a:buNone/>
            </a:pPr>
            <a:r>
              <a:rPr lang="en-US" sz="1303" dirty="0">
                <a:solidFill>
                  <a:srgbClr val="D9E4F2"/>
                </a:solidFill>
                <a:latin typeface="Aptos Mono" pitchFamily="34" charset="0"/>
                <a:ea typeface="Aptos Mono" pitchFamily="34" charset="-122"/>
                <a:cs typeface="Aptos Mono" pitchFamily="34" charset="-120"/>
              </a:rPr>
              <a:t>        tickets={tickets.data}</a:t>
            </a:r>
            <a:endParaRPr lang="en-US" sz="1303" dirty="0"/>
          </a:p>
        </p:txBody>
      </p:sp>
      <p:sp>
        <p:nvSpPr>
          <p:cNvPr id="56" name="Text 54"/>
          <p:cNvSpPr/>
          <p:nvPr/>
        </p:nvSpPr>
        <p:spPr>
          <a:xfrm>
            <a:off x="640080" y="4392729"/>
            <a:ext cx="320040" cy="212718"/>
          </a:xfrm>
          <a:prstGeom prst="rect">
            <a:avLst/>
          </a:prstGeom>
          <a:noFill/>
          <a:ln/>
        </p:spPr>
        <p:txBody>
          <a:bodyPr wrap="square" lIns="0" tIns="0" rIns="0" bIns="0" rtlCol="0" anchor="ctr"/>
          <a:lstStyle/>
          <a:p>
            <a:pPr algn="r" indent="0" marL="0">
              <a:buNone/>
            </a:pPr>
            <a:r>
              <a:rPr lang="en-US" sz="1083" dirty="0">
                <a:solidFill>
                  <a:srgbClr val="8296AE"/>
                </a:solidFill>
                <a:latin typeface="Aptos Mono" pitchFamily="34" charset="0"/>
                <a:ea typeface="Aptos Mono" pitchFamily="34" charset="-122"/>
                <a:cs typeface="Aptos Mono" pitchFamily="34" charset="-120"/>
              </a:rPr>
              <a:t>12</a:t>
            </a:r>
            <a:endParaRPr lang="en-US" sz="1083" dirty="0"/>
          </a:p>
        </p:txBody>
      </p:sp>
      <p:sp>
        <p:nvSpPr>
          <p:cNvPr id="57" name="Text 55"/>
          <p:cNvSpPr/>
          <p:nvPr/>
        </p:nvSpPr>
        <p:spPr>
          <a:xfrm>
            <a:off x="1033272" y="4379013"/>
            <a:ext cx="6931152" cy="212718"/>
          </a:xfrm>
          <a:prstGeom prst="rect">
            <a:avLst/>
          </a:prstGeom>
          <a:noFill/>
          <a:ln/>
        </p:spPr>
        <p:txBody>
          <a:bodyPr wrap="square" lIns="0" tIns="0" rIns="0" bIns="0" rtlCol="0" anchor="ctr">
            <a:normAutofit/>
          </a:bodyPr>
          <a:lstStyle/>
          <a:p>
            <a:pPr indent="0" marL="0">
              <a:buNone/>
            </a:pPr>
            <a:r>
              <a:rPr lang="en-US" sz="1303" dirty="0">
                <a:solidFill>
                  <a:srgbClr val="D9E4F2"/>
                </a:solidFill>
                <a:latin typeface="Aptos Mono" pitchFamily="34" charset="0"/>
                <a:ea typeface="Aptos Mono" pitchFamily="34" charset="-122"/>
                <a:cs typeface="Aptos Mono" pitchFamily="34" charset="-120"/>
              </a:rPr>
              <a:t>        isLoading={tickets.isLoading}</a:t>
            </a:r>
            <a:endParaRPr lang="en-US" sz="1303" dirty="0"/>
          </a:p>
        </p:txBody>
      </p:sp>
      <p:sp>
        <p:nvSpPr>
          <p:cNvPr id="58" name="Text 56"/>
          <p:cNvSpPr/>
          <p:nvPr/>
        </p:nvSpPr>
        <p:spPr>
          <a:xfrm>
            <a:off x="640080" y="4605448"/>
            <a:ext cx="320040" cy="212718"/>
          </a:xfrm>
          <a:prstGeom prst="rect">
            <a:avLst/>
          </a:prstGeom>
          <a:noFill/>
          <a:ln/>
        </p:spPr>
        <p:txBody>
          <a:bodyPr wrap="square" lIns="0" tIns="0" rIns="0" bIns="0" rtlCol="0" anchor="ctr"/>
          <a:lstStyle/>
          <a:p>
            <a:pPr algn="r" indent="0" marL="0">
              <a:buNone/>
            </a:pPr>
            <a:r>
              <a:rPr lang="en-US" sz="1083" dirty="0">
                <a:solidFill>
                  <a:srgbClr val="8296AE"/>
                </a:solidFill>
                <a:latin typeface="Aptos Mono" pitchFamily="34" charset="0"/>
                <a:ea typeface="Aptos Mono" pitchFamily="34" charset="-122"/>
                <a:cs typeface="Aptos Mono" pitchFamily="34" charset="-120"/>
              </a:rPr>
              <a:t>13</a:t>
            </a:r>
            <a:endParaRPr lang="en-US" sz="1083" dirty="0"/>
          </a:p>
        </p:txBody>
      </p:sp>
      <p:sp>
        <p:nvSpPr>
          <p:cNvPr id="59" name="Text 57"/>
          <p:cNvSpPr/>
          <p:nvPr/>
        </p:nvSpPr>
        <p:spPr>
          <a:xfrm>
            <a:off x="1033272" y="4591732"/>
            <a:ext cx="6931152" cy="212718"/>
          </a:xfrm>
          <a:prstGeom prst="rect">
            <a:avLst/>
          </a:prstGeom>
          <a:noFill/>
          <a:ln/>
        </p:spPr>
        <p:txBody>
          <a:bodyPr wrap="square" lIns="0" tIns="0" rIns="0" bIns="0" rtlCol="0" anchor="ctr">
            <a:normAutofit/>
          </a:bodyPr>
          <a:lstStyle/>
          <a:p>
            <a:pPr indent="0" marL="0">
              <a:buNone/>
            </a:pPr>
            <a:r>
              <a:rPr lang="en-US" sz="1303" dirty="0">
                <a:solidFill>
                  <a:srgbClr val="D9E4F2"/>
                </a:solidFill>
                <a:latin typeface="Aptos Mono" pitchFamily="34" charset="0"/>
                <a:ea typeface="Aptos Mono" pitchFamily="34" charset="-122"/>
                <a:cs typeface="Aptos Mono" pitchFamily="34" charset="-120"/>
              </a:rPr>
              <a:t>        error={tickets.error}</a:t>
            </a:r>
            <a:endParaRPr lang="en-US" sz="1303" dirty="0"/>
          </a:p>
        </p:txBody>
      </p:sp>
      <p:sp>
        <p:nvSpPr>
          <p:cNvPr id="60" name="Text 58"/>
          <p:cNvSpPr/>
          <p:nvPr/>
        </p:nvSpPr>
        <p:spPr>
          <a:xfrm>
            <a:off x="640080" y="4818166"/>
            <a:ext cx="320040" cy="212718"/>
          </a:xfrm>
          <a:prstGeom prst="rect">
            <a:avLst/>
          </a:prstGeom>
          <a:noFill/>
          <a:ln/>
        </p:spPr>
        <p:txBody>
          <a:bodyPr wrap="square" lIns="0" tIns="0" rIns="0" bIns="0" rtlCol="0" anchor="ctr"/>
          <a:lstStyle/>
          <a:p>
            <a:pPr algn="r" indent="0" marL="0">
              <a:buNone/>
            </a:pPr>
            <a:r>
              <a:rPr lang="en-US" sz="1083" dirty="0">
                <a:solidFill>
                  <a:srgbClr val="8296AE"/>
                </a:solidFill>
                <a:latin typeface="Aptos Mono" pitchFamily="34" charset="0"/>
                <a:ea typeface="Aptos Mono" pitchFamily="34" charset="-122"/>
                <a:cs typeface="Aptos Mono" pitchFamily="34" charset="-120"/>
              </a:rPr>
              <a:t>14</a:t>
            </a:r>
            <a:endParaRPr lang="en-US" sz="1083" dirty="0"/>
          </a:p>
        </p:txBody>
      </p:sp>
      <p:sp>
        <p:nvSpPr>
          <p:cNvPr id="61" name="Text 59"/>
          <p:cNvSpPr/>
          <p:nvPr/>
        </p:nvSpPr>
        <p:spPr>
          <a:xfrm>
            <a:off x="1033272" y="4804450"/>
            <a:ext cx="6931152" cy="212718"/>
          </a:xfrm>
          <a:prstGeom prst="rect">
            <a:avLst/>
          </a:prstGeom>
          <a:noFill/>
          <a:ln/>
        </p:spPr>
        <p:txBody>
          <a:bodyPr wrap="square" lIns="0" tIns="0" rIns="0" bIns="0" rtlCol="0" anchor="ctr">
            <a:normAutofit/>
          </a:bodyPr>
          <a:lstStyle/>
          <a:p>
            <a:pPr indent="0" marL="0">
              <a:buNone/>
            </a:pPr>
            <a:r>
              <a:rPr lang="en-US" sz="1303" dirty="0">
                <a:solidFill>
                  <a:srgbClr val="D9E4F2"/>
                </a:solidFill>
                <a:latin typeface="Aptos Mono" pitchFamily="34" charset="0"/>
                <a:ea typeface="Aptos Mono" pitchFamily="34" charset="-122"/>
                <a:cs typeface="Aptos Mono" pitchFamily="34" charset="-120"/>
              </a:rPr>
              <a:t>        onSelect={setSelectedId}</a:t>
            </a:r>
            <a:endParaRPr lang="en-US" sz="1303" dirty="0"/>
          </a:p>
        </p:txBody>
      </p:sp>
      <p:sp>
        <p:nvSpPr>
          <p:cNvPr id="62" name="Text 60"/>
          <p:cNvSpPr/>
          <p:nvPr/>
        </p:nvSpPr>
        <p:spPr>
          <a:xfrm>
            <a:off x="640080" y="5030884"/>
            <a:ext cx="320040" cy="212718"/>
          </a:xfrm>
          <a:prstGeom prst="rect">
            <a:avLst/>
          </a:prstGeom>
          <a:noFill/>
          <a:ln/>
        </p:spPr>
        <p:txBody>
          <a:bodyPr wrap="square" lIns="0" tIns="0" rIns="0" bIns="0" rtlCol="0" anchor="ctr"/>
          <a:lstStyle/>
          <a:p>
            <a:pPr algn="r" indent="0" marL="0">
              <a:buNone/>
            </a:pPr>
            <a:r>
              <a:rPr lang="en-US" sz="1083" dirty="0">
                <a:solidFill>
                  <a:srgbClr val="8296AE"/>
                </a:solidFill>
                <a:latin typeface="Aptos Mono" pitchFamily="34" charset="0"/>
                <a:ea typeface="Aptos Mono" pitchFamily="34" charset="-122"/>
                <a:cs typeface="Aptos Mono" pitchFamily="34" charset="-120"/>
              </a:rPr>
              <a:t>15</a:t>
            </a:r>
            <a:endParaRPr lang="en-US" sz="1083" dirty="0"/>
          </a:p>
        </p:txBody>
      </p:sp>
      <p:sp>
        <p:nvSpPr>
          <p:cNvPr id="63" name="Text 61"/>
          <p:cNvSpPr/>
          <p:nvPr/>
        </p:nvSpPr>
        <p:spPr>
          <a:xfrm>
            <a:off x="1033272" y="5017168"/>
            <a:ext cx="6931152" cy="212718"/>
          </a:xfrm>
          <a:prstGeom prst="rect">
            <a:avLst/>
          </a:prstGeom>
          <a:noFill/>
          <a:ln/>
        </p:spPr>
        <p:txBody>
          <a:bodyPr wrap="square" lIns="0" tIns="0" rIns="0" bIns="0" rtlCol="0" anchor="ctr">
            <a:normAutofit/>
          </a:bodyPr>
          <a:lstStyle/>
          <a:p>
            <a:pPr indent="0" marL="0">
              <a:buNone/>
            </a:pPr>
            <a:r>
              <a:rPr lang="en-US" sz="1303" dirty="0">
                <a:solidFill>
                  <a:srgbClr val="D9E4F2"/>
                </a:solidFill>
                <a:latin typeface="Aptos Mono" pitchFamily="34" charset="0"/>
                <a:ea typeface="Aptos Mono" pitchFamily="34" charset="-122"/>
                <a:cs typeface="Aptos Mono" pitchFamily="34" charset="-120"/>
              </a:rPr>
              <a:t>      /&gt;</a:t>
            </a:r>
            <a:endParaRPr lang="en-US" sz="1303" dirty="0"/>
          </a:p>
        </p:txBody>
      </p:sp>
      <p:sp>
        <p:nvSpPr>
          <p:cNvPr id="64" name="Text 62"/>
          <p:cNvSpPr/>
          <p:nvPr/>
        </p:nvSpPr>
        <p:spPr>
          <a:xfrm>
            <a:off x="640080" y="5243603"/>
            <a:ext cx="320040" cy="212718"/>
          </a:xfrm>
          <a:prstGeom prst="rect">
            <a:avLst/>
          </a:prstGeom>
          <a:noFill/>
          <a:ln/>
        </p:spPr>
        <p:txBody>
          <a:bodyPr wrap="square" lIns="0" tIns="0" rIns="0" bIns="0" rtlCol="0" anchor="ctr"/>
          <a:lstStyle/>
          <a:p>
            <a:pPr algn="r" indent="0" marL="0">
              <a:buNone/>
            </a:pPr>
            <a:r>
              <a:rPr lang="en-US" sz="1083" dirty="0">
                <a:solidFill>
                  <a:srgbClr val="8296AE"/>
                </a:solidFill>
                <a:latin typeface="Aptos Mono" pitchFamily="34" charset="0"/>
                <a:ea typeface="Aptos Mono" pitchFamily="34" charset="-122"/>
                <a:cs typeface="Aptos Mono" pitchFamily="34" charset="-120"/>
              </a:rPr>
              <a:t>16</a:t>
            </a:r>
            <a:endParaRPr lang="en-US" sz="1083" dirty="0"/>
          </a:p>
        </p:txBody>
      </p:sp>
      <p:sp>
        <p:nvSpPr>
          <p:cNvPr id="65" name="Text 63"/>
          <p:cNvSpPr/>
          <p:nvPr/>
        </p:nvSpPr>
        <p:spPr>
          <a:xfrm>
            <a:off x="1033272" y="5229887"/>
            <a:ext cx="6931152" cy="212718"/>
          </a:xfrm>
          <a:prstGeom prst="rect">
            <a:avLst/>
          </a:prstGeom>
          <a:noFill/>
          <a:ln/>
        </p:spPr>
        <p:txBody>
          <a:bodyPr wrap="square" lIns="0" tIns="0" rIns="0" bIns="0" rtlCol="0" anchor="ctr">
            <a:normAutofit/>
          </a:bodyPr>
          <a:lstStyle/>
          <a:p>
            <a:pPr indent="0" marL="0">
              <a:buNone/>
            </a:pPr>
            <a:r>
              <a:rPr lang="en-US" sz="1303" dirty="0">
                <a:solidFill>
                  <a:srgbClr val="D9E4F2"/>
                </a:solidFill>
                <a:latin typeface="Aptos Mono" pitchFamily="34" charset="0"/>
                <a:ea typeface="Aptos Mono" pitchFamily="34" charset="-122"/>
                <a:cs typeface="Aptos Mono" pitchFamily="34" charset="-120"/>
              </a:rPr>
              <a:t>      &lt;TicketDetails ticketId={selectedId} /&gt;</a:t>
            </a:r>
            <a:endParaRPr lang="en-US" sz="1303" dirty="0"/>
          </a:p>
        </p:txBody>
      </p:sp>
      <p:sp>
        <p:nvSpPr>
          <p:cNvPr id="66" name="Text 64"/>
          <p:cNvSpPr/>
          <p:nvPr/>
        </p:nvSpPr>
        <p:spPr>
          <a:xfrm>
            <a:off x="640080" y="5456321"/>
            <a:ext cx="320040" cy="212718"/>
          </a:xfrm>
          <a:prstGeom prst="rect">
            <a:avLst/>
          </a:prstGeom>
          <a:noFill/>
          <a:ln/>
        </p:spPr>
        <p:txBody>
          <a:bodyPr wrap="square" lIns="0" tIns="0" rIns="0" bIns="0" rtlCol="0" anchor="ctr"/>
          <a:lstStyle/>
          <a:p>
            <a:pPr algn="r" indent="0" marL="0">
              <a:buNone/>
            </a:pPr>
            <a:r>
              <a:rPr lang="en-US" sz="1083" dirty="0">
                <a:solidFill>
                  <a:srgbClr val="8296AE"/>
                </a:solidFill>
                <a:latin typeface="Aptos Mono" pitchFamily="34" charset="0"/>
                <a:ea typeface="Aptos Mono" pitchFamily="34" charset="-122"/>
                <a:cs typeface="Aptos Mono" pitchFamily="34" charset="-120"/>
              </a:rPr>
              <a:t>17</a:t>
            </a:r>
            <a:endParaRPr lang="en-US" sz="1083" dirty="0"/>
          </a:p>
        </p:txBody>
      </p:sp>
      <p:sp>
        <p:nvSpPr>
          <p:cNvPr id="67" name="Text 65"/>
          <p:cNvSpPr/>
          <p:nvPr/>
        </p:nvSpPr>
        <p:spPr>
          <a:xfrm>
            <a:off x="1033272" y="5442605"/>
            <a:ext cx="6931152" cy="212718"/>
          </a:xfrm>
          <a:prstGeom prst="rect">
            <a:avLst/>
          </a:prstGeom>
          <a:noFill/>
          <a:ln/>
        </p:spPr>
        <p:txBody>
          <a:bodyPr wrap="square" lIns="0" tIns="0" rIns="0" bIns="0" rtlCol="0" anchor="ctr">
            <a:normAutofit/>
          </a:bodyPr>
          <a:lstStyle/>
          <a:p>
            <a:pPr indent="0" marL="0">
              <a:buNone/>
            </a:pPr>
            <a:r>
              <a:rPr lang="en-US" sz="1303" dirty="0">
                <a:solidFill>
                  <a:srgbClr val="D9E4F2"/>
                </a:solidFill>
                <a:latin typeface="Aptos Mono" pitchFamily="34" charset="0"/>
                <a:ea typeface="Aptos Mono" pitchFamily="34" charset="-122"/>
                <a:cs typeface="Aptos Mono" pitchFamily="34" charset="-120"/>
              </a:rPr>
              <a:t>    &lt;/DashboardLayout&gt;</a:t>
            </a:r>
            <a:endParaRPr lang="en-US" sz="1303" dirty="0"/>
          </a:p>
        </p:txBody>
      </p:sp>
      <p:sp>
        <p:nvSpPr>
          <p:cNvPr id="68" name="Text 66"/>
          <p:cNvSpPr/>
          <p:nvPr/>
        </p:nvSpPr>
        <p:spPr>
          <a:xfrm>
            <a:off x="640080" y="5669039"/>
            <a:ext cx="320040" cy="212718"/>
          </a:xfrm>
          <a:prstGeom prst="rect">
            <a:avLst/>
          </a:prstGeom>
          <a:noFill/>
          <a:ln/>
        </p:spPr>
        <p:txBody>
          <a:bodyPr wrap="square" lIns="0" tIns="0" rIns="0" bIns="0" rtlCol="0" anchor="ctr"/>
          <a:lstStyle/>
          <a:p>
            <a:pPr algn="r" indent="0" marL="0">
              <a:buNone/>
            </a:pPr>
            <a:r>
              <a:rPr lang="en-US" sz="1083" dirty="0">
                <a:solidFill>
                  <a:srgbClr val="8296AE"/>
                </a:solidFill>
                <a:latin typeface="Aptos Mono" pitchFamily="34" charset="0"/>
                <a:ea typeface="Aptos Mono" pitchFamily="34" charset="-122"/>
                <a:cs typeface="Aptos Mono" pitchFamily="34" charset="-120"/>
              </a:rPr>
              <a:t>18</a:t>
            </a:r>
            <a:endParaRPr lang="en-US" sz="1083" dirty="0"/>
          </a:p>
        </p:txBody>
      </p:sp>
      <p:sp>
        <p:nvSpPr>
          <p:cNvPr id="69" name="Text 67"/>
          <p:cNvSpPr/>
          <p:nvPr/>
        </p:nvSpPr>
        <p:spPr>
          <a:xfrm>
            <a:off x="1033272" y="5655323"/>
            <a:ext cx="6931152" cy="212718"/>
          </a:xfrm>
          <a:prstGeom prst="rect">
            <a:avLst/>
          </a:prstGeom>
          <a:noFill/>
          <a:ln/>
        </p:spPr>
        <p:txBody>
          <a:bodyPr wrap="square" lIns="0" tIns="0" rIns="0" bIns="0" rtlCol="0" anchor="ctr">
            <a:normAutofit/>
          </a:bodyPr>
          <a:lstStyle/>
          <a:p>
            <a:pPr indent="0" marL="0">
              <a:buNone/>
            </a:pPr>
            <a:r>
              <a:rPr lang="en-US" sz="1303" dirty="0">
                <a:solidFill>
                  <a:srgbClr val="D9E4F2"/>
                </a:solidFill>
                <a:latin typeface="Aptos Mono" pitchFamily="34" charset="0"/>
                <a:ea typeface="Aptos Mono" pitchFamily="34" charset="-122"/>
                <a:cs typeface="Aptos Mono" pitchFamily="34" charset="-120"/>
              </a:rPr>
              <a:t>  );</a:t>
            </a:r>
            <a:endParaRPr lang="en-US" sz="1303" dirty="0"/>
          </a:p>
        </p:txBody>
      </p:sp>
      <p:sp>
        <p:nvSpPr>
          <p:cNvPr id="70" name="Text 68"/>
          <p:cNvSpPr/>
          <p:nvPr/>
        </p:nvSpPr>
        <p:spPr>
          <a:xfrm>
            <a:off x="640080" y="5881758"/>
            <a:ext cx="320040" cy="212718"/>
          </a:xfrm>
          <a:prstGeom prst="rect">
            <a:avLst/>
          </a:prstGeom>
          <a:noFill/>
          <a:ln/>
        </p:spPr>
        <p:txBody>
          <a:bodyPr wrap="square" lIns="0" tIns="0" rIns="0" bIns="0" rtlCol="0" anchor="ctr"/>
          <a:lstStyle/>
          <a:p>
            <a:pPr algn="r" indent="0" marL="0">
              <a:buNone/>
            </a:pPr>
            <a:r>
              <a:rPr lang="en-US" sz="1083" dirty="0">
                <a:solidFill>
                  <a:srgbClr val="8296AE"/>
                </a:solidFill>
                <a:latin typeface="Aptos Mono" pitchFamily="34" charset="0"/>
                <a:ea typeface="Aptos Mono" pitchFamily="34" charset="-122"/>
                <a:cs typeface="Aptos Mono" pitchFamily="34" charset="-120"/>
              </a:rPr>
              <a:t>19</a:t>
            </a:r>
            <a:endParaRPr lang="en-US" sz="1083" dirty="0"/>
          </a:p>
        </p:txBody>
      </p:sp>
      <p:sp>
        <p:nvSpPr>
          <p:cNvPr id="71" name="Text 69"/>
          <p:cNvSpPr/>
          <p:nvPr/>
        </p:nvSpPr>
        <p:spPr>
          <a:xfrm>
            <a:off x="1033272" y="5868042"/>
            <a:ext cx="6931152" cy="212718"/>
          </a:xfrm>
          <a:prstGeom prst="rect">
            <a:avLst/>
          </a:prstGeom>
          <a:noFill/>
          <a:ln/>
        </p:spPr>
        <p:txBody>
          <a:bodyPr wrap="square" lIns="0" tIns="0" rIns="0" bIns="0" rtlCol="0" anchor="ctr">
            <a:normAutofit/>
          </a:bodyPr>
          <a:lstStyle/>
          <a:p>
            <a:pPr indent="0" marL="0">
              <a:buNone/>
            </a:pPr>
            <a:r>
              <a:rPr lang="en-US" sz="1303" dirty="0">
                <a:solidFill>
                  <a:srgbClr val="D9E4F2"/>
                </a:solidFill>
                <a:latin typeface="Aptos Mono" pitchFamily="34" charset="0"/>
                <a:ea typeface="Aptos Mono" pitchFamily="34" charset="-122"/>
                <a:cs typeface="Aptos Mono" pitchFamily="34" charset="-120"/>
              </a:rPr>
              <a:t>}</a:t>
            </a:r>
            <a:endParaRPr lang="en-US" sz="1303" dirty="0"/>
          </a:p>
        </p:txBody>
      </p:sp>
      <p:sp>
        <p:nvSpPr>
          <p:cNvPr id="72" name="Shape 70"/>
          <p:cNvSpPr/>
          <p:nvPr/>
        </p:nvSpPr>
        <p:spPr>
          <a:xfrm>
            <a:off x="8366760" y="1591056"/>
            <a:ext cx="3310128" cy="4553712"/>
          </a:xfrm>
          <a:prstGeom prst="roundRect">
            <a:avLst>
              <a:gd name="adj" fmla="val 1381"/>
            </a:avLst>
          </a:prstGeom>
          <a:solidFill>
            <a:srgbClr val="122238"/>
          </a:solidFill>
          <a:ln w="12700">
            <a:solidFill>
              <a:srgbClr val="263A55"/>
            </a:solidFill>
            <a:prstDash val="solid"/>
          </a:ln>
        </p:spPr>
      </p:sp>
      <p:sp>
        <p:nvSpPr>
          <p:cNvPr id="73" name="Text 71"/>
          <p:cNvSpPr/>
          <p:nvPr/>
        </p:nvSpPr>
        <p:spPr>
          <a:xfrm>
            <a:off x="8586216" y="1801368"/>
            <a:ext cx="2871216" cy="182880"/>
          </a:xfrm>
          <a:prstGeom prst="rect">
            <a:avLst/>
          </a:prstGeom>
          <a:noFill/>
          <a:ln/>
        </p:spPr>
        <p:txBody>
          <a:bodyPr wrap="square" lIns="0" tIns="0" rIns="0" bIns="0" rtlCol="0" anchor="ctr"/>
          <a:lstStyle/>
          <a:p>
            <a:pPr indent="0" marL="0">
              <a:buNone/>
            </a:pPr>
            <a:r>
              <a:rPr lang="en-US" sz="950" b="1" spc="115" kern="0" dirty="0">
                <a:solidFill>
                  <a:srgbClr val="F5C96A"/>
                </a:solidFill>
                <a:latin typeface="Aptos" pitchFamily="34" charset="0"/>
                <a:ea typeface="Aptos" pitchFamily="34" charset="-122"/>
                <a:cs typeface="Aptos" pitchFamily="34" charset="-120"/>
              </a:rPr>
              <a:t>DA OSSERVARE</a:t>
            </a:r>
            <a:endParaRPr lang="en-US" sz="950" dirty="0"/>
          </a:p>
        </p:txBody>
      </p:sp>
      <p:sp>
        <p:nvSpPr>
          <p:cNvPr id="74" name="Shape 72"/>
          <p:cNvSpPr/>
          <p:nvPr/>
        </p:nvSpPr>
        <p:spPr>
          <a:xfrm>
            <a:off x="8586216" y="2267712"/>
            <a:ext cx="91440" cy="91440"/>
          </a:xfrm>
          <a:prstGeom prst="ellipse">
            <a:avLst/>
          </a:prstGeom>
          <a:solidFill>
            <a:srgbClr val="7CD4FF"/>
          </a:solidFill>
          <a:ln w="12700">
            <a:solidFill>
              <a:srgbClr val="7CD4FF"/>
            </a:solidFill>
            <a:prstDash val="solid"/>
          </a:ln>
        </p:spPr>
      </p:sp>
      <p:sp>
        <p:nvSpPr>
          <p:cNvPr id="75" name="Text 73"/>
          <p:cNvSpPr/>
          <p:nvPr/>
        </p:nvSpPr>
        <p:spPr>
          <a:xfrm>
            <a:off x="8778240" y="2212848"/>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La page possiede il caso d’uso.</a:t>
            </a:r>
            <a:endParaRPr lang="en-US" sz="1420" dirty="0"/>
          </a:p>
        </p:txBody>
      </p:sp>
      <p:sp>
        <p:nvSpPr>
          <p:cNvPr id="76" name="Shape 74"/>
          <p:cNvSpPr/>
          <p:nvPr/>
        </p:nvSpPr>
        <p:spPr>
          <a:xfrm>
            <a:off x="8586216" y="2980944"/>
            <a:ext cx="91440" cy="91440"/>
          </a:xfrm>
          <a:prstGeom prst="ellipse">
            <a:avLst/>
          </a:prstGeom>
          <a:solidFill>
            <a:srgbClr val="7CD4FF"/>
          </a:solidFill>
          <a:ln w="12700">
            <a:solidFill>
              <a:srgbClr val="7CD4FF"/>
            </a:solidFill>
            <a:prstDash val="solid"/>
          </a:ln>
        </p:spPr>
      </p:sp>
      <p:sp>
        <p:nvSpPr>
          <p:cNvPr id="77" name="Text 75"/>
          <p:cNvSpPr/>
          <p:nvPr/>
        </p:nvSpPr>
        <p:spPr>
          <a:xfrm>
            <a:off x="8778240" y="2926080"/>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Il JSX legge come la schermata.</a:t>
            </a:r>
            <a:endParaRPr lang="en-US" sz="1420" dirty="0"/>
          </a:p>
        </p:txBody>
      </p:sp>
      <p:sp>
        <p:nvSpPr>
          <p:cNvPr id="78" name="Shape 76"/>
          <p:cNvSpPr/>
          <p:nvPr/>
        </p:nvSpPr>
        <p:spPr>
          <a:xfrm>
            <a:off x="8586216" y="3694176"/>
            <a:ext cx="91440" cy="91440"/>
          </a:xfrm>
          <a:prstGeom prst="ellipse">
            <a:avLst/>
          </a:prstGeom>
          <a:solidFill>
            <a:srgbClr val="7CD4FF"/>
          </a:solidFill>
          <a:ln w="12700">
            <a:solidFill>
              <a:srgbClr val="7CD4FF"/>
            </a:solidFill>
            <a:prstDash val="solid"/>
          </a:ln>
        </p:spPr>
      </p:sp>
      <p:sp>
        <p:nvSpPr>
          <p:cNvPr id="79" name="Text 77"/>
          <p:cNvSpPr/>
          <p:nvPr/>
        </p:nvSpPr>
        <p:spPr>
          <a:xfrm>
            <a:off x="8778240" y="3639312"/>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Ogni figlio ha un motivo diverso per cambiare.</a:t>
            </a:r>
            <a:endParaRPr lang="en-US" sz="14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0" y="0"/>
            <a:ext cx="3794760" cy="6858000"/>
          </a:xfrm>
          <a:prstGeom prst="rect">
            <a:avLst/>
          </a:prstGeom>
          <a:solidFill>
            <a:srgbClr val="4C7DFF"/>
          </a:solidFill>
          <a:ln w="12700">
            <a:solidFill>
              <a:srgbClr val="4C7DFF"/>
            </a:solidFill>
            <a:prstDash val="solid"/>
          </a:ln>
        </p:spPr>
      </p:sp>
      <p:sp>
        <p:nvSpPr>
          <p:cNvPr id="3" name="Text 1"/>
          <p:cNvSpPr/>
          <p:nvPr/>
        </p:nvSpPr>
        <p:spPr>
          <a:xfrm>
            <a:off x="576072" y="594360"/>
            <a:ext cx="2560320" cy="1097280"/>
          </a:xfrm>
          <a:prstGeom prst="rect">
            <a:avLst/>
          </a:prstGeom>
          <a:noFill/>
          <a:ln/>
        </p:spPr>
        <p:txBody>
          <a:bodyPr wrap="square" lIns="0" tIns="0" rIns="0" bIns="0" rtlCol="0" anchor="ctr"/>
          <a:lstStyle/>
          <a:p>
            <a:pPr indent="0" marL="0">
              <a:buNone/>
            </a:pPr>
            <a:r>
              <a:rPr lang="en-US" sz="7000" b="1" dirty="0">
                <a:solidFill>
                  <a:srgbClr val="FFFFFF">
                    <a:alpha val="98000"/>
                  </a:srgbClr>
                </a:solidFill>
                <a:latin typeface="Aptos Mono" pitchFamily="34" charset="0"/>
                <a:ea typeface="Aptos Mono" pitchFamily="34" charset="-122"/>
                <a:cs typeface="Aptos Mono" pitchFamily="34" charset="-120"/>
              </a:rPr>
              <a:t>02</a:t>
            </a:r>
            <a:endParaRPr lang="en-US" sz="7000" dirty="0"/>
          </a:p>
        </p:txBody>
      </p:sp>
      <p:sp>
        <p:nvSpPr>
          <p:cNvPr id="4" name="Text 2"/>
          <p:cNvSpPr/>
          <p:nvPr/>
        </p:nvSpPr>
        <p:spPr>
          <a:xfrm>
            <a:off x="658368" y="1975104"/>
            <a:ext cx="2560320" cy="274320"/>
          </a:xfrm>
          <a:prstGeom prst="rect">
            <a:avLst/>
          </a:prstGeom>
          <a:noFill/>
          <a:ln/>
        </p:spPr>
        <p:txBody>
          <a:bodyPr wrap="square" lIns="0" tIns="0" rIns="0" bIns="0" rtlCol="0" anchor="ctr"/>
          <a:lstStyle/>
          <a:p>
            <a:pPr indent="0" marL="0">
              <a:buNone/>
            </a:pPr>
            <a:r>
              <a:rPr lang="en-US" sz="1100" b="1" spc="200" kern="0" dirty="0">
                <a:solidFill>
                  <a:srgbClr val="FFFFFF"/>
                </a:solidFill>
                <a:latin typeface="Aptos" pitchFamily="34" charset="0"/>
                <a:ea typeface="Aptos" pitchFamily="34" charset="-122"/>
                <a:cs typeface="Aptos" pitchFamily="34" charset="-120"/>
              </a:rPr>
              <a:t>CODE LAB</a:t>
            </a:r>
            <a:endParaRPr lang="en-US" sz="1100" dirty="0"/>
          </a:p>
        </p:txBody>
      </p:sp>
      <p:sp>
        <p:nvSpPr>
          <p:cNvPr id="5" name="Text 3"/>
          <p:cNvSpPr/>
          <p:nvPr/>
        </p:nvSpPr>
        <p:spPr>
          <a:xfrm>
            <a:off x="4370832" y="1856232"/>
            <a:ext cx="6949440" cy="1051560"/>
          </a:xfrm>
          <a:prstGeom prst="rect">
            <a:avLst/>
          </a:prstGeom>
          <a:noFill/>
          <a:ln/>
        </p:spPr>
        <p:txBody>
          <a:bodyPr wrap="square" lIns="0" tIns="0" rIns="0" bIns="0" rtlCol="0" anchor="ctr">
            <a:normAutofit/>
          </a:bodyPr>
          <a:lstStyle/>
          <a:p>
            <a:pPr indent="0" marL="0">
              <a:buNone/>
            </a:pPr>
            <a:r>
              <a:rPr lang="en-US" sz="3800" b="1" dirty="0">
                <a:solidFill>
                  <a:srgbClr val="F4F7FB"/>
                </a:solidFill>
                <a:latin typeface="Aptos Display" pitchFamily="34" charset="0"/>
                <a:ea typeface="Aptos Display" pitchFamily="34" charset="-122"/>
                <a:cs typeface="Aptos Display" pitchFamily="34" charset="-120"/>
              </a:rPr>
              <a:t>Component Composition</a:t>
            </a:r>
            <a:endParaRPr lang="en-US" sz="3800" dirty="0"/>
          </a:p>
        </p:txBody>
      </p:sp>
      <p:sp>
        <p:nvSpPr>
          <p:cNvPr id="6" name="Text 4"/>
          <p:cNvSpPr/>
          <p:nvPr/>
        </p:nvSpPr>
        <p:spPr>
          <a:xfrm>
            <a:off x="4407408" y="3136392"/>
            <a:ext cx="6309360" cy="822960"/>
          </a:xfrm>
          <a:prstGeom prst="rect">
            <a:avLst/>
          </a:prstGeom>
          <a:noFill/>
          <a:ln/>
        </p:spPr>
        <p:txBody>
          <a:bodyPr wrap="square" lIns="0" tIns="0" rIns="0" bIns="0" rtlCol="0" anchor="ctr">
            <a:normAutofit/>
          </a:bodyPr>
          <a:lstStyle/>
          <a:p>
            <a:pPr indent="0" marL="0">
              <a:buNone/>
            </a:pPr>
            <a:r>
              <a:rPr lang="en-US" sz="1900" dirty="0">
                <a:solidFill>
                  <a:srgbClr val="9DB0C7"/>
                </a:solidFill>
                <a:latin typeface="Aptos" pitchFamily="34" charset="0"/>
                <a:ea typeface="Aptos" pitchFamily="34" charset="-122"/>
                <a:cs typeface="Aptos" pitchFamily="34" charset="-120"/>
              </a:rPr>
              <a:t>Un guscio stabile accoglie contenuti che cambiano.</a:t>
            </a:r>
            <a:endParaRPr lang="en-US" sz="1900" dirty="0"/>
          </a:p>
        </p:txBody>
      </p:sp>
      <p:sp>
        <p:nvSpPr>
          <p:cNvPr id="7" name="Shape 5"/>
          <p:cNvSpPr/>
          <p:nvPr/>
        </p:nvSpPr>
        <p:spPr>
          <a:xfrm>
            <a:off x="4407408" y="4343400"/>
            <a:ext cx="5669280" cy="0"/>
          </a:xfrm>
          <a:prstGeom prst="line">
            <a:avLst/>
          </a:prstGeom>
          <a:noFill/>
          <a:ln w="19050">
            <a:solidFill>
              <a:srgbClr val="263A55"/>
            </a:solidFill>
            <a:prstDash val="solid"/>
          </a:ln>
        </p:spPr>
      </p:sp>
      <p:sp>
        <p:nvSpPr>
          <p:cNvPr id="8" name="Text 6"/>
          <p:cNvSpPr/>
          <p:nvPr/>
        </p:nvSpPr>
        <p:spPr>
          <a:xfrm>
            <a:off x="10424160" y="6172200"/>
            <a:ext cx="1097280" cy="219456"/>
          </a:xfrm>
          <a:prstGeom prst="rect">
            <a:avLst/>
          </a:prstGeom>
          <a:noFill/>
          <a:ln/>
        </p:spPr>
        <p:txBody>
          <a:bodyPr wrap="square" lIns="0" tIns="0" rIns="0" bIns="0" rtlCol="0" anchor="ctr"/>
          <a:lstStyle/>
          <a:p>
            <a:pPr algn="r" indent="0" marL="0">
              <a:buNone/>
            </a:pPr>
            <a:r>
              <a:rPr lang="en-US" sz="1000" b="1" dirty="0">
                <a:solidFill>
                  <a:srgbClr val="8296AE"/>
                </a:solidFill>
                <a:latin typeface="Aptos Mono" pitchFamily="34" charset="0"/>
                <a:ea typeface="Aptos Mono" pitchFamily="34" charset="-122"/>
                <a:cs typeface="Aptos Mono" pitchFamily="34" charset="-120"/>
              </a:rPr>
              <a:t>SLIDE 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22</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CODE SMELL</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Prima: le prop booleane moltiplicano combinazioni</a:t>
            </a:r>
            <a:endParaRPr lang="en-US" sz="2700" dirty="0"/>
          </a:p>
        </p:txBody>
      </p:sp>
      <p:sp>
        <p:nvSpPr>
          <p:cNvPr id="29" name="Shape 27"/>
          <p:cNvSpPr/>
          <p:nvPr/>
        </p:nvSpPr>
        <p:spPr>
          <a:xfrm>
            <a:off x="530352" y="1591056"/>
            <a:ext cx="7589520" cy="4553712"/>
          </a:xfrm>
          <a:prstGeom prst="roundRect">
            <a:avLst>
              <a:gd name="adj" fmla="val 1004"/>
            </a:avLst>
          </a:prstGeom>
          <a:solidFill>
            <a:srgbClr val="0D1A2B"/>
          </a:solidFill>
          <a:ln w="13970">
            <a:solidFill>
              <a:srgbClr val="263A55"/>
            </a:solidFill>
            <a:prstDash val="solid"/>
          </a:ln>
        </p:spPr>
      </p:sp>
      <p:sp>
        <p:nvSpPr>
          <p:cNvPr id="30" name="Shape 28"/>
          <p:cNvSpPr/>
          <p:nvPr/>
        </p:nvSpPr>
        <p:spPr>
          <a:xfrm>
            <a:off x="530352" y="1591056"/>
            <a:ext cx="7589520" cy="347472"/>
          </a:xfrm>
          <a:prstGeom prst="rect">
            <a:avLst/>
          </a:prstGeom>
          <a:solidFill>
            <a:srgbClr val="122238"/>
          </a:solidFill>
          <a:ln w="12700">
            <a:solidFill>
              <a:srgbClr val="122238"/>
            </a:solidFill>
            <a:prstDash val="solid"/>
          </a:ln>
        </p:spPr>
      </p:sp>
      <p:sp>
        <p:nvSpPr>
          <p:cNvPr id="31" name="Shape 29"/>
          <p:cNvSpPr/>
          <p:nvPr/>
        </p:nvSpPr>
        <p:spPr>
          <a:xfrm>
            <a:off x="694944" y="1632204"/>
            <a:ext cx="658368" cy="274320"/>
          </a:xfrm>
          <a:prstGeom prst="roundRect">
            <a:avLst>
              <a:gd name="adj" fmla="val 20000"/>
            </a:avLst>
          </a:prstGeom>
          <a:solidFill>
            <a:srgbClr val="7CD4FF">
              <a:alpha val="20000"/>
            </a:srgbClr>
          </a:solidFill>
          <a:ln w="10160">
            <a:solidFill>
              <a:srgbClr val="7CD4FF">
                <a:alpha val="55000"/>
              </a:srgbClr>
            </a:solidFill>
            <a:prstDash val="solid"/>
          </a:ln>
        </p:spPr>
      </p:sp>
      <p:sp>
        <p:nvSpPr>
          <p:cNvPr id="32" name="Text 30"/>
          <p:cNvSpPr/>
          <p:nvPr/>
        </p:nvSpPr>
        <p:spPr>
          <a:xfrm>
            <a:off x="786384" y="1691640"/>
            <a:ext cx="475488" cy="128016"/>
          </a:xfrm>
          <a:prstGeom prst="rect">
            <a:avLst/>
          </a:prstGeom>
          <a:noFill/>
          <a:ln/>
        </p:spPr>
        <p:txBody>
          <a:bodyPr wrap="square" lIns="0" tIns="0" rIns="0" bIns="0" rtlCol="0" anchor="ctr"/>
          <a:lstStyle/>
          <a:p>
            <a:pPr algn="ctr" indent="0" marL="0">
              <a:buNone/>
            </a:pPr>
            <a:r>
              <a:rPr lang="en-US" sz="820" b="1" dirty="0">
                <a:solidFill>
                  <a:srgbClr val="7CD4FF"/>
                </a:solidFill>
                <a:latin typeface="Aptos Mono" pitchFamily="34" charset="0"/>
                <a:ea typeface="Aptos Mono" pitchFamily="34" charset="-122"/>
                <a:cs typeface="Aptos Mono" pitchFamily="34" charset="-120"/>
              </a:rPr>
              <a:t>TSX</a:t>
            </a:r>
            <a:endParaRPr lang="en-US" sz="820" dirty="0"/>
          </a:p>
        </p:txBody>
      </p:sp>
      <p:sp>
        <p:nvSpPr>
          <p:cNvPr id="33" name="Text 31"/>
          <p:cNvSpPr/>
          <p:nvPr/>
        </p:nvSpPr>
        <p:spPr>
          <a:xfrm>
            <a:off x="1490472" y="1687068"/>
            <a:ext cx="635508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Dashboard.tsx</a:t>
            </a:r>
            <a:endParaRPr lang="en-US" sz="880" dirty="0"/>
          </a:p>
        </p:txBody>
      </p:sp>
      <p:sp>
        <p:nvSpPr>
          <p:cNvPr id="34" name="Text 32"/>
          <p:cNvSpPr/>
          <p:nvPr/>
        </p:nvSpPr>
        <p:spPr>
          <a:xfrm>
            <a:off x="640080" y="2052828"/>
            <a:ext cx="320040" cy="237744"/>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01</a:t>
            </a:r>
            <a:endParaRPr lang="en-US" sz="1200" dirty="0"/>
          </a:p>
        </p:txBody>
      </p:sp>
      <p:sp>
        <p:nvSpPr>
          <p:cNvPr id="35" name="Text 33"/>
          <p:cNvSpPr/>
          <p:nvPr/>
        </p:nvSpPr>
        <p:spPr>
          <a:xfrm>
            <a:off x="1033272" y="2039112"/>
            <a:ext cx="6931152" cy="237744"/>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type Props = {</a:t>
            </a:r>
            <a:endParaRPr lang="en-US" sz="1420" dirty="0"/>
          </a:p>
        </p:txBody>
      </p:sp>
      <p:sp>
        <p:nvSpPr>
          <p:cNvPr id="36" name="Text 34"/>
          <p:cNvSpPr/>
          <p:nvPr/>
        </p:nvSpPr>
        <p:spPr>
          <a:xfrm>
            <a:off x="640080" y="2290572"/>
            <a:ext cx="320040" cy="237744"/>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02</a:t>
            </a:r>
            <a:endParaRPr lang="en-US" sz="1200" dirty="0"/>
          </a:p>
        </p:txBody>
      </p:sp>
      <p:sp>
        <p:nvSpPr>
          <p:cNvPr id="37" name="Text 35"/>
          <p:cNvSpPr/>
          <p:nvPr/>
        </p:nvSpPr>
        <p:spPr>
          <a:xfrm>
            <a:off x="1033272" y="2276856"/>
            <a:ext cx="6931152" cy="237744"/>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mode: 'tickets' | 'reports';</a:t>
            </a:r>
            <a:endParaRPr lang="en-US" sz="1420" dirty="0"/>
          </a:p>
        </p:txBody>
      </p:sp>
      <p:sp>
        <p:nvSpPr>
          <p:cNvPr id="38" name="Text 36"/>
          <p:cNvSpPr/>
          <p:nvPr/>
        </p:nvSpPr>
        <p:spPr>
          <a:xfrm>
            <a:off x="640080" y="2528316"/>
            <a:ext cx="320040" cy="237744"/>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03</a:t>
            </a:r>
            <a:endParaRPr lang="en-US" sz="1200" dirty="0"/>
          </a:p>
        </p:txBody>
      </p:sp>
      <p:sp>
        <p:nvSpPr>
          <p:cNvPr id="39" name="Text 37"/>
          <p:cNvSpPr/>
          <p:nvPr/>
        </p:nvSpPr>
        <p:spPr>
          <a:xfrm>
            <a:off x="1033272" y="2514600"/>
            <a:ext cx="6931152" cy="237744"/>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showFilters?: boolean;</a:t>
            </a:r>
            <a:endParaRPr lang="en-US" sz="1420" dirty="0"/>
          </a:p>
        </p:txBody>
      </p:sp>
      <p:sp>
        <p:nvSpPr>
          <p:cNvPr id="40" name="Text 38"/>
          <p:cNvSpPr/>
          <p:nvPr/>
        </p:nvSpPr>
        <p:spPr>
          <a:xfrm>
            <a:off x="640080" y="2766060"/>
            <a:ext cx="320040" cy="237744"/>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04</a:t>
            </a:r>
            <a:endParaRPr lang="en-US" sz="1200" dirty="0"/>
          </a:p>
        </p:txBody>
      </p:sp>
      <p:sp>
        <p:nvSpPr>
          <p:cNvPr id="41" name="Text 39"/>
          <p:cNvSpPr/>
          <p:nvPr/>
        </p:nvSpPr>
        <p:spPr>
          <a:xfrm>
            <a:off x="1033272" y="2752344"/>
            <a:ext cx="6931152" cy="237744"/>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compact?: boolean;</a:t>
            </a:r>
            <a:endParaRPr lang="en-US" sz="1420" dirty="0"/>
          </a:p>
        </p:txBody>
      </p:sp>
      <p:sp>
        <p:nvSpPr>
          <p:cNvPr id="42" name="Text 40"/>
          <p:cNvSpPr/>
          <p:nvPr/>
        </p:nvSpPr>
        <p:spPr>
          <a:xfrm>
            <a:off x="640080" y="3003804"/>
            <a:ext cx="320040" cy="237744"/>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05</a:t>
            </a:r>
            <a:endParaRPr lang="en-US" sz="1200" dirty="0"/>
          </a:p>
        </p:txBody>
      </p:sp>
      <p:sp>
        <p:nvSpPr>
          <p:cNvPr id="43" name="Text 41"/>
          <p:cNvSpPr/>
          <p:nvPr/>
        </p:nvSpPr>
        <p:spPr>
          <a:xfrm>
            <a:off x="1033272" y="2990088"/>
            <a:ext cx="6931152" cy="237744"/>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showFooter?: boolean;</a:t>
            </a:r>
            <a:endParaRPr lang="en-US" sz="1420" dirty="0"/>
          </a:p>
        </p:txBody>
      </p:sp>
      <p:sp>
        <p:nvSpPr>
          <p:cNvPr id="44" name="Text 42"/>
          <p:cNvSpPr/>
          <p:nvPr/>
        </p:nvSpPr>
        <p:spPr>
          <a:xfrm>
            <a:off x="640080" y="3241548"/>
            <a:ext cx="320040" cy="237744"/>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06</a:t>
            </a:r>
            <a:endParaRPr lang="en-US" sz="1200" dirty="0"/>
          </a:p>
        </p:txBody>
      </p:sp>
      <p:sp>
        <p:nvSpPr>
          <p:cNvPr id="45" name="Text 43"/>
          <p:cNvSpPr/>
          <p:nvPr/>
        </p:nvSpPr>
        <p:spPr>
          <a:xfrm>
            <a:off x="1033272" y="3227832"/>
            <a:ext cx="6931152" cy="237744"/>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a:t>
            </a:r>
            <a:endParaRPr lang="en-US" sz="1420" dirty="0"/>
          </a:p>
        </p:txBody>
      </p:sp>
      <p:sp>
        <p:nvSpPr>
          <p:cNvPr id="46" name="Text 44"/>
          <p:cNvSpPr/>
          <p:nvPr/>
        </p:nvSpPr>
        <p:spPr>
          <a:xfrm>
            <a:off x="640080" y="3479292"/>
            <a:ext cx="320040" cy="237744"/>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07</a:t>
            </a:r>
            <a:endParaRPr lang="en-US" sz="1200" dirty="0"/>
          </a:p>
        </p:txBody>
      </p:sp>
      <p:sp>
        <p:nvSpPr>
          <p:cNvPr id="47" name="Text 45"/>
          <p:cNvSpPr/>
          <p:nvPr/>
        </p:nvSpPr>
        <p:spPr>
          <a:xfrm>
            <a:off x="1033272" y="3465576"/>
            <a:ext cx="6931152" cy="237744"/>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48" name="Text 46"/>
          <p:cNvSpPr/>
          <p:nvPr/>
        </p:nvSpPr>
        <p:spPr>
          <a:xfrm>
            <a:off x="640080" y="3717036"/>
            <a:ext cx="320040" cy="237744"/>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08</a:t>
            </a:r>
            <a:endParaRPr lang="en-US" sz="1200" dirty="0"/>
          </a:p>
        </p:txBody>
      </p:sp>
      <p:sp>
        <p:nvSpPr>
          <p:cNvPr id="49" name="Text 47"/>
          <p:cNvSpPr/>
          <p:nvPr/>
        </p:nvSpPr>
        <p:spPr>
          <a:xfrm>
            <a:off x="1033272" y="3703320"/>
            <a:ext cx="6931152" cy="237744"/>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export function Dashboard(props: Props) {</a:t>
            </a:r>
            <a:endParaRPr lang="en-US" sz="1420" dirty="0"/>
          </a:p>
        </p:txBody>
      </p:sp>
      <p:sp>
        <p:nvSpPr>
          <p:cNvPr id="50" name="Text 48"/>
          <p:cNvSpPr/>
          <p:nvPr/>
        </p:nvSpPr>
        <p:spPr>
          <a:xfrm>
            <a:off x="640080" y="3954780"/>
            <a:ext cx="320040" cy="237744"/>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09</a:t>
            </a:r>
            <a:endParaRPr lang="en-US" sz="1200" dirty="0"/>
          </a:p>
        </p:txBody>
      </p:sp>
      <p:sp>
        <p:nvSpPr>
          <p:cNvPr id="51" name="Text 49"/>
          <p:cNvSpPr/>
          <p:nvPr/>
        </p:nvSpPr>
        <p:spPr>
          <a:xfrm>
            <a:off x="1033272" y="3941064"/>
            <a:ext cx="6931152" cy="237744"/>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return (</a:t>
            </a:r>
            <a:endParaRPr lang="en-US" sz="1420" dirty="0"/>
          </a:p>
        </p:txBody>
      </p:sp>
      <p:sp>
        <p:nvSpPr>
          <p:cNvPr id="52" name="Text 50"/>
          <p:cNvSpPr/>
          <p:nvPr/>
        </p:nvSpPr>
        <p:spPr>
          <a:xfrm>
            <a:off x="640080" y="4192524"/>
            <a:ext cx="320040" cy="237744"/>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10</a:t>
            </a:r>
            <a:endParaRPr lang="en-US" sz="1200" dirty="0"/>
          </a:p>
        </p:txBody>
      </p:sp>
      <p:sp>
        <p:nvSpPr>
          <p:cNvPr id="53" name="Text 51"/>
          <p:cNvSpPr/>
          <p:nvPr/>
        </p:nvSpPr>
        <p:spPr>
          <a:xfrm>
            <a:off x="1033272" y="4178808"/>
            <a:ext cx="6931152" cy="237744"/>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&lt;div className={props.compact ? 'compact' : 'wide'}&gt;</a:t>
            </a:r>
            <a:endParaRPr lang="en-US" sz="1420" dirty="0"/>
          </a:p>
        </p:txBody>
      </p:sp>
      <p:sp>
        <p:nvSpPr>
          <p:cNvPr id="54" name="Text 52"/>
          <p:cNvSpPr/>
          <p:nvPr/>
        </p:nvSpPr>
        <p:spPr>
          <a:xfrm>
            <a:off x="640080" y="4430268"/>
            <a:ext cx="320040" cy="237744"/>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11</a:t>
            </a:r>
            <a:endParaRPr lang="en-US" sz="1200" dirty="0"/>
          </a:p>
        </p:txBody>
      </p:sp>
      <p:sp>
        <p:nvSpPr>
          <p:cNvPr id="55" name="Text 53"/>
          <p:cNvSpPr/>
          <p:nvPr/>
        </p:nvSpPr>
        <p:spPr>
          <a:xfrm>
            <a:off x="1033272" y="4416552"/>
            <a:ext cx="6931152" cy="237744"/>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{props.mode === 'tickets' &amp;&amp; &lt;TicketList /&gt;}</a:t>
            </a:r>
            <a:endParaRPr lang="en-US" sz="1420" dirty="0"/>
          </a:p>
        </p:txBody>
      </p:sp>
      <p:sp>
        <p:nvSpPr>
          <p:cNvPr id="56" name="Text 54"/>
          <p:cNvSpPr/>
          <p:nvPr/>
        </p:nvSpPr>
        <p:spPr>
          <a:xfrm>
            <a:off x="640080" y="4668012"/>
            <a:ext cx="320040" cy="237744"/>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12</a:t>
            </a:r>
            <a:endParaRPr lang="en-US" sz="1200" dirty="0"/>
          </a:p>
        </p:txBody>
      </p:sp>
      <p:sp>
        <p:nvSpPr>
          <p:cNvPr id="57" name="Text 55"/>
          <p:cNvSpPr/>
          <p:nvPr/>
        </p:nvSpPr>
        <p:spPr>
          <a:xfrm>
            <a:off x="1033272" y="4654296"/>
            <a:ext cx="6931152" cy="237744"/>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{props.mode === 'reports' &amp;&amp; &lt;Reports /&gt;}</a:t>
            </a:r>
            <a:endParaRPr lang="en-US" sz="1420" dirty="0"/>
          </a:p>
        </p:txBody>
      </p:sp>
      <p:sp>
        <p:nvSpPr>
          <p:cNvPr id="58" name="Text 56"/>
          <p:cNvSpPr/>
          <p:nvPr/>
        </p:nvSpPr>
        <p:spPr>
          <a:xfrm>
            <a:off x="640080" y="4905756"/>
            <a:ext cx="320040" cy="237744"/>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13</a:t>
            </a:r>
            <a:endParaRPr lang="en-US" sz="1200" dirty="0"/>
          </a:p>
        </p:txBody>
      </p:sp>
      <p:sp>
        <p:nvSpPr>
          <p:cNvPr id="59" name="Text 57"/>
          <p:cNvSpPr/>
          <p:nvPr/>
        </p:nvSpPr>
        <p:spPr>
          <a:xfrm>
            <a:off x="1033272" y="4892040"/>
            <a:ext cx="6931152" cy="237744"/>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{props.showFilters &amp;&amp; &lt;TicketFilters /&gt;}</a:t>
            </a:r>
            <a:endParaRPr lang="en-US" sz="1420" dirty="0"/>
          </a:p>
        </p:txBody>
      </p:sp>
      <p:sp>
        <p:nvSpPr>
          <p:cNvPr id="60" name="Text 58"/>
          <p:cNvSpPr/>
          <p:nvPr/>
        </p:nvSpPr>
        <p:spPr>
          <a:xfrm>
            <a:off x="640080" y="5143500"/>
            <a:ext cx="320040" cy="237744"/>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14</a:t>
            </a:r>
            <a:endParaRPr lang="en-US" sz="1200" dirty="0"/>
          </a:p>
        </p:txBody>
      </p:sp>
      <p:sp>
        <p:nvSpPr>
          <p:cNvPr id="61" name="Text 59"/>
          <p:cNvSpPr/>
          <p:nvPr/>
        </p:nvSpPr>
        <p:spPr>
          <a:xfrm>
            <a:off x="1033272" y="5129784"/>
            <a:ext cx="6931152" cy="237744"/>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{props.showFooter &amp;&amp; &lt;Pagination /&gt;}</a:t>
            </a:r>
            <a:endParaRPr lang="en-US" sz="1420" dirty="0"/>
          </a:p>
        </p:txBody>
      </p:sp>
      <p:sp>
        <p:nvSpPr>
          <p:cNvPr id="62" name="Text 60"/>
          <p:cNvSpPr/>
          <p:nvPr/>
        </p:nvSpPr>
        <p:spPr>
          <a:xfrm>
            <a:off x="640080" y="5381244"/>
            <a:ext cx="320040" cy="237744"/>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15</a:t>
            </a:r>
            <a:endParaRPr lang="en-US" sz="1200" dirty="0"/>
          </a:p>
        </p:txBody>
      </p:sp>
      <p:sp>
        <p:nvSpPr>
          <p:cNvPr id="63" name="Text 61"/>
          <p:cNvSpPr/>
          <p:nvPr/>
        </p:nvSpPr>
        <p:spPr>
          <a:xfrm>
            <a:off x="1033272" y="5367528"/>
            <a:ext cx="6931152" cy="237744"/>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&lt;/div&gt;</a:t>
            </a:r>
            <a:endParaRPr lang="en-US" sz="1420" dirty="0"/>
          </a:p>
        </p:txBody>
      </p:sp>
      <p:sp>
        <p:nvSpPr>
          <p:cNvPr id="64" name="Text 62"/>
          <p:cNvSpPr/>
          <p:nvPr/>
        </p:nvSpPr>
        <p:spPr>
          <a:xfrm>
            <a:off x="640080" y="5618988"/>
            <a:ext cx="320040" cy="237744"/>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16</a:t>
            </a:r>
            <a:endParaRPr lang="en-US" sz="1200" dirty="0"/>
          </a:p>
        </p:txBody>
      </p:sp>
      <p:sp>
        <p:nvSpPr>
          <p:cNvPr id="65" name="Text 63"/>
          <p:cNvSpPr/>
          <p:nvPr/>
        </p:nvSpPr>
        <p:spPr>
          <a:xfrm>
            <a:off x="1033272" y="5605272"/>
            <a:ext cx="6931152" cy="237744"/>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66" name="Text 64"/>
          <p:cNvSpPr/>
          <p:nvPr/>
        </p:nvSpPr>
        <p:spPr>
          <a:xfrm>
            <a:off x="640080" y="5856732"/>
            <a:ext cx="320040" cy="237744"/>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17</a:t>
            </a:r>
            <a:endParaRPr lang="en-US" sz="1200" dirty="0"/>
          </a:p>
        </p:txBody>
      </p:sp>
      <p:sp>
        <p:nvSpPr>
          <p:cNvPr id="67" name="Text 65"/>
          <p:cNvSpPr/>
          <p:nvPr/>
        </p:nvSpPr>
        <p:spPr>
          <a:xfrm>
            <a:off x="1033272" y="5843016"/>
            <a:ext cx="6931152" cy="237744"/>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a:t>
            </a:r>
            <a:endParaRPr lang="en-US" sz="1420" dirty="0"/>
          </a:p>
        </p:txBody>
      </p:sp>
      <p:sp>
        <p:nvSpPr>
          <p:cNvPr id="68" name="Shape 66"/>
          <p:cNvSpPr/>
          <p:nvPr/>
        </p:nvSpPr>
        <p:spPr>
          <a:xfrm>
            <a:off x="8366760" y="1591056"/>
            <a:ext cx="3310128" cy="4553712"/>
          </a:xfrm>
          <a:prstGeom prst="roundRect">
            <a:avLst>
              <a:gd name="adj" fmla="val 1381"/>
            </a:avLst>
          </a:prstGeom>
          <a:solidFill>
            <a:srgbClr val="122238"/>
          </a:solidFill>
          <a:ln w="12700">
            <a:solidFill>
              <a:srgbClr val="263A55"/>
            </a:solidFill>
            <a:prstDash val="solid"/>
          </a:ln>
        </p:spPr>
      </p:sp>
      <p:sp>
        <p:nvSpPr>
          <p:cNvPr id="69" name="Text 67"/>
          <p:cNvSpPr/>
          <p:nvPr/>
        </p:nvSpPr>
        <p:spPr>
          <a:xfrm>
            <a:off x="8586216" y="1801368"/>
            <a:ext cx="2871216" cy="182880"/>
          </a:xfrm>
          <a:prstGeom prst="rect">
            <a:avLst/>
          </a:prstGeom>
          <a:noFill/>
          <a:ln/>
        </p:spPr>
        <p:txBody>
          <a:bodyPr wrap="square" lIns="0" tIns="0" rIns="0" bIns="0" rtlCol="0" anchor="ctr"/>
          <a:lstStyle/>
          <a:p>
            <a:pPr indent="0" marL="0">
              <a:buNone/>
            </a:pPr>
            <a:r>
              <a:rPr lang="en-US" sz="950" b="1" spc="115" kern="0" dirty="0">
                <a:solidFill>
                  <a:srgbClr val="F5C96A"/>
                </a:solidFill>
                <a:latin typeface="Aptos" pitchFamily="34" charset="0"/>
                <a:ea typeface="Aptos" pitchFamily="34" charset="-122"/>
                <a:cs typeface="Aptos" pitchFamily="34" charset="-120"/>
              </a:rPr>
              <a:t>DA OSSERVARE</a:t>
            </a:r>
            <a:endParaRPr lang="en-US" sz="950" dirty="0"/>
          </a:p>
        </p:txBody>
      </p:sp>
      <p:sp>
        <p:nvSpPr>
          <p:cNvPr id="70" name="Shape 68"/>
          <p:cNvSpPr/>
          <p:nvPr/>
        </p:nvSpPr>
        <p:spPr>
          <a:xfrm>
            <a:off x="8586216" y="2267712"/>
            <a:ext cx="91440" cy="91440"/>
          </a:xfrm>
          <a:prstGeom prst="ellipse">
            <a:avLst/>
          </a:prstGeom>
          <a:solidFill>
            <a:srgbClr val="7CD4FF"/>
          </a:solidFill>
          <a:ln w="12700">
            <a:solidFill>
              <a:srgbClr val="7CD4FF"/>
            </a:solidFill>
            <a:prstDash val="solid"/>
          </a:ln>
        </p:spPr>
      </p:sp>
      <p:sp>
        <p:nvSpPr>
          <p:cNvPr id="71" name="Text 69"/>
          <p:cNvSpPr/>
          <p:nvPr/>
        </p:nvSpPr>
        <p:spPr>
          <a:xfrm>
            <a:off x="8778240" y="2212848"/>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Il layout importa ogni contenuto futuro.</a:t>
            </a:r>
            <a:endParaRPr lang="en-US" sz="1420" dirty="0"/>
          </a:p>
        </p:txBody>
      </p:sp>
      <p:sp>
        <p:nvSpPr>
          <p:cNvPr id="72" name="Shape 70"/>
          <p:cNvSpPr/>
          <p:nvPr/>
        </p:nvSpPr>
        <p:spPr>
          <a:xfrm>
            <a:off x="8586216" y="2980944"/>
            <a:ext cx="91440" cy="91440"/>
          </a:xfrm>
          <a:prstGeom prst="ellipse">
            <a:avLst/>
          </a:prstGeom>
          <a:solidFill>
            <a:srgbClr val="7CD4FF"/>
          </a:solidFill>
          <a:ln w="12700">
            <a:solidFill>
              <a:srgbClr val="7CD4FF"/>
            </a:solidFill>
            <a:prstDash val="solid"/>
          </a:ln>
        </p:spPr>
      </p:sp>
      <p:sp>
        <p:nvSpPr>
          <p:cNvPr id="73" name="Text 71"/>
          <p:cNvSpPr/>
          <p:nvPr/>
        </p:nvSpPr>
        <p:spPr>
          <a:xfrm>
            <a:off x="8778240" y="2926080"/>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Tre booleani creano fino a otto combinazioni.</a:t>
            </a:r>
            <a:endParaRPr lang="en-US" sz="1420" dirty="0"/>
          </a:p>
        </p:txBody>
      </p:sp>
      <p:sp>
        <p:nvSpPr>
          <p:cNvPr id="74" name="Shape 72"/>
          <p:cNvSpPr/>
          <p:nvPr/>
        </p:nvSpPr>
        <p:spPr>
          <a:xfrm>
            <a:off x="8586216" y="3694176"/>
            <a:ext cx="91440" cy="91440"/>
          </a:xfrm>
          <a:prstGeom prst="ellipse">
            <a:avLst/>
          </a:prstGeom>
          <a:solidFill>
            <a:srgbClr val="7CD4FF"/>
          </a:solidFill>
          <a:ln w="12700">
            <a:solidFill>
              <a:srgbClr val="7CD4FF"/>
            </a:solidFill>
            <a:prstDash val="solid"/>
          </a:ln>
        </p:spPr>
      </p:sp>
      <p:sp>
        <p:nvSpPr>
          <p:cNvPr id="75" name="Text 73"/>
          <p:cNvSpPr/>
          <p:nvPr/>
        </p:nvSpPr>
        <p:spPr>
          <a:xfrm>
            <a:off x="8778240" y="3639312"/>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Le varianti non valide restano rappresentabili.</a:t>
            </a:r>
            <a:endParaRPr lang="en-US" sz="142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23</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CHILDREN E SLOT</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Dopo: il layout definisce soltanto il guscio</a:t>
            </a:r>
            <a:endParaRPr lang="en-US" sz="2700" dirty="0"/>
          </a:p>
        </p:txBody>
      </p:sp>
      <p:sp>
        <p:nvSpPr>
          <p:cNvPr id="29" name="Shape 27"/>
          <p:cNvSpPr/>
          <p:nvPr/>
        </p:nvSpPr>
        <p:spPr>
          <a:xfrm>
            <a:off x="530352" y="1591056"/>
            <a:ext cx="7589520" cy="4553712"/>
          </a:xfrm>
          <a:prstGeom prst="roundRect">
            <a:avLst>
              <a:gd name="adj" fmla="val 1004"/>
            </a:avLst>
          </a:prstGeom>
          <a:solidFill>
            <a:srgbClr val="0D1A2B"/>
          </a:solidFill>
          <a:ln w="13970">
            <a:solidFill>
              <a:srgbClr val="263A55"/>
            </a:solidFill>
            <a:prstDash val="solid"/>
          </a:ln>
        </p:spPr>
      </p:sp>
      <p:sp>
        <p:nvSpPr>
          <p:cNvPr id="30" name="Shape 28"/>
          <p:cNvSpPr/>
          <p:nvPr/>
        </p:nvSpPr>
        <p:spPr>
          <a:xfrm>
            <a:off x="530352" y="1591056"/>
            <a:ext cx="7589520" cy="347472"/>
          </a:xfrm>
          <a:prstGeom prst="rect">
            <a:avLst/>
          </a:prstGeom>
          <a:solidFill>
            <a:srgbClr val="122238"/>
          </a:solidFill>
          <a:ln w="12700">
            <a:solidFill>
              <a:srgbClr val="122238"/>
            </a:solidFill>
            <a:prstDash val="solid"/>
          </a:ln>
        </p:spPr>
      </p:sp>
      <p:sp>
        <p:nvSpPr>
          <p:cNvPr id="31" name="Shape 29"/>
          <p:cNvSpPr/>
          <p:nvPr/>
        </p:nvSpPr>
        <p:spPr>
          <a:xfrm>
            <a:off x="694944" y="1632204"/>
            <a:ext cx="658368" cy="274320"/>
          </a:xfrm>
          <a:prstGeom prst="roundRect">
            <a:avLst>
              <a:gd name="adj" fmla="val 20000"/>
            </a:avLst>
          </a:prstGeom>
          <a:solidFill>
            <a:srgbClr val="7CD4FF">
              <a:alpha val="20000"/>
            </a:srgbClr>
          </a:solidFill>
          <a:ln w="10160">
            <a:solidFill>
              <a:srgbClr val="7CD4FF">
                <a:alpha val="55000"/>
              </a:srgbClr>
            </a:solidFill>
            <a:prstDash val="solid"/>
          </a:ln>
        </p:spPr>
      </p:sp>
      <p:sp>
        <p:nvSpPr>
          <p:cNvPr id="32" name="Text 30"/>
          <p:cNvSpPr/>
          <p:nvPr/>
        </p:nvSpPr>
        <p:spPr>
          <a:xfrm>
            <a:off x="786384" y="1691640"/>
            <a:ext cx="475488" cy="128016"/>
          </a:xfrm>
          <a:prstGeom prst="rect">
            <a:avLst/>
          </a:prstGeom>
          <a:noFill/>
          <a:ln/>
        </p:spPr>
        <p:txBody>
          <a:bodyPr wrap="square" lIns="0" tIns="0" rIns="0" bIns="0" rtlCol="0" anchor="ctr"/>
          <a:lstStyle/>
          <a:p>
            <a:pPr algn="ctr" indent="0" marL="0">
              <a:buNone/>
            </a:pPr>
            <a:r>
              <a:rPr lang="en-US" sz="820" b="1" dirty="0">
                <a:solidFill>
                  <a:srgbClr val="7CD4FF"/>
                </a:solidFill>
                <a:latin typeface="Aptos Mono" pitchFamily="34" charset="0"/>
                <a:ea typeface="Aptos Mono" pitchFamily="34" charset="-122"/>
                <a:cs typeface="Aptos Mono" pitchFamily="34" charset="-120"/>
              </a:rPr>
              <a:t>TSX</a:t>
            </a:r>
            <a:endParaRPr lang="en-US" sz="820" dirty="0"/>
          </a:p>
        </p:txBody>
      </p:sp>
      <p:sp>
        <p:nvSpPr>
          <p:cNvPr id="33" name="Text 31"/>
          <p:cNvSpPr/>
          <p:nvPr/>
        </p:nvSpPr>
        <p:spPr>
          <a:xfrm>
            <a:off x="1490472" y="1687068"/>
            <a:ext cx="635508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DashboardLayout.tsx</a:t>
            </a:r>
            <a:endParaRPr lang="en-US" sz="880" dirty="0"/>
          </a:p>
        </p:txBody>
      </p:sp>
      <p:sp>
        <p:nvSpPr>
          <p:cNvPr id="34" name="Text 32"/>
          <p:cNvSpPr/>
          <p:nvPr/>
        </p:nvSpPr>
        <p:spPr>
          <a:xfrm>
            <a:off x="640080" y="205282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01</a:t>
            </a:r>
            <a:endParaRPr lang="en-US" sz="1200" dirty="0"/>
          </a:p>
        </p:txBody>
      </p:sp>
      <p:sp>
        <p:nvSpPr>
          <p:cNvPr id="35" name="Text 33"/>
          <p:cNvSpPr/>
          <p:nvPr/>
        </p:nvSpPr>
        <p:spPr>
          <a:xfrm>
            <a:off x="1033272" y="203911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type Props = {</a:t>
            </a:r>
            <a:endParaRPr lang="en-US" sz="1420" dirty="0"/>
          </a:p>
        </p:txBody>
      </p:sp>
      <p:sp>
        <p:nvSpPr>
          <p:cNvPr id="36" name="Text 34"/>
          <p:cNvSpPr/>
          <p:nvPr/>
        </p:nvSpPr>
        <p:spPr>
          <a:xfrm>
            <a:off x="640080" y="229514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02</a:t>
            </a:r>
            <a:endParaRPr lang="en-US" sz="1200" dirty="0"/>
          </a:p>
        </p:txBody>
      </p:sp>
      <p:sp>
        <p:nvSpPr>
          <p:cNvPr id="37" name="Text 35"/>
          <p:cNvSpPr/>
          <p:nvPr/>
        </p:nvSpPr>
        <p:spPr>
          <a:xfrm>
            <a:off x="1033272" y="228142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sidebar?: React.ReactNode;</a:t>
            </a:r>
            <a:endParaRPr lang="en-US" sz="1420" dirty="0"/>
          </a:p>
        </p:txBody>
      </p:sp>
      <p:sp>
        <p:nvSpPr>
          <p:cNvPr id="38" name="Text 36"/>
          <p:cNvSpPr/>
          <p:nvPr/>
        </p:nvSpPr>
        <p:spPr>
          <a:xfrm>
            <a:off x="640080" y="253746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03</a:t>
            </a:r>
            <a:endParaRPr lang="en-US" sz="1200" dirty="0"/>
          </a:p>
        </p:txBody>
      </p:sp>
      <p:sp>
        <p:nvSpPr>
          <p:cNvPr id="39" name="Text 37"/>
          <p:cNvSpPr/>
          <p:nvPr/>
        </p:nvSpPr>
        <p:spPr>
          <a:xfrm>
            <a:off x="1033272" y="2523744"/>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footer?: React.ReactNode;</a:t>
            </a:r>
            <a:endParaRPr lang="en-US" sz="1420" dirty="0"/>
          </a:p>
        </p:txBody>
      </p:sp>
      <p:sp>
        <p:nvSpPr>
          <p:cNvPr id="40" name="Text 38"/>
          <p:cNvSpPr/>
          <p:nvPr/>
        </p:nvSpPr>
        <p:spPr>
          <a:xfrm>
            <a:off x="640080" y="277977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04</a:t>
            </a:r>
            <a:endParaRPr lang="en-US" sz="1200" dirty="0"/>
          </a:p>
        </p:txBody>
      </p:sp>
      <p:sp>
        <p:nvSpPr>
          <p:cNvPr id="41" name="Text 39"/>
          <p:cNvSpPr/>
          <p:nvPr/>
        </p:nvSpPr>
        <p:spPr>
          <a:xfrm>
            <a:off x="1033272" y="2766060"/>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children: React.ReactNode;</a:t>
            </a:r>
            <a:endParaRPr lang="en-US" sz="1420" dirty="0"/>
          </a:p>
        </p:txBody>
      </p:sp>
      <p:sp>
        <p:nvSpPr>
          <p:cNvPr id="42" name="Text 40"/>
          <p:cNvSpPr/>
          <p:nvPr/>
        </p:nvSpPr>
        <p:spPr>
          <a:xfrm>
            <a:off x="640080" y="3022092"/>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05</a:t>
            </a:r>
            <a:endParaRPr lang="en-US" sz="1200" dirty="0"/>
          </a:p>
        </p:txBody>
      </p:sp>
      <p:sp>
        <p:nvSpPr>
          <p:cNvPr id="43" name="Text 41"/>
          <p:cNvSpPr/>
          <p:nvPr/>
        </p:nvSpPr>
        <p:spPr>
          <a:xfrm>
            <a:off x="1033272" y="3008376"/>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a:t>
            </a:r>
            <a:endParaRPr lang="en-US" sz="1420" dirty="0"/>
          </a:p>
        </p:txBody>
      </p:sp>
      <p:sp>
        <p:nvSpPr>
          <p:cNvPr id="44" name="Text 42"/>
          <p:cNvSpPr/>
          <p:nvPr/>
        </p:nvSpPr>
        <p:spPr>
          <a:xfrm>
            <a:off x="640080" y="326440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06</a:t>
            </a:r>
            <a:endParaRPr lang="en-US" sz="1200" dirty="0"/>
          </a:p>
        </p:txBody>
      </p:sp>
      <p:sp>
        <p:nvSpPr>
          <p:cNvPr id="45" name="Text 43"/>
          <p:cNvSpPr/>
          <p:nvPr/>
        </p:nvSpPr>
        <p:spPr>
          <a:xfrm>
            <a:off x="1033272" y="325069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46" name="Text 44"/>
          <p:cNvSpPr/>
          <p:nvPr/>
        </p:nvSpPr>
        <p:spPr>
          <a:xfrm>
            <a:off x="640080" y="350672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07</a:t>
            </a:r>
            <a:endParaRPr lang="en-US" sz="1200" dirty="0"/>
          </a:p>
        </p:txBody>
      </p:sp>
      <p:sp>
        <p:nvSpPr>
          <p:cNvPr id="47" name="Text 45"/>
          <p:cNvSpPr/>
          <p:nvPr/>
        </p:nvSpPr>
        <p:spPr>
          <a:xfrm>
            <a:off x="1033272" y="349300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export function DashboardLayout({ sidebar, footer, children }: Props) {</a:t>
            </a:r>
            <a:endParaRPr lang="en-US" sz="1420" dirty="0"/>
          </a:p>
        </p:txBody>
      </p:sp>
      <p:sp>
        <p:nvSpPr>
          <p:cNvPr id="48" name="Text 46"/>
          <p:cNvSpPr/>
          <p:nvPr/>
        </p:nvSpPr>
        <p:spPr>
          <a:xfrm>
            <a:off x="640080" y="374904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08</a:t>
            </a:r>
            <a:endParaRPr lang="en-US" sz="1200" dirty="0"/>
          </a:p>
        </p:txBody>
      </p:sp>
      <p:sp>
        <p:nvSpPr>
          <p:cNvPr id="49" name="Text 47"/>
          <p:cNvSpPr/>
          <p:nvPr/>
        </p:nvSpPr>
        <p:spPr>
          <a:xfrm>
            <a:off x="1033272" y="3735324"/>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return (</a:t>
            </a:r>
            <a:endParaRPr lang="en-US" sz="1420" dirty="0"/>
          </a:p>
        </p:txBody>
      </p:sp>
      <p:sp>
        <p:nvSpPr>
          <p:cNvPr id="50" name="Text 48"/>
          <p:cNvSpPr/>
          <p:nvPr/>
        </p:nvSpPr>
        <p:spPr>
          <a:xfrm>
            <a:off x="640080" y="399135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09</a:t>
            </a:r>
            <a:endParaRPr lang="en-US" sz="1200" dirty="0"/>
          </a:p>
        </p:txBody>
      </p:sp>
      <p:sp>
        <p:nvSpPr>
          <p:cNvPr id="51" name="Text 49"/>
          <p:cNvSpPr/>
          <p:nvPr/>
        </p:nvSpPr>
        <p:spPr>
          <a:xfrm>
            <a:off x="1033272" y="3977640"/>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&lt;div className='dashboard-layout'&gt;</a:t>
            </a:r>
            <a:endParaRPr lang="en-US" sz="1420" dirty="0"/>
          </a:p>
        </p:txBody>
      </p:sp>
      <p:sp>
        <p:nvSpPr>
          <p:cNvPr id="52" name="Text 50"/>
          <p:cNvSpPr/>
          <p:nvPr/>
        </p:nvSpPr>
        <p:spPr>
          <a:xfrm>
            <a:off x="640080" y="4233672"/>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10</a:t>
            </a:r>
            <a:endParaRPr lang="en-US" sz="1200" dirty="0"/>
          </a:p>
        </p:txBody>
      </p:sp>
      <p:sp>
        <p:nvSpPr>
          <p:cNvPr id="53" name="Text 51"/>
          <p:cNvSpPr/>
          <p:nvPr/>
        </p:nvSpPr>
        <p:spPr>
          <a:xfrm>
            <a:off x="1033272" y="4219956"/>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{sidebar &amp;&amp; &lt;aside&gt;{sidebar}&lt;/aside&gt;}</a:t>
            </a:r>
            <a:endParaRPr lang="en-US" sz="1420" dirty="0"/>
          </a:p>
        </p:txBody>
      </p:sp>
      <p:sp>
        <p:nvSpPr>
          <p:cNvPr id="54" name="Text 52"/>
          <p:cNvSpPr/>
          <p:nvPr/>
        </p:nvSpPr>
        <p:spPr>
          <a:xfrm>
            <a:off x="640080" y="447598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11</a:t>
            </a:r>
            <a:endParaRPr lang="en-US" sz="1200" dirty="0"/>
          </a:p>
        </p:txBody>
      </p:sp>
      <p:sp>
        <p:nvSpPr>
          <p:cNvPr id="55" name="Text 53"/>
          <p:cNvSpPr/>
          <p:nvPr/>
        </p:nvSpPr>
        <p:spPr>
          <a:xfrm>
            <a:off x="1033272" y="446227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&lt;main&gt;{children}&lt;/main&gt;</a:t>
            </a:r>
            <a:endParaRPr lang="en-US" sz="1420" dirty="0"/>
          </a:p>
        </p:txBody>
      </p:sp>
      <p:sp>
        <p:nvSpPr>
          <p:cNvPr id="56" name="Text 54"/>
          <p:cNvSpPr/>
          <p:nvPr/>
        </p:nvSpPr>
        <p:spPr>
          <a:xfrm>
            <a:off x="640080" y="471830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12</a:t>
            </a:r>
            <a:endParaRPr lang="en-US" sz="1200" dirty="0"/>
          </a:p>
        </p:txBody>
      </p:sp>
      <p:sp>
        <p:nvSpPr>
          <p:cNvPr id="57" name="Text 55"/>
          <p:cNvSpPr/>
          <p:nvPr/>
        </p:nvSpPr>
        <p:spPr>
          <a:xfrm>
            <a:off x="1033272" y="470458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{footer &amp;&amp; &lt;footer&gt;{footer}&lt;/footer&gt;}</a:t>
            </a:r>
            <a:endParaRPr lang="en-US" sz="1420" dirty="0"/>
          </a:p>
        </p:txBody>
      </p:sp>
      <p:sp>
        <p:nvSpPr>
          <p:cNvPr id="58" name="Text 56"/>
          <p:cNvSpPr/>
          <p:nvPr/>
        </p:nvSpPr>
        <p:spPr>
          <a:xfrm>
            <a:off x="640080" y="496062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13</a:t>
            </a:r>
            <a:endParaRPr lang="en-US" sz="1200" dirty="0"/>
          </a:p>
        </p:txBody>
      </p:sp>
      <p:sp>
        <p:nvSpPr>
          <p:cNvPr id="59" name="Text 57"/>
          <p:cNvSpPr/>
          <p:nvPr/>
        </p:nvSpPr>
        <p:spPr>
          <a:xfrm>
            <a:off x="1033272" y="4946904"/>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&lt;/div&gt;</a:t>
            </a:r>
            <a:endParaRPr lang="en-US" sz="1420" dirty="0"/>
          </a:p>
        </p:txBody>
      </p:sp>
      <p:sp>
        <p:nvSpPr>
          <p:cNvPr id="60" name="Text 58"/>
          <p:cNvSpPr/>
          <p:nvPr/>
        </p:nvSpPr>
        <p:spPr>
          <a:xfrm>
            <a:off x="640080" y="520293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14</a:t>
            </a:r>
            <a:endParaRPr lang="en-US" sz="1200" dirty="0"/>
          </a:p>
        </p:txBody>
      </p:sp>
      <p:sp>
        <p:nvSpPr>
          <p:cNvPr id="61" name="Text 59"/>
          <p:cNvSpPr/>
          <p:nvPr/>
        </p:nvSpPr>
        <p:spPr>
          <a:xfrm>
            <a:off x="1033272" y="5189220"/>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62" name="Text 60"/>
          <p:cNvSpPr/>
          <p:nvPr/>
        </p:nvSpPr>
        <p:spPr>
          <a:xfrm>
            <a:off x="640080" y="5445252"/>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15</a:t>
            </a:r>
            <a:endParaRPr lang="en-US" sz="1200" dirty="0"/>
          </a:p>
        </p:txBody>
      </p:sp>
      <p:sp>
        <p:nvSpPr>
          <p:cNvPr id="63" name="Text 61"/>
          <p:cNvSpPr/>
          <p:nvPr/>
        </p:nvSpPr>
        <p:spPr>
          <a:xfrm>
            <a:off x="1033272" y="5431536"/>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a:t>
            </a:r>
            <a:endParaRPr lang="en-US" sz="1420" dirty="0"/>
          </a:p>
        </p:txBody>
      </p:sp>
      <p:sp>
        <p:nvSpPr>
          <p:cNvPr id="64" name="Shape 62"/>
          <p:cNvSpPr/>
          <p:nvPr/>
        </p:nvSpPr>
        <p:spPr>
          <a:xfrm>
            <a:off x="8366760" y="1591056"/>
            <a:ext cx="3310128" cy="4553712"/>
          </a:xfrm>
          <a:prstGeom prst="roundRect">
            <a:avLst>
              <a:gd name="adj" fmla="val 1381"/>
            </a:avLst>
          </a:prstGeom>
          <a:solidFill>
            <a:srgbClr val="122238"/>
          </a:solidFill>
          <a:ln w="12700">
            <a:solidFill>
              <a:srgbClr val="263A55"/>
            </a:solidFill>
            <a:prstDash val="solid"/>
          </a:ln>
        </p:spPr>
      </p:sp>
      <p:sp>
        <p:nvSpPr>
          <p:cNvPr id="65" name="Text 63"/>
          <p:cNvSpPr/>
          <p:nvPr/>
        </p:nvSpPr>
        <p:spPr>
          <a:xfrm>
            <a:off x="8586216" y="1801368"/>
            <a:ext cx="2871216" cy="182880"/>
          </a:xfrm>
          <a:prstGeom prst="rect">
            <a:avLst/>
          </a:prstGeom>
          <a:noFill/>
          <a:ln/>
        </p:spPr>
        <p:txBody>
          <a:bodyPr wrap="square" lIns="0" tIns="0" rIns="0" bIns="0" rtlCol="0" anchor="ctr"/>
          <a:lstStyle/>
          <a:p>
            <a:pPr indent="0" marL="0">
              <a:buNone/>
            </a:pPr>
            <a:r>
              <a:rPr lang="en-US" sz="950" b="1" spc="115" kern="0" dirty="0">
                <a:solidFill>
                  <a:srgbClr val="F5C96A"/>
                </a:solidFill>
                <a:latin typeface="Aptos" pitchFamily="34" charset="0"/>
                <a:ea typeface="Aptos" pitchFamily="34" charset="-122"/>
                <a:cs typeface="Aptos" pitchFamily="34" charset="-120"/>
              </a:rPr>
              <a:t>DA OSSERVARE</a:t>
            </a:r>
            <a:endParaRPr lang="en-US" sz="950" dirty="0"/>
          </a:p>
        </p:txBody>
      </p:sp>
      <p:sp>
        <p:nvSpPr>
          <p:cNvPr id="66" name="Shape 64"/>
          <p:cNvSpPr/>
          <p:nvPr/>
        </p:nvSpPr>
        <p:spPr>
          <a:xfrm>
            <a:off x="8586216" y="2267712"/>
            <a:ext cx="91440" cy="91440"/>
          </a:xfrm>
          <a:prstGeom prst="ellipse">
            <a:avLst/>
          </a:prstGeom>
          <a:solidFill>
            <a:srgbClr val="7CD4FF"/>
          </a:solidFill>
          <a:ln w="12700">
            <a:solidFill>
              <a:srgbClr val="7CD4FF"/>
            </a:solidFill>
            <a:prstDash val="solid"/>
          </a:ln>
        </p:spPr>
      </p:sp>
      <p:sp>
        <p:nvSpPr>
          <p:cNvPr id="67" name="Text 65"/>
          <p:cNvSpPr/>
          <p:nvPr/>
        </p:nvSpPr>
        <p:spPr>
          <a:xfrm>
            <a:off x="8778240" y="2212848"/>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Il layout conosce regioni, non feature.</a:t>
            </a:r>
            <a:endParaRPr lang="en-US" sz="1420" dirty="0"/>
          </a:p>
        </p:txBody>
      </p:sp>
      <p:sp>
        <p:nvSpPr>
          <p:cNvPr id="68" name="Shape 66"/>
          <p:cNvSpPr/>
          <p:nvPr/>
        </p:nvSpPr>
        <p:spPr>
          <a:xfrm>
            <a:off x="8586216" y="2980944"/>
            <a:ext cx="91440" cy="91440"/>
          </a:xfrm>
          <a:prstGeom prst="ellipse">
            <a:avLst/>
          </a:prstGeom>
          <a:solidFill>
            <a:srgbClr val="7CD4FF"/>
          </a:solidFill>
          <a:ln w="12700">
            <a:solidFill>
              <a:srgbClr val="7CD4FF"/>
            </a:solidFill>
            <a:prstDash val="solid"/>
          </a:ln>
        </p:spPr>
      </p:sp>
      <p:sp>
        <p:nvSpPr>
          <p:cNvPr id="69" name="Text 67"/>
          <p:cNvSpPr/>
          <p:nvPr/>
        </p:nvSpPr>
        <p:spPr>
          <a:xfrm>
            <a:off x="8778240" y="2926080"/>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Il contenuto viene iniettato dal chiamante.</a:t>
            </a:r>
            <a:endParaRPr lang="en-US" sz="1420" dirty="0"/>
          </a:p>
        </p:txBody>
      </p:sp>
      <p:sp>
        <p:nvSpPr>
          <p:cNvPr id="70" name="Shape 68"/>
          <p:cNvSpPr/>
          <p:nvPr/>
        </p:nvSpPr>
        <p:spPr>
          <a:xfrm>
            <a:off x="8586216" y="3694176"/>
            <a:ext cx="91440" cy="91440"/>
          </a:xfrm>
          <a:prstGeom prst="ellipse">
            <a:avLst/>
          </a:prstGeom>
          <a:solidFill>
            <a:srgbClr val="7CD4FF"/>
          </a:solidFill>
          <a:ln w="12700">
            <a:solidFill>
              <a:srgbClr val="7CD4FF"/>
            </a:solidFill>
            <a:prstDash val="solid"/>
          </a:ln>
        </p:spPr>
      </p:sp>
      <p:sp>
        <p:nvSpPr>
          <p:cNvPr id="71" name="Text 69"/>
          <p:cNvSpPr/>
          <p:nvPr/>
        </p:nvSpPr>
        <p:spPr>
          <a:xfrm>
            <a:off x="8778240" y="3639312"/>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Il contratto resta stabile.</a:t>
            </a:r>
            <a:endParaRPr lang="en-US" sz="142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24</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COMPOSITION</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Il chiamante compone la pagina nel punto d’uso</a:t>
            </a:r>
            <a:endParaRPr lang="en-US" sz="2700" dirty="0"/>
          </a:p>
        </p:txBody>
      </p:sp>
      <p:sp>
        <p:nvSpPr>
          <p:cNvPr id="29" name="Shape 27"/>
          <p:cNvSpPr/>
          <p:nvPr/>
        </p:nvSpPr>
        <p:spPr>
          <a:xfrm>
            <a:off x="530352" y="1591056"/>
            <a:ext cx="7589520" cy="4553712"/>
          </a:xfrm>
          <a:prstGeom prst="roundRect">
            <a:avLst>
              <a:gd name="adj" fmla="val 1004"/>
            </a:avLst>
          </a:prstGeom>
          <a:solidFill>
            <a:srgbClr val="0D1A2B"/>
          </a:solidFill>
          <a:ln w="13970">
            <a:solidFill>
              <a:srgbClr val="263A55"/>
            </a:solidFill>
            <a:prstDash val="solid"/>
          </a:ln>
        </p:spPr>
      </p:sp>
      <p:sp>
        <p:nvSpPr>
          <p:cNvPr id="30" name="Shape 28"/>
          <p:cNvSpPr/>
          <p:nvPr/>
        </p:nvSpPr>
        <p:spPr>
          <a:xfrm>
            <a:off x="530352" y="1591056"/>
            <a:ext cx="7589520" cy="347472"/>
          </a:xfrm>
          <a:prstGeom prst="rect">
            <a:avLst/>
          </a:prstGeom>
          <a:solidFill>
            <a:srgbClr val="122238"/>
          </a:solidFill>
          <a:ln w="12700">
            <a:solidFill>
              <a:srgbClr val="122238"/>
            </a:solidFill>
            <a:prstDash val="solid"/>
          </a:ln>
        </p:spPr>
      </p:sp>
      <p:sp>
        <p:nvSpPr>
          <p:cNvPr id="31" name="Shape 29"/>
          <p:cNvSpPr/>
          <p:nvPr/>
        </p:nvSpPr>
        <p:spPr>
          <a:xfrm>
            <a:off x="694944" y="1632204"/>
            <a:ext cx="658368" cy="274320"/>
          </a:xfrm>
          <a:prstGeom prst="roundRect">
            <a:avLst>
              <a:gd name="adj" fmla="val 20000"/>
            </a:avLst>
          </a:prstGeom>
          <a:solidFill>
            <a:srgbClr val="7CD4FF">
              <a:alpha val="20000"/>
            </a:srgbClr>
          </a:solidFill>
          <a:ln w="10160">
            <a:solidFill>
              <a:srgbClr val="7CD4FF">
                <a:alpha val="55000"/>
              </a:srgbClr>
            </a:solidFill>
            <a:prstDash val="solid"/>
          </a:ln>
        </p:spPr>
      </p:sp>
      <p:sp>
        <p:nvSpPr>
          <p:cNvPr id="32" name="Text 30"/>
          <p:cNvSpPr/>
          <p:nvPr/>
        </p:nvSpPr>
        <p:spPr>
          <a:xfrm>
            <a:off x="786384" y="1691640"/>
            <a:ext cx="475488" cy="128016"/>
          </a:xfrm>
          <a:prstGeom prst="rect">
            <a:avLst/>
          </a:prstGeom>
          <a:noFill/>
          <a:ln/>
        </p:spPr>
        <p:txBody>
          <a:bodyPr wrap="square" lIns="0" tIns="0" rIns="0" bIns="0" rtlCol="0" anchor="ctr"/>
          <a:lstStyle/>
          <a:p>
            <a:pPr algn="ctr" indent="0" marL="0">
              <a:buNone/>
            </a:pPr>
            <a:r>
              <a:rPr lang="en-US" sz="820" b="1" dirty="0">
                <a:solidFill>
                  <a:srgbClr val="7CD4FF"/>
                </a:solidFill>
                <a:latin typeface="Aptos Mono" pitchFamily="34" charset="0"/>
                <a:ea typeface="Aptos Mono" pitchFamily="34" charset="-122"/>
                <a:cs typeface="Aptos Mono" pitchFamily="34" charset="-120"/>
              </a:rPr>
              <a:t>TSX</a:t>
            </a:r>
            <a:endParaRPr lang="en-US" sz="820" dirty="0"/>
          </a:p>
        </p:txBody>
      </p:sp>
      <p:sp>
        <p:nvSpPr>
          <p:cNvPr id="33" name="Text 31"/>
          <p:cNvSpPr/>
          <p:nvPr/>
        </p:nvSpPr>
        <p:spPr>
          <a:xfrm>
            <a:off x="1490472" y="1687068"/>
            <a:ext cx="635508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TicketsPage.tsx</a:t>
            </a:r>
            <a:endParaRPr lang="en-US" sz="880" dirty="0"/>
          </a:p>
        </p:txBody>
      </p:sp>
      <p:sp>
        <p:nvSpPr>
          <p:cNvPr id="34" name="Text 32"/>
          <p:cNvSpPr/>
          <p:nvPr/>
        </p:nvSpPr>
        <p:spPr>
          <a:xfrm>
            <a:off x="640080" y="205282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01</a:t>
            </a:r>
            <a:endParaRPr lang="en-US" sz="1200" dirty="0"/>
          </a:p>
        </p:txBody>
      </p:sp>
      <p:sp>
        <p:nvSpPr>
          <p:cNvPr id="35" name="Text 33"/>
          <p:cNvSpPr/>
          <p:nvPr/>
        </p:nvSpPr>
        <p:spPr>
          <a:xfrm>
            <a:off x="1033272" y="203911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export function TicketsPage() {</a:t>
            </a:r>
            <a:endParaRPr lang="en-US" sz="1420" dirty="0"/>
          </a:p>
        </p:txBody>
      </p:sp>
      <p:sp>
        <p:nvSpPr>
          <p:cNvPr id="36" name="Text 34"/>
          <p:cNvSpPr/>
          <p:nvPr/>
        </p:nvSpPr>
        <p:spPr>
          <a:xfrm>
            <a:off x="640080" y="229514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02</a:t>
            </a:r>
            <a:endParaRPr lang="en-US" sz="1200" dirty="0"/>
          </a:p>
        </p:txBody>
      </p:sp>
      <p:sp>
        <p:nvSpPr>
          <p:cNvPr id="37" name="Text 35"/>
          <p:cNvSpPr/>
          <p:nvPr/>
        </p:nvSpPr>
        <p:spPr>
          <a:xfrm>
            <a:off x="1033272" y="228142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return (</a:t>
            </a:r>
            <a:endParaRPr lang="en-US" sz="1420" dirty="0"/>
          </a:p>
        </p:txBody>
      </p:sp>
      <p:sp>
        <p:nvSpPr>
          <p:cNvPr id="38" name="Text 36"/>
          <p:cNvSpPr/>
          <p:nvPr/>
        </p:nvSpPr>
        <p:spPr>
          <a:xfrm>
            <a:off x="640080" y="253746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03</a:t>
            </a:r>
            <a:endParaRPr lang="en-US" sz="1200" dirty="0"/>
          </a:p>
        </p:txBody>
      </p:sp>
      <p:sp>
        <p:nvSpPr>
          <p:cNvPr id="39" name="Text 37"/>
          <p:cNvSpPr/>
          <p:nvPr/>
        </p:nvSpPr>
        <p:spPr>
          <a:xfrm>
            <a:off x="1033272" y="2523744"/>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&lt;DashboardLayout</a:t>
            </a:r>
            <a:endParaRPr lang="en-US" sz="1420" dirty="0"/>
          </a:p>
        </p:txBody>
      </p:sp>
      <p:sp>
        <p:nvSpPr>
          <p:cNvPr id="40" name="Text 38"/>
          <p:cNvSpPr/>
          <p:nvPr/>
        </p:nvSpPr>
        <p:spPr>
          <a:xfrm>
            <a:off x="640080" y="277977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04</a:t>
            </a:r>
            <a:endParaRPr lang="en-US" sz="1200" dirty="0"/>
          </a:p>
        </p:txBody>
      </p:sp>
      <p:sp>
        <p:nvSpPr>
          <p:cNvPr id="41" name="Text 39"/>
          <p:cNvSpPr/>
          <p:nvPr/>
        </p:nvSpPr>
        <p:spPr>
          <a:xfrm>
            <a:off x="1033272" y="2766060"/>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sidebar={&lt;TicketFilters /&gt;}</a:t>
            </a:r>
            <a:endParaRPr lang="en-US" sz="1420" dirty="0"/>
          </a:p>
        </p:txBody>
      </p:sp>
      <p:sp>
        <p:nvSpPr>
          <p:cNvPr id="42" name="Text 40"/>
          <p:cNvSpPr/>
          <p:nvPr/>
        </p:nvSpPr>
        <p:spPr>
          <a:xfrm>
            <a:off x="640080" y="3022092"/>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05</a:t>
            </a:r>
            <a:endParaRPr lang="en-US" sz="1200" dirty="0"/>
          </a:p>
        </p:txBody>
      </p:sp>
      <p:sp>
        <p:nvSpPr>
          <p:cNvPr id="43" name="Text 41"/>
          <p:cNvSpPr/>
          <p:nvPr/>
        </p:nvSpPr>
        <p:spPr>
          <a:xfrm>
            <a:off x="1033272" y="3008376"/>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footer={&lt;Pagination /&gt;}</a:t>
            </a:r>
            <a:endParaRPr lang="en-US" sz="1420" dirty="0"/>
          </a:p>
        </p:txBody>
      </p:sp>
      <p:sp>
        <p:nvSpPr>
          <p:cNvPr id="44" name="Text 42"/>
          <p:cNvSpPr/>
          <p:nvPr/>
        </p:nvSpPr>
        <p:spPr>
          <a:xfrm>
            <a:off x="640080" y="326440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06</a:t>
            </a:r>
            <a:endParaRPr lang="en-US" sz="1200" dirty="0"/>
          </a:p>
        </p:txBody>
      </p:sp>
      <p:sp>
        <p:nvSpPr>
          <p:cNvPr id="45" name="Text 43"/>
          <p:cNvSpPr/>
          <p:nvPr/>
        </p:nvSpPr>
        <p:spPr>
          <a:xfrm>
            <a:off x="1033272" y="325069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&gt;</a:t>
            </a:r>
            <a:endParaRPr lang="en-US" sz="1420" dirty="0"/>
          </a:p>
        </p:txBody>
      </p:sp>
      <p:sp>
        <p:nvSpPr>
          <p:cNvPr id="46" name="Text 44"/>
          <p:cNvSpPr/>
          <p:nvPr/>
        </p:nvSpPr>
        <p:spPr>
          <a:xfrm>
            <a:off x="640080" y="350672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07</a:t>
            </a:r>
            <a:endParaRPr lang="en-US" sz="1200" dirty="0"/>
          </a:p>
        </p:txBody>
      </p:sp>
      <p:sp>
        <p:nvSpPr>
          <p:cNvPr id="47" name="Text 45"/>
          <p:cNvSpPr/>
          <p:nvPr/>
        </p:nvSpPr>
        <p:spPr>
          <a:xfrm>
            <a:off x="1033272" y="349300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&lt;PageHeader title='Tickets' /&gt;</a:t>
            </a:r>
            <a:endParaRPr lang="en-US" sz="1420" dirty="0"/>
          </a:p>
        </p:txBody>
      </p:sp>
      <p:sp>
        <p:nvSpPr>
          <p:cNvPr id="48" name="Text 46"/>
          <p:cNvSpPr/>
          <p:nvPr/>
        </p:nvSpPr>
        <p:spPr>
          <a:xfrm>
            <a:off x="640080" y="374904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08</a:t>
            </a:r>
            <a:endParaRPr lang="en-US" sz="1200" dirty="0"/>
          </a:p>
        </p:txBody>
      </p:sp>
      <p:sp>
        <p:nvSpPr>
          <p:cNvPr id="49" name="Text 47"/>
          <p:cNvSpPr/>
          <p:nvPr/>
        </p:nvSpPr>
        <p:spPr>
          <a:xfrm>
            <a:off x="1033272" y="3735324"/>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&lt;TicketList /&gt;</a:t>
            </a:r>
            <a:endParaRPr lang="en-US" sz="1420" dirty="0"/>
          </a:p>
        </p:txBody>
      </p:sp>
      <p:sp>
        <p:nvSpPr>
          <p:cNvPr id="50" name="Text 48"/>
          <p:cNvSpPr/>
          <p:nvPr/>
        </p:nvSpPr>
        <p:spPr>
          <a:xfrm>
            <a:off x="640080" y="399135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09</a:t>
            </a:r>
            <a:endParaRPr lang="en-US" sz="1200" dirty="0"/>
          </a:p>
        </p:txBody>
      </p:sp>
      <p:sp>
        <p:nvSpPr>
          <p:cNvPr id="51" name="Text 49"/>
          <p:cNvSpPr/>
          <p:nvPr/>
        </p:nvSpPr>
        <p:spPr>
          <a:xfrm>
            <a:off x="1033272" y="3977640"/>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&lt;/DashboardLayout&gt;</a:t>
            </a:r>
            <a:endParaRPr lang="en-US" sz="1420" dirty="0"/>
          </a:p>
        </p:txBody>
      </p:sp>
      <p:sp>
        <p:nvSpPr>
          <p:cNvPr id="52" name="Text 50"/>
          <p:cNvSpPr/>
          <p:nvPr/>
        </p:nvSpPr>
        <p:spPr>
          <a:xfrm>
            <a:off x="640080" y="4233672"/>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10</a:t>
            </a:r>
            <a:endParaRPr lang="en-US" sz="1200" dirty="0"/>
          </a:p>
        </p:txBody>
      </p:sp>
      <p:sp>
        <p:nvSpPr>
          <p:cNvPr id="53" name="Text 51"/>
          <p:cNvSpPr/>
          <p:nvPr/>
        </p:nvSpPr>
        <p:spPr>
          <a:xfrm>
            <a:off x="1033272" y="4219956"/>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54" name="Text 52"/>
          <p:cNvSpPr/>
          <p:nvPr/>
        </p:nvSpPr>
        <p:spPr>
          <a:xfrm>
            <a:off x="640080" y="447598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11</a:t>
            </a:r>
            <a:endParaRPr lang="en-US" sz="1200" dirty="0"/>
          </a:p>
        </p:txBody>
      </p:sp>
      <p:sp>
        <p:nvSpPr>
          <p:cNvPr id="55" name="Text 53"/>
          <p:cNvSpPr/>
          <p:nvPr/>
        </p:nvSpPr>
        <p:spPr>
          <a:xfrm>
            <a:off x="1033272" y="446227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a:t>
            </a:r>
            <a:endParaRPr lang="en-US" sz="1420" dirty="0"/>
          </a:p>
        </p:txBody>
      </p:sp>
      <p:sp>
        <p:nvSpPr>
          <p:cNvPr id="56" name="Text 54"/>
          <p:cNvSpPr/>
          <p:nvPr/>
        </p:nvSpPr>
        <p:spPr>
          <a:xfrm>
            <a:off x="640080" y="471830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12</a:t>
            </a:r>
            <a:endParaRPr lang="en-US" sz="1200" dirty="0"/>
          </a:p>
        </p:txBody>
      </p:sp>
      <p:sp>
        <p:nvSpPr>
          <p:cNvPr id="57" name="Text 55"/>
          <p:cNvSpPr/>
          <p:nvPr/>
        </p:nvSpPr>
        <p:spPr>
          <a:xfrm>
            <a:off x="1033272" y="470458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58" name="Text 56"/>
          <p:cNvSpPr/>
          <p:nvPr/>
        </p:nvSpPr>
        <p:spPr>
          <a:xfrm>
            <a:off x="640080" y="496062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13</a:t>
            </a:r>
            <a:endParaRPr lang="en-US" sz="1200" dirty="0"/>
          </a:p>
        </p:txBody>
      </p:sp>
      <p:sp>
        <p:nvSpPr>
          <p:cNvPr id="59" name="Text 57"/>
          <p:cNvSpPr/>
          <p:nvPr/>
        </p:nvSpPr>
        <p:spPr>
          <a:xfrm>
            <a:off x="1033272" y="4946904"/>
            <a:ext cx="6931152" cy="242316"/>
          </a:xfrm>
          <a:prstGeom prst="rect">
            <a:avLst/>
          </a:prstGeom>
          <a:noFill/>
          <a:ln/>
        </p:spPr>
        <p:txBody>
          <a:bodyPr wrap="square" lIns="0" tIns="0" rIns="0" bIns="0" rtlCol="0" anchor="ctr">
            <a:normAutofit/>
          </a:bodyPr>
          <a:lstStyle/>
          <a:p>
            <a:pPr indent="0" marL="0">
              <a:buNone/>
            </a:pPr>
            <a:r>
              <a:rPr lang="en-US" sz="1420" dirty="0">
                <a:solidFill>
                  <a:srgbClr val="78C9A6"/>
                </a:solidFill>
                <a:latin typeface="Aptos Mono" pitchFamily="34" charset="0"/>
                <a:ea typeface="Aptos Mono" pitchFamily="34" charset="-122"/>
                <a:cs typeface="Aptos Mono" pitchFamily="34" charset="-120"/>
              </a:rPr>
              <a:t>// ReportsPage usa lo stesso guscio con figli diversi.</a:t>
            </a:r>
            <a:endParaRPr lang="en-US" sz="1420" dirty="0"/>
          </a:p>
        </p:txBody>
      </p:sp>
      <p:sp>
        <p:nvSpPr>
          <p:cNvPr id="60" name="Shape 58"/>
          <p:cNvSpPr/>
          <p:nvPr/>
        </p:nvSpPr>
        <p:spPr>
          <a:xfrm>
            <a:off x="8366760" y="1591056"/>
            <a:ext cx="3310128" cy="4553712"/>
          </a:xfrm>
          <a:prstGeom prst="roundRect">
            <a:avLst>
              <a:gd name="adj" fmla="val 1381"/>
            </a:avLst>
          </a:prstGeom>
          <a:solidFill>
            <a:srgbClr val="122238"/>
          </a:solidFill>
          <a:ln w="12700">
            <a:solidFill>
              <a:srgbClr val="263A55"/>
            </a:solidFill>
            <a:prstDash val="solid"/>
          </a:ln>
        </p:spPr>
      </p:sp>
      <p:sp>
        <p:nvSpPr>
          <p:cNvPr id="61" name="Text 59"/>
          <p:cNvSpPr/>
          <p:nvPr/>
        </p:nvSpPr>
        <p:spPr>
          <a:xfrm>
            <a:off x="8586216" y="1801368"/>
            <a:ext cx="2871216" cy="182880"/>
          </a:xfrm>
          <a:prstGeom prst="rect">
            <a:avLst/>
          </a:prstGeom>
          <a:noFill/>
          <a:ln/>
        </p:spPr>
        <p:txBody>
          <a:bodyPr wrap="square" lIns="0" tIns="0" rIns="0" bIns="0" rtlCol="0" anchor="ctr"/>
          <a:lstStyle/>
          <a:p>
            <a:pPr indent="0" marL="0">
              <a:buNone/>
            </a:pPr>
            <a:r>
              <a:rPr lang="en-US" sz="950" b="1" spc="115" kern="0" dirty="0">
                <a:solidFill>
                  <a:srgbClr val="F5C96A"/>
                </a:solidFill>
                <a:latin typeface="Aptos" pitchFamily="34" charset="0"/>
                <a:ea typeface="Aptos" pitchFamily="34" charset="-122"/>
                <a:cs typeface="Aptos" pitchFamily="34" charset="-120"/>
              </a:rPr>
              <a:t>DA OSSERVARE</a:t>
            </a:r>
            <a:endParaRPr lang="en-US" sz="950" dirty="0"/>
          </a:p>
        </p:txBody>
      </p:sp>
      <p:sp>
        <p:nvSpPr>
          <p:cNvPr id="62" name="Shape 60"/>
          <p:cNvSpPr/>
          <p:nvPr/>
        </p:nvSpPr>
        <p:spPr>
          <a:xfrm>
            <a:off x="8586216" y="2267712"/>
            <a:ext cx="91440" cy="91440"/>
          </a:xfrm>
          <a:prstGeom prst="ellipse">
            <a:avLst/>
          </a:prstGeom>
          <a:solidFill>
            <a:srgbClr val="7CD4FF"/>
          </a:solidFill>
          <a:ln w="12700">
            <a:solidFill>
              <a:srgbClr val="7CD4FF"/>
            </a:solidFill>
            <a:prstDash val="solid"/>
          </a:ln>
        </p:spPr>
      </p:sp>
      <p:sp>
        <p:nvSpPr>
          <p:cNvPr id="63" name="Text 61"/>
          <p:cNvSpPr/>
          <p:nvPr/>
        </p:nvSpPr>
        <p:spPr>
          <a:xfrm>
            <a:off x="8778240" y="2212848"/>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Nessuna prop mode.</a:t>
            </a:r>
            <a:endParaRPr lang="en-US" sz="1420" dirty="0"/>
          </a:p>
        </p:txBody>
      </p:sp>
      <p:sp>
        <p:nvSpPr>
          <p:cNvPr id="64" name="Shape 62"/>
          <p:cNvSpPr/>
          <p:nvPr/>
        </p:nvSpPr>
        <p:spPr>
          <a:xfrm>
            <a:off x="8586216" y="2980944"/>
            <a:ext cx="91440" cy="91440"/>
          </a:xfrm>
          <a:prstGeom prst="ellipse">
            <a:avLst/>
          </a:prstGeom>
          <a:solidFill>
            <a:srgbClr val="7CD4FF"/>
          </a:solidFill>
          <a:ln w="12700">
            <a:solidFill>
              <a:srgbClr val="7CD4FF"/>
            </a:solidFill>
            <a:prstDash val="solid"/>
          </a:ln>
        </p:spPr>
      </p:sp>
      <p:sp>
        <p:nvSpPr>
          <p:cNvPr id="65" name="Text 63"/>
          <p:cNvSpPr/>
          <p:nvPr/>
        </p:nvSpPr>
        <p:spPr>
          <a:xfrm>
            <a:off x="8778240" y="2926080"/>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Le dipendenze restano nella pagina.</a:t>
            </a:r>
            <a:endParaRPr lang="en-US" sz="1420" dirty="0"/>
          </a:p>
        </p:txBody>
      </p:sp>
      <p:sp>
        <p:nvSpPr>
          <p:cNvPr id="66" name="Shape 64"/>
          <p:cNvSpPr/>
          <p:nvPr/>
        </p:nvSpPr>
        <p:spPr>
          <a:xfrm>
            <a:off x="8586216" y="3694176"/>
            <a:ext cx="91440" cy="91440"/>
          </a:xfrm>
          <a:prstGeom prst="ellipse">
            <a:avLst/>
          </a:prstGeom>
          <a:solidFill>
            <a:srgbClr val="7CD4FF"/>
          </a:solidFill>
          <a:ln w="12700">
            <a:solidFill>
              <a:srgbClr val="7CD4FF"/>
            </a:solidFill>
            <a:prstDash val="solid"/>
          </a:ln>
        </p:spPr>
      </p:sp>
      <p:sp>
        <p:nvSpPr>
          <p:cNvPr id="67" name="Text 65"/>
          <p:cNvSpPr/>
          <p:nvPr/>
        </p:nvSpPr>
        <p:spPr>
          <a:xfrm>
            <a:off x="8778240" y="3639312"/>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Il JSX rappresenta la schermata.</a:t>
            </a:r>
            <a:endParaRPr lang="en-US" sz="142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25</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CONTRATTO DEL LAYOUT</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Gli slot nominati descrivono ruoli stabili</a:t>
            </a:r>
            <a:endParaRPr lang="en-US" sz="2700" dirty="0"/>
          </a:p>
        </p:txBody>
      </p:sp>
      <p:sp>
        <p:nvSpPr>
          <p:cNvPr id="29" name="Shape 27"/>
          <p:cNvSpPr/>
          <p:nvPr/>
        </p:nvSpPr>
        <p:spPr>
          <a:xfrm>
            <a:off x="530352" y="1591056"/>
            <a:ext cx="7589520" cy="4553712"/>
          </a:xfrm>
          <a:prstGeom prst="roundRect">
            <a:avLst>
              <a:gd name="adj" fmla="val 1004"/>
            </a:avLst>
          </a:prstGeom>
          <a:solidFill>
            <a:srgbClr val="0D1A2B"/>
          </a:solidFill>
          <a:ln w="13970">
            <a:solidFill>
              <a:srgbClr val="263A55"/>
            </a:solidFill>
            <a:prstDash val="solid"/>
          </a:ln>
        </p:spPr>
      </p:sp>
      <p:sp>
        <p:nvSpPr>
          <p:cNvPr id="30" name="Shape 28"/>
          <p:cNvSpPr/>
          <p:nvPr/>
        </p:nvSpPr>
        <p:spPr>
          <a:xfrm>
            <a:off x="530352" y="1591056"/>
            <a:ext cx="7589520" cy="347472"/>
          </a:xfrm>
          <a:prstGeom prst="rect">
            <a:avLst/>
          </a:prstGeom>
          <a:solidFill>
            <a:srgbClr val="122238"/>
          </a:solidFill>
          <a:ln w="12700">
            <a:solidFill>
              <a:srgbClr val="122238"/>
            </a:solidFill>
            <a:prstDash val="solid"/>
          </a:ln>
        </p:spPr>
      </p:sp>
      <p:sp>
        <p:nvSpPr>
          <p:cNvPr id="31" name="Shape 29"/>
          <p:cNvSpPr/>
          <p:nvPr/>
        </p:nvSpPr>
        <p:spPr>
          <a:xfrm>
            <a:off x="694944" y="1632204"/>
            <a:ext cx="658368" cy="274320"/>
          </a:xfrm>
          <a:prstGeom prst="roundRect">
            <a:avLst>
              <a:gd name="adj" fmla="val 20000"/>
            </a:avLst>
          </a:prstGeom>
          <a:solidFill>
            <a:srgbClr val="7CD4FF">
              <a:alpha val="20000"/>
            </a:srgbClr>
          </a:solidFill>
          <a:ln w="10160">
            <a:solidFill>
              <a:srgbClr val="7CD4FF">
                <a:alpha val="55000"/>
              </a:srgbClr>
            </a:solidFill>
            <a:prstDash val="solid"/>
          </a:ln>
        </p:spPr>
      </p:sp>
      <p:sp>
        <p:nvSpPr>
          <p:cNvPr id="32" name="Text 30"/>
          <p:cNvSpPr/>
          <p:nvPr/>
        </p:nvSpPr>
        <p:spPr>
          <a:xfrm>
            <a:off x="786384" y="1691640"/>
            <a:ext cx="475488" cy="128016"/>
          </a:xfrm>
          <a:prstGeom prst="rect">
            <a:avLst/>
          </a:prstGeom>
          <a:noFill/>
          <a:ln/>
        </p:spPr>
        <p:txBody>
          <a:bodyPr wrap="square" lIns="0" tIns="0" rIns="0" bIns="0" rtlCol="0" anchor="ctr"/>
          <a:lstStyle/>
          <a:p>
            <a:pPr algn="ctr" indent="0" marL="0">
              <a:buNone/>
            </a:pPr>
            <a:r>
              <a:rPr lang="en-US" sz="820" b="1" dirty="0">
                <a:solidFill>
                  <a:srgbClr val="7CD4FF"/>
                </a:solidFill>
                <a:latin typeface="Aptos Mono" pitchFamily="34" charset="0"/>
                <a:ea typeface="Aptos Mono" pitchFamily="34" charset="-122"/>
                <a:cs typeface="Aptos Mono" pitchFamily="34" charset="-120"/>
              </a:rPr>
              <a:t>TS</a:t>
            </a:r>
            <a:endParaRPr lang="en-US" sz="820" dirty="0"/>
          </a:p>
        </p:txBody>
      </p:sp>
      <p:sp>
        <p:nvSpPr>
          <p:cNvPr id="33" name="Text 31"/>
          <p:cNvSpPr/>
          <p:nvPr/>
        </p:nvSpPr>
        <p:spPr>
          <a:xfrm>
            <a:off x="1490472" y="1687068"/>
            <a:ext cx="635508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DashboardLayout.types.ts</a:t>
            </a:r>
            <a:endParaRPr lang="en-US" sz="880" dirty="0"/>
          </a:p>
        </p:txBody>
      </p:sp>
      <p:sp>
        <p:nvSpPr>
          <p:cNvPr id="34" name="Text 32"/>
          <p:cNvSpPr/>
          <p:nvPr/>
        </p:nvSpPr>
        <p:spPr>
          <a:xfrm>
            <a:off x="640080" y="205282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01</a:t>
            </a:r>
            <a:endParaRPr lang="en-US" sz="1200" dirty="0"/>
          </a:p>
        </p:txBody>
      </p:sp>
      <p:sp>
        <p:nvSpPr>
          <p:cNvPr id="35" name="Text 33"/>
          <p:cNvSpPr/>
          <p:nvPr/>
        </p:nvSpPr>
        <p:spPr>
          <a:xfrm>
            <a:off x="1033272" y="203911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export type DashboardLayoutProps = {</a:t>
            </a:r>
            <a:endParaRPr lang="en-US" sz="1420" dirty="0"/>
          </a:p>
        </p:txBody>
      </p:sp>
      <p:sp>
        <p:nvSpPr>
          <p:cNvPr id="36" name="Text 34"/>
          <p:cNvSpPr/>
          <p:nvPr/>
        </p:nvSpPr>
        <p:spPr>
          <a:xfrm>
            <a:off x="640080" y="229514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02</a:t>
            </a:r>
            <a:endParaRPr lang="en-US" sz="1200" dirty="0"/>
          </a:p>
        </p:txBody>
      </p:sp>
      <p:sp>
        <p:nvSpPr>
          <p:cNvPr id="37" name="Text 35"/>
          <p:cNvSpPr/>
          <p:nvPr/>
        </p:nvSpPr>
        <p:spPr>
          <a:xfrm>
            <a:off x="1033272" y="2281428"/>
            <a:ext cx="6931152" cy="242316"/>
          </a:xfrm>
          <a:prstGeom prst="rect">
            <a:avLst/>
          </a:prstGeom>
          <a:noFill/>
          <a:ln/>
        </p:spPr>
        <p:txBody>
          <a:bodyPr wrap="square" lIns="0" tIns="0" rIns="0" bIns="0" rtlCol="0" anchor="ctr">
            <a:normAutofit/>
          </a:bodyPr>
          <a:lstStyle/>
          <a:p>
            <a:pPr indent="0" marL="0">
              <a:buNone/>
            </a:pPr>
            <a:r>
              <a:rPr lang="en-US" sz="1420" dirty="0">
                <a:solidFill>
                  <a:srgbClr val="78C9A6"/>
                </a:solidFill>
                <a:latin typeface="Aptos Mono" pitchFamily="34" charset="0"/>
                <a:ea typeface="Aptos Mono" pitchFamily="34" charset="-122"/>
                <a:cs typeface="Aptos Mono" pitchFamily="34" charset="-120"/>
              </a:rPr>
              <a:t>  // Area laterale con filtri o navigazione.</a:t>
            </a:r>
            <a:endParaRPr lang="en-US" sz="1420" dirty="0"/>
          </a:p>
        </p:txBody>
      </p:sp>
      <p:sp>
        <p:nvSpPr>
          <p:cNvPr id="38" name="Text 36"/>
          <p:cNvSpPr/>
          <p:nvPr/>
        </p:nvSpPr>
        <p:spPr>
          <a:xfrm>
            <a:off x="640080" y="253746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03</a:t>
            </a:r>
            <a:endParaRPr lang="en-US" sz="1200" dirty="0"/>
          </a:p>
        </p:txBody>
      </p:sp>
      <p:sp>
        <p:nvSpPr>
          <p:cNvPr id="39" name="Text 37"/>
          <p:cNvSpPr/>
          <p:nvPr/>
        </p:nvSpPr>
        <p:spPr>
          <a:xfrm>
            <a:off x="1033272" y="2523744"/>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sidebar?: React.ReactNode;</a:t>
            </a:r>
            <a:endParaRPr lang="en-US" sz="1420" dirty="0"/>
          </a:p>
        </p:txBody>
      </p:sp>
      <p:sp>
        <p:nvSpPr>
          <p:cNvPr id="40" name="Text 38"/>
          <p:cNvSpPr/>
          <p:nvPr/>
        </p:nvSpPr>
        <p:spPr>
          <a:xfrm>
            <a:off x="640080" y="277977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04</a:t>
            </a:r>
            <a:endParaRPr lang="en-US" sz="1200" dirty="0"/>
          </a:p>
        </p:txBody>
      </p:sp>
      <p:sp>
        <p:nvSpPr>
          <p:cNvPr id="41" name="Text 39"/>
          <p:cNvSpPr/>
          <p:nvPr/>
        </p:nvSpPr>
        <p:spPr>
          <a:xfrm>
            <a:off x="1033272" y="2766060"/>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42" name="Text 40"/>
          <p:cNvSpPr/>
          <p:nvPr/>
        </p:nvSpPr>
        <p:spPr>
          <a:xfrm>
            <a:off x="640080" y="3022092"/>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05</a:t>
            </a:r>
            <a:endParaRPr lang="en-US" sz="1200" dirty="0"/>
          </a:p>
        </p:txBody>
      </p:sp>
      <p:sp>
        <p:nvSpPr>
          <p:cNvPr id="43" name="Text 41"/>
          <p:cNvSpPr/>
          <p:nvPr/>
        </p:nvSpPr>
        <p:spPr>
          <a:xfrm>
            <a:off x="1033272" y="3008376"/>
            <a:ext cx="6931152" cy="242316"/>
          </a:xfrm>
          <a:prstGeom prst="rect">
            <a:avLst/>
          </a:prstGeom>
          <a:noFill/>
          <a:ln/>
        </p:spPr>
        <p:txBody>
          <a:bodyPr wrap="square" lIns="0" tIns="0" rIns="0" bIns="0" rtlCol="0" anchor="ctr">
            <a:normAutofit/>
          </a:bodyPr>
          <a:lstStyle/>
          <a:p>
            <a:pPr indent="0" marL="0">
              <a:buNone/>
            </a:pPr>
            <a:r>
              <a:rPr lang="en-US" sz="1420" dirty="0">
                <a:solidFill>
                  <a:srgbClr val="78C9A6"/>
                </a:solidFill>
                <a:latin typeface="Aptos Mono" pitchFamily="34" charset="0"/>
                <a:ea typeface="Aptos Mono" pitchFamily="34" charset="-122"/>
                <a:cs typeface="Aptos Mono" pitchFamily="34" charset="-120"/>
              </a:rPr>
              <a:t>  // Contenuto principale: usa children.</a:t>
            </a:r>
            <a:endParaRPr lang="en-US" sz="1420" dirty="0"/>
          </a:p>
        </p:txBody>
      </p:sp>
      <p:sp>
        <p:nvSpPr>
          <p:cNvPr id="44" name="Text 42"/>
          <p:cNvSpPr/>
          <p:nvPr/>
        </p:nvSpPr>
        <p:spPr>
          <a:xfrm>
            <a:off x="640080" y="326440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06</a:t>
            </a:r>
            <a:endParaRPr lang="en-US" sz="1200" dirty="0"/>
          </a:p>
        </p:txBody>
      </p:sp>
      <p:sp>
        <p:nvSpPr>
          <p:cNvPr id="45" name="Text 43"/>
          <p:cNvSpPr/>
          <p:nvPr/>
        </p:nvSpPr>
        <p:spPr>
          <a:xfrm>
            <a:off x="1033272" y="325069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children: React.ReactNode;</a:t>
            </a:r>
            <a:endParaRPr lang="en-US" sz="1420" dirty="0"/>
          </a:p>
        </p:txBody>
      </p:sp>
      <p:sp>
        <p:nvSpPr>
          <p:cNvPr id="46" name="Text 44"/>
          <p:cNvSpPr/>
          <p:nvPr/>
        </p:nvSpPr>
        <p:spPr>
          <a:xfrm>
            <a:off x="640080" y="350672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07</a:t>
            </a:r>
            <a:endParaRPr lang="en-US" sz="1200" dirty="0"/>
          </a:p>
        </p:txBody>
      </p:sp>
      <p:sp>
        <p:nvSpPr>
          <p:cNvPr id="47" name="Text 45"/>
          <p:cNvSpPr/>
          <p:nvPr/>
        </p:nvSpPr>
        <p:spPr>
          <a:xfrm>
            <a:off x="1033272" y="349300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48" name="Text 46"/>
          <p:cNvSpPr/>
          <p:nvPr/>
        </p:nvSpPr>
        <p:spPr>
          <a:xfrm>
            <a:off x="640080" y="374904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08</a:t>
            </a:r>
            <a:endParaRPr lang="en-US" sz="1200" dirty="0"/>
          </a:p>
        </p:txBody>
      </p:sp>
      <p:sp>
        <p:nvSpPr>
          <p:cNvPr id="49" name="Text 47"/>
          <p:cNvSpPr/>
          <p:nvPr/>
        </p:nvSpPr>
        <p:spPr>
          <a:xfrm>
            <a:off x="1033272" y="3735324"/>
            <a:ext cx="6931152" cy="242316"/>
          </a:xfrm>
          <a:prstGeom prst="rect">
            <a:avLst/>
          </a:prstGeom>
          <a:noFill/>
          <a:ln/>
        </p:spPr>
        <p:txBody>
          <a:bodyPr wrap="square" lIns="0" tIns="0" rIns="0" bIns="0" rtlCol="0" anchor="ctr">
            <a:normAutofit/>
          </a:bodyPr>
          <a:lstStyle/>
          <a:p>
            <a:pPr indent="0" marL="0">
              <a:buNone/>
            </a:pPr>
            <a:r>
              <a:rPr lang="en-US" sz="1420" dirty="0">
                <a:solidFill>
                  <a:srgbClr val="78C9A6"/>
                </a:solidFill>
                <a:latin typeface="Aptos Mono" pitchFamily="34" charset="0"/>
                <a:ea typeface="Aptos Mono" pitchFamily="34" charset="-122"/>
                <a:cs typeface="Aptos Mono" pitchFamily="34" charset="-120"/>
              </a:rPr>
              <a:t>  // Area finale con azioni o paginazione.</a:t>
            </a:r>
            <a:endParaRPr lang="en-US" sz="1420" dirty="0"/>
          </a:p>
        </p:txBody>
      </p:sp>
      <p:sp>
        <p:nvSpPr>
          <p:cNvPr id="50" name="Text 48"/>
          <p:cNvSpPr/>
          <p:nvPr/>
        </p:nvSpPr>
        <p:spPr>
          <a:xfrm>
            <a:off x="640080" y="399135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09</a:t>
            </a:r>
            <a:endParaRPr lang="en-US" sz="1200" dirty="0"/>
          </a:p>
        </p:txBody>
      </p:sp>
      <p:sp>
        <p:nvSpPr>
          <p:cNvPr id="51" name="Text 49"/>
          <p:cNvSpPr/>
          <p:nvPr/>
        </p:nvSpPr>
        <p:spPr>
          <a:xfrm>
            <a:off x="1033272" y="3977640"/>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footer?: React.ReactNode;</a:t>
            </a:r>
            <a:endParaRPr lang="en-US" sz="1420" dirty="0"/>
          </a:p>
        </p:txBody>
      </p:sp>
      <p:sp>
        <p:nvSpPr>
          <p:cNvPr id="52" name="Text 50"/>
          <p:cNvSpPr/>
          <p:nvPr/>
        </p:nvSpPr>
        <p:spPr>
          <a:xfrm>
            <a:off x="640080" y="4233672"/>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10</a:t>
            </a:r>
            <a:endParaRPr lang="en-US" sz="1200" dirty="0"/>
          </a:p>
        </p:txBody>
      </p:sp>
      <p:sp>
        <p:nvSpPr>
          <p:cNvPr id="53" name="Text 51"/>
          <p:cNvSpPr/>
          <p:nvPr/>
        </p:nvSpPr>
        <p:spPr>
          <a:xfrm>
            <a:off x="1033272" y="4219956"/>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a:t>
            </a:r>
            <a:endParaRPr lang="en-US" sz="1420" dirty="0"/>
          </a:p>
        </p:txBody>
      </p:sp>
      <p:sp>
        <p:nvSpPr>
          <p:cNvPr id="54" name="Text 52"/>
          <p:cNvSpPr/>
          <p:nvPr/>
        </p:nvSpPr>
        <p:spPr>
          <a:xfrm>
            <a:off x="640080" y="447598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11</a:t>
            </a:r>
            <a:endParaRPr lang="en-US" sz="1200" dirty="0"/>
          </a:p>
        </p:txBody>
      </p:sp>
      <p:sp>
        <p:nvSpPr>
          <p:cNvPr id="55" name="Text 53"/>
          <p:cNvSpPr/>
          <p:nvPr/>
        </p:nvSpPr>
        <p:spPr>
          <a:xfrm>
            <a:off x="1033272" y="446227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56" name="Text 54"/>
          <p:cNvSpPr/>
          <p:nvPr/>
        </p:nvSpPr>
        <p:spPr>
          <a:xfrm>
            <a:off x="640080" y="471830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12</a:t>
            </a:r>
            <a:endParaRPr lang="en-US" sz="1200" dirty="0"/>
          </a:p>
        </p:txBody>
      </p:sp>
      <p:sp>
        <p:nvSpPr>
          <p:cNvPr id="57" name="Text 55"/>
          <p:cNvSpPr/>
          <p:nvPr/>
        </p:nvSpPr>
        <p:spPr>
          <a:xfrm>
            <a:off x="1033272" y="4704588"/>
            <a:ext cx="6931152" cy="242316"/>
          </a:xfrm>
          <a:prstGeom prst="rect">
            <a:avLst/>
          </a:prstGeom>
          <a:noFill/>
          <a:ln/>
        </p:spPr>
        <p:txBody>
          <a:bodyPr wrap="square" lIns="0" tIns="0" rIns="0" bIns="0" rtlCol="0" anchor="ctr">
            <a:normAutofit/>
          </a:bodyPr>
          <a:lstStyle/>
          <a:p>
            <a:pPr indent="0" marL="0">
              <a:buNone/>
            </a:pPr>
            <a:r>
              <a:rPr lang="en-US" sz="1420" dirty="0">
                <a:solidFill>
                  <a:srgbClr val="78C9A6"/>
                </a:solidFill>
                <a:latin typeface="Aptos Mono" pitchFamily="34" charset="0"/>
                <a:ea typeface="Aptos Mono" pitchFamily="34" charset="-122"/>
                <a:cs typeface="Aptos Mono" pitchFamily="34" charset="-120"/>
              </a:rPr>
              <a:t>// Evita dieci ReactNode: ricreerebbero un template rigido.</a:t>
            </a:r>
            <a:endParaRPr lang="en-US" sz="1420" dirty="0"/>
          </a:p>
        </p:txBody>
      </p:sp>
      <p:sp>
        <p:nvSpPr>
          <p:cNvPr id="58" name="Shape 56"/>
          <p:cNvSpPr/>
          <p:nvPr/>
        </p:nvSpPr>
        <p:spPr>
          <a:xfrm>
            <a:off x="8366760" y="1591056"/>
            <a:ext cx="3310128" cy="4553712"/>
          </a:xfrm>
          <a:prstGeom prst="roundRect">
            <a:avLst>
              <a:gd name="adj" fmla="val 1381"/>
            </a:avLst>
          </a:prstGeom>
          <a:solidFill>
            <a:srgbClr val="122238"/>
          </a:solidFill>
          <a:ln w="12700">
            <a:solidFill>
              <a:srgbClr val="263A55"/>
            </a:solidFill>
            <a:prstDash val="solid"/>
          </a:ln>
        </p:spPr>
      </p:sp>
      <p:sp>
        <p:nvSpPr>
          <p:cNvPr id="59" name="Text 57"/>
          <p:cNvSpPr/>
          <p:nvPr/>
        </p:nvSpPr>
        <p:spPr>
          <a:xfrm>
            <a:off x="8586216" y="1801368"/>
            <a:ext cx="2871216" cy="182880"/>
          </a:xfrm>
          <a:prstGeom prst="rect">
            <a:avLst/>
          </a:prstGeom>
          <a:noFill/>
          <a:ln/>
        </p:spPr>
        <p:txBody>
          <a:bodyPr wrap="square" lIns="0" tIns="0" rIns="0" bIns="0" rtlCol="0" anchor="ctr"/>
          <a:lstStyle/>
          <a:p>
            <a:pPr indent="0" marL="0">
              <a:buNone/>
            </a:pPr>
            <a:r>
              <a:rPr lang="en-US" sz="950" b="1" spc="115" kern="0" dirty="0">
                <a:solidFill>
                  <a:srgbClr val="F5C96A"/>
                </a:solidFill>
                <a:latin typeface="Aptos" pitchFamily="34" charset="0"/>
                <a:ea typeface="Aptos" pitchFamily="34" charset="-122"/>
                <a:cs typeface="Aptos" pitchFamily="34" charset="-120"/>
              </a:rPr>
              <a:t>DA OSSERVARE</a:t>
            </a:r>
            <a:endParaRPr lang="en-US" sz="950" dirty="0"/>
          </a:p>
        </p:txBody>
      </p:sp>
      <p:sp>
        <p:nvSpPr>
          <p:cNvPr id="60" name="Shape 58"/>
          <p:cNvSpPr/>
          <p:nvPr/>
        </p:nvSpPr>
        <p:spPr>
          <a:xfrm>
            <a:off x="8586216" y="2267712"/>
            <a:ext cx="91440" cy="91440"/>
          </a:xfrm>
          <a:prstGeom prst="ellipse">
            <a:avLst/>
          </a:prstGeom>
          <a:solidFill>
            <a:srgbClr val="7CD4FF"/>
          </a:solidFill>
          <a:ln w="12700">
            <a:solidFill>
              <a:srgbClr val="7CD4FF"/>
            </a:solidFill>
            <a:prstDash val="solid"/>
          </a:ln>
        </p:spPr>
      </p:sp>
      <p:sp>
        <p:nvSpPr>
          <p:cNvPr id="61" name="Text 59"/>
          <p:cNvSpPr/>
          <p:nvPr/>
        </p:nvSpPr>
        <p:spPr>
          <a:xfrm>
            <a:off x="8778240" y="2212848"/>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children per il flusso principale.</a:t>
            </a:r>
            <a:endParaRPr lang="en-US" sz="1420" dirty="0"/>
          </a:p>
        </p:txBody>
      </p:sp>
      <p:sp>
        <p:nvSpPr>
          <p:cNvPr id="62" name="Shape 60"/>
          <p:cNvSpPr/>
          <p:nvPr/>
        </p:nvSpPr>
        <p:spPr>
          <a:xfrm>
            <a:off x="8586216" y="2980944"/>
            <a:ext cx="91440" cy="91440"/>
          </a:xfrm>
          <a:prstGeom prst="ellipse">
            <a:avLst/>
          </a:prstGeom>
          <a:solidFill>
            <a:srgbClr val="7CD4FF"/>
          </a:solidFill>
          <a:ln w="12700">
            <a:solidFill>
              <a:srgbClr val="7CD4FF"/>
            </a:solidFill>
            <a:prstDash val="solid"/>
          </a:ln>
        </p:spPr>
      </p:sp>
      <p:sp>
        <p:nvSpPr>
          <p:cNvPr id="63" name="Text 61"/>
          <p:cNvSpPr/>
          <p:nvPr/>
        </p:nvSpPr>
        <p:spPr>
          <a:xfrm>
            <a:off x="8778240" y="2926080"/>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Slot nominato quando il ruolo è semantico.</a:t>
            </a:r>
            <a:endParaRPr lang="en-US" sz="1420" dirty="0"/>
          </a:p>
        </p:txBody>
      </p:sp>
      <p:sp>
        <p:nvSpPr>
          <p:cNvPr id="64" name="Shape 62"/>
          <p:cNvSpPr/>
          <p:nvPr/>
        </p:nvSpPr>
        <p:spPr>
          <a:xfrm>
            <a:off x="8586216" y="3694176"/>
            <a:ext cx="91440" cy="91440"/>
          </a:xfrm>
          <a:prstGeom prst="ellipse">
            <a:avLst/>
          </a:prstGeom>
          <a:solidFill>
            <a:srgbClr val="7CD4FF"/>
          </a:solidFill>
          <a:ln w="12700">
            <a:solidFill>
              <a:srgbClr val="7CD4FF"/>
            </a:solidFill>
            <a:prstDash val="solid"/>
          </a:ln>
        </p:spPr>
      </p:sp>
      <p:sp>
        <p:nvSpPr>
          <p:cNvPr id="65" name="Text 63"/>
          <p:cNvSpPr/>
          <p:nvPr/>
        </p:nvSpPr>
        <p:spPr>
          <a:xfrm>
            <a:off x="8778240" y="3639312"/>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Pochi slot, non una prop per ogni pixel.</a:t>
            </a:r>
            <a:endParaRPr lang="en-US" sz="142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26</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TIPIZZAZIONE DI CHILDREN</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ReactNode è il contratto più ampio per il contenuto</a:t>
            </a:r>
            <a:endParaRPr lang="en-US" sz="2700" dirty="0"/>
          </a:p>
        </p:txBody>
      </p:sp>
      <p:sp>
        <p:nvSpPr>
          <p:cNvPr id="29" name="Shape 27"/>
          <p:cNvSpPr/>
          <p:nvPr/>
        </p:nvSpPr>
        <p:spPr>
          <a:xfrm>
            <a:off x="530352" y="1591056"/>
            <a:ext cx="7589520" cy="4553712"/>
          </a:xfrm>
          <a:prstGeom prst="roundRect">
            <a:avLst>
              <a:gd name="adj" fmla="val 1004"/>
            </a:avLst>
          </a:prstGeom>
          <a:solidFill>
            <a:srgbClr val="0D1A2B"/>
          </a:solidFill>
          <a:ln w="13970">
            <a:solidFill>
              <a:srgbClr val="263A55"/>
            </a:solidFill>
            <a:prstDash val="solid"/>
          </a:ln>
        </p:spPr>
      </p:sp>
      <p:sp>
        <p:nvSpPr>
          <p:cNvPr id="30" name="Shape 28"/>
          <p:cNvSpPr/>
          <p:nvPr/>
        </p:nvSpPr>
        <p:spPr>
          <a:xfrm>
            <a:off x="530352" y="1591056"/>
            <a:ext cx="7589520" cy="347472"/>
          </a:xfrm>
          <a:prstGeom prst="rect">
            <a:avLst/>
          </a:prstGeom>
          <a:solidFill>
            <a:srgbClr val="122238"/>
          </a:solidFill>
          <a:ln w="12700">
            <a:solidFill>
              <a:srgbClr val="122238"/>
            </a:solidFill>
            <a:prstDash val="solid"/>
          </a:ln>
        </p:spPr>
      </p:sp>
      <p:sp>
        <p:nvSpPr>
          <p:cNvPr id="31" name="Shape 29"/>
          <p:cNvSpPr/>
          <p:nvPr/>
        </p:nvSpPr>
        <p:spPr>
          <a:xfrm>
            <a:off x="694944" y="1632204"/>
            <a:ext cx="658368" cy="274320"/>
          </a:xfrm>
          <a:prstGeom prst="roundRect">
            <a:avLst>
              <a:gd name="adj" fmla="val 20000"/>
            </a:avLst>
          </a:prstGeom>
          <a:solidFill>
            <a:srgbClr val="7CD4FF">
              <a:alpha val="20000"/>
            </a:srgbClr>
          </a:solidFill>
          <a:ln w="10160">
            <a:solidFill>
              <a:srgbClr val="7CD4FF">
                <a:alpha val="55000"/>
              </a:srgbClr>
            </a:solidFill>
            <a:prstDash val="solid"/>
          </a:ln>
        </p:spPr>
      </p:sp>
      <p:sp>
        <p:nvSpPr>
          <p:cNvPr id="32" name="Text 30"/>
          <p:cNvSpPr/>
          <p:nvPr/>
        </p:nvSpPr>
        <p:spPr>
          <a:xfrm>
            <a:off x="786384" y="1691640"/>
            <a:ext cx="475488" cy="128016"/>
          </a:xfrm>
          <a:prstGeom prst="rect">
            <a:avLst/>
          </a:prstGeom>
          <a:noFill/>
          <a:ln/>
        </p:spPr>
        <p:txBody>
          <a:bodyPr wrap="square" lIns="0" tIns="0" rIns="0" bIns="0" rtlCol="0" anchor="ctr"/>
          <a:lstStyle/>
          <a:p>
            <a:pPr algn="ctr" indent="0" marL="0">
              <a:buNone/>
            </a:pPr>
            <a:r>
              <a:rPr lang="en-US" sz="820" b="1" dirty="0">
                <a:solidFill>
                  <a:srgbClr val="7CD4FF"/>
                </a:solidFill>
                <a:latin typeface="Aptos Mono" pitchFamily="34" charset="0"/>
                <a:ea typeface="Aptos Mono" pitchFamily="34" charset="-122"/>
                <a:cs typeface="Aptos Mono" pitchFamily="34" charset="-120"/>
              </a:rPr>
              <a:t>TSX</a:t>
            </a:r>
            <a:endParaRPr lang="en-US" sz="820" dirty="0"/>
          </a:p>
        </p:txBody>
      </p:sp>
      <p:sp>
        <p:nvSpPr>
          <p:cNvPr id="33" name="Text 31"/>
          <p:cNvSpPr/>
          <p:nvPr/>
        </p:nvSpPr>
        <p:spPr>
          <a:xfrm>
            <a:off x="1490472" y="1687068"/>
            <a:ext cx="635508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Panel.tsx</a:t>
            </a:r>
            <a:endParaRPr lang="en-US" sz="880" dirty="0"/>
          </a:p>
        </p:txBody>
      </p:sp>
      <p:sp>
        <p:nvSpPr>
          <p:cNvPr id="34" name="Text 32"/>
          <p:cNvSpPr/>
          <p:nvPr/>
        </p:nvSpPr>
        <p:spPr>
          <a:xfrm>
            <a:off x="640080" y="205282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01</a:t>
            </a:r>
            <a:endParaRPr lang="en-US" sz="1200" dirty="0"/>
          </a:p>
        </p:txBody>
      </p:sp>
      <p:sp>
        <p:nvSpPr>
          <p:cNvPr id="35" name="Text 33"/>
          <p:cNvSpPr/>
          <p:nvPr/>
        </p:nvSpPr>
        <p:spPr>
          <a:xfrm>
            <a:off x="1033272" y="203911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type PanelProps = {</a:t>
            </a:r>
            <a:endParaRPr lang="en-US" sz="1420" dirty="0"/>
          </a:p>
        </p:txBody>
      </p:sp>
      <p:sp>
        <p:nvSpPr>
          <p:cNvPr id="36" name="Text 34"/>
          <p:cNvSpPr/>
          <p:nvPr/>
        </p:nvSpPr>
        <p:spPr>
          <a:xfrm>
            <a:off x="640080" y="229514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02</a:t>
            </a:r>
            <a:endParaRPr lang="en-US" sz="1200" dirty="0"/>
          </a:p>
        </p:txBody>
      </p:sp>
      <p:sp>
        <p:nvSpPr>
          <p:cNvPr id="37" name="Text 35"/>
          <p:cNvSpPr/>
          <p:nvPr/>
        </p:nvSpPr>
        <p:spPr>
          <a:xfrm>
            <a:off x="1033272" y="228142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title: string;</a:t>
            </a:r>
            <a:endParaRPr lang="en-US" sz="1420" dirty="0"/>
          </a:p>
        </p:txBody>
      </p:sp>
      <p:sp>
        <p:nvSpPr>
          <p:cNvPr id="38" name="Text 36"/>
          <p:cNvSpPr/>
          <p:nvPr/>
        </p:nvSpPr>
        <p:spPr>
          <a:xfrm>
            <a:off x="640080" y="253746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03</a:t>
            </a:r>
            <a:endParaRPr lang="en-US" sz="1200" dirty="0"/>
          </a:p>
        </p:txBody>
      </p:sp>
      <p:sp>
        <p:nvSpPr>
          <p:cNvPr id="39" name="Text 37"/>
          <p:cNvSpPr/>
          <p:nvPr/>
        </p:nvSpPr>
        <p:spPr>
          <a:xfrm>
            <a:off x="1033272" y="2523744"/>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children: React.ReactNode; // testo, elemento, lista, null...</a:t>
            </a:r>
            <a:endParaRPr lang="en-US" sz="1420" dirty="0"/>
          </a:p>
        </p:txBody>
      </p:sp>
      <p:sp>
        <p:nvSpPr>
          <p:cNvPr id="40" name="Text 38"/>
          <p:cNvSpPr/>
          <p:nvPr/>
        </p:nvSpPr>
        <p:spPr>
          <a:xfrm>
            <a:off x="640080" y="277977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04</a:t>
            </a:r>
            <a:endParaRPr lang="en-US" sz="1200" dirty="0"/>
          </a:p>
        </p:txBody>
      </p:sp>
      <p:sp>
        <p:nvSpPr>
          <p:cNvPr id="41" name="Text 39"/>
          <p:cNvSpPr/>
          <p:nvPr/>
        </p:nvSpPr>
        <p:spPr>
          <a:xfrm>
            <a:off x="1033272" y="2766060"/>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a:t>
            </a:r>
            <a:endParaRPr lang="en-US" sz="1420" dirty="0"/>
          </a:p>
        </p:txBody>
      </p:sp>
      <p:sp>
        <p:nvSpPr>
          <p:cNvPr id="42" name="Text 40"/>
          <p:cNvSpPr/>
          <p:nvPr/>
        </p:nvSpPr>
        <p:spPr>
          <a:xfrm>
            <a:off x="640080" y="3022092"/>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05</a:t>
            </a:r>
            <a:endParaRPr lang="en-US" sz="1200" dirty="0"/>
          </a:p>
        </p:txBody>
      </p:sp>
      <p:sp>
        <p:nvSpPr>
          <p:cNvPr id="43" name="Text 41"/>
          <p:cNvSpPr/>
          <p:nvPr/>
        </p:nvSpPr>
        <p:spPr>
          <a:xfrm>
            <a:off x="1033272" y="3008376"/>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44" name="Text 42"/>
          <p:cNvSpPr/>
          <p:nvPr/>
        </p:nvSpPr>
        <p:spPr>
          <a:xfrm>
            <a:off x="640080" y="326440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06</a:t>
            </a:r>
            <a:endParaRPr lang="en-US" sz="1200" dirty="0"/>
          </a:p>
        </p:txBody>
      </p:sp>
      <p:sp>
        <p:nvSpPr>
          <p:cNvPr id="45" name="Text 43"/>
          <p:cNvSpPr/>
          <p:nvPr/>
        </p:nvSpPr>
        <p:spPr>
          <a:xfrm>
            <a:off x="1033272" y="325069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export function Panel({ title, children }: PanelProps) {</a:t>
            </a:r>
            <a:endParaRPr lang="en-US" sz="1420" dirty="0"/>
          </a:p>
        </p:txBody>
      </p:sp>
      <p:sp>
        <p:nvSpPr>
          <p:cNvPr id="46" name="Text 44"/>
          <p:cNvSpPr/>
          <p:nvPr/>
        </p:nvSpPr>
        <p:spPr>
          <a:xfrm>
            <a:off x="640080" y="350672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07</a:t>
            </a:r>
            <a:endParaRPr lang="en-US" sz="1200" dirty="0"/>
          </a:p>
        </p:txBody>
      </p:sp>
      <p:sp>
        <p:nvSpPr>
          <p:cNvPr id="47" name="Text 45"/>
          <p:cNvSpPr/>
          <p:nvPr/>
        </p:nvSpPr>
        <p:spPr>
          <a:xfrm>
            <a:off x="1033272" y="349300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return (</a:t>
            </a:r>
            <a:endParaRPr lang="en-US" sz="1420" dirty="0"/>
          </a:p>
        </p:txBody>
      </p:sp>
      <p:sp>
        <p:nvSpPr>
          <p:cNvPr id="48" name="Text 46"/>
          <p:cNvSpPr/>
          <p:nvPr/>
        </p:nvSpPr>
        <p:spPr>
          <a:xfrm>
            <a:off x="640080" y="374904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08</a:t>
            </a:r>
            <a:endParaRPr lang="en-US" sz="1200" dirty="0"/>
          </a:p>
        </p:txBody>
      </p:sp>
      <p:sp>
        <p:nvSpPr>
          <p:cNvPr id="49" name="Text 47"/>
          <p:cNvSpPr/>
          <p:nvPr/>
        </p:nvSpPr>
        <p:spPr>
          <a:xfrm>
            <a:off x="1033272" y="3735324"/>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&lt;section aria-labelledby={title}&gt;</a:t>
            </a:r>
            <a:endParaRPr lang="en-US" sz="1420" dirty="0"/>
          </a:p>
        </p:txBody>
      </p:sp>
      <p:sp>
        <p:nvSpPr>
          <p:cNvPr id="50" name="Text 48"/>
          <p:cNvSpPr/>
          <p:nvPr/>
        </p:nvSpPr>
        <p:spPr>
          <a:xfrm>
            <a:off x="640080" y="399135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09</a:t>
            </a:r>
            <a:endParaRPr lang="en-US" sz="1200" dirty="0"/>
          </a:p>
        </p:txBody>
      </p:sp>
      <p:sp>
        <p:nvSpPr>
          <p:cNvPr id="51" name="Text 49"/>
          <p:cNvSpPr/>
          <p:nvPr/>
        </p:nvSpPr>
        <p:spPr>
          <a:xfrm>
            <a:off x="1033272" y="3977640"/>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&lt;h2 id={title}&gt;{title}&lt;/h2&gt;</a:t>
            </a:r>
            <a:endParaRPr lang="en-US" sz="1420" dirty="0"/>
          </a:p>
        </p:txBody>
      </p:sp>
      <p:sp>
        <p:nvSpPr>
          <p:cNvPr id="52" name="Text 50"/>
          <p:cNvSpPr/>
          <p:nvPr/>
        </p:nvSpPr>
        <p:spPr>
          <a:xfrm>
            <a:off x="640080" y="4233672"/>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10</a:t>
            </a:r>
            <a:endParaRPr lang="en-US" sz="1200" dirty="0"/>
          </a:p>
        </p:txBody>
      </p:sp>
      <p:sp>
        <p:nvSpPr>
          <p:cNvPr id="53" name="Text 51"/>
          <p:cNvSpPr/>
          <p:nvPr/>
        </p:nvSpPr>
        <p:spPr>
          <a:xfrm>
            <a:off x="1033272" y="4219956"/>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&lt;div className='panel__body'&gt;{children}&lt;/div&gt;</a:t>
            </a:r>
            <a:endParaRPr lang="en-US" sz="1420" dirty="0"/>
          </a:p>
        </p:txBody>
      </p:sp>
      <p:sp>
        <p:nvSpPr>
          <p:cNvPr id="54" name="Text 52"/>
          <p:cNvSpPr/>
          <p:nvPr/>
        </p:nvSpPr>
        <p:spPr>
          <a:xfrm>
            <a:off x="640080" y="447598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11</a:t>
            </a:r>
            <a:endParaRPr lang="en-US" sz="1200" dirty="0"/>
          </a:p>
        </p:txBody>
      </p:sp>
      <p:sp>
        <p:nvSpPr>
          <p:cNvPr id="55" name="Text 53"/>
          <p:cNvSpPr/>
          <p:nvPr/>
        </p:nvSpPr>
        <p:spPr>
          <a:xfrm>
            <a:off x="1033272" y="446227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&lt;/section&gt;</a:t>
            </a:r>
            <a:endParaRPr lang="en-US" sz="1420" dirty="0"/>
          </a:p>
        </p:txBody>
      </p:sp>
      <p:sp>
        <p:nvSpPr>
          <p:cNvPr id="56" name="Text 54"/>
          <p:cNvSpPr/>
          <p:nvPr/>
        </p:nvSpPr>
        <p:spPr>
          <a:xfrm>
            <a:off x="640080" y="471830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12</a:t>
            </a:r>
            <a:endParaRPr lang="en-US" sz="1200" dirty="0"/>
          </a:p>
        </p:txBody>
      </p:sp>
      <p:sp>
        <p:nvSpPr>
          <p:cNvPr id="57" name="Text 55"/>
          <p:cNvSpPr/>
          <p:nvPr/>
        </p:nvSpPr>
        <p:spPr>
          <a:xfrm>
            <a:off x="1033272" y="470458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58" name="Text 56"/>
          <p:cNvSpPr/>
          <p:nvPr/>
        </p:nvSpPr>
        <p:spPr>
          <a:xfrm>
            <a:off x="640080" y="496062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13</a:t>
            </a:r>
            <a:endParaRPr lang="en-US" sz="1200" dirty="0"/>
          </a:p>
        </p:txBody>
      </p:sp>
      <p:sp>
        <p:nvSpPr>
          <p:cNvPr id="59" name="Text 57"/>
          <p:cNvSpPr/>
          <p:nvPr/>
        </p:nvSpPr>
        <p:spPr>
          <a:xfrm>
            <a:off x="1033272" y="4946904"/>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a:t>
            </a:r>
            <a:endParaRPr lang="en-US" sz="1420" dirty="0"/>
          </a:p>
        </p:txBody>
      </p:sp>
      <p:sp>
        <p:nvSpPr>
          <p:cNvPr id="60" name="Text 58"/>
          <p:cNvSpPr/>
          <p:nvPr/>
        </p:nvSpPr>
        <p:spPr>
          <a:xfrm>
            <a:off x="640080" y="520293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14</a:t>
            </a:r>
            <a:endParaRPr lang="en-US" sz="1200" dirty="0"/>
          </a:p>
        </p:txBody>
      </p:sp>
      <p:sp>
        <p:nvSpPr>
          <p:cNvPr id="61" name="Text 59"/>
          <p:cNvSpPr/>
          <p:nvPr/>
        </p:nvSpPr>
        <p:spPr>
          <a:xfrm>
            <a:off x="1033272" y="5189220"/>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62" name="Text 60"/>
          <p:cNvSpPr/>
          <p:nvPr/>
        </p:nvSpPr>
        <p:spPr>
          <a:xfrm>
            <a:off x="640080" y="5445252"/>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15</a:t>
            </a:r>
            <a:endParaRPr lang="en-US" sz="1200" dirty="0"/>
          </a:p>
        </p:txBody>
      </p:sp>
      <p:sp>
        <p:nvSpPr>
          <p:cNvPr id="63" name="Text 61"/>
          <p:cNvSpPr/>
          <p:nvPr/>
        </p:nvSpPr>
        <p:spPr>
          <a:xfrm>
            <a:off x="1033272" y="5431536"/>
            <a:ext cx="6931152" cy="242316"/>
          </a:xfrm>
          <a:prstGeom prst="rect">
            <a:avLst/>
          </a:prstGeom>
          <a:noFill/>
          <a:ln/>
        </p:spPr>
        <p:txBody>
          <a:bodyPr wrap="square" lIns="0" tIns="0" rIns="0" bIns="0" rtlCol="0" anchor="ctr">
            <a:normAutofit/>
          </a:bodyPr>
          <a:lstStyle/>
          <a:p>
            <a:pPr indent="0" marL="0">
              <a:buNone/>
            </a:pPr>
            <a:r>
              <a:rPr lang="en-US" sz="1420" dirty="0">
                <a:solidFill>
                  <a:srgbClr val="78C9A6"/>
                </a:solidFill>
                <a:latin typeface="Aptos Mono" pitchFamily="34" charset="0"/>
                <a:ea typeface="Aptos Mono" pitchFamily="34" charset="-122"/>
                <a:cs typeface="Aptos Mono" pitchFamily="34" charset="-120"/>
              </a:rPr>
              <a:t>// Usa ReactElement solo se serve un elemento React specifico.</a:t>
            </a:r>
            <a:endParaRPr lang="en-US" sz="1420" dirty="0"/>
          </a:p>
        </p:txBody>
      </p:sp>
      <p:sp>
        <p:nvSpPr>
          <p:cNvPr id="64" name="Shape 62"/>
          <p:cNvSpPr/>
          <p:nvPr/>
        </p:nvSpPr>
        <p:spPr>
          <a:xfrm>
            <a:off x="8366760" y="1591056"/>
            <a:ext cx="3310128" cy="4553712"/>
          </a:xfrm>
          <a:prstGeom prst="roundRect">
            <a:avLst>
              <a:gd name="adj" fmla="val 1381"/>
            </a:avLst>
          </a:prstGeom>
          <a:solidFill>
            <a:srgbClr val="122238"/>
          </a:solidFill>
          <a:ln w="12700">
            <a:solidFill>
              <a:srgbClr val="263A55"/>
            </a:solidFill>
            <a:prstDash val="solid"/>
          </a:ln>
        </p:spPr>
      </p:sp>
      <p:sp>
        <p:nvSpPr>
          <p:cNvPr id="65" name="Text 63"/>
          <p:cNvSpPr/>
          <p:nvPr/>
        </p:nvSpPr>
        <p:spPr>
          <a:xfrm>
            <a:off x="8586216" y="1801368"/>
            <a:ext cx="2871216" cy="182880"/>
          </a:xfrm>
          <a:prstGeom prst="rect">
            <a:avLst/>
          </a:prstGeom>
          <a:noFill/>
          <a:ln/>
        </p:spPr>
        <p:txBody>
          <a:bodyPr wrap="square" lIns="0" tIns="0" rIns="0" bIns="0" rtlCol="0" anchor="ctr"/>
          <a:lstStyle/>
          <a:p>
            <a:pPr indent="0" marL="0">
              <a:buNone/>
            </a:pPr>
            <a:r>
              <a:rPr lang="en-US" sz="950" b="1" spc="115" kern="0" dirty="0">
                <a:solidFill>
                  <a:srgbClr val="F5C96A"/>
                </a:solidFill>
                <a:latin typeface="Aptos" pitchFamily="34" charset="0"/>
                <a:ea typeface="Aptos" pitchFamily="34" charset="-122"/>
                <a:cs typeface="Aptos" pitchFamily="34" charset="-120"/>
              </a:rPr>
              <a:t>DA OSSERVARE</a:t>
            </a:r>
            <a:endParaRPr lang="en-US" sz="950" dirty="0"/>
          </a:p>
        </p:txBody>
      </p:sp>
      <p:sp>
        <p:nvSpPr>
          <p:cNvPr id="66" name="Shape 64"/>
          <p:cNvSpPr/>
          <p:nvPr/>
        </p:nvSpPr>
        <p:spPr>
          <a:xfrm>
            <a:off x="8586216" y="2267712"/>
            <a:ext cx="91440" cy="91440"/>
          </a:xfrm>
          <a:prstGeom prst="ellipse">
            <a:avLst/>
          </a:prstGeom>
          <a:solidFill>
            <a:srgbClr val="7CD4FF"/>
          </a:solidFill>
          <a:ln w="12700">
            <a:solidFill>
              <a:srgbClr val="7CD4FF"/>
            </a:solidFill>
            <a:prstDash val="solid"/>
          </a:ln>
        </p:spPr>
      </p:sp>
      <p:sp>
        <p:nvSpPr>
          <p:cNvPr id="67" name="Text 65"/>
          <p:cNvSpPr/>
          <p:nvPr/>
        </p:nvSpPr>
        <p:spPr>
          <a:xfrm>
            <a:off x="8778240" y="2212848"/>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ReactNode accetta ciò che React può renderizzare.</a:t>
            </a:r>
            <a:endParaRPr lang="en-US" sz="1420" dirty="0"/>
          </a:p>
        </p:txBody>
      </p:sp>
      <p:sp>
        <p:nvSpPr>
          <p:cNvPr id="68" name="Shape 66"/>
          <p:cNvSpPr/>
          <p:nvPr/>
        </p:nvSpPr>
        <p:spPr>
          <a:xfrm>
            <a:off x="8586216" y="2980944"/>
            <a:ext cx="91440" cy="91440"/>
          </a:xfrm>
          <a:prstGeom prst="ellipse">
            <a:avLst/>
          </a:prstGeom>
          <a:solidFill>
            <a:srgbClr val="7CD4FF"/>
          </a:solidFill>
          <a:ln w="12700">
            <a:solidFill>
              <a:srgbClr val="7CD4FF"/>
            </a:solidFill>
            <a:prstDash val="solid"/>
          </a:ln>
        </p:spPr>
      </p:sp>
      <p:sp>
        <p:nvSpPr>
          <p:cNvPr id="69" name="Text 67"/>
          <p:cNvSpPr/>
          <p:nvPr/>
        </p:nvSpPr>
        <p:spPr>
          <a:xfrm>
            <a:off x="8778240" y="2926080"/>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Non restringere senza necessità.</a:t>
            </a:r>
            <a:endParaRPr lang="en-US" sz="1420" dirty="0"/>
          </a:p>
        </p:txBody>
      </p:sp>
      <p:sp>
        <p:nvSpPr>
          <p:cNvPr id="70" name="Shape 68"/>
          <p:cNvSpPr/>
          <p:nvPr/>
        </p:nvSpPr>
        <p:spPr>
          <a:xfrm>
            <a:off x="8586216" y="3694176"/>
            <a:ext cx="91440" cy="91440"/>
          </a:xfrm>
          <a:prstGeom prst="ellipse">
            <a:avLst/>
          </a:prstGeom>
          <a:solidFill>
            <a:srgbClr val="7CD4FF"/>
          </a:solidFill>
          <a:ln w="12700">
            <a:solidFill>
              <a:srgbClr val="7CD4FF"/>
            </a:solidFill>
            <a:prstDash val="solid"/>
          </a:ln>
        </p:spPr>
      </p:sp>
      <p:sp>
        <p:nvSpPr>
          <p:cNvPr id="71" name="Text 69"/>
          <p:cNvSpPr/>
          <p:nvPr/>
        </p:nvSpPr>
        <p:spPr>
          <a:xfrm>
            <a:off x="8778240" y="3639312"/>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Il contratto deve riflettere il vero requisito.</a:t>
            </a:r>
            <a:endParaRPr lang="en-US" sz="142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27</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TABS</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Compound component: API dichiarativa per parti coordinate</a:t>
            </a:r>
            <a:endParaRPr lang="en-US" sz="2700" dirty="0"/>
          </a:p>
        </p:txBody>
      </p:sp>
      <p:sp>
        <p:nvSpPr>
          <p:cNvPr id="29" name="Shape 27"/>
          <p:cNvSpPr/>
          <p:nvPr/>
        </p:nvSpPr>
        <p:spPr>
          <a:xfrm>
            <a:off x="530352" y="1591056"/>
            <a:ext cx="7589520" cy="4553712"/>
          </a:xfrm>
          <a:prstGeom prst="roundRect">
            <a:avLst>
              <a:gd name="adj" fmla="val 1004"/>
            </a:avLst>
          </a:prstGeom>
          <a:solidFill>
            <a:srgbClr val="0D1A2B"/>
          </a:solidFill>
          <a:ln w="13970">
            <a:solidFill>
              <a:srgbClr val="263A55"/>
            </a:solidFill>
            <a:prstDash val="solid"/>
          </a:ln>
        </p:spPr>
      </p:sp>
      <p:sp>
        <p:nvSpPr>
          <p:cNvPr id="30" name="Shape 28"/>
          <p:cNvSpPr/>
          <p:nvPr/>
        </p:nvSpPr>
        <p:spPr>
          <a:xfrm>
            <a:off x="530352" y="1591056"/>
            <a:ext cx="7589520" cy="347472"/>
          </a:xfrm>
          <a:prstGeom prst="rect">
            <a:avLst/>
          </a:prstGeom>
          <a:solidFill>
            <a:srgbClr val="122238"/>
          </a:solidFill>
          <a:ln w="12700">
            <a:solidFill>
              <a:srgbClr val="122238"/>
            </a:solidFill>
            <a:prstDash val="solid"/>
          </a:ln>
        </p:spPr>
      </p:sp>
      <p:sp>
        <p:nvSpPr>
          <p:cNvPr id="31" name="Shape 29"/>
          <p:cNvSpPr/>
          <p:nvPr/>
        </p:nvSpPr>
        <p:spPr>
          <a:xfrm>
            <a:off x="694944" y="1632204"/>
            <a:ext cx="658368" cy="274320"/>
          </a:xfrm>
          <a:prstGeom prst="roundRect">
            <a:avLst>
              <a:gd name="adj" fmla="val 20000"/>
            </a:avLst>
          </a:prstGeom>
          <a:solidFill>
            <a:srgbClr val="7CD4FF">
              <a:alpha val="20000"/>
            </a:srgbClr>
          </a:solidFill>
          <a:ln w="10160">
            <a:solidFill>
              <a:srgbClr val="7CD4FF">
                <a:alpha val="55000"/>
              </a:srgbClr>
            </a:solidFill>
            <a:prstDash val="solid"/>
          </a:ln>
        </p:spPr>
      </p:sp>
      <p:sp>
        <p:nvSpPr>
          <p:cNvPr id="32" name="Text 30"/>
          <p:cNvSpPr/>
          <p:nvPr/>
        </p:nvSpPr>
        <p:spPr>
          <a:xfrm>
            <a:off x="786384" y="1691640"/>
            <a:ext cx="475488" cy="128016"/>
          </a:xfrm>
          <a:prstGeom prst="rect">
            <a:avLst/>
          </a:prstGeom>
          <a:noFill/>
          <a:ln/>
        </p:spPr>
        <p:txBody>
          <a:bodyPr wrap="square" lIns="0" tIns="0" rIns="0" bIns="0" rtlCol="0" anchor="ctr"/>
          <a:lstStyle/>
          <a:p>
            <a:pPr algn="ctr" indent="0" marL="0">
              <a:buNone/>
            </a:pPr>
            <a:r>
              <a:rPr lang="en-US" sz="820" b="1" dirty="0">
                <a:solidFill>
                  <a:srgbClr val="7CD4FF"/>
                </a:solidFill>
                <a:latin typeface="Aptos Mono" pitchFamily="34" charset="0"/>
                <a:ea typeface="Aptos Mono" pitchFamily="34" charset="-122"/>
                <a:cs typeface="Aptos Mono" pitchFamily="34" charset="-120"/>
              </a:rPr>
              <a:t>TSX</a:t>
            </a:r>
            <a:endParaRPr lang="en-US" sz="820" dirty="0"/>
          </a:p>
        </p:txBody>
      </p:sp>
      <p:sp>
        <p:nvSpPr>
          <p:cNvPr id="33" name="Text 31"/>
          <p:cNvSpPr/>
          <p:nvPr/>
        </p:nvSpPr>
        <p:spPr>
          <a:xfrm>
            <a:off x="1490472" y="1687068"/>
            <a:ext cx="635508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TicketsTabs.tsx</a:t>
            </a:r>
            <a:endParaRPr lang="en-US" sz="880" dirty="0"/>
          </a:p>
        </p:txBody>
      </p:sp>
      <p:sp>
        <p:nvSpPr>
          <p:cNvPr id="34" name="Text 32"/>
          <p:cNvSpPr/>
          <p:nvPr/>
        </p:nvSpPr>
        <p:spPr>
          <a:xfrm>
            <a:off x="640080" y="205282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01</a:t>
            </a:r>
            <a:endParaRPr lang="en-US" sz="1200" dirty="0"/>
          </a:p>
        </p:txBody>
      </p:sp>
      <p:sp>
        <p:nvSpPr>
          <p:cNvPr id="35" name="Text 33"/>
          <p:cNvSpPr/>
          <p:nvPr/>
        </p:nvSpPr>
        <p:spPr>
          <a:xfrm>
            <a:off x="1033272" y="203911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&lt;Tabs defaultValue='open'&gt;</a:t>
            </a:r>
            <a:endParaRPr lang="en-US" sz="1420" dirty="0"/>
          </a:p>
        </p:txBody>
      </p:sp>
      <p:sp>
        <p:nvSpPr>
          <p:cNvPr id="36" name="Text 34"/>
          <p:cNvSpPr/>
          <p:nvPr/>
        </p:nvSpPr>
        <p:spPr>
          <a:xfrm>
            <a:off x="640080" y="229514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02</a:t>
            </a:r>
            <a:endParaRPr lang="en-US" sz="1200" dirty="0"/>
          </a:p>
        </p:txBody>
      </p:sp>
      <p:sp>
        <p:nvSpPr>
          <p:cNvPr id="37" name="Text 35"/>
          <p:cNvSpPr/>
          <p:nvPr/>
        </p:nvSpPr>
        <p:spPr>
          <a:xfrm>
            <a:off x="1033272" y="228142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&lt;Tabs.List aria-label='Stato ticket'&gt;</a:t>
            </a:r>
            <a:endParaRPr lang="en-US" sz="1420" dirty="0"/>
          </a:p>
        </p:txBody>
      </p:sp>
      <p:sp>
        <p:nvSpPr>
          <p:cNvPr id="38" name="Text 36"/>
          <p:cNvSpPr/>
          <p:nvPr/>
        </p:nvSpPr>
        <p:spPr>
          <a:xfrm>
            <a:off x="640080" y="253746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03</a:t>
            </a:r>
            <a:endParaRPr lang="en-US" sz="1200" dirty="0"/>
          </a:p>
        </p:txBody>
      </p:sp>
      <p:sp>
        <p:nvSpPr>
          <p:cNvPr id="39" name="Text 37"/>
          <p:cNvSpPr/>
          <p:nvPr/>
        </p:nvSpPr>
        <p:spPr>
          <a:xfrm>
            <a:off x="1033272" y="2523744"/>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&lt;Tabs.Trigger value='open'&gt;Aperti&lt;/Tabs.Trigger&gt;</a:t>
            </a:r>
            <a:endParaRPr lang="en-US" sz="1420" dirty="0"/>
          </a:p>
        </p:txBody>
      </p:sp>
      <p:sp>
        <p:nvSpPr>
          <p:cNvPr id="40" name="Text 38"/>
          <p:cNvSpPr/>
          <p:nvPr/>
        </p:nvSpPr>
        <p:spPr>
          <a:xfrm>
            <a:off x="640080" y="277977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04</a:t>
            </a:r>
            <a:endParaRPr lang="en-US" sz="1200" dirty="0"/>
          </a:p>
        </p:txBody>
      </p:sp>
      <p:sp>
        <p:nvSpPr>
          <p:cNvPr id="41" name="Text 39"/>
          <p:cNvSpPr/>
          <p:nvPr/>
        </p:nvSpPr>
        <p:spPr>
          <a:xfrm>
            <a:off x="1033272" y="2766060"/>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&lt;Tabs.Trigger value='closed'&gt;Chiusi&lt;/Tabs.Trigger&gt;</a:t>
            </a:r>
            <a:endParaRPr lang="en-US" sz="1420" dirty="0"/>
          </a:p>
        </p:txBody>
      </p:sp>
      <p:sp>
        <p:nvSpPr>
          <p:cNvPr id="42" name="Text 40"/>
          <p:cNvSpPr/>
          <p:nvPr/>
        </p:nvSpPr>
        <p:spPr>
          <a:xfrm>
            <a:off x="640080" y="3022092"/>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05</a:t>
            </a:r>
            <a:endParaRPr lang="en-US" sz="1200" dirty="0"/>
          </a:p>
        </p:txBody>
      </p:sp>
      <p:sp>
        <p:nvSpPr>
          <p:cNvPr id="43" name="Text 41"/>
          <p:cNvSpPr/>
          <p:nvPr/>
        </p:nvSpPr>
        <p:spPr>
          <a:xfrm>
            <a:off x="1033272" y="3008376"/>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&lt;/Tabs.List&gt;</a:t>
            </a:r>
            <a:endParaRPr lang="en-US" sz="1420" dirty="0"/>
          </a:p>
        </p:txBody>
      </p:sp>
      <p:sp>
        <p:nvSpPr>
          <p:cNvPr id="44" name="Text 42"/>
          <p:cNvSpPr/>
          <p:nvPr/>
        </p:nvSpPr>
        <p:spPr>
          <a:xfrm>
            <a:off x="640080" y="326440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06</a:t>
            </a:r>
            <a:endParaRPr lang="en-US" sz="1200" dirty="0"/>
          </a:p>
        </p:txBody>
      </p:sp>
      <p:sp>
        <p:nvSpPr>
          <p:cNvPr id="45" name="Text 43"/>
          <p:cNvSpPr/>
          <p:nvPr/>
        </p:nvSpPr>
        <p:spPr>
          <a:xfrm>
            <a:off x="1033272" y="325069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46" name="Text 44"/>
          <p:cNvSpPr/>
          <p:nvPr/>
        </p:nvSpPr>
        <p:spPr>
          <a:xfrm>
            <a:off x="640080" y="350672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07</a:t>
            </a:r>
            <a:endParaRPr lang="en-US" sz="1200" dirty="0"/>
          </a:p>
        </p:txBody>
      </p:sp>
      <p:sp>
        <p:nvSpPr>
          <p:cNvPr id="47" name="Text 45"/>
          <p:cNvSpPr/>
          <p:nvPr/>
        </p:nvSpPr>
        <p:spPr>
          <a:xfrm>
            <a:off x="1033272" y="349300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&lt;Tabs.Panel value='open'&gt;</a:t>
            </a:r>
            <a:endParaRPr lang="en-US" sz="1420" dirty="0"/>
          </a:p>
        </p:txBody>
      </p:sp>
      <p:sp>
        <p:nvSpPr>
          <p:cNvPr id="48" name="Text 46"/>
          <p:cNvSpPr/>
          <p:nvPr/>
        </p:nvSpPr>
        <p:spPr>
          <a:xfrm>
            <a:off x="640080" y="374904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08</a:t>
            </a:r>
            <a:endParaRPr lang="en-US" sz="1200" dirty="0"/>
          </a:p>
        </p:txBody>
      </p:sp>
      <p:sp>
        <p:nvSpPr>
          <p:cNvPr id="49" name="Text 47"/>
          <p:cNvSpPr/>
          <p:nvPr/>
        </p:nvSpPr>
        <p:spPr>
          <a:xfrm>
            <a:off x="1033272" y="3735324"/>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&lt;OpenTickets /&gt;</a:t>
            </a:r>
            <a:endParaRPr lang="en-US" sz="1420" dirty="0"/>
          </a:p>
        </p:txBody>
      </p:sp>
      <p:sp>
        <p:nvSpPr>
          <p:cNvPr id="50" name="Text 48"/>
          <p:cNvSpPr/>
          <p:nvPr/>
        </p:nvSpPr>
        <p:spPr>
          <a:xfrm>
            <a:off x="640080" y="399135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09</a:t>
            </a:r>
            <a:endParaRPr lang="en-US" sz="1200" dirty="0"/>
          </a:p>
        </p:txBody>
      </p:sp>
      <p:sp>
        <p:nvSpPr>
          <p:cNvPr id="51" name="Text 49"/>
          <p:cNvSpPr/>
          <p:nvPr/>
        </p:nvSpPr>
        <p:spPr>
          <a:xfrm>
            <a:off x="1033272" y="3977640"/>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&lt;/Tabs.Panel&gt;</a:t>
            </a:r>
            <a:endParaRPr lang="en-US" sz="1420" dirty="0"/>
          </a:p>
        </p:txBody>
      </p:sp>
      <p:sp>
        <p:nvSpPr>
          <p:cNvPr id="52" name="Text 50"/>
          <p:cNvSpPr/>
          <p:nvPr/>
        </p:nvSpPr>
        <p:spPr>
          <a:xfrm>
            <a:off x="640080" y="4233672"/>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10</a:t>
            </a:r>
            <a:endParaRPr lang="en-US" sz="1200" dirty="0"/>
          </a:p>
        </p:txBody>
      </p:sp>
      <p:sp>
        <p:nvSpPr>
          <p:cNvPr id="53" name="Text 51"/>
          <p:cNvSpPr/>
          <p:nvPr/>
        </p:nvSpPr>
        <p:spPr>
          <a:xfrm>
            <a:off x="1033272" y="4219956"/>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&lt;Tabs.Panel value='closed'&gt;</a:t>
            </a:r>
            <a:endParaRPr lang="en-US" sz="1420" dirty="0"/>
          </a:p>
        </p:txBody>
      </p:sp>
      <p:sp>
        <p:nvSpPr>
          <p:cNvPr id="54" name="Text 52"/>
          <p:cNvSpPr/>
          <p:nvPr/>
        </p:nvSpPr>
        <p:spPr>
          <a:xfrm>
            <a:off x="640080" y="447598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11</a:t>
            </a:r>
            <a:endParaRPr lang="en-US" sz="1200" dirty="0"/>
          </a:p>
        </p:txBody>
      </p:sp>
      <p:sp>
        <p:nvSpPr>
          <p:cNvPr id="55" name="Text 53"/>
          <p:cNvSpPr/>
          <p:nvPr/>
        </p:nvSpPr>
        <p:spPr>
          <a:xfrm>
            <a:off x="1033272" y="446227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&lt;ClosedTickets /&gt;</a:t>
            </a:r>
            <a:endParaRPr lang="en-US" sz="1420" dirty="0"/>
          </a:p>
        </p:txBody>
      </p:sp>
      <p:sp>
        <p:nvSpPr>
          <p:cNvPr id="56" name="Text 54"/>
          <p:cNvSpPr/>
          <p:nvPr/>
        </p:nvSpPr>
        <p:spPr>
          <a:xfrm>
            <a:off x="640080" y="471830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12</a:t>
            </a:r>
            <a:endParaRPr lang="en-US" sz="1200" dirty="0"/>
          </a:p>
        </p:txBody>
      </p:sp>
      <p:sp>
        <p:nvSpPr>
          <p:cNvPr id="57" name="Text 55"/>
          <p:cNvSpPr/>
          <p:nvPr/>
        </p:nvSpPr>
        <p:spPr>
          <a:xfrm>
            <a:off x="1033272" y="470458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&lt;/Tabs.Panel&gt;</a:t>
            </a:r>
            <a:endParaRPr lang="en-US" sz="1420" dirty="0"/>
          </a:p>
        </p:txBody>
      </p:sp>
      <p:sp>
        <p:nvSpPr>
          <p:cNvPr id="58" name="Text 56"/>
          <p:cNvSpPr/>
          <p:nvPr/>
        </p:nvSpPr>
        <p:spPr>
          <a:xfrm>
            <a:off x="640080" y="496062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13</a:t>
            </a:r>
            <a:endParaRPr lang="en-US" sz="1200" dirty="0"/>
          </a:p>
        </p:txBody>
      </p:sp>
      <p:sp>
        <p:nvSpPr>
          <p:cNvPr id="59" name="Text 57"/>
          <p:cNvSpPr/>
          <p:nvPr/>
        </p:nvSpPr>
        <p:spPr>
          <a:xfrm>
            <a:off x="1033272" y="4946904"/>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&lt;/Tabs&gt;</a:t>
            </a:r>
            <a:endParaRPr lang="en-US" sz="1420" dirty="0"/>
          </a:p>
        </p:txBody>
      </p:sp>
      <p:sp>
        <p:nvSpPr>
          <p:cNvPr id="60" name="Shape 58"/>
          <p:cNvSpPr/>
          <p:nvPr/>
        </p:nvSpPr>
        <p:spPr>
          <a:xfrm>
            <a:off x="8366760" y="1591056"/>
            <a:ext cx="3310128" cy="4553712"/>
          </a:xfrm>
          <a:prstGeom prst="roundRect">
            <a:avLst>
              <a:gd name="adj" fmla="val 1381"/>
            </a:avLst>
          </a:prstGeom>
          <a:solidFill>
            <a:srgbClr val="122238"/>
          </a:solidFill>
          <a:ln w="12700">
            <a:solidFill>
              <a:srgbClr val="263A55"/>
            </a:solidFill>
            <a:prstDash val="solid"/>
          </a:ln>
        </p:spPr>
      </p:sp>
      <p:sp>
        <p:nvSpPr>
          <p:cNvPr id="61" name="Text 59"/>
          <p:cNvSpPr/>
          <p:nvPr/>
        </p:nvSpPr>
        <p:spPr>
          <a:xfrm>
            <a:off x="8586216" y="1801368"/>
            <a:ext cx="2871216" cy="182880"/>
          </a:xfrm>
          <a:prstGeom prst="rect">
            <a:avLst/>
          </a:prstGeom>
          <a:noFill/>
          <a:ln/>
        </p:spPr>
        <p:txBody>
          <a:bodyPr wrap="square" lIns="0" tIns="0" rIns="0" bIns="0" rtlCol="0" anchor="ctr"/>
          <a:lstStyle/>
          <a:p>
            <a:pPr indent="0" marL="0">
              <a:buNone/>
            </a:pPr>
            <a:r>
              <a:rPr lang="en-US" sz="950" b="1" spc="115" kern="0" dirty="0">
                <a:solidFill>
                  <a:srgbClr val="F5C96A"/>
                </a:solidFill>
                <a:latin typeface="Aptos" pitchFamily="34" charset="0"/>
                <a:ea typeface="Aptos" pitchFamily="34" charset="-122"/>
                <a:cs typeface="Aptos" pitchFamily="34" charset="-120"/>
              </a:rPr>
              <a:t>DA OSSERVARE</a:t>
            </a:r>
            <a:endParaRPr lang="en-US" sz="950" dirty="0"/>
          </a:p>
        </p:txBody>
      </p:sp>
      <p:sp>
        <p:nvSpPr>
          <p:cNvPr id="62" name="Shape 60"/>
          <p:cNvSpPr/>
          <p:nvPr/>
        </p:nvSpPr>
        <p:spPr>
          <a:xfrm>
            <a:off x="8586216" y="2267712"/>
            <a:ext cx="91440" cy="91440"/>
          </a:xfrm>
          <a:prstGeom prst="ellipse">
            <a:avLst/>
          </a:prstGeom>
          <a:solidFill>
            <a:srgbClr val="7CD4FF"/>
          </a:solidFill>
          <a:ln w="12700">
            <a:solidFill>
              <a:srgbClr val="7CD4FF"/>
            </a:solidFill>
            <a:prstDash val="solid"/>
          </a:ln>
        </p:spPr>
      </p:sp>
      <p:sp>
        <p:nvSpPr>
          <p:cNvPr id="63" name="Text 61"/>
          <p:cNvSpPr/>
          <p:nvPr/>
        </p:nvSpPr>
        <p:spPr>
          <a:xfrm>
            <a:off x="8778240" y="2212848"/>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Le parti formano un solo widget.</a:t>
            </a:r>
            <a:endParaRPr lang="en-US" sz="1420" dirty="0"/>
          </a:p>
        </p:txBody>
      </p:sp>
      <p:sp>
        <p:nvSpPr>
          <p:cNvPr id="64" name="Shape 62"/>
          <p:cNvSpPr/>
          <p:nvPr/>
        </p:nvSpPr>
        <p:spPr>
          <a:xfrm>
            <a:off x="8586216" y="2980944"/>
            <a:ext cx="91440" cy="91440"/>
          </a:xfrm>
          <a:prstGeom prst="ellipse">
            <a:avLst/>
          </a:prstGeom>
          <a:solidFill>
            <a:srgbClr val="7CD4FF"/>
          </a:solidFill>
          <a:ln w="12700">
            <a:solidFill>
              <a:srgbClr val="7CD4FF"/>
            </a:solidFill>
            <a:prstDash val="solid"/>
          </a:ln>
        </p:spPr>
      </p:sp>
      <p:sp>
        <p:nvSpPr>
          <p:cNvPr id="65" name="Text 63"/>
          <p:cNvSpPr/>
          <p:nvPr/>
        </p:nvSpPr>
        <p:spPr>
          <a:xfrm>
            <a:off x="8778240" y="2926080"/>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Lo stato condiviso resta locale.</a:t>
            </a:r>
            <a:endParaRPr lang="en-US" sz="1420" dirty="0"/>
          </a:p>
        </p:txBody>
      </p:sp>
      <p:sp>
        <p:nvSpPr>
          <p:cNvPr id="66" name="Shape 64"/>
          <p:cNvSpPr/>
          <p:nvPr/>
        </p:nvSpPr>
        <p:spPr>
          <a:xfrm>
            <a:off x="8586216" y="3694176"/>
            <a:ext cx="91440" cy="91440"/>
          </a:xfrm>
          <a:prstGeom prst="ellipse">
            <a:avLst/>
          </a:prstGeom>
          <a:solidFill>
            <a:srgbClr val="7CD4FF"/>
          </a:solidFill>
          <a:ln w="12700">
            <a:solidFill>
              <a:srgbClr val="7CD4FF"/>
            </a:solidFill>
            <a:prstDash val="solid"/>
          </a:ln>
        </p:spPr>
      </p:sp>
      <p:sp>
        <p:nvSpPr>
          <p:cNvPr id="67" name="Text 65"/>
          <p:cNvSpPr/>
          <p:nvPr/>
        </p:nvSpPr>
        <p:spPr>
          <a:xfrm>
            <a:off x="8778240" y="3639312"/>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Il chiamante controlla la struttura.</a:t>
            </a:r>
            <a:endParaRPr lang="en-US" sz="142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28</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IMPLEMENTAZIONE COMPOUND</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Il componente radice fornisce un Context privato</a:t>
            </a:r>
            <a:endParaRPr lang="en-US" sz="2700" dirty="0"/>
          </a:p>
        </p:txBody>
      </p:sp>
      <p:sp>
        <p:nvSpPr>
          <p:cNvPr id="29" name="Shape 27"/>
          <p:cNvSpPr/>
          <p:nvPr/>
        </p:nvSpPr>
        <p:spPr>
          <a:xfrm>
            <a:off x="530352" y="1591056"/>
            <a:ext cx="7589520" cy="4553712"/>
          </a:xfrm>
          <a:prstGeom prst="roundRect">
            <a:avLst>
              <a:gd name="adj" fmla="val 1004"/>
            </a:avLst>
          </a:prstGeom>
          <a:solidFill>
            <a:srgbClr val="0D1A2B"/>
          </a:solidFill>
          <a:ln w="13970">
            <a:solidFill>
              <a:srgbClr val="263A55"/>
            </a:solidFill>
            <a:prstDash val="solid"/>
          </a:ln>
        </p:spPr>
      </p:sp>
      <p:sp>
        <p:nvSpPr>
          <p:cNvPr id="30" name="Shape 28"/>
          <p:cNvSpPr/>
          <p:nvPr/>
        </p:nvSpPr>
        <p:spPr>
          <a:xfrm>
            <a:off x="530352" y="1591056"/>
            <a:ext cx="7589520" cy="347472"/>
          </a:xfrm>
          <a:prstGeom prst="rect">
            <a:avLst/>
          </a:prstGeom>
          <a:solidFill>
            <a:srgbClr val="122238"/>
          </a:solidFill>
          <a:ln w="12700">
            <a:solidFill>
              <a:srgbClr val="122238"/>
            </a:solidFill>
            <a:prstDash val="solid"/>
          </a:ln>
        </p:spPr>
      </p:sp>
      <p:sp>
        <p:nvSpPr>
          <p:cNvPr id="31" name="Shape 29"/>
          <p:cNvSpPr/>
          <p:nvPr/>
        </p:nvSpPr>
        <p:spPr>
          <a:xfrm>
            <a:off x="694944" y="1632204"/>
            <a:ext cx="658368" cy="274320"/>
          </a:xfrm>
          <a:prstGeom prst="roundRect">
            <a:avLst>
              <a:gd name="adj" fmla="val 20000"/>
            </a:avLst>
          </a:prstGeom>
          <a:solidFill>
            <a:srgbClr val="7CD4FF">
              <a:alpha val="20000"/>
            </a:srgbClr>
          </a:solidFill>
          <a:ln w="10160">
            <a:solidFill>
              <a:srgbClr val="7CD4FF">
                <a:alpha val="55000"/>
              </a:srgbClr>
            </a:solidFill>
            <a:prstDash val="solid"/>
          </a:ln>
        </p:spPr>
      </p:sp>
      <p:sp>
        <p:nvSpPr>
          <p:cNvPr id="32" name="Text 30"/>
          <p:cNvSpPr/>
          <p:nvPr/>
        </p:nvSpPr>
        <p:spPr>
          <a:xfrm>
            <a:off x="786384" y="1691640"/>
            <a:ext cx="475488" cy="128016"/>
          </a:xfrm>
          <a:prstGeom prst="rect">
            <a:avLst/>
          </a:prstGeom>
          <a:noFill/>
          <a:ln/>
        </p:spPr>
        <p:txBody>
          <a:bodyPr wrap="square" lIns="0" tIns="0" rIns="0" bIns="0" rtlCol="0" anchor="ctr"/>
          <a:lstStyle/>
          <a:p>
            <a:pPr algn="ctr" indent="0" marL="0">
              <a:buNone/>
            </a:pPr>
            <a:r>
              <a:rPr lang="en-US" sz="820" b="1" dirty="0">
                <a:solidFill>
                  <a:srgbClr val="7CD4FF"/>
                </a:solidFill>
                <a:latin typeface="Aptos Mono" pitchFamily="34" charset="0"/>
                <a:ea typeface="Aptos Mono" pitchFamily="34" charset="-122"/>
                <a:cs typeface="Aptos Mono" pitchFamily="34" charset="-120"/>
              </a:rPr>
              <a:t>TSX</a:t>
            </a:r>
            <a:endParaRPr lang="en-US" sz="820" dirty="0"/>
          </a:p>
        </p:txBody>
      </p:sp>
      <p:sp>
        <p:nvSpPr>
          <p:cNvPr id="33" name="Text 31"/>
          <p:cNvSpPr/>
          <p:nvPr/>
        </p:nvSpPr>
        <p:spPr>
          <a:xfrm>
            <a:off x="1490472" y="1687068"/>
            <a:ext cx="635508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Tabs/Tabs.tsx</a:t>
            </a:r>
            <a:endParaRPr lang="en-US" sz="880" dirty="0"/>
          </a:p>
        </p:txBody>
      </p:sp>
      <p:sp>
        <p:nvSpPr>
          <p:cNvPr id="34" name="Text 32"/>
          <p:cNvSpPr/>
          <p:nvPr/>
        </p:nvSpPr>
        <p:spPr>
          <a:xfrm>
            <a:off x="640080" y="205282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01</a:t>
            </a:r>
            <a:endParaRPr lang="en-US" sz="1200" dirty="0"/>
          </a:p>
        </p:txBody>
      </p:sp>
      <p:sp>
        <p:nvSpPr>
          <p:cNvPr id="35" name="Text 33"/>
          <p:cNvSpPr/>
          <p:nvPr/>
        </p:nvSpPr>
        <p:spPr>
          <a:xfrm>
            <a:off x="1033272" y="203911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type TabsContextValue = {</a:t>
            </a:r>
            <a:endParaRPr lang="en-US" sz="1420" dirty="0"/>
          </a:p>
        </p:txBody>
      </p:sp>
      <p:sp>
        <p:nvSpPr>
          <p:cNvPr id="36" name="Text 34"/>
          <p:cNvSpPr/>
          <p:nvPr/>
        </p:nvSpPr>
        <p:spPr>
          <a:xfrm>
            <a:off x="640080" y="229514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02</a:t>
            </a:r>
            <a:endParaRPr lang="en-US" sz="1200" dirty="0"/>
          </a:p>
        </p:txBody>
      </p:sp>
      <p:sp>
        <p:nvSpPr>
          <p:cNvPr id="37" name="Text 35"/>
          <p:cNvSpPr/>
          <p:nvPr/>
        </p:nvSpPr>
        <p:spPr>
          <a:xfrm>
            <a:off x="1033272" y="228142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value: string;</a:t>
            </a:r>
            <a:endParaRPr lang="en-US" sz="1420" dirty="0"/>
          </a:p>
        </p:txBody>
      </p:sp>
      <p:sp>
        <p:nvSpPr>
          <p:cNvPr id="38" name="Text 36"/>
          <p:cNvSpPr/>
          <p:nvPr/>
        </p:nvSpPr>
        <p:spPr>
          <a:xfrm>
            <a:off x="640080" y="253746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03</a:t>
            </a:r>
            <a:endParaRPr lang="en-US" sz="1200" dirty="0"/>
          </a:p>
        </p:txBody>
      </p:sp>
      <p:sp>
        <p:nvSpPr>
          <p:cNvPr id="39" name="Text 37"/>
          <p:cNvSpPr/>
          <p:nvPr/>
        </p:nvSpPr>
        <p:spPr>
          <a:xfrm>
            <a:off x="1033272" y="2523744"/>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select: (next: string) =&gt; void;</a:t>
            </a:r>
            <a:endParaRPr lang="en-US" sz="1420" dirty="0"/>
          </a:p>
        </p:txBody>
      </p:sp>
      <p:sp>
        <p:nvSpPr>
          <p:cNvPr id="40" name="Text 38"/>
          <p:cNvSpPr/>
          <p:nvPr/>
        </p:nvSpPr>
        <p:spPr>
          <a:xfrm>
            <a:off x="640080" y="277977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04</a:t>
            </a:r>
            <a:endParaRPr lang="en-US" sz="1200" dirty="0"/>
          </a:p>
        </p:txBody>
      </p:sp>
      <p:sp>
        <p:nvSpPr>
          <p:cNvPr id="41" name="Text 39"/>
          <p:cNvSpPr/>
          <p:nvPr/>
        </p:nvSpPr>
        <p:spPr>
          <a:xfrm>
            <a:off x="1033272" y="2766060"/>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a:t>
            </a:r>
            <a:endParaRPr lang="en-US" sz="1420" dirty="0"/>
          </a:p>
        </p:txBody>
      </p:sp>
      <p:sp>
        <p:nvSpPr>
          <p:cNvPr id="42" name="Text 40"/>
          <p:cNvSpPr/>
          <p:nvPr/>
        </p:nvSpPr>
        <p:spPr>
          <a:xfrm>
            <a:off x="640080" y="3022092"/>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05</a:t>
            </a:r>
            <a:endParaRPr lang="en-US" sz="1200" dirty="0"/>
          </a:p>
        </p:txBody>
      </p:sp>
      <p:sp>
        <p:nvSpPr>
          <p:cNvPr id="43" name="Text 41"/>
          <p:cNvSpPr/>
          <p:nvPr/>
        </p:nvSpPr>
        <p:spPr>
          <a:xfrm>
            <a:off x="1033272" y="3008376"/>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44" name="Text 42"/>
          <p:cNvSpPr/>
          <p:nvPr/>
        </p:nvSpPr>
        <p:spPr>
          <a:xfrm>
            <a:off x="640080" y="326440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06</a:t>
            </a:r>
            <a:endParaRPr lang="en-US" sz="1200" dirty="0"/>
          </a:p>
        </p:txBody>
      </p:sp>
      <p:sp>
        <p:nvSpPr>
          <p:cNvPr id="45" name="Text 43"/>
          <p:cNvSpPr/>
          <p:nvPr/>
        </p:nvSpPr>
        <p:spPr>
          <a:xfrm>
            <a:off x="1033272" y="325069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const TabsContext = createContext&lt;TabsContextValue | null&gt;(null);</a:t>
            </a:r>
            <a:endParaRPr lang="en-US" sz="1420" dirty="0"/>
          </a:p>
        </p:txBody>
      </p:sp>
      <p:sp>
        <p:nvSpPr>
          <p:cNvPr id="46" name="Text 44"/>
          <p:cNvSpPr/>
          <p:nvPr/>
        </p:nvSpPr>
        <p:spPr>
          <a:xfrm>
            <a:off x="640080" y="350672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07</a:t>
            </a:r>
            <a:endParaRPr lang="en-US" sz="1200" dirty="0"/>
          </a:p>
        </p:txBody>
      </p:sp>
      <p:sp>
        <p:nvSpPr>
          <p:cNvPr id="47" name="Text 45"/>
          <p:cNvSpPr/>
          <p:nvPr/>
        </p:nvSpPr>
        <p:spPr>
          <a:xfrm>
            <a:off x="1033272" y="349300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48" name="Text 46"/>
          <p:cNvSpPr/>
          <p:nvPr/>
        </p:nvSpPr>
        <p:spPr>
          <a:xfrm>
            <a:off x="640080" y="374904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08</a:t>
            </a:r>
            <a:endParaRPr lang="en-US" sz="1200" dirty="0"/>
          </a:p>
        </p:txBody>
      </p:sp>
      <p:sp>
        <p:nvSpPr>
          <p:cNvPr id="49" name="Text 47"/>
          <p:cNvSpPr/>
          <p:nvPr/>
        </p:nvSpPr>
        <p:spPr>
          <a:xfrm>
            <a:off x="1033272" y="3735324"/>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export function Tabs({ defaultValue, children }: TabsProps) {</a:t>
            </a:r>
            <a:endParaRPr lang="en-US" sz="1420" dirty="0"/>
          </a:p>
        </p:txBody>
      </p:sp>
      <p:sp>
        <p:nvSpPr>
          <p:cNvPr id="50" name="Text 48"/>
          <p:cNvSpPr/>
          <p:nvPr/>
        </p:nvSpPr>
        <p:spPr>
          <a:xfrm>
            <a:off x="640080" y="399135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09</a:t>
            </a:r>
            <a:endParaRPr lang="en-US" sz="1200" dirty="0"/>
          </a:p>
        </p:txBody>
      </p:sp>
      <p:sp>
        <p:nvSpPr>
          <p:cNvPr id="51" name="Text 49"/>
          <p:cNvSpPr/>
          <p:nvPr/>
        </p:nvSpPr>
        <p:spPr>
          <a:xfrm>
            <a:off x="1033272" y="3977640"/>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const [value, setValue] = useState(defaultValue);</a:t>
            </a:r>
            <a:endParaRPr lang="en-US" sz="1420" dirty="0"/>
          </a:p>
        </p:txBody>
      </p:sp>
      <p:sp>
        <p:nvSpPr>
          <p:cNvPr id="52" name="Text 50"/>
          <p:cNvSpPr/>
          <p:nvPr/>
        </p:nvSpPr>
        <p:spPr>
          <a:xfrm>
            <a:off x="640080" y="4233672"/>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10</a:t>
            </a:r>
            <a:endParaRPr lang="en-US" sz="1200" dirty="0"/>
          </a:p>
        </p:txBody>
      </p:sp>
      <p:sp>
        <p:nvSpPr>
          <p:cNvPr id="53" name="Text 51"/>
          <p:cNvSpPr/>
          <p:nvPr/>
        </p:nvSpPr>
        <p:spPr>
          <a:xfrm>
            <a:off x="1033272" y="4219956"/>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54" name="Text 52"/>
          <p:cNvSpPr/>
          <p:nvPr/>
        </p:nvSpPr>
        <p:spPr>
          <a:xfrm>
            <a:off x="640080" y="447598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11</a:t>
            </a:r>
            <a:endParaRPr lang="en-US" sz="1200" dirty="0"/>
          </a:p>
        </p:txBody>
      </p:sp>
      <p:sp>
        <p:nvSpPr>
          <p:cNvPr id="55" name="Text 53"/>
          <p:cNvSpPr/>
          <p:nvPr/>
        </p:nvSpPr>
        <p:spPr>
          <a:xfrm>
            <a:off x="1033272" y="446227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return (</a:t>
            </a:r>
            <a:endParaRPr lang="en-US" sz="1420" dirty="0"/>
          </a:p>
        </p:txBody>
      </p:sp>
      <p:sp>
        <p:nvSpPr>
          <p:cNvPr id="56" name="Text 54"/>
          <p:cNvSpPr/>
          <p:nvPr/>
        </p:nvSpPr>
        <p:spPr>
          <a:xfrm>
            <a:off x="640080" y="471830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12</a:t>
            </a:r>
            <a:endParaRPr lang="en-US" sz="1200" dirty="0"/>
          </a:p>
        </p:txBody>
      </p:sp>
      <p:sp>
        <p:nvSpPr>
          <p:cNvPr id="57" name="Text 55"/>
          <p:cNvSpPr/>
          <p:nvPr/>
        </p:nvSpPr>
        <p:spPr>
          <a:xfrm>
            <a:off x="1033272" y="470458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&lt;TabsContext.Provider value={{ value, select: setValue }}&gt;</a:t>
            </a:r>
            <a:endParaRPr lang="en-US" sz="1420" dirty="0"/>
          </a:p>
        </p:txBody>
      </p:sp>
      <p:sp>
        <p:nvSpPr>
          <p:cNvPr id="58" name="Text 56"/>
          <p:cNvSpPr/>
          <p:nvPr/>
        </p:nvSpPr>
        <p:spPr>
          <a:xfrm>
            <a:off x="640080" y="496062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13</a:t>
            </a:r>
            <a:endParaRPr lang="en-US" sz="1200" dirty="0"/>
          </a:p>
        </p:txBody>
      </p:sp>
      <p:sp>
        <p:nvSpPr>
          <p:cNvPr id="59" name="Text 57"/>
          <p:cNvSpPr/>
          <p:nvPr/>
        </p:nvSpPr>
        <p:spPr>
          <a:xfrm>
            <a:off x="1033272" y="4946904"/>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{children}</a:t>
            </a:r>
            <a:endParaRPr lang="en-US" sz="1420" dirty="0"/>
          </a:p>
        </p:txBody>
      </p:sp>
      <p:sp>
        <p:nvSpPr>
          <p:cNvPr id="60" name="Text 58"/>
          <p:cNvSpPr/>
          <p:nvPr/>
        </p:nvSpPr>
        <p:spPr>
          <a:xfrm>
            <a:off x="640080" y="520293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14</a:t>
            </a:r>
            <a:endParaRPr lang="en-US" sz="1200" dirty="0"/>
          </a:p>
        </p:txBody>
      </p:sp>
      <p:sp>
        <p:nvSpPr>
          <p:cNvPr id="61" name="Text 59"/>
          <p:cNvSpPr/>
          <p:nvPr/>
        </p:nvSpPr>
        <p:spPr>
          <a:xfrm>
            <a:off x="1033272" y="5189220"/>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&lt;/TabsContext.Provider&gt;</a:t>
            </a:r>
            <a:endParaRPr lang="en-US" sz="1420" dirty="0"/>
          </a:p>
        </p:txBody>
      </p:sp>
      <p:sp>
        <p:nvSpPr>
          <p:cNvPr id="62" name="Text 60"/>
          <p:cNvSpPr/>
          <p:nvPr/>
        </p:nvSpPr>
        <p:spPr>
          <a:xfrm>
            <a:off x="640080" y="5445252"/>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15</a:t>
            </a:r>
            <a:endParaRPr lang="en-US" sz="1200" dirty="0"/>
          </a:p>
        </p:txBody>
      </p:sp>
      <p:sp>
        <p:nvSpPr>
          <p:cNvPr id="63" name="Text 61"/>
          <p:cNvSpPr/>
          <p:nvPr/>
        </p:nvSpPr>
        <p:spPr>
          <a:xfrm>
            <a:off x="1033272" y="5431536"/>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64" name="Text 62"/>
          <p:cNvSpPr/>
          <p:nvPr/>
        </p:nvSpPr>
        <p:spPr>
          <a:xfrm>
            <a:off x="640080" y="568756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16</a:t>
            </a:r>
            <a:endParaRPr lang="en-US" sz="1200" dirty="0"/>
          </a:p>
        </p:txBody>
      </p:sp>
      <p:sp>
        <p:nvSpPr>
          <p:cNvPr id="65" name="Text 63"/>
          <p:cNvSpPr/>
          <p:nvPr/>
        </p:nvSpPr>
        <p:spPr>
          <a:xfrm>
            <a:off x="1033272" y="567385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a:t>
            </a:r>
            <a:endParaRPr lang="en-US" sz="1420" dirty="0"/>
          </a:p>
        </p:txBody>
      </p:sp>
      <p:sp>
        <p:nvSpPr>
          <p:cNvPr id="66" name="Shape 64"/>
          <p:cNvSpPr/>
          <p:nvPr/>
        </p:nvSpPr>
        <p:spPr>
          <a:xfrm>
            <a:off x="8366760" y="1591056"/>
            <a:ext cx="3310128" cy="4553712"/>
          </a:xfrm>
          <a:prstGeom prst="roundRect">
            <a:avLst>
              <a:gd name="adj" fmla="val 1381"/>
            </a:avLst>
          </a:prstGeom>
          <a:solidFill>
            <a:srgbClr val="122238"/>
          </a:solidFill>
          <a:ln w="12700">
            <a:solidFill>
              <a:srgbClr val="263A55"/>
            </a:solidFill>
            <a:prstDash val="solid"/>
          </a:ln>
        </p:spPr>
      </p:sp>
      <p:sp>
        <p:nvSpPr>
          <p:cNvPr id="67" name="Text 65"/>
          <p:cNvSpPr/>
          <p:nvPr/>
        </p:nvSpPr>
        <p:spPr>
          <a:xfrm>
            <a:off x="8586216" y="1801368"/>
            <a:ext cx="2871216" cy="182880"/>
          </a:xfrm>
          <a:prstGeom prst="rect">
            <a:avLst/>
          </a:prstGeom>
          <a:noFill/>
          <a:ln/>
        </p:spPr>
        <p:txBody>
          <a:bodyPr wrap="square" lIns="0" tIns="0" rIns="0" bIns="0" rtlCol="0" anchor="ctr"/>
          <a:lstStyle/>
          <a:p>
            <a:pPr indent="0" marL="0">
              <a:buNone/>
            </a:pPr>
            <a:r>
              <a:rPr lang="en-US" sz="950" b="1" spc="115" kern="0" dirty="0">
                <a:solidFill>
                  <a:srgbClr val="F5C96A"/>
                </a:solidFill>
                <a:latin typeface="Aptos" pitchFamily="34" charset="0"/>
                <a:ea typeface="Aptos" pitchFamily="34" charset="-122"/>
                <a:cs typeface="Aptos" pitchFamily="34" charset="-120"/>
              </a:rPr>
              <a:t>DA OSSERVARE</a:t>
            </a:r>
            <a:endParaRPr lang="en-US" sz="950" dirty="0"/>
          </a:p>
        </p:txBody>
      </p:sp>
      <p:sp>
        <p:nvSpPr>
          <p:cNvPr id="68" name="Shape 66"/>
          <p:cNvSpPr/>
          <p:nvPr/>
        </p:nvSpPr>
        <p:spPr>
          <a:xfrm>
            <a:off x="8586216" y="2267712"/>
            <a:ext cx="91440" cy="91440"/>
          </a:xfrm>
          <a:prstGeom prst="ellipse">
            <a:avLst/>
          </a:prstGeom>
          <a:solidFill>
            <a:srgbClr val="7CD4FF"/>
          </a:solidFill>
          <a:ln w="12700">
            <a:solidFill>
              <a:srgbClr val="7CD4FF"/>
            </a:solidFill>
            <a:prstDash val="solid"/>
          </a:ln>
        </p:spPr>
      </p:sp>
      <p:sp>
        <p:nvSpPr>
          <p:cNvPr id="69" name="Text 67"/>
          <p:cNvSpPr/>
          <p:nvPr/>
        </p:nvSpPr>
        <p:spPr>
          <a:xfrm>
            <a:off x="8778240" y="2212848"/>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Context vicino al widget.</a:t>
            </a:r>
            <a:endParaRPr lang="en-US" sz="1420" dirty="0"/>
          </a:p>
        </p:txBody>
      </p:sp>
      <p:sp>
        <p:nvSpPr>
          <p:cNvPr id="70" name="Shape 68"/>
          <p:cNvSpPr/>
          <p:nvPr/>
        </p:nvSpPr>
        <p:spPr>
          <a:xfrm>
            <a:off x="8586216" y="2980944"/>
            <a:ext cx="91440" cy="91440"/>
          </a:xfrm>
          <a:prstGeom prst="ellipse">
            <a:avLst/>
          </a:prstGeom>
          <a:solidFill>
            <a:srgbClr val="7CD4FF"/>
          </a:solidFill>
          <a:ln w="12700">
            <a:solidFill>
              <a:srgbClr val="7CD4FF"/>
            </a:solidFill>
            <a:prstDash val="solid"/>
          </a:ln>
        </p:spPr>
      </p:sp>
      <p:sp>
        <p:nvSpPr>
          <p:cNvPr id="71" name="Text 69"/>
          <p:cNvSpPr/>
          <p:nvPr/>
        </p:nvSpPr>
        <p:spPr>
          <a:xfrm>
            <a:off x="8778240" y="2926080"/>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Il valore contiene stato e azione.</a:t>
            </a:r>
            <a:endParaRPr lang="en-US" sz="1420" dirty="0"/>
          </a:p>
        </p:txBody>
      </p:sp>
      <p:sp>
        <p:nvSpPr>
          <p:cNvPr id="72" name="Shape 70"/>
          <p:cNvSpPr/>
          <p:nvPr/>
        </p:nvSpPr>
        <p:spPr>
          <a:xfrm>
            <a:off x="8586216" y="3694176"/>
            <a:ext cx="91440" cy="91440"/>
          </a:xfrm>
          <a:prstGeom prst="ellipse">
            <a:avLst/>
          </a:prstGeom>
          <a:solidFill>
            <a:srgbClr val="7CD4FF"/>
          </a:solidFill>
          <a:ln w="12700">
            <a:solidFill>
              <a:srgbClr val="7CD4FF"/>
            </a:solidFill>
            <a:prstDash val="solid"/>
          </a:ln>
        </p:spPr>
      </p:sp>
      <p:sp>
        <p:nvSpPr>
          <p:cNvPr id="73" name="Text 71"/>
          <p:cNvSpPr/>
          <p:nvPr/>
        </p:nvSpPr>
        <p:spPr>
          <a:xfrm>
            <a:off x="8778240" y="3639312"/>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L’API pubblica non espone prop drilling.</a:t>
            </a:r>
            <a:endParaRPr lang="en-US" sz="142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29</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COMPOUND CHILDREN</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Trigger e Panel consumano il contratto locale</a:t>
            </a:r>
            <a:endParaRPr lang="en-US" sz="2700" dirty="0"/>
          </a:p>
        </p:txBody>
      </p:sp>
      <p:sp>
        <p:nvSpPr>
          <p:cNvPr id="29" name="Shape 27"/>
          <p:cNvSpPr/>
          <p:nvPr/>
        </p:nvSpPr>
        <p:spPr>
          <a:xfrm>
            <a:off x="530352" y="1591056"/>
            <a:ext cx="7589520" cy="4553712"/>
          </a:xfrm>
          <a:prstGeom prst="roundRect">
            <a:avLst>
              <a:gd name="adj" fmla="val 1004"/>
            </a:avLst>
          </a:prstGeom>
          <a:solidFill>
            <a:srgbClr val="0D1A2B"/>
          </a:solidFill>
          <a:ln w="13970">
            <a:solidFill>
              <a:srgbClr val="263A55"/>
            </a:solidFill>
            <a:prstDash val="solid"/>
          </a:ln>
        </p:spPr>
      </p:sp>
      <p:sp>
        <p:nvSpPr>
          <p:cNvPr id="30" name="Shape 28"/>
          <p:cNvSpPr/>
          <p:nvPr/>
        </p:nvSpPr>
        <p:spPr>
          <a:xfrm>
            <a:off x="530352" y="1591056"/>
            <a:ext cx="7589520" cy="347472"/>
          </a:xfrm>
          <a:prstGeom prst="rect">
            <a:avLst/>
          </a:prstGeom>
          <a:solidFill>
            <a:srgbClr val="122238"/>
          </a:solidFill>
          <a:ln w="12700">
            <a:solidFill>
              <a:srgbClr val="122238"/>
            </a:solidFill>
            <a:prstDash val="solid"/>
          </a:ln>
        </p:spPr>
      </p:sp>
      <p:sp>
        <p:nvSpPr>
          <p:cNvPr id="31" name="Shape 29"/>
          <p:cNvSpPr/>
          <p:nvPr/>
        </p:nvSpPr>
        <p:spPr>
          <a:xfrm>
            <a:off x="694944" y="1632204"/>
            <a:ext cx="658368" cy="274320"/>
          </a:xfrm>
          <a:prstGeom prst="roundRect">
            <a:avLst>
              <a:gd name="adj" fmla="val 20000"/>
            </a:avLst>
          </a:prstGeom>
          <a:solidFill>
            <a:srgbClr val="7CD4FF">
              <a:alpha val="20000"/>
            </a:srgbClr>
          </a:solidFill>
          <a:ln w="10160">
            <a:solidFill>
              <a:srgbClr val="7CD4FF">
                <a:alpha val="55000"/>
              </a:srgbClr>
            </a:solidFill>
            <a:prstDash val="solid"/>
          </a:ln>
        </p:spPr>
      </p:sp>
      <p:sp>
        <p:nvSpPr>
          <p:cNvPr id="32" name="Text 30"/>
          <p:cNvSpPr/>
          <p:nvPr/>
        </p:nvSpPr>
        <p:spPr>
          <a:xfrm>
            <a:off x="786384" y="1691640"/>
            <a:ext cx="475488" cy="128016"/>
          </a:xfrm>
          <a:prstGeom prst="rect">
            <a:avLst/>
          </a:prstGeom>
          <a:noFill/>
          <a:ln/>
        </p:spPr>
        <p:txBody>
          <a:bodyPr wrap="square" lIns="0" tIns="0" rIns="0" bIns="0" rtlCol="0" anchor="ctr"/>
          <a:lstStyle/>
          <a:p>
            <a:pPr algn="ctr" indent="0" marL="0">
              <a:buNone/>
            </a:pPr>
            <a:r>
              <a:rPr lang="en-US" sz="820" b="1" dirty="0">
                <a:solidFill>
                  <a:srgbClr val="7CD4FF"/>
                </a:solidFill>
                <a:latin typeface="Aptos Mono" pitchFamily="34" charset="0"/>
                <a:ea typeface="Aptos Mono" pitchFamily="34" charset="-122"/>
                <a:cs typeface="Aptos Mono" pitchFamily="34" charset="-120"/>
              </a:rPr>
              <a:t>TSX</a:t>
            </a:r>
            <a:endParaRPr lang="en-US" sz="820" dirty="0"/>
          </a:p>
        </p:txBody>
      </p:sp>
      <p:sp>
        <p:nvSpPr>
          <p:cNvPr id="33" name="Text 31"/>
          <p:cNvSpPr/>
          <p:nvPr/>
        </p:nvSpPr>
        <p:spPr>
          <a:xfrm>
            <a:off x="1490472" y="1687068"/>
            <a:ext cx="635508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Tabs/parts.tsx</a:t>
            </a:r>
            <a:endParaRPr lang="en-US" sz="880" dirty="0"/>
          </a:p>
        </p:txBody>
      </p:sp>
      <p:sp>
        <p:nvSpPr>
          <p:cNvPr id="34" name="Text 32"/>
          <p:cNvSpPr/>
          <p:nvPr/>
        </p:nvSpPr>
        <p:spPr>
          <a:xfrm>
            <a:off x="640080" y="2052828"/>
            <a:ext cx="320040" cy="212718"/>
          </a:xfrm>
          <a:prstGeom prst="rect">
            <a:avLst/>
          </a:prstGeom>
          <a:noFill/>
          <a:ln/>
        </p:spPr>
        <p:txBody>
          <a:bodyPr wrap="square" lIns="0" tIns="0" rIns="0" bIns="0" rtlCol="0" anchor="ctr"/>
          <a:lstStyle/>
          <a:p>
            <a:pPr algn="r" indent="0" marL="0">
              <a:buNone/>
            </a:pPr>
            <a:r>
              <a:rPr lang="en-US" sz="1083" dirty="0">
                <a:solidFill>
                  <a:srgbClr val="8296AE"/>
                </a:solidFill>
                <a:latin typeface="Aptos Mono" pitchFamily="34" charset="0"/>
                <a:ea typeface="Aptos Mono" pitchFamily="34" charset="-122"/>
                <a:cs typeface="Aptos Mono" pitchFamily="34" charset="-120"/>
              </a:rPr>
              <a:t>01</a:t>
            </a:r>
            <a:endParaRPr lang="en-US" sz="1083" dirty="0"/>
          </a:p>
        </p:txBody>
      </p:sp>
      <p:sp>
        <p:nvSpPr>
          <p:cNvPr id="35" name="Text 33"/>
          <p:cNvSpPr/>
          <p:nvPr/>
        </p:nvSpPr>
        <p:spPr>
          <a:xfrm>
            <a:off x="1033272" y="2039112"/>
            <a:ext cx="6931152" cy="212718"/>
          </a:xfrm>
          <a:prstGeom prst="rect">
            <a:avLst/>
          </a:prstGeom>
          <a:noFill/>
          <a:ln/>
        </p:spPr>
        <p:txBody>
          <a:bodyPr wrap="square" lIns="0" tIns="0" rIns="0" bIns="0" rtlCol="0" anchor="ctr">
            <a:normAutofit/>
          </a:bodyPr>
          <a:lstStyle/>
          <a:p>
            <a:pPr indent="0" marL="0">
              <a:buNone/>
            </a:pPr>
            <a:r>
              <a:rPr lang="en-US" sz="1303" dirty="0">
                <a:solidFill>
                  <a:srgbClr val="D9E4F2"/>
                </a:solidFill>
                <a:latin typeface="Aptos Mono" pitchFamily="34" charset="0"/>
                <a:ea typeface="Aptos Mono" pitchFamily="34" charset="-122"/>
                <a:cs typeface="Aptos Mono" pitchFamily="34" charset="-120"/>
              </a:rPr>
              <a:t>function useTabs() {</a:t>
            </a:r>
            <a:endParaRPr lang="en-US" sz="1303" dirty="0"/>
          </a:p>
        </p:txBody>
      </p:sp>
      <p:sp>
        <p:nvSpPr>
          <p:cNvPr id="36" name="Text 34"/>
          <p:cNvSpPr/>
          <p:nvPr/>
        </p:nvSpPr>
        <p:spPr>
          <a:xfrm>
            <a:off x="640080" y="2265546"/>
            <a:ext cx="320040" cy="212718"/>
          </a:xfrm>
          <a:prstGeom prst="rect">
            <a:avLst/>
          </a:prstGeom>
          <a:noFill/>
          <a:ln/>
        </p:spPr>
        <p:txBody>
          <a:bodyPr wrap="square" lIns="0" tIns="0" rIns="0" bIns="0" rtlCol="0" anchor="ctr"/>
          <a:lstStyle/>
          <a:p>
            <a:pPr algn="r" indent="0" marL="0">
              <a:buNone/>
            </a:pPr>
            <a:r>
              <a:rPr lang="en-US" sz="1083" dirty="0">
                <a:solidFill>
                  <a:srgbClr val="8296AE"/>
                </a:solidFill>
                <a:latin typeface="Aptos Mono" pitchFamily="34" charset="0"/>
                <a:ea typeface="Aptos Mono" pitchFamily="34" charset="-122"/>
                <a:cs typeface="Aptos Mono" pitchFamily="34" charset="-120"/>
              </a:rPr>
              <a:t>02</a:t>
            </a:r>
            <a:endParaRPr lang="en-US" sz="1083" dirty="0"/>
          </a:p>
        </p:txBody>
      </p:sp>
      <p:sp>
        <p:nvSpPr>
          <p:cNvPr id="37" name="Text 35"/>
          <p:cNvSpPr/>
          <p:nvPr/>
        </p:nvSpPr>
        <p:spPr>
          <a:xfrm>
            <a:off x="1033272" y="2251830"/>
            <a:ext cx="6931152" cy="212718"/>
          </a:xfrm>
          <a:prstGeom prst="rect">
            <a:avLst/>
          </a:prstGeom>
          <a:noFill/>
          <a:ln/>
        </p:spPr>
        <p:txBody>
          <a:bodyPr wrap="square" lIns="0" tIns="0" rIns="0" bIns="0" rtlCol="0" anchor="ctr">
            <a:normAutofit/>
          </a:bodyPr>
          <a:lstStyle/>
          <a:p>
            <a:pPr indent="0" marL="0">
              <a:buNone/>
            </a:pPr>
            <a:r>
              <a:rPr lang="en-US" sz="1303" dirty="0">
                <a:solidFill>
                  <a:srgbClr val="D9E4F2"/>
                </a:solidFill>
                <a:latin typeface="Aptos Mono" pitchFamily="34" charset="0"/>
                <a:ea typeface="Aptos Mono" pitchFamily="34" charset="-122"/>
                <a:cs typeface="Aptos Mono" pitchFamily="34" charset="-120"/>
              </a:rPr>
              <a:t>  const context = useContext(TabsContext);</a:t>
            </a:r>
            <a:endParaRPr lang="en-US" sz="1303" dirty="0"/>
          </a:p>
        </p:txBody>
      </p:sp>
      <p:sp>
        <p:nvSpPr>
          <p:cNvPr id="38" name="Text 36"/>
          <p:cNvSpPr/>
          <p:nvPr/>
        </p:nvSpPr>
        <p:spPr>
          <a:xfrm>
            <a:off x="640080" y="2478265"/>
            <a:ext cx="320040" cy="212718"/>
          </a:xfrm>
          <a:prstGeom prst="rect">
            <a:avLst/>
          </a:prstGeom>
          <a:noFill/>
          <a:ln/>
        </p:spPr>
        <p:txBody>
          <a:bodyPr wrap="square" lIns="0" tIns="0" rIns="0" bIns="0" rtlCol="0" anchor="ctr"/>
          <a:lstStyle/>
          <a:p>
            <a:pPr algn="r" indent="0" marL="0">
              <a:buNone/>
            </a:pPr>
            <a:r>
              <a:rPr lang="en-US" sz="1083" dirty="0">
                <a:solidFill>
                  <a:srgbClr val="8296AE"/>
                </a:solidFill>
                <a:latin typeface="Aptos Mono" pitchFamily="34" charset="0"/>
                <a:ea typeface="Aptos Mono" pitchFamily="34" charset="-122"/>
                <a:cs typeface="Aptos Mono" pitchFamily="34" charset="-120"/>
              </a:rPr>
              <a:t>03</a:t>
            </a:r>
            <a:endParaRPr lang="en-US" sz="1083" dirty="0"/>
          </a:p>
        </p:txBody>
      </p:sp>
      <p:sp>
        <p:nvSpPr>
          <p:cNvPr id="39" name="Text 37"/>
          <p:cNvSpPr/>
          <p:nvPr/>
        </p:nvSpPr>
        <p:spPr>
          <a:xfrm>
            <a:off x="1033272" y="2464549"/>
            <a:ext cx="6931152" cy="212718"/>
          </a:xfrm>
          <a:prstGeom prst="rect">
            <a:avLst/>
          </a:prstGeom>
          <a:noFill/>
          <a:ln/>
        </p:spPr>
        <p:txBody>
          <a:bodyPr wrap="square" lIns="0" tIns="0" rIns="0" bIns="0" rtlCol="0" anchor="ctr">
            <a:normAutofit/>
          </a:bodyPr>
          <a:lstStyle/>
          <a:p>
            <a:pPr indent="0" marL="0">
              <a:buNone/>
            </a:pPr>
            <a:r>
              <a:rPr lang="en-US" sz="1303" dirty="0">
                <a:solidFill>
                  <a:srgbClr val="D9E4F2"/>
                </a:solidFill>
                <a:latin typeface="Aptos Mono" pitchFamily="34" charset="0"/>
                <a:ea typeface="Aptos Mono" pitchFamily="34" charset="-122"/>
                <a:cs typeface="Aptos Mono" pitchFamily="34" charset="-120"/>
              </a:rPr>
              <a:t>  if (!context) throw new Error('Tabs.* must be inside &lt;Tabs&gt;');</a:t>
            </a:r>
            <a:endParaRPr lang="en-US" sz="1303" dirty="0"/>
          </a:p>
        </p:txBody>
      </p:sp>
      <p:sp>
        <p:nvSpPr>
          <p:cNvPr id="40" name="Text 38"/>
          <p:cNvSpPr/>
          <p:nvPr/>
        </p:nvSpPr>
        <p:spPr>
          <a:xfrm>
            <a:off x="640080" y="2690983"/>
            <a:ext cx="320040" cy="212718"/>
          </a:xfrm>
          <a:prstGeom prst="rect">
            <a:avLst/>
          </a:prstGeom>
          <a:noFill/>
          <a:ln/>
        </p:spPr>
        <p:txBody>
          <a:bodyPr wrap="square" lIns="0" tIns="0" rIns="0" bIns="0" rtlCol="0" anchor="ctr"/>
          <a:lstStyle/>
          <a:p>
            <a:pPr algn="r" indent="0" marL="0">
              <a:buNone/>
            </a:pPr>
            <a:r>
              <a:rPr lang="en-US" sz="1083" dirty="0">
                <a:solidFill>
                  <a:srgbClr val="8296AE"/>
                </a:solidFill>
                <a:latin typeface="Aptos Mono" pitchFamily="34" charset="0"/>
                <a:ea typeface="Aptos Mono" pitchFamily="34" charset="-122"/>
                <a:cs typeface="Aptos Mono" pitchFamily="34" charset="-120"/>
              </a:rPr>
              <a:t>04</a:t>
            </a:r>
            <a:endParaRPr lang="en-US" sz="1083" dirty="0"/>
          </a:p>
        </p:txBody>
      </p:sp>
      <p:sp>
        <p:nvSpPr>
          <p:cNvPr id="41" name="Text 39"/>
          <p:cNvSpPr/>
          <p:nvPr/>
        </p:nvSpPr>
        <p:spPr>
          <a:xfrm>
            <a:off x="1033272" y="2677267"/>
            <a:ext cx="6931152" cy="212718"/>
          </a:xfrm>
          <a:prstGeom prst="rect">
            <a:avLst/>
          </a:prstGeom>
          <a:noFill/>
          <a:ln/>
        </p:spPr>
        <p:txBody>
          <a:bodyPr wrap="square" lIns="0" tIns="0" rIns="0" bIns="0" rtlCol="0" anchor="ctr">
            <a:normAutofit/>
          </a:bodyPr>
          <a:lstStyle/>
          <a:p>
            <a:pPr indent="0" marL="0">
              <a:buNone/>
            </a:pPr>
            <a:r>
              <a:rPr lang="en-US" sz="1303" dirty="0">
                <a:solidFill>
                  <a:srgbClr val="D9E4F2"/>
                </a:solidFill>
                <a:latin typeface="Aptos Mono" pitchFamily="34" charset="0"/>
                <a:ea typeface="Aptos Mono" pitchFamily="34" charset="-122"/>
                <a:cs typeface="Aptos Mono" pitchFamily="34" charset="-120"/>
              </a:rPr>
              <a:t>  return context;</a:t>
            </a:r>
            <a:endParaRPr lang="en-US" sz="1303" dirty="0"/>
          </a:p>
        </p:txBody>
      </p:sp>
      <p:sp>
        <p:nvSpPr>
          <p:cNvPr id="42" name="Text 40"/>
          <p:cNvSpPr/>
          <p:nvPr/>
        </p:nvSpPr>
        <p:spPr>
          <a:xfrm>
            <a:off x="640080" y="2903701"/>
            <a:ext cx="320040" cy="212718"/>
          </a:xfrm>
          <a:prstGeom prst="rect">
            <a:avLst/>
          </a:prstGeom>
          <a:noFill/>
          <a:ln/>
        </p:spPr>
        <p:txBody>
          <a:bodyPr wrap="square" lIns="0" tIns="0" rIns="0" bIns="0" rtlCol="0" anchor="ctr"/>
          <a:lstStyle/>
          <a:p>
            <a:pPr algn="r" indent="0" marL="0">
              <a:buNone/>
            </a:pPr>
            <a:r>
              <a:rPr lang="en-US" sz="1083" dirty="0">
                <a:solidFill>
                  <a:srgbClr val="8296AE"/>
                </a:solidFill>
                <a:latin typeface="Aptos Mono" pitchFamily="34" charset="0"/>
                <a:ea typeface="Aptos Mono" pitchFamily="34" charset="-122"/>
                <a:cs typeface="Aptos Mono" pitchFamily="34" charset="-120"/>
              </a:rPr>
              <a:t>05</a:t>
            </a:r>
            <a:endParaRPr lang="en-US" sz="1083" dirty="0"/>
          </a:p>
        </p:txBody>
      </p:sp>
      <p:sp>
        <p:nvSpPr>
          <p:cNvPr id="43" name="Text 41"/>
          <p:cNvSpPr/>
          <p:nvPr/>
        </p:nvSpPr>
        <p:spPr>
          <a:xfrm>
            <a:off x="1033272" y="2889985"/>
            <a:ext cx="6931152" cy="212718"/>
          </a:xfrm>
          <a:prstGeom prst="rect">
            <a:avLst/>
          </a:prstGeom>
          <a:noFill/>
          <a:ln/>
        </p:spPr>
        <p:txBody>
          <a:bodyPr wrap="square" lIns="0" tIns="0" rIns="0" bIns="0" rtlCol="0" anchor="ctr">
            <a:normAutofit/>
          </a:bodyPr>
          <a:lstStyle/>
          <a:p>
            <a:pPr indent="0" marL="0">
              <a:buNone/>
            </a:pPr>
            <a:r>
              <a:rPr lang="en-US" sz="1303" dirty="0">
                <a:solidFill>
                  <a:srgbClr val="D9E4F2"/>
                </a:solidFill>
                <a:latin typeface="Aptos Mono" pitchFamily="34" charset="0"/>
                <a:ea typeface="Aptos Mono" pitchFamily="34" charset="-122"/>
                <a:cs typeface="Aptos Mono" pitchFamily="34" charset="-120"/>
              </a:rPr>
              <a:t>}</a:t>
            </a:r>
            <a:endParaRPr lang="en-US" sz="1303" dirty="0"/>
          </a:p>
        </p:txBody>
      </p:sp>
      <p:sp>
        <p:nvSpPr>
          <p:cNvPr id="44" name="Text 42"/>
          <p:cNvSpPr/>
          <p:nvPr/>
        </p:nvSpPr>
        <p:spPr>
          <a:xfrm>
            <a:off x="640080" y="3116420"/>
            <a:ext cx="320040" cy="212718"/>
          </a:xfrm>
          <a:prstGeom prst="rect">
            <a:avLst/>
          </a:prstGeom>
          <a:noFill/>
          <a:ln/>
        </p:spPr>
        <p:txBody>
          <a:bodyPr wrap="square" lIns="0" tIns="0" rIns="0" bIns="0" rtlCol="0" anchor="ctr"/>
          <a:lstStyle/>
          <a:p>
            <a:pPr algn="r" indent="0" marL="0">
              <a:buNone/>
            </a:pPr>
            <a:r>
              <a:rPr lang="en-US" sz="1083" dirty="0">
                <a:solidFill>
                  <a:srgbClr val="8296AE"/>
                </a:solidFill>
                <a:latin typeface="Aptos Mono" pitchFamily="34" charset="0"/>
                <a:ea typeface="Aptos Mono" pitchFamily="34" charset="-122"/>
                <a:cs typeface="Aptos Mono" pitchFamily="34" charset="-120"/>
              </a:rPr>
              <a:t>06</a:t>
            </a:r>
            <a:endParaRPr lang="en-US" sz="1083" dirty="0"/>
          </a:p>
        </p:txBody>
      </p:sp>
      <p:sp>
        <p:nvSpPr>
          <p:cNvPr id="45" name="Text 43"/>
          <p:cNvSpPr/>
          <p:nvPr/>
        </p:nvSpPr>
        <p:spPr>
          <a:xfrm>
            <a:off x="1033272" y="3102704"/>
            <a:ext cx="6931152" cy="212718"/>
          </a:xfrm>
          <a:prstGeom prst="rect">
            <a:avLst/>
          </a:prstGeom>
          <a:noFill/>
          <a:ln/>
        </p:spPr>
        <p:txBody>
          <a:bodyPr wrap="square" lIns="0" tIns="0" rIns="0" bIns="0" rtlCol="0" anchor="ctr">
            <a:normAutofit/>
          </a:bodyPr>
          <a:lstStyle/>
          <a:p>
            <a:pPr indent="0" marL="0">
              <a:buNone/>
            </a:pPr>
            <a:r>
              <a:rPr lang="en-US" sz="1303" dirty="0">
                <a:solidFill>
                  <a:srgbClr val="D9E4F2"/>
                </a:solidFill>
                <a:latin typeface="Aptos Mono" pitchFamily="34" charset="0"/>
                <a:ea typeface="Aptos Mono" pitchFamily="34" charset="-122"/>
                <a:cs typeface="Aptos Mono" pitchFamily="34" charset="-120"/>
              </a:rPr>
              <a:t> </a:t>
            </a:r>
            <a:endParaRPr lang="en-US" sz="1303" dirty="0"/>
          </a:p>
        </p:txBody>
      </p:sp>
      <p:sp>
        <p:nvSpPr>
          <p:cNvPr id="46" name="Text 44"/>
          <p:cNvSpPr/>
          <p:nvPr/>
        </p:nvSpPr>
        <p:spPr>
          <a:xfrm>
            <a:off x="640080" y="3329138"/>
            <a:ext cx="320040" cy="212718"/>
          </a:xfrm>
          <a:prstGeom prst="rect">
            <a:avLst/>
          </a:prstGeom>
          <a:noFill/>
          <a:ln/>
        </p:spPr>
        <p:txBody>
          <a:bodyPr wrap="square" lIns="0" tIns="0" rIns="0" bIns="0" rtlCol="0" anchor="ctr"/>
          <a:lstStyle/>
          <a:p>
            <a:pPr algn="r" indent="0" marL="0">
              <a:buNone/>
            </a:pPr>
            <a:r>
              <a:rPr lang="en-US" sz="1083" dirty="0">
                <a:solidFill>
                  <a:srgbClr val="8296AE"/>
                </a:solidFill>
                <a:latin typeface="Aptos Mono" pitchFamily="34" charset="0"/>
                <a:ea typeface="Aptos Mono" pitchFamily="34" charset="-122"/>
                <a:cs typeface="Aptos Mono" pitchFamily="34" charset="-120"/>
              </a:rPr>
              <a:t>07</a:t>
            </a:r>
            <a:endParaRPr lang="en-US" sz="1083" dirty="0"/>
          </a:p>
        </p:txBody>
      </p:sp>
      <p:sp>
        <p:nvSpPr>
          <p:cNvPr id="47" name="Text 45"/>
          <p:cNvSpPr/>
          <p:nvPr/>
        </p:nvSpPr>
        <p:spPr>
          <a:xfrm>
            <a:off x="1033272" y="3315422"/>
            <a:ext cx="6931152" cy="212718"/>
          </a:xfrm>
          <a:prstGeom prst="rect">
            <a:avLst/>
          </a:prstGeom>
          <a:noFill/>
          <a:ln/>
        </p:spPr>
        <p:txBody>
          <a:bodyPr wrap="square" lIns="0" tIns="0" rIns="0" bIns="0" rtlCol="0" anchor="ctr">
            <a:normAutofit/>
          </a:bodyPr>
          <a:lstStyle/>
          <a:p>
            <a:pPr indent="0" marL="0">
              <a:buNone/>
            </a:pPr>
            <a:r>
              <a:rPr lang="en-US" sz="1303" dirty="0">
                <a:solidFill>
                  <a:srgbClr val="D9E4F2"/>
                </a:solidFill>
                <a:latin typeface="Aptos Mono" pitchFamily="34" charset="0"/>
                <a:ea typeface="Aptos Mono" pitchFamily="34" charset="-122"/>
                <a:cs typeface="Aptos Mono" pitchFamily="34" charset="-120"/>
              </a:rPr>
              <a:t>export function TabsTrigger({ value, children }: TriggerProps) {</a:t>
            </a:r>
            <a:endParaRPr lang="en-US" sz="1303" dirty="0"/>
          </a:p>
        </p:txBody>
      </p:sp>
      <p:sp>
        <p:nvSpPr>
          <p:cNvPr id="48" name="Text 46"/>
          <p:cNvSpPr/>
          <p:nvPr/>
        </p:nvSpPr>
        <p:spPr>
          <a:xfrm>
            <a:off x="640080" y="3541856"/>
            <a:ext cx="320040" cy="212718"/>
          </a:xfrm>
          <a:prstGeom prst="rect">
            <a:avLst/>
          </a:prstGeom>
          <a:noFill/>
          <a:ln/>
        </p:spPr>
        <p:txBody>
          <a:bodyPr wrap="square" lIns="0" tIns="0" rIns="0" bIns="0" rtlCol="0" anchor="ctr"/>
          <a:lstStyle/>
          <a:p>
            <a:pPr algn="r" indent="0" marL="0">
              <a:buNone/>
            </a:pPr>
            <a:r>
              <a:rPr lang="en-US" sz="1083" dirty="0">
                <a:solidFill>
                  <a:srgbClr val="8296AE"/>
                </a:solidFill>
                <a:latin typeface="Aptos Mono" pitchFamily="34" charset="0"/>
                <a:ea typeface="Aptos Mono" pitchFamily="34" charset="-122"/>
                <a:cs typeface="Aptos Mono" pitchFamily="34" charset="-120"/>
              </a:rPr>
              <a:t>08</a:t>
            </a:r>
            <a:endParaRPr lang="en-US" sz="1083" dirty="0"/>
          </a:p>
        </p:txBody>
      </p:sp>
      <p:sp>
        <p:nvSpPr>
          <p:cNvPr id="49" name="Text 47"/>
          <p:cNvSpPr/>
          <p:nvPr/>
        </p:nvSpPr>
        <p:spPr>
          <a:xfrm>
            <a:off x="1033272" y="3528140"/>
            <a:ext cx="6931152" cy="212718"/>
          </a:xfrm>
          <a:prstGeom prst="rect">
            <a:avLst/>
          </a:prstGeom>
          <a:noFill/>
          <a:ln/>
        </p:spPr>
        <p:txBody>
          <a:bodyPr wrap="square" lIns="0" tIns="0" rIns="0" bIns="0" rtlCol="0" anchor="ctr">
            <a:normAutofit/>
          </a:bodyPr>
          <a:lstStyle/>
          <a:p>
            <a:pPr indent="0" marL="0">
              <a:buNone/>
            </a:pPr>
            <a:r>
              <a:rPr lang="en-US" sz="1303" dirty="0">
                <a:solidFill>
                  <a:srgbClr val="D9E4F2"/>
                </a:solidFill>
                <a:latin typeface="Aptos Mono" pitchFamily="34" charset="0"/>
                <a:ea typeface="Aptos Mono" pitchFamily="34" charset="-122"/>
                <a:cs typeface="Aptos Mono" pitchFamily="34" charset="-120"/>
              </a:rPr>
              <a:t>  const tabs = useTabs();</a:t>
            </a:r>
            <a:endParaRPr lang="en-US" sz="1303" dirty="0"/>
          </a:p>
        </p:txBody>
      </p:sp>
      <p:sp>
        <p:nvSpPr>
          <p:cNvPr id="50" name="Text 48"/>
          <p:cNvSpPr/>
          <p:nvPr/>
        </p:nvSpPr>
        <p:spPr>
          <a:xfrm>
            <a:off x="640080" y="3754575"/>
            <a:ext cx="320040" cy="212718"/>
          </a:xfrm>
          <a:prstGeom prst="rect">
            <a:avLst/>
          </a:prstGeom>
          <a:noFill/>
          <a:ln/>
        </p:spPr>
        <p:txBody>
          <a:bodyPr wrap="square" lIns="0" tIns="0" rIns="0" bIns="0" rtlCol="0" anchor="ctr"/>
          <a:lstStyle/>
          <a:p>
            <a:pPr algn="r" indent="0" marL="0">
              <a:buNone/>
            </a:pPr>
            <a:r>
              <a:rPr lang="en-US" sz="1083" dirty="0">
                <a:solidFill>
                  <a:srgbClr val="8296AE"/>
                </a:solidFill>
                <a:latin typeface="Aptos Mono" pitchFamily="34" charset="0"/>
                <a:ea typeface="Aptos Mono" pitchFamily="34" charset="-122"/>
                <a:cs typeface="Aptos Mono" pitchFamily="34" charset="-120"/>
              </a:rPr>
              <a:t>09</a:t>
            </a:r>
            <a:endParaRPr lang="en-US" sz="1083" dirty="0"/>
          </a:p>
        </p:txBody>
      </p:sp>
      <p:sp>
        <p:nvSpPr>
          <p:cNvPr id="51" name="Text 49"/>
          <p:cNvSpPr/>
          <p:nvPr/>
        </p:nvSpPr>
        <p:spPr>
          <a:xfrm>
            <a:off x="1033272" y="3740859"/>
            <a:ext cx="6931152" cy="212718"/>
          </a:xfrm>
          <a:prstGeom prst="rect">
            <a:avLst/>
          </a:prstGeom>
          <a:noFill/>
          <a:ln/>
        </p:spPr>
        <p:txBody>
          <a:bodyPr wrap="square" lIns="0" tIns="0" rIns="0" bIns="0" rtlCol="0" anchor="ctr">
            <a:normAutofit/>
          </a:bodyPr>
          <a:lstStyle/>
          <a:p>
            <a:pPr indent="0" marL="0">
              <a:buNone/>
            </a:pPr>
            <a:r>
              <a:rPr lang="en-US" sz="1303" dirty="0">
                <a:solidFill>
                  <a:srgbClr val="D9E4F2"/>
                </a:solidFill>
                <a:latin typeface="Aptos Mono" pitchFamily="34" charset="0"/>
                <a:ea typeface="Aptos Mono" pitchFamily="34" charset="-122"/>
                <a:cs typeface="Aptos Mono" pitchFamily="34" charset="-120"/>
              </a:rPr>
              <a:t>  const selected = tabs.value === value;</a:t>
            </a:r>
            <a:endParaRPr lang="en-US" sz="1303" dirty="0"/>
          </a:p>
        </p:txBody>
      </p:sp>
      <p:sp>
        <p:nvSpPr>
          <p:cNvPr id="52" name="Text 50"/>
          <p:cNvSpPr/>
          <p:nvPr/>
        </p:nvSpPr>
        <p:spPr>
          <a:xfrm>
            <a:off x="640080" y="3967293"/>
            <a:ext cx="320040" cy="212718"/>
          </a:xfrm>
          <a:prstGeom prst="rect">
            <a:avLst/>
          </a:prstGeom>
          <a:noFill/>
          <a:ln/>
        </p:spPr>
        <p:txBody>
          <a:bodyPr wrap="square" lIns="0" tIns="0" rIns="0" bIns="0" rtlCol="0" anchor="ctr"/>
          <a:lstStyle/>
          <a:p>
            <a:pPr algn="r" indent="0" marL="0">
              <a:buNone/>
            </a:pPr>
            <a:r>
              <a:rPr lang="en-US" sz="1083" dirty="0">
                <a:solidFill>
                  <a:srgbClr val="8296AE"/>
                </a:solidFill>
                <a:latin typeface="Aptos Mono" pitchFamily="34" charset="0"/>
                <a:ea typeface="Aptos Mono" pitchFamily="34" charset="-122"/>
                <a:cs typeface="Aptos Mono" pitchFamily="34" charset="-120"/>
              </a:rPr>
              <a:t>10</a:t>
            </a:r>
            <a:endParaRPr lang="en-US" sz="1083" dirty="0"/>
          </a:p>
        </p:txBody>
      </p:sp>
      <p:sp>
        <p:nvSpPr>
          <p:cNvPr id="53" name="Text 51"/>
          <p:cNvSpPr/>
          <p:nvPr/>
        </p:nvSpPr>
        <p:spPr>
          <a:xfrm>
            <a:off x="1033272" y="3953577"/>
            <a:ext cx="6931152" cy="212718"/>
          </a:xfrm>
          <a:prstGeom prst="rect">
            <a:avLst/>
          </a:prstGeom>
          <a:noFill/>
          <a:ln/>
        </p:spPr>
        <p:txBody>
          <a:bodyPr wrap="square" lIns="0" tIns="0" rIns="0" bIns="0" rtlCol="0" anchor="ctr">
            <a:normAutofit/>
          </a:bodyPr>
          <a:lstStyle/>
          <a:p>
            <a:pPr indent="0" marL="0">
              <a:buNone/>
            </a:pPr>
            <a:r>
              <a:rPr lang="en-US" sz="1303" dirty="0">
                <a:solidFill>
                  <a:srgbClr val="D9E4F2"/>
                </a:solidFill>
                <a:latin typeface="Aptos Mono" pitchFamily="34" charset="0"/>
                <a:ea typeface="Aptos Mono" pitchFamily="34" charset="-122"/>
                <a:cs typeface="Aptos Mono" pitchFamily="34" charset="-120"/>
              </a:rPr>
              <a:t>  return (</a:t>
            </a:r>
            <a:endParaRPr lang="en-US" sz="1303" dirty="0"/>
          </a:p>
        </p:txBody>
      </p:sp>
      <p:sp>
        <p:nvSpPr>
          <p:cNvPr id="54" name="Text 52"/>
          <p:cNvSpPr/>
          <p:nvPr/>
        </p:nvSpPr>
        <p:spPr>
          <a:xfrm>
            <a:off x="640080" y="4180011"/>
            <a:ext cx="320040" cy="212718"/>
          </a:xfrm>
          <a:prstGeom prst="rect">
            <a:avLst/>
          </a:prstGeom>
          <a:noFill/>
          <a:ln/>
        </p:spPr>
        <p:txBody>
          <a:bodyPr wrap="square" lIns="0" tIns="0" rIns="0" bIns="0" rtlCol="0" anchor="ctr"/>
          <a:lstStyle/>
          <a:p>
            <a:pPr algn="r" indent="0" marL="0">
              <a:buNone/>
            </a:pPr>
            <a:r>
              <a:rPr lang="en-US" sz="1083" dirty="0">
                <a:solidFill>
                  <a:srgbClr val="8296AE"/>
                </a:solidFill>
                <a:latin typeface="Aptos Mono" pitchFamily="34" charset="0"/>
                <a:ea typeface="Aptos Mono" pitchFamily="34" charset="-122"/>
                <a:cs typeface="Aptos Mono" pitchFamily="34" charset="-120"/>
              </a:rPr>
              <a:t>11</a:t>
            </a:r>
            <a:endParaRPr lang="en-US" sz="1083" dirty="0"/>
          </a:p>
        </p:txBody>
      </p:sp>
      <p:sp>
        <p:nvSpPr>
          <p:cNvPr id="55" name="Text 53"/>
          <p:cNvSpPr/>
          <p:nvPr/>
        </p:nvSpPr>
        <p:spPr>
          <a:xfrm>
            <a:off x="1033272" y="4166295"/>
            <a:ext cx="6931152" cy="212718"/>
          </a:xfrm>
          <a:prstGeom prst="rect">
            <a:avLst/>
          </a:prstGeom>
          <a:noFill/>
          <a:ln/>
        </p:spPr>
        <p:txBody>
          <a:bodyPr wrap="square" lIns="0" tIns="0" rIns="0" bIns="0" rtlCol="0" anchor="ctr">
            <a:normAutofit/>
          </a:bodyPr>
          <a:lstStyle/>
          <a:p>
            <a:pPr indent="0" marL="0">
              <a:buNone/>
            </a:pPr>
            <a:r>
              <a:rPr lang="en-US" sz="1303" dirty="0">
                <a:solidFill>
                  <a:srgbClr val="D9E4F2"/>
                </a:solidFill>
                <a:latin typeface="Aptos Mono" pitchFamily="34" charset="0"/>
                <a:ea typeface="Aptos Mono" pitchFamily="34" charset="-122"/>
                <a:cs typeface="Aptos Mono" pitchFamily="34" charset="-120"/>
              </a:rPr>
              <a:t>    &lt;button aria-selected={selected} onClick={() =&gt; tabs.select(value)}&gt;</a:t>
            </a:r>
            <a:endParaRPr lang="en-US" sz="1303" dirty="0"/>
          </a:p>
        </p:txBody>
      </p:sp>
      <p:sp>
        <p:nvSpPr>
          <p:cNvPr id="56" name="Text 54"/>
          <p:cNvSpPr/>
          <p:nvPr/>
        </p:nvSpPr>
        <p:spPr>
          <a:xfrm>
            <a:off x="640080" y="4392729"/>
            <a:ext cx="320040" cy="212718"/>
          </a:xfrm>
          <a:prstGeom prst="rect">
            <a:avLst/>
          </a:prstGeom>
          <a:noFill/>
          <a:ln/>
        </p:spPr>
        <p:txBody>
          <a:bodyPr wrap="square" lIns="0" tIns="0" rIns="0" bIns="0" rtlCol="0" anchor="ctr"/>
          <a:lstStyle/>
          <a:p>
            <a:pPr algn="r" indent="0" marL="0">
              <a:buNone/>
            </a:pPr>
            <a:r>
              <a:rPr lang="en-US" sz="1083" dirty="0">
                <a:solidFill>
                  <a:srgbClr val="8296AE"/>
                </a:solidFill>
                <a:latin typeface="Aptos Mono" pitchFamily="34" charset="0"/>
                <a:ea typeface="Aptos Mono" pitchFamily="34" charset="-122"/>
                <a:cs typeface="Aptos Mono" pitchFamily="34" charset="-120"/>
              </a:rPr>
              <a:t>12</a:t>
            </a:r>
            <a:endParaRPr lang="en-US" sz="1083" dirty="0"/>
          </a:p>
        </p:txBody>
      </p:sp>
      <p:sp>
        <p:nvSpPr>
          <p:cNvPr id="57" name="Text 55"/>
          <p:cNvSpPr/>
          <p:nvPr/>
        </p:nvSpPr>
        <p:spPr>
          <a:xfrm>
            <a:off x="1033272" y="4379013"/>
            <a:ext cx="6931152" cy="212718"/>
          </a:xfrm>
          <a:prstGeom prst="rect">
            <a:avLst/>
          </a:prstGeom>
          <a:noFill/>
          <a:ln/>
        </p:spPr>
        <p:txBody>
          <a:bodyPr wrap="square" lIns="0" tIns="0" rIns="0" bIns="0" rtlCol="0" anchor="ctr">
            <a:normAutofit/>
          </a:bodyPr>
          <a:lstStyle/>
          <a:p>
            <a:pPr indent="0" marL="0">
              <a:buNone/>
            </a:pPr>
            <a:r>
              <a:rPr lang="en-US" sz="1303" dirty="0">
                <a:solidFill>
                  <a:srgbClr val="D9E4F2"/>
                </a:solidFill>
                <a:latin typeface="Aptos Mono" pitchFamily="34" charset="0"/>
                <a:ea typeface="Aptos Mono" pitchFamily="34" charset="-122"/>
                <a:cs typeface="Aptos Mono" pitchFamily="34" charset="-120"/>
              </a:rPr>
              <a:t>      {children}</a:t>
            </a:r>
            <a:endParaRPr lang="en-US" sz="1303" dirty="0"/>
          </a:p>
        </p:txBody>
      </p:sp>
      <p:sp>
        <p:nvSpPr>
          <p:cNvPr id="58" name="Text 56"/>
          <p:cNvSpPr/>
          <p:nvPr/>
        </p:nvSpPr>
        <p:spPr>
          <a:xfrm>
            <a:off x="640080" y="4605448"/>
            <a:ext cx="320040" cy="212718"/>
          </a:xfrm>
          <a:prstGeom prst="rect">
            <a:avLst/>
          </a:prstGeom>
          <a:noFill/>
          <a:ln/>
        </p:spPr>
        <p:txBody>
          <a:bodyPr wrap="square" lIns="0" tIns="0" rIns="0" bIns="0" rtlCol="0" anchor="ctr"/>
          <a:lstStyle/>
          <a:p>
            <a:pPr algn="r" indent="0" marL="0">
              <a:buNone/>
            </a:pPr>
            <a:r>
              <a:rPr lang="en-US" sz="1083" dirty="0">
                <a:solidFill>
                  <a:srgbClr val="8296AE"/>
                </a:solidFill>
                <a:latin typeface="Aptos Mono" pitchFamily="34" charset="0"/>
                <a:ea typeface="Aptos Mono" pitchFamily="34" charset="-122"/>
                <a:cs typeface="Aptos Mono" pitchFamily="34" charset="-120"/>
              </a:rPr>
              <a:t>13</a:t>
            </a:r>
            <a:endParaRPr lang="en-US" sz="1083" dirty="0"/>
          </a:p>
        </p:txBody>
      </p:sp>
      <p:sp>
        <p:nvSpPr>
          <p:cNvPr id="59" name="Text 57"/>
          <p:cNvSpPr/>
          <p:nvPr/>
        </p:nvSpPr>
        <p:spPr>
          <a:xfrm>
            <a:off x="1033272" y="4591732"/>
            <a:ext cx="6931152" cy="212718"/>
          </a:xfrm>
          <a:prstGeom prst="rect">
            <a:avLst/>
          </a:prstGeom>
          <a:noFill/>
          <a:ln/>
        </p:spPr>
        <p:txBody>
          <a:bodyPr wrap="square" lIns="0" tIns="0" rIns="0" bIns="0" rtlCol="0" anchor="ctr">
            <a:normAutofit/>
          </a:bodyPr>
          <a:lstStyle/>
          <a:p>
            <a:pPr indent="0" marL="0">
              <a:buNone/>
            </a:pPr>
            <a:r>
              <a:rPr lang="en-US" sz="1303" dirty="0">
                <a:solidFill>
                  <a:srgbClr val="D9E4F2"/>
                </a:solidFill>
                <a:latin typeface="Aptos Mono" pitchFamily="34" charset="0"/>
                <a:ea typeface="Aptos Mono" pitchFamily="34" charset="-122"/>
                <a:cs typeface="Aptos Mono" pitchFamily="34" charset="-120"/>
              </a:rPr>
              <a:t>    &lt;/button&gt;</a:t>
            </a:r>
            <a:endParaRPr lang="en-US" sz="1303" dirty="0"/>
          </a:p>
        </p:txBody>
      </p:sp>
      <p:sp>
        <p:nvSpPr>
          <p:cNvPr id="60" name="Text 58"/>
          <p:cNvSpPr/>
          <p:nvPr/>
        </p:nvSpPr>
        <p:spPr>
          <a:xfrm>
            <a:off x="640080" y="4818166"/>
            <a:ext cx="320040" cy="212718"/>
          </a:xfrm>
          <a:prstGeom prst="rect">
            <a:avLst/>
          </a:prstGeom>
          <a:noFill/>
          <a:ln/>
        </p:spPr>
        <p:txBody>
          <a:bodyPr wrap="square" lIns="0" tIns="0" rIns="0" bIns="0" rtlCol="0" anchor="ctr"/>
          <a:lstStyle/>
          <a:p>
            <a:pPr algn="r" indent="0" marL="0">
              <a:buNone/>
            </a:pPr>
            <a:r>
              <a:rPr lang="en-US" sz="1083" dirty="0">
                <a:solidFill>
                  <a:srgbClr val="8296AE"/>
                </a:solidFill>
                <a:latin typeface="Aptos Mono" pitchFamily="34" charset="0"/>
                <a:ea typeface="Aptos Mono" pitchFamily="34" charset="-122"/>
                <a:cs typeface="Aptos Mono" pitchFamily="34" charset="-120"/>
              </a:rPr>
              <a:t>14</a:t>
            </a:r>
            <a:endParaRPr lang="en-US" sz="1083" dirty="0"/>
          </a:p>
        </p:txBody>
      </p:sp>
      <p:sp>
        <p:nvSpPr>
          <p:cNvPr id="61" name="Text 59"/>
          <p:cNvSpPr/>
          <p:nvPr/>
        </p:nvSpPr>
        <p:spPr>
          <a:xfrm>
            <a:off x="1033272" y="4804450"/>
            <a:ext cx="6931152" cy="212718"/>
          </a:xfrm>
          <a:prstGeom prst="rect">
            <a:avLst/>
          </a:prstGeom>
          <a:noFill/>
          <a:ln/>
        </p:spPr>
        <p:txBody>
          <a:bodyPr wrap="square" lIns="0" tIns="0" rIns="0" bIns="0" rtlCol="0" anchor="ctr">
            <a:normAutofit/>
          </a:bodyPr>
          <a:lstStyle/>
          <a:p>
            <a:pPr indent="0" marL="0">
              <a:buNone/>
            </a:pPr>
            <a:r>
              <a:rPr lang="en-US" sz="1303" dirty="0">
                <a:solidFill>
                  <a:srgbClr val="D9E4F2"/>
                </a:solidFill>
                <a:latin typeface="Aptos Mono" pitchFamily="34" charset="0"/>
                <a:ea typeface="Aptos Mono" pitchFamily="34" charset="-122"/>
                <a:cs typeface="Aptos Mono" pitchFamily="34" charset="-120"/>
              </a:rPr>
              <a:t>  );</a:t>
            </a:r>
            <a:endParaRPr lang="en-US" sz="1303" dirty="0"/>
          </a:p>
        </p:txBody>
      </p:sp>
      <p:sp>
        <p:nvSpPr>
          <p:cNvPr id="62" name="Text 60"/>
          <p:cNvSpPr/>
          <p:nvPr/>
        </p:nvSpPr>
        <p:spPr>
          <a:xfrm>
            <a:off x="640080" y="5030884"/>
            <a:ext cx="320040" cy="212718"/>
          </a:xfrm>
          <a:prstGeom prst="rect">
            <a:avLst/>
          </a:prstGeom>
          <a:noFill/>
          <a:ln/>
        </p:spPr>
        <p:txBody>
          <a:bodyPr wrap="square" lIns="0" tIns="0" rIns="0" bIns="0" rtlCol="0" anchor="ctr"/>
          <a:lstStyle/>
          <a:p>
            <a:pPr algn="r" indent="0" marL="0">
              <a:buNone/>
            </a:pPr>
            <a:r>
              <a:rPr lang="en-US" sz="1083" dirty="0">
                <a:solidFill>
                  <a:srgbClr val="8296AE"/>
                </a:solidFill>
                <a:latin typeface="Aptos Mono" pitchFamily="34" charset="0"/>
                <a:ea typeface="Aptos Mono" pitchFamily="34" charset="-122"/>
                <a:cs typeface="Aptos Mono" pitchFamily="34" charset="-120"/>
              </a:rPr>
              <a:t>15</a:t>
            </a:r>
            <a:endParaRPr lang="en-US" sz="1083" dirty="0"/>
          </a:p>
        </p:txBody>
      </p:sp>
      <p:sp>
        <p:nvSpPr>
          <p:cNvPr id="63" name="Text 61"/>
          <p:cNvSpPr/>
          <p:nvPr/>
        </p:nvSpPr>
        <p:spPr>
          <a:xfrm>
            <a:off x="1033272" y="5017168"/>
            <a:ext cx="6931152" cy="212718"/>
          </a:xfrm>
          <a:prstGeom prst="rect">
            <a:avLst/>
          </a:prstGeom>
          <a:noFill/>
          <a:ln/>
        </p:spPr>
        <p:txBody>
          <a:bodyPr wrap="square" lIns="0" tIns="0" rIns="0" bIns="0" rtlCol="0" anchor="ctr">
            <a:normAutofit/>
          </a:bodyPr>
          <a:lstStyle/>
          <a:p>
            <a:pPr indent="0" marL="0">
              <a:buNone/>
            </a:pPr>
            <a:r>
              <a:rPr lang="en-US" sz="1303" dirty="0">
                <a:solidFill>
                  <a:srgbClr val="D9E4F2"/>
                </a:solidFill>
                <a:latin typeface="Aptos Mono" pitchFamily="34" charset="0"/>
                <a:ea typeface="Aptos Mono" pitchFamily="34" charset="-122"/>
                <a:cs typeface="Aptos Mono" pitchFamily="34" charset="-120"/>
              </a:rPr>
              <a:t>}</a:t>
            </a:r>
            <a:endParaRPr lang="en-US" sz="1303" dirty="0"/>
          </a:p>
        </p:txBody>
      </p:sp>
      <p:sp>
        <p:nvSpPr>
          <p:cNvPr id="64" name="Text 62"/>
          <p:cNvSpPr/>
          <p:nvPr/>
        </p:nvSpPr>
        <p:spPr>
          <a:xfrm>
            <a:off x="640080" y="5243603"/>
            <a:ext cx="320040" cy="212718"/>
          </a:xfrm>
          <a:prstGeom prst="rect">
            <a:avLst/>
          </a:prstGeom>
          <a:noFill/>
          <a:ln/>
        </p:spPr>
        <p:txBody>
          <a:bodyPr wrap="square" lIns="0" tIns="0" rIns="0" bIns="0" rtlCol="0" anchor="ctr"/>
          <a:lstStyle/>
          <a:p>
            <a:pPr algn="r" indent="0" marL="0">
              <a:buNone/>
            </a:pPr>
            <a:r>
              <a:rPr lang="en-US" sz="1083" dirty="0">
                <a:solidFill>
                  <a:srgbClr val="8296AE"/>
                </a:solidFill>
                <a:latin typeface="Aptos Mono" pitchFamily="34" charset="0"/>
                <a:ea typeface="Aptos Mono" pitchFamily="34" charset="-122"/>
                <a:cs typeface="Aptos Mono" pitchFamily="34" charset="-120"/>
              </a:rPr>
              <a:t>16</a:t>
            </a:r>
            <a:endParaRPr lang="en-US" sz="1083" dirty="0"/>
          </a:p>
        </p:txBody>
      </p:sp>
      <p:sp>
        <p:nvSpPr>
          <p:cNvPr id="65" name="Text 63"/>
          <p:cNvSpPr/>
          <p:nvPr/>
        </p:nvSpPr>
        <p:spPr>
          <a:xfrm>
            <a:off x="1033272" y="5229887"/>
            <a:ext cx="6931152" cy="212718"/>
          </a:xfrm>
          <a:prstGeom prst="rect">
            <a:avLst/>
          </a:prstGeom>
          <a:noFill/>
          <a:ln/>
        </p:spPr>
        <p:txBody>
          <a:bodyPr wrap="square" lIns="0" tIns="0" rIns="0" bIns="0" rtlCol="0" anchor="ctr">
            <a:normAutofit/>
          </a:bodyPr>
          <a:lstStyle/>
          <a:p>
            <a:pPr indent="0" marL="0">
              <a:buNone/>
            </a:pPr>
            <a:r>
              <a:rPr lang="en-US" sz="1303" dirty="0">
                <a:solidFill>
                  <a:srgbClr val="D9E4F2"/>
                </a:solidFill>
                <a:latin typeface="Aptos Mono" pitchFamily="34" charset="0"/>
                <a:ea typeface="Aptos Mono" pitchFamily="34" charset="-122"/>
                <a:cs typeface="Aptos Mono" pitchFamily="34" charset="-120"/>
              </a:rPr>
              <a:t> </a:t>
            </a:r>
            <a:endParaRPr lang="en-US" sz="1303" dirty="0"/>
          </a:p>
        </p:txBody>
      </p:sp>
      <p:sp>
        <p:nvSpPr>
          <p:cNvPr id="66" name="Text 64"/>
          <p:cNvSpPr/>
          <p:nvPr/>
        </p:nvSpPr>
        <p:spPr>
          <a:xfrm>
            <a:off x="640080" y="5456321"/>
            <a:ext cx="320040" cy="212718"/>
          </a:xfrm>
          <a:prstGeom prst="rect">
            <a:avLst/>
          </a:prstGeom>
          <a:noFill/>
          <a:ln/>
        </p:spPr>
        <p:txBody>
          <a:bodyPr wrap="square" lIns="0" tIns="0" rIns="0" bIns="0" rtlCol="0" anchor="ctr"/>
          <a:lstStyle/>
          <a:p>
            <a:pPr algn="r" indent="0" marL="0">
              <a:buNone/>
            </a:pPr>
            <a:r>
              <a:rPr lang="en-US" sz="1083" dirty="0">
                <a:solidFill>
                  <a:srgbClr val="8296AE"/>
                </a:solidFill>
                <a:latin typeface="Aptos Mono" pitchFamily="34" charset="0"/>
                <a:ea typeface="Aptos Mono" pitchFamily="34" charset="-122"/>
                <a:cs typeface="Aptos Mono" pitchFamily="34" charset="-120"/>
              </a:rPr>
              <a:t>17</a:t>
            </a:r>
            <a:endParaRPr lang="en-US" sz="1083" dirty="0"/>
          </a:p>
        </p:txBody>
      </p:sp>
      <p:sp>
        <p:nvSpPr>
          <p:cNvPr id="67" name="Text 65"/>
          <p:cNvSpPr/>
          <p:nvPr/>
        </p:nvSpPr>
        <p:spPr>
          <a:xfrm>
            <a:off x="1033272" y="5442605"/>
            <a:ext cx="6931152" cy="212718"/>
          </a:xfrm>
          <a:prstGeom prst="rect">
            <a:avLst/>
          </a:prstGeom>
          <a:noFill/>
          <a:ln/>
        </p:spPr>
        <p:txBody>
          <a:bodyPr wrap="square" lIns="0" tIns="0" rIns="0" bIns="0" rtlCol="0" anchor="ctr">
            <a:normAutofit/>
          </a:bodyPr>
          <a:lstStyle/>
          <a:p>
            <a:pPr indent="0" marL="0">
              <a:buNone/>
            </a:pPr>
            <a:r>
              <a:rPr lang="en-US" sz="1303" dirty="0">
                <a:solidFill>
                  <a:srgbClr val="D9E4F2"/>
                </a:solidFill>
                <a:latin typeface="Aptos Mono" pitchFamily="34" charset="0"/>
                <a:ea typeface="Aptos Mono" pitchFamily="34" charset="-122"/>
                <a:cs typeface="Aptos Mono" pitchFamily="34" charset="-120"/>
              </a:rPr>
              <a:t>export function TabsPanel({ value, children }: PanelProps) {</a:t>
            </a:r>
            <a:endParaRPr lang="en-US" sz="1303" dirty="0"/>
          </a:p>
        </p:txBody>
      </p:sp>
      <p:sp>
        <p:nvSpPr>
          <p:cNvPr id="68" name="Text 66"/>
          <p:cNvSpPr/>
          <p:nvPr/>
        </p:nvSpPr>
        <p:spPr>
          <a:xfrm>
            <a:off x="640080" y="5669039"/>
            <a:ext cx="320040" cy="212718"/>
          </a:xfrm>
          <a:prstGeom prst="rect">
            <a:avLst/>
          </a:prstGeom>
          <a:noFill/>
          <a:ln/>
        </p:spPr>
        <p:txBody>
          <a:bodyPr wrap="square" lIns="0" tIns="0" rIns="0" bIns="0" rtlCol="0" anchor="ctr"/>
          <a:lstStyle/>
          <a:p>
            <a:pPr algn="r" indent="0" marL="0">
              <a:buNone/>
            </a:pPr>
            <a:r>
              <a:rPr lang="en-US" sz="1083" dirty="0">
                <a:solidFill>
                  <a:srgbClr val="8296AE"/>
                </a:solidFill>
                <a:latin typeface="Aptos Mono" pitchFamily="34" charset="0"/>
                <a:ea typeface="Aptos Mono" pitchFamily="34" charset="-122"/>
                <a:cs typeface="Aptos Mono" pitchFamily="34" charset="-120"/>
              </a:rPr>
              <a:t>18</a:t>
            </a:r>
            <a:endParaRPr lang="en-US" sz="1083" dirty="0"/>
          </a:p>
        </p:txBody>
      </p:sp>
      <p:sp>
        <p:nvSpPr>
          <p:cNvPr id="69" name="Text 67"/>
          <p:cNvSpPr/>
          <p:nvPr/>
        </p:nvSpPr>
        <p:spPr>
          <a:xfrm>
            <a:off x="1033272" y="5655323"/>
            <a:ext cx="6931152" cy="212718"/>
          </a:xfrm>
          <a:prstGeom prst="rect">
            <a:avLst/>
          </a:prstGeom>
          <a:noFill/>
          <a:ln/>
        </p:spPr>
        <p:txBody>
          <a:bodyPr wrap="square" lIns="0" tIns="0" rIns="0" bIns="0" rtlCol="0" anchor="ctr">
            <a:normAutofit/>
          </a:bodyPr>
          <a:lstStyle/>
          <a:p>
            <a:pPr indent="0" marL="0">
              <a:buNone/>
            </a:pPr>
            <a:r>
              <a:rPr lang="en-US" sz="1303" dirty="0">
                <a:solidFill>
                  <a:srgbClr val="D9E4F2"/>
                </a:solidFill>
                <a:latin typeface="Aptos Mono" pitchFamily="34" charset="0"/>
                <a:ea typeface="Aptos Mono" pitchFamily="34" charset="-122"/>
                <a:cs typeface="Aptos Mono" pitchFamily="34" charset="-120"/>
              </a:rPr>
              <a:t>  return useTabs().value === value ? &lt;div role='tabpanel'&gt;{children}&lt;/div&gt; : null;</a:t>
            </a:r>
            <a:endParaRPr lang="en-US" sz="1303" dirty="0"/>
          </a:p>
        </p:txBody>
      </p:sp>
      <p:sp>
        <p:nvSpPr>
          <p:cNvPr id="70" name="Text 68"/>
          <p:cNvSpPr/>
          <p:nvPr/>
        </p:nvSpPr>
        <p:spPr>
          <a:xfrm>
            <a:off x="640080" y="5881758"/>
            <a:ext cx="320040" cy="212718"/>
          </a:xfrm>
          <a:prstGeom prst="rect">
            <a:avLst/>
          </a:prstGeom>
          <a:noFill/>
          <a:ln/>
        </p:spPr>
        <p:txBody>
          <a:bodyPr wrap="square" lIns="0" tIns="0" rIns="0" bIns="0" rtlCol="0" anchor="ctr"/>
          <a:lstStyle/>
          <a:p>
            <a:pPr algn="r" indent="0" marL="0">
              <a:buNone/>
            </a:pPr>
            <a:r>
              <a:rPr lang="en-US" sz="1083" dirty="0">
                <a:solidFill>
                  <a:srgbClr val="8296AE"/>
                </a:solidFill>
                <a:latin typeface="Aptos Mono" pitchFamily="34" charset="0"/>
                <a:ea typeface="Aptos Mono" pitchFamily="34" charset="-122"/>
                <a:cs typeface="Aptos Mono" pitchFamily="34" charset="-120"/>
              </a:rPr>
              <a:t>19</a:t>
            </a:r>
            <a:endParaRPr lang="en-US" sz="1083" dirty="0"/>
          </a:p>
        </p:txBody>
      </p:sp>
      <p:sp>
        <p:nvSpPr>
          <p:cNvPr id="71" name="Text 69"/>
          <p:cNvSpPr/>
          <p:nvPr/>
        </p:nvSpPr>
        <p:spPr>
          <a:xfrm>
            <a:off x="1033272" y="5868042"/>
            <a:ext cx="6931152" cy="212718"/>
          </a:xfrm>
          <a:prstGeom prst="rect">
            <a:avLst/>
          </a:prstGeom>
          <a:noFill/>
          <a:ln/>
        </p:spPr>
        <p:txBody>
          <a:bodyPr wrap="square" lIns="0" tIns="0" rIns="0" bIns="0" rtlCol="0" anchor="ctr">
            <a:normAutofit/>
          </a:bodyPr>
          <a:lstStyle/>
          <a:p>
            <a:pPr indent="0" marL="0">
              <a:buNone/>
            </a:pPr>
            <a:r>
              <a:rPr lang="en-US" sz="1303" dirty="0">
                <a:solidFill>
                  <a:srgbClr val="D9E4F2"/>
                </a:solidFill>
                <a:latin typeface="Aptos Mono" pitchFamily="34" charset="0"/>
                <a:ea typeface="Aptos Mono" pitchFamily="34" charset="-122"/>
                <a:cs typeface="Aptos Mono" pitchFamily="34" charset="-120"/>
              </a:rPr>
              <a:t>}</a:t>
            </a:r>
            <a:endParaRPr lang="en-US" sz="1303" dirty="0"/>
          </a:p>
        </p:txBody>
      </p:sp>
      <p:sp>
        <p:nvSpPr>
          <p:cNvPr id="72" name="Shape 70"/>
          <p:cNvSpPr/>
          <p:nvPr/>
        </p:nvSpPr>
        <p:spPr>
          <a:xfrm>
            <a:off x="8366760" y="1591056"/>
            <a:ext cx="3310128" cy="4553712"/>
          </a:xfrm>
          <a:prstGeom prst="roundRect">
            <a:avLst>
              <a:gd name="adj" fmla="val 1381"/>
            </a:avLst>
          </a:prstGeom>
          <a:solidFill>
            <a:srgbClr val="122238"/>
          </a:solidFill>
          <a:ln w="12700">
            <a:solidFill>
              <a:srgbClr val="263A55"/>
            </a:solidFill>
            <a:prstDash val="solid"/>
          </a:ln>
        </p:spPr>
      </p:sp>
      <p:sp>
        <p:nvSpPr>
          <p:cNvPr id="73" name="Text 71"/>
          <p:cNvSpPr/>
          <p:nvPr/>
        </p:nvSpPr>
        <p:spPr>
          <a:xfrm>
            <a:off x="8586216" y="1801368"/>
            <a:ext cx="2871216" cy="182880"/>
          </a:xfrm>
          <a:prstGeom prst="rect">
            <a:avLst/>
          </a:prstGeom>
          <a:noFill/>
          <a:ln/>
        </p:spPr>
        <p:txBody>
          <a:bodyPr wrap="square" lIns="0" tIns="0" rIns="0" bIns="0" rtlCol="0" anchor="ctr"/>
          <a:lstStyle/>
          <a:p>
            <a:pPr indent="0" marL="0">
              <a:buNone/>
            </a:pPr>
            <a:r>
              <a:rPr lang="en-US" sz="950" b="1" spc="115" kern="0" dirty="0">
                <a:solidFill>
                  <a:srgbClr val="F5C96A"/>
                </a:solidFill>
                <a:latin typeface="Aptos" pitchFamily="34" charset="0"/>
                <a:ea typeface="Aptos" pitchFamily="34" charset="-122"/>
                <a:cs typeface="Aptos" pitchFamily="34" charset="-120"/>
              </a:rPr>
              <a:t>DA OSSERVARE</a:t>
            </a:r>
            <a:endParaRPr lang="en-US" sz="950" dirty="0"/>
          </a:p>
        </p:txBody>
      </p:sp>
      <p:sp>
        <p:nvSpPr>
          <p:cNvPr id="74" name="Shape 72"/>
          <p:cNvSpPr/>
          <p:nvPr/>
        </p:nvSpPr>
        <p:spPr>
          <a:xfrm>
            <a:off x="8586216" y="2267712"/>
            <a:ext cx="91440" cy="91440"/>
          </a:xfrm>
          <a:prstGeom prst="ellipse">
            <a:avLst/>
          </a:prstGeom>
          <a:solidFill>
            <a:srgbClr val="7CD4FF"/>
          </a:solidFill>
          <a:ln w="12700">
            <a:solidFill>
              <a:srgbClr val="7CD4FF"/>
            </a:solidFill>
            <a:prstDash val="solid"/>
          </a:ln>
        </p:spPr>
      </p:sp>
      <p:sp>
        <p:nvSpPr>
          <p:cNvPr id="75" name="Text 73"/>
          <p:cNvSpPr/>
          <p:nvPr/>
        </p:nvSpPr>
        <p:spPr>
          <a:xfrm>
            <a:off x="8778240" y="2212848"/>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Il custom hook valida il contesto.</a:t>
            </a:r>
            <a:endParaRPr lang="en-US" sz="1420" dirty="0"/>
          </a:p>
        </p:txBody>
      </p:sp>
      <p:sp>
        <p:nvSpPr>
          <p:cNvPr id="76" name="Shape 74"/>
          <p:cNvSpPr/>
          <p:nvPr/>
        </p:nvSpPr>
        <p:spPr>
          <a:xfrm>
            <a:off x="8586216" y="2980944"/>
            <a:ext cx="91440" cy="91440"/>
          </a:xfrm>
          <a:prstGeom prst="ellipse">
            <a:avLst/>
          </a:prstGeom>
          <a:solidFill>
            <a:srgbClr val="7CD4FF"/>
          </a:solidFill>
          <a:ln w="12700">
            <a:solidFill>
              <a:srgbClr val="7CD4FF"/>
            </a:solidFill>
            <a:prstDash val="solid"/>
          </a:ln>
        </p:spPr>
      </p:sp>
      <p:sp>
        <p:nvSpPr>
          <p:cNvPr id="77" name="Text 75"/>
          <p:cNvSpPr/>
          <p:nvPr/>
        </p:nvSpPr>
        <p:spPr>
          <a:xfrm>
            <a:off x="8778240" y="2926080"/>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Le parti non ricevono activeValue.</a:t>
            </a:r>
            <a:endParaRPr lang="en-US" sz="1420" dirty="0"/>
          </a:p>
        </p:txBody>
      </p:sp>
      <p:sp>
        <p:nvSpPr>
          <p:cNvPr id="78" name="Shape 76"/>
          <p:cNvSpPr/>
          <p:nvPr/>
        </p:nvSpPr>
        <p:spPr>
          <a:xfrm>
            <a:off x="8586216" y="3694176"/>
            <a:ext cx="91440" cy="91440"/>
          </a:xfrm>
          <a:prstGeom prst="ellipse">
            <a:avLst/>
          </a:prstGeom>
          <a:solidFill>
            <a:srgbClr val="7CD4FF"/>
          </a:solidFill>
          <a:ln w="12700">
            <a:solidFill>
              <a:srgbClr val="7CD4FF"/>
            </a:solidFill>
            <a:prstDash val="solid"/>
          </a:ln>
        </p:spPr>
      </p:sp>
      <p:sp>
        <p:nvSpPr>
          <p:cNvPr id="79" name="Text 77"/>
          <p:cNvSpPr/>
          <p:nvPr/>
        </p:nvSpPr>
        <p:spPr>
          <a:xfrm>
            <a:off x="8778240" y="3639312"/>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Il contratto resta confinato al widget.</a:t>
            </a:r>
            <a:endParaRPr lang="en-US" sz="142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30</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ECCESSO DI SCOMPOSIZIONE</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Non estrarre componenti senza una responsabilità</a:t>
            </a:r>
            <a:endParaRPr lang="en-US" sz="2700" dirty="0"/>
          </a:p>
        </p:txBody>
      </p:sp>
      <p:sp>
        <p:nvSpPr>
          <p:cNvPr id="29" name="Shape 27"/>
          <p:cNvSpPr/>
          <p:nvPr/>
        </p:nvSpPr>
        <p:spPr>
          <a:xfrm>
            <a:off x="530352" y="1581912"/>
            <a:ext cx="5440680" cy="4526280"/>
          </a:xfrm>
          <a:prstGeom prst="roundRect">
            <a:avLst>
              <a:gd name="adj" fmla="val 1010"/>
            </a:avLst>
          </a:prstGeom>
          <a:solidFill>
            <a:srgbClr val="0D1A2B"/>
          </a:solidFill>
          <a:ln w="13970">
            <a:solidFill>
              <a:srgbClr val="263A55"/>
            </a:solidFill>
            <a:prstDash val="solid"/>
          </a:ln>
        </p:spPr>
      </p:sp>
      <p:sp>
        <p:nvSpPr>
          <p:cNvPr id="30" name="Shape 28"/>
          <p:cNvSpPr/>
          <p:nvPr/>
        </p:nvSpPr>
        <p:spPr>
          <a:xfrm>
            <a:off x="530352" y="1581912"/>
            <a:ext cx="5440680" cy="347472"/>
          </a:xfrm>
          <a:prstGeom prst="rect">
            <a:avLst/>
          </a:prstGeom>
          <a:solidFill>
            <a:srgbClr val="122238"/>
          </a:solidFill>
          <a:ln w="12700">
            <a:solidFill>
              <a:srgbClr val="122238"/>
            </a:solidFill>
            <a:prstDash val="solid"/>
          </a:ln>
        </p:spPr>
      </p:sp>
      <p:sp>
        <p:nvSpPr>
          <p:cNvPr id="31" name="Shape 29"/>
          <p:cNvSpPr/>
          <p:nvPr/>
        </p:nvSpPr>
        <p:spPr>
          <a:xfrm>
            <a:off x="694944" y="1623060"/>
            <a:ext cx="658368" cy="274320"/>
          </a:xfrm>
          <a:prstGeom prst="roundRect">
            <a:avLst>
              <a:gd name="adj" fmla="val 20000"/>
            </a:avLst>
          </a:prstGeom>
          <a:solidFill>
            <a:srgbClr val="FF7A8A">
              <a:alpha val="20000"/>
            </a:srgbClr>
          </a:solidFill>
          <a:ln w="10160">
            <a:solidFill>
              <a:srgbClr val="FF7A8A">
                <a:alpha val="55000"/>
              </a:srgbClr>
            </a:solidFill>
            <a:prstDash val="solid"/>
          </a:ln>
        </p:spPr>
      </p:sp>
      <p:sp>
        <p:nvSpPr>
          <p:cNvPr id="32" name="Text 30"/>
          <p:cNvSpPr/>
          <p:nvPr/>
        </p:nvSpPr>
        <p:spPr>
          <a:xfrm>
            <a:off x="786384" y="1682496"/>
            <a:ext cx="475488" cy="128016"/>
          </a:xfrm>
          <a:prstGeom prst="rect">
            <a:avLst/>
          </a:prstGeom>
          <a:noFill/>
          <a:ln/>
        </p:spPr>
        <p:txBody>
          <a:bodyPr wrap="square" lIns="0" tIns="0" rIns="0" bIns="0" rtlCol="0" anchor="ctr"/>
          <a:lstStyle/>
          <a:p>
            <a:pPr algn="ctr" indent="0" marL="0">
              <a:buNone/>
            </a:pPr>
            <a:r>
              <a:rPr lang="en-US" sz="820" b="1" dirty="0">
                <a:solidFill>
                  <a:srgbClr val="FF7A8A"/>
                </a:solidFill>
                <a:latin typeface="Aptos Mono" pitchFamily="34" charset="0"/>
                <a:ea typeface="Aptos Mono" pitchFamily="34" charset="-122"/>
                <a:cs typeface="Aptos Mono" pitchFamily="34" charset="-120"/>
              </a:rPr>
              <a:t>TSX</a:t>
            </a:r>
            <a:endParaRPr lang="en-US" sz="820" dirty="0"/>
          </a:p>
        </p:txBody>
      </p:sp>
      <p:sp>
        <p:nvSpPr>
          <p:cNvPr id="33" name="Text 31"/>
          <p:cNvSpPr/>
          <p:nvPr/>
        </p:nvSpPr>
        <p:spPr>
          <a:xfrm>
            <a:off x="1490472" y="1677924"/>
            <a:ext cx="420624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PRIMA</a:t>
            </a:r>
            <a:endParaRPr lang="en-US" sz="880" dirty="0"/>
          </a:p>
        </p:txBody>
      </p:sp>
      <p:sp>
        <p:nvSpPr>
          <p:cNvPr id="34" name="Text 32"/>
          <p:cNvSpPr/>
          <p:nvPr/>
        </p:nvSpPr>
        <p:spPr>
          <a:xfrm>
            <a:off x="640080" y="204368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01</a:t>
            </a:r>
            <a:endParaRPr lang="en-US" sz="1060" dirty="0"/>
          </a:p>
        </p:txBody>
      </p:sp>
      <p:sp>
        <p:nvSpPr>
          <p:cNvPr id="35" name="Text 33"/>
          <p:cNvSpPr/>
          <p:nvPr/>
        </p:nvSpPr>
        <p:spPr>
          <a:xfrm>
            <a:off x="1033272" y="202996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function TicketTitle({ text }) {</a:t>
            </a:r>
            <a:endParaRPr lang="en-US" sz="1280" dirty="0"/>
          </a:p>
        </p:txBody>
      </p:sp>
      <p:sp>
        <p:nvSpPr>
          <p:cNvPr id="36" name="Text 34"/>
          <p:cNvSpPr/>
          <p:nvPr/>
        </p:nvSpPr>
        <p:spPr>
          <a:xfrm>
            <a:off x="640080" y="228600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02</a:t>
            </a:r>
            <a:endParaRPr lang="en-US" sz="1060" dirty="0"/>
          </a:p>
        </p:txBody>
      </p:sp>
      <p:sp>
        <p:nvSpPr>
          <p:cNvPr id="37" name="Text 35"/>
          <p:cNvSpPr/>
          <p:nvPr/>
        </p:nvSpPr>
        <p:spPr>
          <a:xfrm>
            <a:off x="1033272" y="227228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return &lt;h2&gt;{text}&lt;/h2&gt;;</a:t>
            </a:r>
            <a:endParaRPr lang="en-US" sz="1280" dirty="0"/>
          </a:p>
        </p:txBody>
      </p:sp>
      <p:sp>
        <p:nvSpPr>
          <p:cNvPr id="38" name="Text 36"/>
          <p:cNvSpPr/>
          <p:nvPr/>
        </p:nvSpPr>
        <p:spPr>
          <a:xfrm>
            <a:off x="640080" y="252831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03</a:t>
            </a:r>
            <a:endParaRPr lang="en-US" sz="1060" dirty="0"/>
          </a:p>
        </p:txBody>
      </p:sp>
      <p:sp>
        <p:nvSpPr>
          <p:cNvPr id="39" name="Text 37"/>
          <p:cNvSpPr/>
          <p:nvPr/>
        </p:nvSpPr>
        <p:spPr>
          <a:xfrm>
            <a:off x="1033272" y="2514600"/>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a:t>
            </a:r>
            <a:endParaRPr lang="en-US" sz="1280" dirty="0"/>
          </a:p>
        </p:txBody>
      </p:sp>
      <p:sp>
        <p:nvSpPr>
          <p:cNvPr id="40" name="Text 38"/>
          <p:cNvSpPr/>
          <p:nvPr/>
        </p:nvSpPr>
        <p:spPr>
          <a:xfrm>
            <a:off x="640080" y="2770632"/>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04</a:t>
            </a:r>
            <a:endParaRPr lang="en-US" sz="1060" dirty="0"/>
          </a:p>
        </p:txBody>
      </p:sp>
      <p:sp>
        <p:nvSpPr>
          <p:cNvPr id="41" name="Text 39"/>
          <p:cNvSpPr/>
          <p:nvPr/>
        </p:nvSpPr>
        <p:spPr>
          <a:xfrm>
            <a:off x="1033272" y="2756916"/>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t>
            </a:r>
            <a:endParaRPr lang="en-US" sz="1280" dirty="0"/>
          </a:p>
        </p:txBody>
      </p:sp>
      <p:sp>
        <p:nvSpPr>
          <p:cNvPr id="42" name="Text 40"/>
          <p:cNvSpPr/>
          <p:nvPr/>
        </p:nvSpPr>
        <p:spPr>
          <a:xfrm>
            <a:off x="640080" y="3012948"/>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05</a:t>
            </a:r>
            <a:endParaRPr lang="en-US" sz="1060" dirty="0"/>
          </a:p>
        </p:txBody>
      </p:sp>
      <p:sp>
        <p:nvSpPr>
          <p:cNvPr id="43" name="Text 41"/>
          <p:cNvSpPr/>
          <p:nvPr/>
        </p:nvSpPr>
        <p:spPr>
          <a:xfrm>
            <a:off x="1033272" y="2999232"/>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function TicketRow({ ticket }) {</a:t>
            </a:r>
            <a:endParaRPr lang="en-US" sz="1280" dirty="0"/>
          </a:p>
        </p:txBody>
      </p:sp>
      <p:sp>
        <p:nvSpPr>
          <p:cNvPr id="44" name="Text 42"/>
          <p:cNvSpPr/>
          <p:nvPr/>
        </p:nvSpPr>
        <p:spPr>
          <a:xfrm>
            <a:off x="640080" y="325526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06</a:t>
            </a:r>
            <a:endParaRPr lang="en-US" sz="1060" dirty="0"/>
          </a:p>
        </p:txBody>
      </p:sp>
      <p:sp>
        <p:nvSpPr>
          <p:cNvPr id="45" name="Text 43"/>
          <p:cNvSpPr/>
          <p:nvPr/>
        </p:nvSpPr>
        <p:spPr>
          <a:xfrm>
            <a:off x="1033272" y="324154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return &lt;TicketTitle text={ticket.title} /&gt;;</a:t>
            </a:r>
            <a:endParaRPr lang="en-US" sz="1280" dirty="0"/>
          </a:p>
        </p:txBody>
      </p:sp>
      <p:sp>
        <p:nvSpPr>
          <p:cNvPr id="46" name="Text 44"/>
          <p:cNvSpPr/>
          <p:nvPr/>
        </p:nvSpPr>
        <p:spPr>
          <a:xfrm>
            <a:off x="640080" y="349758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07</a:t>
            </a:r>
            <a:endParaRPr lang="en-US" sz="1060" dirty="0"/>
          </a:p>
        </p:txBody>
      </p:sp>
      <p:sp>
        <p:nvSpPr>
          <p:cNvPr id="47" name="Text 45"/>
          <p:cNvSpPr/>
          <p:nvPr/>
        </p:nvSpPr>
        <p:spPr>
          <a:xfrm>
            <a:off x="1033272" y="348386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a:t>
            </a:r>
            <a:endParaRPr lang="en-US" sz="1280" dirty="0"/>
          </a:p>
        </p:txBody>
      </p:sp>
      <p:sp>
        <p:nvSpPr>
          <p:cNvPr id="48" name="Text 46"/>
          <p:cNvSpPr/>
          <p:nvPr/>
        </p:nvSpPr>
        <p:spPr>
          <a:xfrm>
            <a:off x="640080" y="373989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08</a:t>
            </a:r>
            <a:endParaRPr lang="en-US" sz="1060" dirty="0"/>
          </a:p>
        </p:txBody>
      </p:sp>
      <p:sp>
        <p:nvSpPr>
          <p:cNvPr id="49" name="Text 47"/>
          <p:cNvSpPr/>
          <p:nvPr/>
        </p:nvSpPr>
        <p:spPr>
          <a:xfrm>
            <a:off x="1033272" y="3726180"/>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t>
            </a:r>
            <a:endParaRPr lang="en-US" sz="1280" dirty="0"/>
          </a:p>
        </p:txBody>
      </p:sp>
      <p:sp>
        <p:nvSpPr>
          <p:cNvPr id="50" name="Text 48"/>
          <p:cNvSpPr/>
          <p:nvPr/>
        </p:nvSpPr>
        <p:spPr>
          <a:xfrm>
            <a:off x="640080" y="3982212"/>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09</a:t>
            </a:r>
            <a:endParaRPr lang="en-US" sz="1060" dirty="0"/>
          </a:p>
        </p:txBody>
      </p:sp>
      <p:sp>
        <p:nvSpPr>
          <p:cNvPr id="51" name="Text 49"/>
          <p:cNvSpPr/>
          <p:nvPr/>
        </p:nvSpPr>
        <p:spPr>
          <a:xfrm>
            <a:off x="1033272" y="3968496"/>
            <a:ext cx="4782312" cy="242316"/>
          </a:xfrm>
          <a:prstGeom prst="rect">
            <a:avLst/>
          </a:prstGeom>
          <a:noFill/>
          <a:ln/>
        </p:spPr>
        <p:txBody>
          <a:bodyPr wrap="square" lIns="0" tIns="0" rIns="0" bIns="0" rtlCol="0" anchor="ctr">
            <a:normAutofit/>
          </a:bodyPr>
          <a:lstStyle/>
          <a:p>
            <a:pPr indent="0" marL="0">
              <a:buNone/>
            </a:pPr>
            <a:r>
              <a:rPr lang="en-US" sz="1280" dirty="0">
                <a:solidFill>
                  <a:srgbClr val="78C9A6"/>
                </a:solidFill>
                <a:latin typeface="Aptos Mono" pitchFamily="34" charset="0"/>
                <a:ea typeface="Aptos Mono" pitchFamily="34" charset="-122"/>
                <a:cs typeface="Aptos Mono" pitchFamily="34" charset="-120"/>
              </a:rPr>
              <a:t>// Un file in più, nessun confine reale.</a:t>
            </a:r>
            <a:endParaRPr lang="en-US" sz="1280" dirty="0"/>
          </a:p>
        </p:txBody>
      </p:sp>
      <p:sp>
        <p:nvSpPr>
          <p:cNvPr id="52" name="Shape 50"/>
          <p:cNvSpPr/>
          <p:nvPr/>
        </p:nvSpPr>
        <p:spPr>
          <a:xfrm>
            <a:off x="6217920" y="1581912"/>
            <a:ext cx="5440680" cy="4526280"/>
          </a:xfrm>
          <a:prstGeom prst="roundRect">
            <a:avLst>
              <a:gd name="adj" fmla="val 1010"/>
            </a:avLst>
          </a:prstGeom>
          <a:solidFill>
            <a:srgbClr val="0D1A2B"/>
          </a:solidFill>
          <a:ln w="13970">
            <a:solidFill>
              <a:srgbClr val="263A55"/>
            </a:solidFill>
            <a:prstDash val="solid"/>
          </a:ln>
        </p:spPr>
      </p:sp>
      <p:sp>
        <p:nvSpPr>
          <p:cNvPr id="53" name="Shape 51"/>
          <p:cNvSpPr/>
          <p:nvPr/>
        </p:nvSpPr>
        <p:spPr>
          <a:xfrm>
            <a:off x="6217920" y="1581912"/>
            <a:ext cx="5440680" cy="347472"/>
          </a:xfrm>
          <a:prstGeom prst="rect">
            <a:avLst/>
          </a:prstGeom>
          <a:solidFill>
            <a:srgbClr val="122238"/>
          </a:solidFill>
          <a:ln w="12700">
            <a:solidFill>
              <a:srgbClr val="122238"/>
            </a:solidFill>
            <a:prstDash val="solid"/>
          </a:ln>
        </p:spPr>
      </p:sp>
      <p:sp>
        <p:nvSpPr>
          <p:cNvPr id="54" name="Shape 52"/>
          <p:cNvSpPr/>
          <p:nvPr/>
        </p:nvSpPr>
        <p:spPr>
          <a:xfrm>
            <a:off x="6382512" y="1623060"/>
            <a:ext cx="658368" cy="274320"/>
          </a:xfrm>
          <a:prstGeom prst="roundRect">
            <a:avLst>
              <a:gd name="adj" fmla="val 20000"/>
            </a:avLst>
          </a:prstGeom>
          <a:solidFill>
            <a:srgbClr val="6FE3B1">
              <a:alpha val="20000"/>
            </a:srgbClr>
          </a:solidFill>
          <a:ln w="10160">
            <a:solidFill>
              <a:srgbClr val="6FE3B1">
                <a:alpha val="55000"/>
              </a:srgbClr>
            </a:solidFill>
            <a:prstDash val="solid"/>
          </a:ln>
        </p:spPr>
      </p:sp>
      <p:sp>
        <p:nvSpPr>
          <p:cNvPr id="55" name="Text 53"/>
          <p:cNvSpPr/>
          <p:nvPr/>
        </p:nvSpPr>
        <p:spPr>
          <a:xfrm>
            <a:off x="6473952" y="1682496"/>
            <a:ext cx="475488" cy="128016"/>
          </a:xfrm>
          <a:prstGeom prst="rect">
            <a:avLst/>
          </a:prstGeom>
          <a:noFill/>
          <a:ln/>
        </p:spPr>
        <p:txBody>
          <a:bodyPr wrap="square" lIns="0" tIns="0" rIns="0" bIns="0" rtlCol="0" anchor="ctr"/>
          <a:lstStyle/>
          <a:p>
            <a:pPr algn="ctr" indent="0" marL="0">
              <a:buNone/>
            </a:pPr>
            <a:r>
              <a:rPr lang="en-US" sz="820" b="1" dirty="0">
                <a:solidFill>
                  <a:srgbClr val="6FE3B1"/>
                </a:solidFill>
                <a:latin typeface="Aptos Mono" pitchFamily="34" charset="0"/>
                <a:ea typeface="Aptos Mono" pitchFamily="34" charset="-122"/>
                <a:cs typeface="Aptos Mono" pitchFamily="34" charset="-120"/>
              </a:rPr>
              <a:t>TSX</a:t>
            </a:r>
            <a:endParaRPr lang="en-US" sz="820" dirty="0"/>
          </a:p>
        </p:txBody>
      </p:sp>
      <p:sp>
        <p:nvSpPr>
          <p:cNvPr id="56" name="Text 54"/>
          <p:cNvSpPr/>
          <p:nvPr/>
        </p:nvSpPr>
        <p:spPr>
          <a:xfrm>
            <a:off x="7178040" y="1677924"/>
            <a:ext cx="420624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DOPO</a:t>
            </a:r>
            <a:endParaRPr lang="en-US" sz="880" dirty="0"/>
          </a:p>
        </p:txBody>
      </p:sp>
      <p:sp>
        <p:nvSpPr>
          <p:cNvPr id="57" name="Text 55"/>
          <p:cNvSpPr/>
          <p:nvPr/>
        </p:nvSpPr>
        <p:spPr>
          <a:xfrm>
            <a:off x="6327648" y="204368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01</a:t>
            </a:r>
            <a:endParaRPr lang="en-US" sz="1060" dirty="0"/>
          </a:p>
        </p:txBody>
      </p:sp>
      <p:sp>
        <p:nvSpPr>
          <p:cNvPr id="58" name="Text 56"/>
          <p:cNvSpPr/>
          <p:nvPr/>
        </p:nvSpPr>
        <p:spPr>
          <a:xfrm>
            <a:off x="6720840" y="202996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function TicketRow({ ticket, onSelect }) {</a:t>
            </a:r>
            <a:endParaRPr lang="en-US" sz="1280" dirty="0"/>
          </a:p>
        </p:txBody>
      </p:sp>
      <p:sp>
        <p:nvSpPr>
          <p:cNvPr id="59" name="Text 57"/>
          <p:cNvSpPr/>
          <p:nvPr/>
        </p:nvSpPr>
        <p:spPr>
          <a:xfrm>
            <a:off x="6327648" y="228600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02</a:t>
            </a:r>
            <a:endParaRPr lang="en-US" sz="1060" dirty="0"/>
          </a:p>
        </p:txBody>
      </p:sp>
      <p:sp>
        <p:nvSpPr>
          <p:cNvPr id="60" name="Text 58"/>
          <p:cNvSpPr/>
          <p:nvPr/>
        </p:nvSpPr>
        <p:spPr>
          <a:xfrm>
            <a:off x="6720840" y="227228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return (</a:t>
            </a:r>
            <a:endParaRPr lang="en-US" sz="1280" dirty="0"/>
          </a:p>
        </p:txBody>
      </p:sp>
      <p:sp>
        <p:nvSpPr>
          <p:cNvPr id="61" name="Text 59"/>
          <p:cNvSpPr/>
          <p:nvPr/>
        </p:nvSpPr>
        <p:spPr>
          <a:xfrm>
            <a:off x="6327648" y="252831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03</a:t>
            </a:r>
            <a:endParaRPr lang="en-US" sz="1060" dirty="0"/>
          </a:p>
        </p:txBody>
      </p:sp>
      <p:sp>
        <p:nvSpPr>
          <p:cNvPr id="62" name="Text 60"/>
          <p:cNvSpPr/>
          <p:nvPr/>
        </p:nvSpPr>
        <p:spPr>
          <a:xfrm>
            <a:off x="6720840" y="2514600"/>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&lt;article onClick={() =&gt; onSelect(ticket.id)}&gt;</a:t>
            </a:r>
            <a:endParaRPr lang="en-US" sz="1280" dirty="0"/>
          </a:p>
        </p:txBody>
      </p:sp>
      <p:sp>
        <p:nvSpPr>
          <p:cNvPr id="63" name="Text 61"/>
          <p:cNvSpPr/>
          <p:nvPr/>
        </p:nvSpPr>
        <p:spPr>
          <a:xfrm>
            <a:off x="6327648" y="2770632"/>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04</a:t>
            </a:r>
            <a:endParaRPr lang="en-US" sz="1060" dirty="0"/>
          </a:p>
        </p:txBody>
      </p:sp>
      <p:sp>
        <p:nvSpPr>
          <p:cNvPr id="64" name="Text 62"/>
          <p:cNvSpPr/>
          <p:nvPr/>
        </p:nvSpPr>
        <p:spPr>
          <a:xfrm>
            <a:off x="6720840" y="2756916"/>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&lt;h2&gt;{ticket.title}&lt;/h2&gt;</a:t>
            </a:r>
            <a:endParaRPr lang="en-US" sz="1280" dirty="0"/>
          </a:p>
        </p:txBody>
      </p:sp>
      <p:sp>
        <p:nvSpPr>
          <p:cNvPr id="65" name="Text 63"/>
          <p:cNvSpPr/>
          <p:nvPr/>
        </p:nvSpPr>
        <p:spPr>
          <a:xfrm>
            <a:off x="6327648" y="3012948"/>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05</a:t>
            </a:r>
            <a:endParaRPr lang="en-US" sz="1060" dirty="0"/>
          </a:p>
        </p:txBody>
      </p:sp>
      <p:sp>
        <p:nvSpPr>
          <p:cNvPr id="66" name="Text 64"/>
          <p:cNvSpPr/>
          <p:nvPr/>
        </p:nvSpPr>
        <p:spPr>
          <a:xfrm>
            <a:off x="6720840" y="2999232"/>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&lt;StatusBadge status={ticket.status} /&gt;</a:t>
            </a:r>
            <a:endParaRPr lang="en-US" sz="1280" dirty="0"/>
          </a:p>
        </p:txBody>
      </p:sp>
      <p:sp>
        <p:nvSpPr>
          <p:cNvPr id="67" name="Text 65"/>
          <p:cNvSpPr/>
          <p:nvPr/>
        </p:nvSpPr>
        <p:spPr>
          <a:xfrm>
            <a:off x="6327648" y="325526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06</a:t>
            </a:r>
            <a:endParaRPr lang="en-US" sz="1060" dirty="0"/>
          </a:p>
        </p:txBody>
      </p:sp>
      <p:sp>
        <p:nvSpPr>
          <p:cNvPr id="68" name="Text 66"/>
          <p:cNvSpPr/>
          <p:nvPr/>
        </p:nvSpPr>
        <p:spPr>
          <a:xfrm>
            <a:off x="6720840" y="324154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&lt;/article&gt;</a:t>
            </a:r>
            <a:endParaRPr lang="en-US" sz="1280" dirty="0"/>
          </a:p>
        </p:txBody>
      </p:sp>
      <p:sp>
        <p:nvSpPr>
          <p:cNvPr id="69" name="Text 67"/>
          <p:cNvSpPr/>
          <p:nvPr/>
        </p:nvSpPr>
        <p:spPr>
          <a:xfrm>
            <a:off x="6327648" y="349758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07</a:t>
            </a:r>
            <a:endParaRPr lang="en-US" sz="1060" dirty="0"/>
          </a:p>
        </p:txBody>
      </p:sp>
      <p:sp>
        <p:nvSpPr>
          <p:cNvPr id="70" name="Text 68"/>
          <p:cNvSpPr/>
          <p:nvPr/>
        </p:nvSpPr>
        <p:spPr>
          <a:xfrm>
            <a:off x="6720840" y="348386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t>
            </a:r>
            <a:endParaRPr lang="en-US" sz="1280" dirty="0"/>
          </a:p>
        </p:txBody>
      </p:sp>
      <p:sp>
        <p:nvSpPr>
          <p:cNvPr id="71" name="Text 69"/>
          <p:cNvSpPr/>
          <p:nvPr/>
        </p:nvSpPr>
        <p:spPr>
          <a:xfrm>
            <a:off x="6327648" y="373989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08</a:t>
            </a:r>
            <a:endParaRPr lang="en-US" sz="1060" dirty="0"/>
          </a:p>
        </p:txBody>
      </p:sp>
      <p:sp>
        <p:nvSpPr>
          <p:cNvPr id="72" name="Text 70"/>
          <p:cNvSpPr/>
          <p:nvPr/>
        </p:nvSpPr>
        <p:spPr>
          <a:xfrm>
            <a:off x="6720840" y="3726180"/>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a:t>
            </a:r>
            <a:endParaRPr lang="en-US" sz="1280" dirty="0"/>
          </a:p>
        </p:txBody>
      </p:sp>
      <p:sp>
        <p:nvSpPr>
          <p:cNvPr id="73" name="Text 71"/>
          <p:cNvSpPr/>
          <p:nvPr/>
        </p:nvSpPr>
        <p:spPr>
          <a:xfrm>
            <a:off x="6327648" y="3982212"/>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09</a:t>
            </a:r>
            <a:endParaRPr lang="en-US" sz="1060" dirty="0"/>
          </a:p>
        </p:txBody>
      </p:sp>
      <p:sp>
        <p:nvSpPr>
          <p:cNvPr id="74" name="Text 72"/>
          <p:cNvSpPr/>
          <p:nvPr/>
        </p:nvSpPr>
        <p:spPr>
          <a:xfrm>
            <a:off x="6720840" y="3968496"/>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t>
            </a:r>
            <a:endParaRPr lang="en-US" sz="1280" dirty="0"/>
          </a:p>
        </p:txBody>
      </p:sp>
      <p:sp>
        <p:nvSpPr>
          <p:cNvPr id="75" name="Text 73"/>
          <p:cNvSpPr/>
          <p:nvPr/>
        </p:nvSpPr>
        <p:spPr>
          <a:xfrm>
            <a:off x="6327648" y="4224528"/>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10</a:t>
            </a:r>
            <a:endParaRPr lang="en-US" sz="1060" dirty="0"/>
          </a:p>
        </p:txBody>
      </p:sp>
      <p:sp>
        <p:nvSpPr>
          <p:cNvPr id="76" name="Text 74"/>
          <p:cNvSpPr/>
          <p:nvPr/>
        </p:nvSpPr>
        <p:spPr>
          <a:xfrm>
            <a:off x="6720840" y="4210812"/>
            <a:ext cx="4782312" cy="242316"/>
          </a:xfrm>
          <a:prstGeom prst="rect">
            <a:avLst/>
          </a:prstGeom>
          <a:noFill/>
          <a:ln/>
        </p:spPr>
        <p:txBody>
          <a:bodyPr wrap="square" lIns="0" tIns="0" rIns="0" bIns="0" rtlCol="0" anchor="ctr">
            <a:normAutofit/>
          </a:bodyPr>
          <a:lstStyle/>
          <a:p>
            <a:pPr indent="0" marL="0">
              <a:buNone/>
            </a:pPr>
            <a:r>
              <a:rPr lang="en-US" sz="1280" dirty="0">
                <a:solidFill>
                  <a:srgbClr val="78C9A6"/>
                </a:solidFill>
                <a:latin typeface="Aptos Mono" pitchFamily="34" charset="0"/>
                <a:ea typeface="Aptos Mono" pitchFamily="34" charset="-122"/>
                <a:cs typeface="Aptos Mono" pitchFamily="34" charset="-120"/>
              </a:rPr>
              <a:t>// StatusBadge possiede un concetto autonomo.</a:t>
            </a:r>
            <a:endParaRPr lang="en-US" sz="1280" dirty="0"/>
          </a:p>
        </p:txBody>
      </p:sp>
      <p:sp>
        <p:nvSpPr>
          <p:cNvPr id="77" name="Shape 75"/>
          <p:cNvSpPr/>
          <p:nvPr/>
        </p:nvSpPr>
        <p:spPr>
          <a:xfrm>
            <a:off x="5870448" y="3310128"/>
            <a:ext cx="274320" cy="475488"/>
          </a:xfrm>
          <a:prstGeom prst="chevron">
            <a:avLst/>
          </a:prstGeom>
          <a:solidFill>
            <a:srgbClr val="4C7DFF"/>
          </a:solidFill>
          <a:ln w="12700">
            <a:solidFill>
              <a:srgbClr val="4C7DFF"/>
            </a:solidFill>
            <a:prstDash val="solid"/>
          </a:ln>
        </p:spPr>
      </p:sp>
      <p:sp>
        <p:nvSpPr>
          <p:cNvPr id="78" name="Text 76"/>
          <p:cNvSpPr/>
          <p:nvPr/>
        </p:nvSpPr>
        <p:spPr>
          <a:xfrm>
            <a:off x="1828800" y="6217920"/>
            <a:ext cx="8503920" cy="210312"/>
          </a:xfrm>
          <a:prstGeom prst="rect">
            <a:avLst/>
          </a:prstGeom>
          <a:noFill/>
          <a:ln/>
        </p:spPr>
        <p:txBody>
          <a:bodyPr wrap="square" lIns="0" tIns="0" rIns="0" bIns="0" rtlCol="0" anchor="ctr"/>
          <a:lstStyle/>
          <a:p>
            <a:pPr algn="ctr" indent="0" marL="0">
              <a:buNone/>
            </a:pPr>
            <a:r>
              <a:rPr lang="en-US" sz="1050" b="1" dirty="0">
                <a:solidFill>
                  <a:srgbClr val="F5C96A"/>
                </a:solidFill>
                <a:latin typeface="Aptos" pitchFamily="34" charset="0"/>
                <a:ea typeface="Aptos" pitchFamily="34" charset="-122"/>
                <a:cs typeface="Aptos" pitchFamily="34" charset="-120"/>
              </a:rPr>
              <a:t>Scomporre significa dare un nome a una responsabilità, non nascondere tre righe.</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31</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CONDITIONAL UI</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La composition rende esplicite le varianti valide</a:t>
            </a:r>
            <a:endParaRPr lang="en-US" sz="2700" dirty="0"/>
          </a:p>
        </p:txBody>
      </p:sp>
      <p:sp>
        <p:nvSpPr>
          <p:cNvPr id="29" name="Shape 27"/>
          <p:cNvSpPr/>
          <p:nvPr/>
        </p:nvSpPr>
        <p:spPr>
          <a:xfrm>
            <a:off x="530352" y="1591056"/>
            <a:ext cx="7589520" cy="4553712"/>
          </a:xfrm>
          <a:prstGeom prst="roundRect">
            <a:avLst>
              <a:gd name="adj" fmla="val 1004"/>
            </a:avLst>
          </a:prstGeom>
          <a:solidFill>
            <a:srgbClr val="0D1A2B"/>
          </a:solidFill>
          <a:ln w="13970">
            <a:solidFill>
              <a:srgbClr val="263A55"/>
            </a:solidFill>
            <a:prstDash val="solid"/>
          </a:ln>
        </p:spPr>
      </p:sp>
      <p:sp>
        <p:nvSpPr>
          <p:cNvPr id="30" name="Shape 28"/>
          <p:cNvSpPr/>
          <p:nvPr/>
        </p:nvSpPr>
        <p:spPr>
          <a:xfrm>
            <a:off x="530352" y="1591056"/>
            <a:ext cx="7589520" cy="347472"/>
          </a:xfrm>
          <a:prstGeom prst="rect">
            <a:avLst/>
          </a:prstGeom>
          <a:solidFill>
            <a:srgbClr val="122238"/>
          </a:solidFill>
          <a:ln w="12700">
            <a:solidFill>
              <a:srgbClr val="122238"/>
            </a:solidFill>
            <a:prstDash val="solid"/>
          </a:ln>
        </p:spPr>
      </p:sp>
      <p:sp>
        <p:nvSpPr>
          <p:cNvPr id="31" name="Shape 29"/>
          <p:cNvSpPr/>
          <p:nvPr/>
        </p:nvSpPr>
        <p:spPr>
          <a:xfrm>
            <a:off x="694944" y="1632204"/>
            <a:ext cx="658368" cy="274320"/>
          </a:xfrm>
          <a:prstGeom prst="roundRect">
            <a:avLst>
              <a:gd name="adj" fmla="val 20000"/>
            </a:avLst>
          </a:prstGeom>
          <a:solidFill>
            <a:srgbClr val="7CD4FF">
              <a:alpha val="20000"/>
            </a:srgbClr>
          </a:solidFill>
          <a:ln w="10160">
            <a:solidFill>
              <a:srgbClr val="7CD4FF">
                <a:alpha val="55000"/>
              </a:srgbClr>
            </a:solidFill>
            <a:prstDash val="solid"/>
          </a:ln>
        </p:spPr>
      </p:sp>
      <p:sp>
        <p:nvSpPr>
          <p:cNvPr id="32" name="Text 30"/>
          <p:cNvSpPr/>
          <p:nvPr/>
        </p:nvSpPr>
        <p:spPr>
          <a:xfrm>
            <a:off x="786384" y="1691640"/>
            <a:ext cx="475488" cy="128016"/>
          </a:xfrm>
          <a:prstGeom prst="rect">
            <a:avLst/>
          </a:prstGeom>
          <a:noFill/>
          <a:ln/>
        </p:spPr>
        <p:txBody>
          <a:bodyPr wrap="square" lIns="0" tIns="0" rIns="0" bIns="0" rtlCol="0" anchor="ctr"/>
          <a:lstStyle/>
          <a:p>
            <a:pPr algn="ctr" indent="0" marL="0">
              <a:buNone/>
            </a:pPr>
            <a:r>
              <a:rPr lang="en-US" sz="820" b="1" dirty="0">
                <a:solidFill>
                  <a:srgbClr val="7CD4FF"/>
                </a:solidFill>
                <a:latin typeface="Aptos Mono" pitchFamily="34" charset="0"/>
                <a:ea typeface="Aptos Mono" pitchFamily="34" charset="-122"/>
                <a:cs typeface="Aptos Mono" pitchFamily="34" charset="-120"/>
              </a:rPr>
              <a:t>TSX</a:t>
            </a:r>
            <a:endParaRPr lang="en-US" sz="820" dirty="0"/>
          </a:p>
        </p:txBody>
      </p:sp>
      <p:sp>
        <p:nvSpPr>
          <p:cNvPr id="33" name="Text 31"/>
          <p:cNvSpPr/>
          <p:nvPr/>
        </p:nvSpPr>
        <p:spPr>
          <a:xfrm>
            <a:off x="1490472" y="1687068"/>
            <a:ext cx="635508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TicketPanel.tsx</a:t>
            </a:r>
            <a:endParaRPr lang="en-US" sz="880" dirty="0"/>
          </a:p>
        </p:txBody>
      </p:sp>
      <p:sp>
        <p:nvSpPr>
          <p:cNvPr id="34" name="Text 32"/>
          <p:cNvSpPr/>
          <p:nvPr/>
        </p:nvSpPr>
        <p:spPr>
          <a:xfrm>
            <a:off x="640080" y="2052828"/>
            <a:ext cx="320040" cy="237744"/>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01</a:t>
            </a:r>
            <a:endParaRPr lang="en-US" sz="1200" dirty="0"/>
          </a:p>
        </p:txBody>
      </p:sp>
      <p:sp>
        <p:nvSpPr>
          <p:cNvPr id="35" name="Text 33"/>
          <p:cNvSpPr/>
          <p:nvPr/>
        </p:nvSpPr>
        <p:spPr>
          <a:xfrm>
            <a:off x="1033272" y="2039112"/>
            <a:ext cx="6931152" cy="237744"/>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type Props = {</a:t>
            </a:r>
            <a:endParaRPr lang="en-US" sz="1420" dirty="0"/>
          </a:p>
        </p:txBody>
      </p:sp>
      <p:sp>
        <p:nvSpPr>
          <p:cNvPr id="36" name="Text 34"/>
          <p:cNvSpPr/>
          <p:nvPr/>
        </p:nvSpPr>
        <p:spPr>
          <a:xfrm>
            <a:off x="640080" y="2290572"/>
            <a:ext cx="320040" cy="237744"/>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02</a:t>
            </a:r>
            <a:endParaRPr lang="en-US" sz="1200" dirty="0"/>
          </a:p>
        </p:txBody>
      </p:sp>
      <p:sp>
        <p:nvSpPr>
          <p:cNvPr id="37" name="Text 35"/>
          <p:cNvSpPr/>
          <p:nvPr/>
        </p:nvSpPr>
        <p:spPr>
          <a:xfrm>
            <a:off x="1033272" y="2276856"/>
            <a:ext cx="6931152" cy="237744"/>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state: 'loading' | 'error' | 'empty' | 'ready';</a:t>
            </a:r>
            <a:endParaRPr lang="en-US" sz="1420" dirty="0"/>
          </a:p>
        </p:txBody>
      </p:sp>
      <p:sp>
        <p:nvSpPr>
          <p:cNvPr id="38" name="Text 36"/>
          <p:cNvSpPr/>
          <p:nvPr/>
        </p:nvSpPr>
        <p:spPr>
          <a:xfrm>
            <a:off x="640080" y="2528316"/>
            <a:ext cx="320040" cy="237744"/>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03</a:t>
            </a:r>
            <a:endParaRPr lang="en-US" sz="1200" dirty="0"/>
          </a:p>
        </p:txBody>
      </p:sp>
      <p:sp>
        <p:nvSpPr>
          <p:cNvPr id="39" name="Text 37"/>
          <p:cNvSpPr/>
          <p:nvPr/>
        </p:nvSpPr>
        <p:spPr>
          <a:xfrm>
            <a:off x="1033272" y="2514600"/>
            <a:ext cx="6931152" cy="237744"/>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tickets: Ticket[];</a:t>
            </a:r>
            <a:endParaRPr lang="en-US" sz="1420" dirty="0"/>
          </a:p>
        </p:txBody>
      </p:sp>
      <p:sp>
        <p:nvSpPr>
          <p:cNvPr id="40" name="Text 38"/>
          <p:cNvSpPr/>
          <p:nvPr/>
        </p:nvSpPr>
        <p:spPr>
          <a:xfrm>
            <a:off x="640080" y="2766060"/>
            <a:ext cx="320040" cy="237744"/>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04</a:t>
            </a:r>
            <a:endParaRPr lang="en-US" sz="1200" dirty="0"/>
          </a:p>
        </p:txBody>
      </p:sp>
      <p:sp>
        <p:nvSpPr>
          <p:cNvPr id="41" name="Text 39"/>
          <p:cNvSpPr/>
          <p:nvPr/>
        </p:nvSpPr>
        <p:spPr>
          <a:xfrm>
            <a:off x="1033272" y="2752344"/>
            <a:ext cx="6931152" cy="237744"/>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a:t>
            </a:r>
            <a:endParaRPr lang="en-US" sz="1420" dirty="0"/>
          </a:p>
        </p:txBody>
      </p:sp>
      <p:sp>
        <p:nvSpPr>
          <p:cNvPr id="42" name="Text 40"/>
          <p:cNvSpPr/>
          <p:nvPr/>
        </p:nvSpPr>
        <p:spPr>
          <a:xfrm>
            <a:off x="640080" y="3003804"/>
            <a:ext cx="320040" cy="237744"/>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05</a:t>
            </a:r>
            <a:endParaRPr lang="en-US" sz="1200" dirty="0"/>
          </a:p>
        </p:txBody>
      </p:sp>
      <p:sp>
        <p:nvSpPr>
          <p:cNvPr id="43" name="Text 41"/>
          <p:cNvSpPr/>
          <p:nvPr/>
        </p:nvSpPr>
        <p:spPr>
          <a:xfrm>
            <a:off x="1033272" y="2990088"/>
            <a:ext cx="6931152" cy="237744"/>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44" name="Text 42"/>
          <p:cNvSpPr/>
          <p:nvPr/>
        </p:nvSpPr>
        <p:spPr>
          <a:xfrm>
            <a:off x="640080" y="3241548"/>
            <a:ext cx="320040" cy="237744"/>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06</a:t>
            </a:r>
            <a:endParaRPr lang="en-US" sz="1200" dirty="0"/>
          </a:p>
        </p:txBody>
      </p:sp>
      <p:sp>
        <p:nvSpPr>
          <p:cNvPr id="45" name="Text 43"/>
          <p:cNvSpPr/>
          <p:nvPr/>
        </p:nvSpPr>
        <p:spPr>
          <a:xfrm>
            <a:off x="1033272" y="3227832"/>
            <a:ext cx="6931152" cy="237744"/>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export function TicketPanel({ state, tickets }: Props) {</a:t>
            </a:r>
            <a:endParaRPr lang="en-US" sz="1420" dirty="0"/>
          </a:p>
        </p:txBody>
      </p:sp>
      <p:sp>
        <p:nvSpPr>
          <p:cNvPr id="46" name="Text 44"/>
          <p:cNvSpPr/>
          <p:nvPr/>
        </p:nvSpPr>
        <p:spPr>
          <a:xfrm>
            <a:off x="640080" y="3479292"/>
            <a:ext cx="320040" cy="237744"/>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07</a:t>
            </a:r>
            <a:endParaRPr lang="en-US" sz="1200" dirty="0"/>
          </a:p>
        </p:txBody>
      </p:sp>
      <p:sp>
        <p:nvSpPr>
          <p:cNvPr id="47" name="Text 45"/>
          <p:cNvSpPr/>
          <p:nvPr/>
        </p:nvSpPr>
        <p:spPr>
          <a:xfrm>
            <a:off x="1033272" y="3465576"/>
            <a:ext cx="6931152" cy="237744"/>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if (state === 'loading') return &lt;Spinner /&gt;;</a:t>
            </a:r>
            <a:endParaRPr lang="en-US" sz="1420" dirty="0"/>
          </a:p>
        </p:txBody>
      </p:sp>
      <p:sp>
        <p:nvSpPr>
          <p:cNvPr id="48" name="Text 46"/>
          <p:cNvSpPr/>
          <p:nvPr/>
        </p:nvSpPr>
        <p:spPr>
          <a:xfrm>
            <a:off x="640080" y="3717036"/>
            <a:ext cx="320040" cy="237744"/>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08</a:t>
            </a:r>
            <a:endParaRPr lang="en-US" sz="1200" dirty="0"/>
          </a:p>
        </p:txBody>
      </p:sp>
      <p:sp>
        <p:nvSpPr>
          <p:cNvPr id="49" name="Text 47"/>
          <p:cNvSpPr/>
          <p:nvPr/>
        </p:nvSpPr>
        <p:spPr>
          <a:xfrm>
            <a:off x="1033272" y="3703320"/>
            <a:ext cx="6931152" cy="237744"/>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if (state === 'error') return &lt;ErrorBanner /&gt;;</a:t>
            </a:r>
            <a:endParaRPr lang="en-US" sz="1420" dirty="0"/>
          </a:p>
        </p:txBody>
      </p:sp>
      <p:sp>
        <p:nvSpPr>
          <p:cNvPr id="50" name="Text 48"/>
          <p:cNvSpPr/>
          <p:nvPr/>
        </p:nvSpPr>
        <p:spPr>
          <a:xfrm>
            <a:off x="640080" y="3954780"/>
            <a:ext cx="320040" cy="237744"/>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09</a:t>
            </a:r>
            <a:endParaRPr lang="en-US" sz="1200" dirty="0"/>
          </a:p>
        </p:txBody>
      </p:sp>
      <p:sp>
        <p:nvSpPr>
          <p:cNvPr id="51" name="Text 49"/>
          <p:cNvSpPr/>
          <p:nvPr/>
        </p:nvSpPr>
        <p:spPr>
          <a:xfrm>
            <a:off x="1033272" y="3941064"/>
            <a:ext cx="6931152" cy="237744"/>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if (state === 'empty') return &lt;EmptyState /&gt;;</a:t>
            </a:r>
            <a:endParaRPr lang="en-US" sz="1420" dirty="0"/>
          </a:p>
        </p:txBody>
      </p:sp>
      <p:sp>
        <p:nvSpPr>
          <p:cNvPr id="52" name="Text 50"/>
          <p:cNvSpPr/>
          <p:nvPr/>
        </p:nvSpPr>
        <p:spPr>
          <a:xfrm>
            <a:off x="640080" y="4192524"/>
            <a:ext cx="320040" cy="237744"/>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10</a:t>
            </a:r>
            <a:endParaRPr lang="en-US" sz="1200" dirty="0"/>
          </a:p>
        </p:txBody>
      </p:sp>
      <p:sp>
        <p:nvSpPr>
          <p:cNvPr id="53" name="Text 51"/>
          <p:cNvSpPr/>
          <p:nvPr/>
        </p:nvSpPr>
        <p:spPr>
          <a:xfrm>
            <a:off x="1033272" y="4178808"/>
            <a:ext cx="6931152" cy="237744"/>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54" name="Text 52"/>
          <p:cNvSpPr/>
          <p:nvPr/>
        </p:nvSpPr>
        <p:spPr>
          <a:xfrm>
            <a:off x="640080" y="4430268"/>
            <a:ext cx="320040" cy="237744"/>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11</a:t>
            </a:r>
            <a:endParaRPr lang="en-US" sz="1200" dirty="0"/>
          </a:p>
        </p:txBody>
      </p:sp>
      <p:sp>
        <p:nvSpPr>
          <p:cNvPr id="55" name="Text 53"/>
          <p:cNvSpPr/>
          <p:nvPr/>
        </p:nvSpPr>
        <p:spPr>
          <a:xfrm>
            <a:off x="1033272" y="4416552"/>
            <a:ext cx="6931152" cy="237744"/>
          </a:xfrm>
          <a:prstGeom prst="rect">
            <a:avLst/>
          </a:prstGeom>
          <a:noFill/>
          <a:ln/>
        </p:spPr>
        <p:txBody>
          <a:bodyPr wrap="square" lIns="0" tIns="0" rIns="0" bIns="0" rtlCol="0" anchor="ctr">
            <a:normAutofit/>
          </a:bodyPr>
          <a:lstStyle/>
          <a:p>
            <a:pPr indent="0" marL="0">
              <a:buNone/>
            </a:pPr>
            <a:r>
              <a:rPr lang="en-US" sz="1420" dirty="0">
                <a:solidFill>
                  <a:srgbClr val="78C9A6"/>
                </a:solidFill>
                <a:latin typeface="Aptos Mono" pitchFamily="34" charset="0"/>
                <a:ea typeface="Aptos Mono" pitchFamily="34" charset="-122"/>
                <a:cs typeface="Aptos Mono" pitchFamily="34" charset="-120"/>
              </a:rPr>
              <a:t>  // Il ramo ready compone la UI reale.</a:t>
            </a:r>
            <a:endParaRPr lang="en-US" sz="1420" dirty="0"/>
          </a:p>
        </p:txBody>
      </p:sp>
      <p:sp>
        <p:nvSpPr>
          <p:cNvPr id="56" name="Text 54"/>
          <p:cNvSpPr/>
          <p:nvPr/>
        </p:nvSpPr>
        <p:spPr>
          <a:xfrm>
            <a:off x="640080" y="4668012"/>
            <a:ext cx="320040" cy="237744"/>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12</a:t>
            </a:r>
            <a:endParaRPr lang="en-US" sz="1200" dirty="0"/>
          </a:p>
        </p:txBody>
      </p:sp>
      <p:sp>
        <p:nvSpPr>
          <p:cNvPr id="57" name="Text 55"/>
          <p:cNvSpPr/>
          <p:nvPr/>
        </p:nvSpPr>
        <p:spPr>
          <a:xfrm>
            <a:off x="1033272" y="4654296"/>
            <a:ext cx="6931152" cy="237744"/>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return (</a:t>
            </a:r>
            <a:endParaRPr lang="en-US" sz="1420" dirty="0"/>
          </a:p>
        </p:txBody>
      </p:sp>
      <p:sp>
        <p:nvSpPr>
          <p:cNvPr id="58" name="Text 56"/>
          <p:cNvSpPr/>
          <p:nvPr/>
        </p:nvSpPr>
        <p:spPr>
          <a:xfrm>
            <a:off x="640080" y="4905756"/>
            <a:ext cx="320040" cy="237744"/>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13</a:t>
            </a:r>
            <a:endParaRPr lang="en-US" sz="1200" dirty="0"/>
          </a:p>
        </p:txBody>
      </p:sp>
      <p:sp>
        <p:nvSpPr>
          <p:cNvPr id="59" name="Text 57"/>
          <p:cNvSpPr/>
          <p:nvPr/>
        </p:nvSpPr>
        <p:spPr>
          <a:xfrm>
            <a:off x="1033272" y="4892040"/>
            <a:ext cx="6931152" cy="237744"/>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&lt;Panel&gt;</a:t>
            </a:r>
            <a:endParaRPr lang="en-US" sz="1420" dirty="0"/>
          </a:p>
        </p:txBody>
      </p:sp>
      <p:sp>
        <p:nvSpPr>
          <p:cNvPr id="60" name="Text 58"/>
          <p:cNvSpPr/>
          <p:nvPr/>
        </p:nvSpPr>
        <p:spPr>
          <a:xfrm>
            <a:off x="640080" y="5143500"/>
            <a:ext cx="320040" cy="237744"/>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14</a:t>
            </a:r>
            <a:endParaRPr lang="en-US" sz="1200" dirty="0"/>
          </a:p>
        </p:txBody>
      </p:sp>
      <p:sp>
        <p:nvSpPr>
          <p:cNvPr id="61" name="Text 59"/>
          <p:cNvSpPr/>
          <p:nvPr/>
        </p:nvSpPr>
        <p:spPr>
          <a:xfrm>
            <a:off x="1033272" y="5129784"/>
            <a:ext cx="6931152" cy="237744"/>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&lt;TicketList tickets={tickets} /&gt;</a:t>
            </a:r>
            <a:endParaRPr lang="en-US" sz="1420" dirty="0"/>
          </a:p>
        </p:txBody>
      </p:sp>
      <p:sp>
        <p:nvSpPr>
          <p:cNvPr id="62" name="Text 60"/>
          <p:cNvSpPr/>
          <p:nvPr/>
        </p:nvSpPr>
        <p:spPr>
          <a:xfrm>
            <a:off x="640080" y="5381244"/>
            <a:ext cx="320040" cy="237744"/>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15</a:t>
            </a:r>
            <a:endParaRPr lang="en-US" sz="1200" dirty="0"/>
          </a:p>
        </p:txBody>
      </p:sp>
      <p:sp>
        <p:nvSpPr>
          <p:cNvPr id="63" name="Text 61"/>
          <p:cNvSpPr/>
          <p:nvPr/>
        </p:nvSpPr>
        <p:spPr>
          <a:xfrm>
            <a:off x="1033272" y="5367528"/>
            <a:ext cx="6931152" cy="237744"/>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&lt;/Panel&gt;</a:t>
            </a:r>
            <a:endParaRPr lang="en-US" sz="1420" dirty="0"/>
          </a:p>
        </p:txBody>
      </p:sp>
      <p:sp>
        <p:nvSpPr>
          <p:cNvPr id="64" name="Text 62"/>
          <p:cNvSpPr/>
          <p:nvPr/>
        </p:nvSpPr>
        <p:spPr>
          <a:xfrm>
            <a:off x="640080" y="5618988"/>
            <a:ext cx="320040" cy="237744"/>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16</a:t>
            </a:r>
            <a:endParaRPr lang="en-US" sz="1200" dirty="0"/>
          </a:p>
        </p:txBody>
      </p:sp>
      <p:sp>
        <p:nvSpPr>
          <p:cNvPr id="65" name="Text 63"/>
          <p:cNvSpPr/>
          <p:nvPr/>
        </p:nvSpPr>
        <p:spPr>
          <a:xfrm>
            <a:off x="1033272" y="5605272"/>
            <a:ext cx="6931152" cy="237744"/>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66" name="Text 64"/>
          <p:cNvSpPr/>
          <p:nvPr/>
        </p:nvSpPr>
        <p:spPr>
          <a:xfrm>
            <a:off x="640080" y="5856732"/>
            <a:ext cx="320040" cy="237744"/>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17</a:t>
            </a:r>
            <a:endParaRPr lang="en-US" sz="1200" dirty="0"/>
          </a:p>
        </p:txBody>
      </p:sp>
      <p:sp>
        <p:nvSpPr>
          <p:cNvPr id="67" name="Text 65"/>
          <p:cNvSpPr/>
          <p:nvPr/>
        </p:nvSpPr>
        <p:spPr>
          <a:xfrm>
            <a:off x="1033272" y="5843016"/>
            <a:ext cx="6931152" cy="237744"/>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a:t>
            </a:r>
            <a:endParaRPr lang="en-US" sz="1420" dirty="0"/>
          </a:p>
        </p:txBody>
      </p:sp>
      <p:sp>
        <p:nvSpPr>
          <p:cNvPr id="68" name="Shape 66"/>
          <p:cNvSpPr/>
          <p:nvPr/>
        </p:nvSpPr>
        <p:spPr>
          <a:xfrm>
            <a:off x="8366760" y="1591056"/>
            <a:ext cx="3310128" cy="4553712"/>
          </a:xfrm>
          <a:prstGeom prst="roundRect">
            <a:avLst>
              <a:gd name="adj" fmla="val 1381"/>
            </a:avLst>
          </a:prstGeom>
          <a:solidFill>
            <a:srgbClr val="122238"/>
          </a:solidFill>
          <a:ln w="12700">
            <a:solidFill>
              <a:srgbClr val="263A55"/>
            </a:solidFill>
            <a:prstDash val="solid"/>
          </a:ln>
        </p:spPr>
      </p:sp>
      <p:sp>
        <p:nvSpPr>
          <p:cNvPr id="69" name="Text 67"/>
          <p:cNvSpPr/>
          <p:nvPr/>
        </p:nvSpPr>
        <p:spPr>
          <a:xfrm>
            <a:off x="8586216" y="1801368"/>
            <a:ext cx="2871216" cy="182880"/>
          </a:xfrm>
          <a:prstGeom prst="rect">
            <a:avLst/>
          </a:prstGeom>
          <a:noFill/>
          <a:ln/>
        </p:spPr>
        <p:txBody>
          <a:bodyPr wrap="square" lIns="0" tIns="0" rIns="0" bIns="0" rtlCol="0" anchor="ctr"/>
          <a:lstStyle/>
          <a:p>
            <a:pPr indent="0" marL="0">
              <a:buNone/>
            </a:pPr>
            <a:r>
              <a:rPr lang="en-US" sz="950" b="1" spc="115" kern="0" dirty="0">
                <a:solidFill>
                  <a:srgbClr val="F5C96A"/>
                </a:solidFill>
                <a:latin typeface="Aptos" pitchFamily="34" charset="0"/>
                <a:ea typeface="Aptos" pitchFamily="34" charset="-122"/>
                <a:cs typeface="Aptos" pitchFamily="34" charset="-120"/>
              </a:rPr>
              <a:t>DA OSSERVARE</a:t>
            </a:r>
            <a:endParaRPr lang="en-US" sz="950" dirty="0"/>
          </a:p>
        </p:txBody>
      </p:sp>
      <p:sp>
        <p:nvSpPr>
          <p:cNvPr id="70" name="Shape 68"/>
          <p:cNvSpPr/>
          <p:nvPr/>
        </p:nvSpPr>
        <p:spPr>
          <a:xfrm>
            <a:off x="8586216" y="2267712"/>
            <a:ext cx="91440" cy="91440"/>
          </a:xfrm>
          <a:prstGeom prst="ellipse">
            <a:avLst/>
          </a:prstGeom>
          <a:solidFill>
            <a:srgbClr val="7CD4FF"/>
          </a:solidFill>
          <a:ln w="12700">
            <a:solidFill>
              <a:srgbClr val="7CD4FF"/>
            </a:solidFill>
            <a:prstDash val="solid"/>
          </a:ln>
        </p:spPr>
      </p:sp>
      <p:sp>
        <p:nvSpPr>
          <p:cNvPr id="71" name="Text 69"/>
          <p:cNvSpPr/>
          <p:nvPr/>
        </p:nvSpPr>
        <p:spPr>
          <a:xfrm>
            <a:off x="8778240" y="2212848"/>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Una union rappresenta stati validi.</a:t>
            </a:r>
            <a:endParaRPr lang="en-US" sz="1420" dirty="0"/>
          </a:p>
        </p:txBody>
      </p:sp>
      <p:sp>
        <p:nvSpPr>
          <p:cNvPr id="72" name="Shape 70"/>
          <p:cNvSpPr/>
          <p:nvPr/>
        </p:nvSpPr>
        <p:spPr>
          <a:xfrm>
            <a:off x="8586216" y="2980944"/>
            <a:ext cx="91440" cy="91440"/>
          </a:xfrm>
          <a:prstGeom prst="ellipse">
            <a:avLst/>
          </a:prstGeom>
          <a:solidFill>
            <a:srgbClr val="7CD4FF"/>
          </a:solidFill>
          <a:ln w="12700">
            <a:solidFill>
              <a:srgbClr val="7CD4FF"/>
            </a:solidFill>
            <a:prstDash val="solid"/>
          </a:ln>
        </p:spPr>
      </p:sp>
      <p:sp>
        <p:nvSpPr>
          <p:cNvPr id="73" name="Text 71"/>
          <p:cNvSpPr/>
          <p:nvPr/>
        </p:nvSpPr>
        <p:spPr>
          <a:xfrm>
            <a:off x="8778240" y="2926080"/>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I return anticipati riducono nesting.</a:t>
            </a:r>
            <a:endParaRPr lang="en-US" sz="1420" dirty="0"/>
          </a:p>
        </p:txBody>
      </p:sp>
      <p:sp>
        <p:nvSpPr>
          <p:cNvPr id="74" name="Shape 72"/>
          <p:cNvSpPr/>
          <p:nvPr/>
        </p:nvSpPr>
        <p:spPr>
          <a:xfrm>
            <a:off x="8586216" y="3694176"/>
            <a:ext cx="91440" cy="91440"/>
          </a:xfrm>
          <a:prstGeom prst="ellipse">
            <a:avLst/>
          </a:prstGeom>
          <a:solidFill>
            <a:srgbClr val="7CD4FF"/>
          </a:solidFill>
          <a:ln w="12700">
            <a:solidFill>
              <a:srgbClr val="7CD4FF"/>
            </a:solidFill>
            <a:prstDash val="solid"/>
          </a:ln>
        </p:spPr>
      </p:sp>
      <p:sp>
        <p:nvSpPr>
          <p:cNvPr id="75" name="Text 73"/>
          <p:cNvSpPr/>
          <p:nvPr/>
        </p:nvSpPr>
        <p:spPr>
          <a:xfrm>
            <a:off x="8778240" y="3639312"/>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Il ramo ready resta leggibile.</a:t>
            </a:r>
            <a:endParaRPr lang="en-US" sz="142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0" y="0"/>
            <a:ext cx="3794760" cy="6858000"/>
          </a:xfrm>
          <a:prstGeom prst="rect">
            <a:avLst/>
          </a:prstGeom>
          <a:solidFill>
            <a:srgbClr val="4C7DFF"/>
          </a:solidFill>
          <a:ln w="12700">
            <a:solidFill>
              <a:srgbClr val="4C7DFF"/>
            </a:solidFill>
            <a:prstDash val="solid"/>
          </a:ln>
        </p:spPr>
      </p:sp>
      <p:sp>
        <p:nvSpPr>
          <p:cNvPr id="3" name="Text 1"/>
          <p:cNvSpPr/>
          <p:nvPr/>
        </p:nvSpPr>
        <p:spPr>
          <a:xfrm>
            <a:off x="576072" y="594360"/>
            <a:ext cx="2560320" cy="1097280"/>
          </a:xfrm>
          <a:prstGeom prst="rect">
            <a:avLst/>
          </a:prstGeom>
          <a:noFill/>
          <a:ln/>
        </p:spPr>
        <p:txBody>
          <a:bodyPr wrap="square" lIns="0" tIns="0" rIns="0" bIns="0" rtlCol="0" anchor="ctr"/>
          <a:lstStyle/>
          <a:p>
            <a:pPr indent="0" marL="0">
              <a:buNone/>
            </a:pPr>
            <a:r>
              <a:rPr lang="en-US" sz="7000" b="1" dirty="0">
                <a:solidFill>
                  <a:srgbClr val="FFFFFF">
                    <a:alpha val="98000"/>
                  </a:srgbClr>
                </a:solidFill>
                <a:latin typeface="Aptos Mono" pitchFamily="34" charset="0"/>
                <a:ea typeface="Aptos Mono" pitchFamily="34" charset="-122"/>
                <a:cs typeface="Aptos Mono" pitchFamily="34" charset="-120"/>
              </a:rPr>
              <a:t>03</a:t>
            </a:r>
            <a:endParaRPr lang="en-US" sz="7000" dirty="0"/>
          </a:p>
        </p:txBody>
      </p:sp>
      <p:sp>
        <p:nvSpPr>
          <p:cNvPr id="4" name="Text 2"/>
          <p:cNvSpPr/>
          <p:nvPr/>
        </p:nvSpPr>
        <p:spPr>
          <a:xfrm>
            <a:off x="658368" y="1975104"/>
            <a:ext cx="2560320" cy="274320"/>
          </a:xfrm>
          <a:prstGeom prst="rect">
            <a:avLst/>
          </a:prstGeom>
          <a:noFill/>
          <a:ln/>
        </p:spPr>
        <p:txBody>
          <a:bodyPr wrap="square" lIns="0" tIns="0" rIns="0" bIns="0" rtlCol="0" anchor="ctr"/>
          <a:lstStyle/>
          <a:p>
            <a:pPr indent="0" marL="0">
              <a:buNone/>
            </a:pPr>
            <a:r>
              <a:rPr lang="en-US" sz="1100" b="1" spc="200" kern="0" dirty="0">
                <a:solidFill>
                  <a:srgbClr val="FFFFFF"/>
                </a:solidFill>
                <a:latin typeface="Aptos" pitchFamily="34" charset="0"/>
                <a:ea typeface="Aptos" pitchFamily="34" charset="-122"/>
                <a:cs typeface="Aptos" pitchFamily="34" charset="-120"/>
              </a:rPr>
              <a:t>CODE LAB</a:t>
            </a:r>
            <a:endParaRPr lang="en-US" sz="1100" dirty="0"/>
          </a:p>
        </p:txBody>
      </p:sp>
      <p:sp>
        <p:nvSpPr>
          <p:cNvPr id="5" name="Text 3"/>
          <p:cNvSpPr/>
          <p:nvPr/>
        </p:nvSpPr>
        <p:spPr>
          <a:xfrm>
            <a:off x="4370832" y="1856232"/>
            <a:ext cx="6949440" cy="1051560"/>
          </a:xfrm>
          <a:prstGeom prst="rect">
            <a:avLst/>
          </a:prstGeom>
          <a:noFill/>
          <a:ln/>
        </p:spPr>
        <p:txBody>
          <a:bodyPr wrap="square" lIns="0" tIns="0" rIns="0" bIns="0" rtlCol="0" anchor="ctr">
            <a:normAutofit/>
          </a:bodyPr>
          <a:lstStyle/>
          <a:p>
            <a:pPr indent="0" marL="0">
              <a:buNone/>
            </a:pPr>
            <a:r>
              <a:rPr lang="en-US" sz="3800" b="1" dirty="0">
                <a:solidFill>
                  <a:srgbClr val="F4F7FB"/>
                </a:solidFill>
                <a:latin typeface="Aptos Display" pitchFamily="34" charset="0"/>
                <a:ea typeface="Aptos Display" pitchFamily="34" charset="-122"/>
                <a:cs typeface="Aptos Display" pitchFamily="34" charset="-120"/>
              </a:rPr>
              <a:t>Sass e responsabilità</a:t>
            </a:r>
            <a:endParaRPr lang="en-US" sz="3800" dirty="0"/>
          </a:p>
        </p:txBody>
      </p:sp>
      <p:sp>
        <p:nvSpPr>
          <p:cNvPr id="6" name="Text 4"/>
          <p:cNvSpPr/>
          <p:nvPr/>
        </p:nvSpPr>
        <p:spPr>
          <a:xfrm>
            <a:off x="4407408" y="3136392"/>
            <a:ext cx="6309360" cy="822960"/>
          </a:xfrm>
          <a:prstGeom prst="rect">
            <a:avLst/>
          </a:prstGeom>
          <a:noFill/>
          <a:ln/>
        </p:spPr>
        <p:txBody>
          <a:bodyPr wrap="square" lIns="0" tIns="0" rIns="0" bIns="0" rtlCol="0" anchor="ctr">
            <a:normAutofit/>
          </a:bodyPr>
          <a:lstStyle/>
          <a:p>
            <a:pPr indent="0" marL="0">
              <a:buNone/>
            </a:pPr>
            <a:r>
              <a:rPr lang="en-US" sz="1900" dirty="0">
                <a:solidFill>
                  <a:srgbClr val="9DB0C7"/>
                </a:solidFill>
                <a:latin typeface="Aptos" pitchFamily="34" charset="0"/>
                <a:ea typeface="Aptos" pitchFamily="34" charset="-122"/>
                <a:cs typeface="Aptos" pitchFamily="34" charset="-120"/>
              </a:rPr>
              <a:t>Il tema è globale. Il dettaglio grafico appartiene al componente.</a:t>
            </a:r>
            <a:endParaRPr lang="en-US" sz="1900" dirty="0"/>
          </a:p>
        </p:txBody>
      </p:sp>
      <p:sp>
        <p:nvSpPr>
          <p:cNvPr id="7" name="Shape 5"/>
          <p:cNvSpPr/>
          <p:nvPr/>
        </p:nvSpPr>
        <p:spPr>
          <a:xfrm>
            <a:off x="4407408" y="4343400"/>
            <a:ext cx="5669280" cy="0"/>
          </a:xfrm>
          <a:prstGeom prst="line">
            <a:avLst/>
          </a:prstGeom>
          <a:noFill/>
          <a:ln w="19050">
            <a:solidFill>
              <a:srgbClr val="263A55"/>
            </a:solidFill>
            <a:prstDash val="solid"/>
          </a:ln>
        </p:spPr>
      </p:sp>
      <p:sp>
        <p:nvSpPr>
          <p:cNvPr id="8" name="Text 6"/>
          <p:cNvSpPr/>
          <p:nvPr/>
        </p:nvSpPr>
        <p:spPr>
          <a:xfrm>
            <a:off x="10424160" y="6172200"/>
            <a:ext cx="1097280" cy="219456"/>
          </a:xfrm>
          <a:prstGeom prst="rect">
            <a:avLst/>
          </a:prstGeom>
          <a:noFill/>
          <a:ln/>
        </p:spPr>
        <p:txBody>
          <a:bodyPr wrap="square" lIns="0" tIns="0" rIns="0" bIns="0" rtlCol="0" anchor="ctr"/>
          <a:lstStyle/>
          <a:p>
            <a:pPr algn="r" indent="0" marL="0">
              <a:buNone/>
            </a:pPr>
            <a:r>
              <a:rPr lang="en-US" sz="1000" b="1" dirty="0">
                <a:solidFill>
                  <a:srgbClr val="8296AE"/>
                </a:solidFill>
                <a:latin typeface="Aptos Mono" pitchFamily="34" charset="0"/>
                <a:ea typeface="Aptos Mono" pitchFamily="34" charset="-122"/>
                <a:cs typeface="Aptos Mono" pitchFamily="34" charset="-120"/>
              </a:rPr>
              <a:t>SLIDE 32</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33</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DESIGN TOKENS</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Le variabili descrivono decisioni di tema</a:t>
            </a:r>
            <a:endParaRPr lang="en-US" sz="2700" dirty="0"/>
          </a:p>
        </p:txBody>
      </p:sp>
      <p:sp>
        <p:nvSpPr>
          <p:cNvPr id="29" name="Shape 27"/>
          <p:cNvSpPr/>
          <p:nvPr/>
        </p:nvSpPr>
        <p:spPr>
          <a:xfrm>
            <a:off x="530352" y="1591056"/>
            <a:ext cx="7589520" cy="4553712"/>
          </a:xfrm>
          <a:prstGeom prst="roundRect">
            <a:avLst>
              <a:gd name="adj" fmla="val 1004"/>
            </a:avLst>
          </a:prstGeom>
          <a:solidFill>
            <a:srgbClr val="0D1A2B"/>
          </a:solidFill>
          <a:ln w="13970">
            <a:solidFill>
              <a:srgbClr val="263A55"/>
            </a:solidFill>
            <a:prstDash val="solid"/>
          </a:ln>
        </p:spPr>
      </p:sp>
      <p:sp>
        <p:nvSpPr>
          <p:cNvPr id="30" name="Shape 28"/>
          <p:cNvSpPr/>
          <p:nvPr/>
        </p:nvSpPr>
        <p:spPr>
          <a:xfrm>
            <a:off x="530352" y="1591056"/>
            <a:ext cx="7589520" cy="347472"/>
          </a:xfrm>
          <a:prstGeom prst="rect">
            <a:avLst/>
          </a:prstGeom>
          <a:solidFill>
            <a:srgbClr val="122238"/>
          </a:solidFill>
          <a:ln w="12700">
            <a:solidFill>
              <a:srgbClr val="122238"/>
            </a:solidFill>
            <a:prstDash val="solid"/>
          </a:ln>
        </p:spPr>
      </p:sp>
      <p:sp>
        <p:nvSpPr>
          <p:cNvPr id="31" name="Shape 29"/>
          <p:cNvSpPr/>
          <p:nvPr/>
        </p:nvSpPr>
        <p:spPr>
          <a:xfrm>
            <a:off x="694944" y="1632204"/>
            <a:ext cx="658368" cy="274320"/>
          </a:xfrm>
          <a:prstGeom prst="roundRect">
            <a:avLst>
              <a:gd name="adj" fmla="val 20000"/>
            </a:avLst>
          </a:prstGeom>
          <a:solidFill>
            <a:srgbClr val="7CD4FF">
              <a:alpha val="20000"/>
            </a:srgbClr>
          </a:solidFill>
          <a:ln w="10160">
            <a:solidFill>
              <a:srgbClr val="7CD4FF">
                <a:alpha val="55000"/>
              </a:srgbClr>
            </a:solidFill>
            <a:prstDash val="solid"/>
          </a:ln>
        </p:spPr>
      </p:sp>
      <p:sp>
        <p:nvSpPr>
          <p:cNvPr id="32" name="Text 30"/>
          <p:cNvSpPr/>
          <p:nvPr/>
        </p:nvSpPr>
        <p:spPr>
          <a:xfrm>
            <a:off x="786384" y="1691640"/>
            <a:ext cx="475488" cy="128016"/>
          </a:xfrm>
          <a:prstGeom prst="rect">
            <a:avLst/>
          </a:prstGeom>
          <a:noFill/>
          <a:ln/>
        </p:spPr>
        <p:txBody>
          <a:bodyPr wrap="square" lIns="0" tIns="0" rIns="0" bIns="0" rtlCol="0" anchor="ctr"/>
          <a:lstStyle/>
          <a:p>
            <a:pPr algn="ctr" indent="0" marL="0">
              <a:buNone/>
            </a:pPr>
            <a:r>
              <a:rPr lang="en-US" sz="820" b="1" dirty="0">
                <a:solidFill>
                  <a:srgbClr val="7CD4FF"/>
                </a:solidFill>
                <a:latin typeface="Aptos Mono" pitchFamily="34" charset="0"/>
                <a:ea typeface="Aptos Mono" pitchFamily="34" charset="-122"/>
                <a:cs typeface="Aptos Mono" pitchFamily="34" charset="-120"/>
              </a:rPr>
              <a:t>SCSS</a:t>
            </a:r>
            <a:endParaRPr lang="en-US" sz="820" dirty="0"/>
          </a:p>
        </p:txBody>
      </p:sp>
      <p:sp>
        <p:nvSpPr>
          <p:cNvPr id="33" name="Text 31"/>
          <p:cNvSpPr/>
          <p:nvPr/>
        </p:nvSpPr>
        <p:spPr>
          <a:xfrm>
            <a:off x="1490472" y="1687068"/>
            <a:ext cx="635508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styles/_variables.scss</a:t>
            </a:r>
            <a:endParaRPr lang="en-US" sz="880" dirty="0"/>
          </a:p>
        </p:txBody>
      </p:sp>
      <p:sp>
        <p:nvSpPr>
          <p:cNvPr id="34" name="Text 32"/>
          <p:cNvSpPr/>
          <p:nvPr/>
        </p:nvSpPr>
        <p:spPr>
          <a:xfrm>
            <a:off x="640080" y="205282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01</a:t>
            </a:r>
            <a:endParaRPr lang="en-US" sz="1200" dirty="0"/>
          </a:p>
        </p:txBody>
      </p:sp>
      <p:sp>
        <p:nvSpPr>
          <p:cNvPr id="35" name="Text 33"/>
          <p:cNvSpPr/>
          <p:nvPr/>
        </p:nvSpPr>
        <p:spPr>
          <a:xfrm>
            <a:off x="1033272" y="2039112"/>
            <a:ext cx="6931152" cy="242316"/>
          </a:xfrm>
          <a:prstGeom prst="rect">
            <a:avLst/>
          </a:prstGeom>
          <a:noFill/>
          <a:ln/>
        </p:spPr>
        <p:txBody>
          <a:bodyPr wrap="square" lIns="0" tIns="0" rIns="0" bIns="0" rtlCol="0" anchor="ctr">
            <a:normAutofit/>
          </a:bodyPr>
          <a:lstStyle/>
          <a:p>
            <a:pPr indent="0" marL="0">
              <a:buNone/>
            </a:pPr>
            <a:r>
              <a:rPr lang="en-US" sz="1420" dirty="0">
                <a:solidFill>
                  <a:srgbClr val="78C9A6"/>
                </a:solidFill>
                <a:latin typeface="Aptos Mono" pitchFamily="34" charset="0"/>
                <a:ea typeface="Aptos Mono" pitchFamily="34" charset="-122"/>
                <a:cs typeface="Aptos Mono" pitchFamily="34" charset="-120"/>
              </a:rPr>
              <a:t>// Colori semantici: il nome descrive il ruolo.</a:t>
            </a:r>
            <a:endParaRPr lang="en-US" sz="1420" dirty="0"/>
          </a:p>
        </p:txBody>
      </p:sp>
      <p:sp>
        <p:nvSpPr>
          <p:cNvPr id="36" name="Text 34"/>
          <p:cNvSpPr/>
          <p:nvPr/>
        </p:nvSpPr>
        <p:spPr>
          <a:xfrm>
            <a:off x="640080" y="229514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02</a:t>
            </a:r>
            <a:endParaRPr lang="en-US" sz="1200" dirty="0"/>
          </a:p>
        </p:txBody>
      </p:sp>
      <p:sp>
        <p:nvSpPr>
          <p:cNvPr id="37" name="Text 35"/>
          <p:cNvSpPr/>
          <p:nvPr/>
        </p:nvSpPr>
        <p:spPr>
          <a:xfrm>
            <a:off x="1033272" y="228142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$color-bg: #07111f;</a:t>
            </a:r>
            <a:endParaRPr lang="en-US" sz="1420" dirty="0"/>
          </a:p>
        </p:txBody>
      </p:sp>
      <p:sp>
        <p:nvSpPr>
          <p:cNvPr id="38" name="Text 36"/>
          <p:cNvSpPr/>
          <p:nvPr/>
        </p:nvSpPr>
        <p:spPr>
          <a:xfrm>
            <a:off x="640080" y="253746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03</a:t>
            </a:r>
            <a:endParaRPr lang="en-US" sz="1200" dirty="0"/>
          </a:p>
        </p:txBody>
      </p:sp>
      <p:sp>
        <p:nvSpPr>
          <p:cNvPr id="39" name="Text 37"/>
          <p:cNvSpPr/>
          <p:nvPr/>
        </p:nvSpPr>
        <p:spPr>
          <a:xfrm>
            <a:off x="1033272" y="2523744"/>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$color-surface: #101e30;</a:t>
            </a:r>
            <a:endParaRPr lang="en-US" sz="1420" dirty="0"/>
          </a:p>
        </p:txBody>
      </p:sp>
      <p:sp>
        <p:nvSpPr>
          <p:cNvPr id="40" name="Text 38"/>
          <p:cNvSpPr/>
          <p:nvPr/>
        </p:nvSpPr>
        <p:spPr>
          <a:xfrm>
            <a:off x="640080" y="277977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04</a:t>
            </a:r>
            <a:endParaRPr lang="en-US" sz="1200" dirty="0"/>
          </a:p>
        </p:txBody>
      </p:sp>
      <p:sp>
        <p:nvSpPr>
          <p:cNvPr id="41" name="Text 39"/>
          <p:cNvSpPr/>
          <p:nvPr/>
        </p:nvSpPr>
        <p:spPr>
          <a:xfrm>
            <a:off x="1033272" y="2766060"/>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$color-accent: #4c7dff;</a:t>
            </a:r>
            <a:endParaRPr lang="en-US" sz="1420" dirty="0"/>
          </a:p>
        </p:txBody>
      </p:sp>
      <p:sp>
        <p:nvSpPr>
          <p:cNvPr id="42" name="Text 40"/>
          <p:cNvSpPr/>
          <p:nvPr/>
        </p:nvSpPr>
        <p:spPr>
          <a:xfrm>
            <a:off x="640080" y="3022092"/>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05</a:t>
            </a:r>
            <a:endParaRPr lang="en-US" sz="1200" dirty="0"/>
          </a:p>
        </p:txBody>
      </p:sp>
      <p:sp>
        <p:nvSpPr>
          <p:cNvPr id="43" name="Text 41"/>
          <p:cNvSpPr/>
          <p:nvPr/>
        </p:nvSpPr>
        <p:spPr>
          <a:xfrm>
            <a:off x="1033272" y="3008376"/>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$color-danger: #ff7a8a;</a:t>
            </a:r>
            <a:endParaRPr lang="en-US" sz="1420" dirty="0"/>
          </a:p>
        </p:txBody>
      </p:sp>
      <p:sp>
        <p:nvSpPr>
          <p:cNvPr id="44" name="Text 42"/>
          <p:cNvSpPr/>
          <p:nvPr/>
        </p:nvSpPr>
        <p:spPr>
          <a:xfrm>
            <a:off x="640080" y="326440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06</a:t>
            </a:r>
            <a:endParaRPr lang="en-US" sz="1200" dirty="0"/>
          </a:p>
        </p:txBody>
      </p:sp>
      <p:sp>
        <p:nvSpPr>
          <p:cNvPr id="45" name="Text 43"/>
          <p:cNvSpPr/>
          <p:nvPr/>
        </p:nvSpPr>
        <p:spPr>
          <a:xfrm>
            <a:off x="1033272" y="325069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46" name="Text 44"/>
          <p:cNvSpPr/>
          <p:nvPr/>
        </p:nvSpPr>
        <p:spPr>
          <a:xfrm>
            <a:off x="640080" y="350672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07</a:t>
            </a:r>
            <a:endParaRPr lang="en-US" sz="1200" dirty="0"/>
          </a:p>
        </p:txBody>
      </p:sp>
      <p:sp>
        <p:nvSpPr>
          <p:cNvPr id="47" name="Text 45"/>
          <p:cNvSpPr/>
          <p:nvPr/>
        </p:nvSpPr>
        <p:spPr>
          <a:xfrm>
            <a:off x="1033272" y="3493008"/>
            <a:ext cx="6931152" cy="242316"/>
          </a:xfrm>
          <a:prstGeom prst="rect">
            <a:avLst/>
          </a:prstGeom>
          <a:noFill/>
          <a:ln/>
        </p:spPr>
        <p:txBody>
          <a:bodyPr wrap="square" lIns="0" tIns="0" rIns="0" bIns="0" rtlCol="0" anchor="ctr">
            <a:normAutofit/>
          </a:bodyPr>
          <a:lstStyle/>
          <a:p>
            <a:pPr indent="0" marL="0">
              <a:buNone/>
            </a:pPr>
            <a:r>
              <a:rPr lang="en-US" sz="1420" dirty="0">
                <a:solidFill>
                  <a:srgbClr val="78C9A6"/>
                </a:solidFill>
                <a:latin typeface="Aptos Mono" pitchFamily="34" charset="0"/>
                <a:ea typeface="Aptos Mono" pitchFamily="34" charset="-122"/>
                <a:cs typeface="Aptos Mono" pitchFamily="34" charset="-120"/>
              </a:rPr>
              <a:t>// Scala limitata, non valori casuali.</a:t>
            </a:r>
            <a:endParaRPr lang="en-US" sz="1420" dirty="0"/>
          </a:p>
        </p:txBody>
      </p:sp>
      <p:sp>
        <p:nvSpPr>
          <p:cNvPr id="48" name="Text 46"/>
          <p:cNvSpPr/>
          <p:nvPr/>
        </p:nvSpPr>
        <p:spPr>
          <a:xfrm>
            <a:off x="640080" y="374904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08</a:t>
            </a:r>
            <a:endParaRPr lang="en-US" sz="1200" dirty="0"/>
          </a:p>
        </p:txBody>
      </p:sp>
      <p:sp>
        <p:nvSpPr>
          <p:cNvPr id="49" name="Text 47"/>
          <p:cNvSpPr/>
          <p:nvPr/>
        </p:nvSpPr>
        <p:spPr>
          <a:xfrm>
            <a:off x="1033272" y="3735324"/>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$space-1: 0.25rem;</a:t>
            </a:r>
            <a:endParaRPr lang="en-US" sz="1420" dirty="0"/>
          </a:p>
        </p:txBody>
      </p:sp>
      <p:sp>
        <p:nvSpPr>
          <p:cNvPr id="50" name="Text 48"/>
          <p:cNvSpPr/>
          <p:nvPr/>
        </p:nvSpPr>
        <p:spPr>
          <a:xfrm>
            <a:off x="640080" y="399135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09</a:t>
            </a:r>
            <a:endParaRPr lang="en-US" sz="1200" dirty="0"/>
          </a:p>
        </p:txBody>
      </p:sp>
      <p:sp>
        <p:nvSpPr>
          <p:cNvPr id="51" name="Text 49"/>
          <p:cNvSpPr/>
          <p:nvPr/>
        </p:nvSpPr>
        <p:spPr>
          <a:xfrm>
            <a:off x="1033272" y="3977640"/>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$space-2: 0.5rem;</a:t>
            </a:r>
            <a:endParaRPr lang="en-US" sz="1420" dirty="0"/>
          </a:p>
        </p:txBody>
      </p:sp>
      <p:sp>
        <p:nvSpPr>
          <p:cNvPr id="52" name="Text 50"/>
          <p:cNvSpPr/>
          <p:nvPr/>
        </p:nvSpPr>
        <p:spPr>
          <a:xfrm>
            <a:off x="640080" y="4233672"/>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10</a:t>
            </a:r>
            <a:endParaRPr lang="en-US" sz="1200" dirty="0"/>
          </a:p>
        </p:txBody>
      </p:sp>
      <p:sp>
        <p:nvSpPr>
          <p:cNvPr id="53" name="Text 51"/>
          <p:cNvSpPr/>
          <p:nvPr/>
        </p:nvSpPr>
        <p:spPr>
          <a:xfrm>
            <a:off x="1033272" y="4219956"/>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$space-4: 1rem;</a:t>
            </a:r>
            <a:endParaRPr lang="en-US" sz="1420" dirty="0"/>
          </a:p>
        </p:txBody>
      </p:sp>
      <p:sp>
        <p:nvSpPr>
          <p:cNvPr id="54" name="Text 52"/>
          <p:cNvSpPr/>
          <p:nvPr/>
        </p:nvSpPr>
        <p:spPr>
          <a:xfrm>
            <a:off x="640080" y="447598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11</a:t>
            </a:r>
            <a:endParaRPr lang="en-US" sz="1200" dirty="0"/>
          </a:p>
        </p:txBody>
      </p:sp>
      <p:sp>
        <p:nvSpPr>
          <p:cNvPr id="55" name="Text 53"/>
          <p:cNvSpPr/>
          <p:nvPr/>
        </p:nvSpPr>
        <p:spPr>
          <a:xfrm>
            <a:off x="1033272" y="446227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$radius-control: 0.5rem;</a:t>
            </a:r>
            <a:endParaRPr lang="en-US" sz="1420" dirty="0"/>
          </a:p>
        </p:txBody>
      </p:sp>
      <p:sp>
        <p:nvSpPr>
          <p:cNvPr id="56" name="Text 54"/>
          <p:cNvSpPr/>
          <p:nvPr/>
        </p:nvSpPr>
        <p:spPr>
          <a:xfrm>
            <a:off x="640080" y="471830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12</a:t>
            </a:r>
            <a:endParaRPr lang="en-US" sz="1200" dirty="0"/>
          </a:p>
        </p:txBody>
      </p:sp>
      <p:sp>
        <p:nvSpPr>
          <p:cNvPr id="57" name="Text 55"/>
          <p:cNvSpPr/>
          <p:nvPr/>
        </p:nvSpPr>
        <p:spPr>
          <a:xfrm>
            <a:off x="1033272" y="470458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58" name="Text 56"/>
          <p:cNvSpPr/>
          <p:nvPr/>
        </p:nvSpPr>
        <p:spPr>
          <a:xfrm>
            <a:off x="640080" y="496062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13</a:t>
            </a:r>
            <a:endParaRPr lang="en-US" sz="1200" dirty="0"/>
          </a:p>
        </p:txBody>
      </p:sp>
      <p:sp>
        <p:nvSpPr>
          <p:cNvPr id="59" name="Text 57"/>
          <p:cNvSpPr/>
          <p:nvPr/>
        </p:nvSpPr>
        <p:spPr>
          <a:xfrm>
            <a:off x="1033272" y="4946904"/>
            <a:ext cx="6931152" cy="242316"/>
          </a:xfrm>
          <a:prstGeom prst="rect">
            <a:avLst/>
          </a:prstGeom>
          <a:noFill/>
          <a:ln/>
        </p:spPr>
        <p:txBody>
          <a:bodyPr wrap="square" lIns="0" tIns="0" rIns="0" bIns="0" rtlCol="0" anchor="ctr">
            <a:normAutofit/>
          </a:bodyPr>
          <a:lstStyle/>
          <a:p>
            <a:pPr indent="0" marL="0">
              <a:buNone/>
            </a:pPr>
            <a:r>
              <a:rPr lang="en-US" sz="1420" dirty="0">
                <a:solidFill>
                  <a:srgbClr val="78C9A6"/>
                </a:solidFill>
                <a:latin typeface="Aptos Mono" pitchFamily="34" charset="0"/>
                <a:ea typeface="Aptos Mono" pitchFamily="34" charset="-122"/>
                <a:cs typeface="Aptos Mono" pitchFamily="34" charset="-120"/>
              </a:rPr>
              <a:t>// Nessun selettore .dashboard in questo file.</a:t>
            </a:r>
            <a:endParaRPr lang="en-US" sz="1420" dirty="0"/>
          </a:p>
        </p:txBody>
      </p:sp>
      <p:sp>
        <p:nvSpPr>
          <p:cNvPr id="60" name="Shape 58"/>
          <p:cNvSpPr/>
          <p:nvPr/>
        </p:nvSpPr>
        <p:spPr>
          <a:xfrm>
            <a:off x="8366760" y="1591056"/>
            <a:ext cx="3310128" cy="4553712"/>
          </a:xfrm>
          <a:prstGeom prst="roundRect">
            <a:avLst>
              <a:gd name="adj" fmla="val 1381"/>
            </a:avLst>
          </a:prstGeom>
          <a:solidFill>
            <a:srgbClr val="122238"/>
          </a:solidFill>
          <a:ln w="12700">
            <a:solidFill>
              <a:srgbClr val="263A55"/>
            </a:solidFill>
            <a:prstDash val="solid"/>
          </a:ln>
        </p:spPr>
      </p:sp>
      <p:sp>
        <p:nvSpPr>
          <p:cNvPr id="61" name="Text 59"/>
          <p:cNvSpPr/>
          <p:nvPr/>
        </p:nvSpPr>
        <p:spPr>
          <a:xfrm>
            <a:off x="8586216" y="1801368"/>
            <a:ext cx="2871216" cy="182880"/>
          </a:xfrm>
          <a:prstGeom prst="rect">
            <a:avLst/>
          </a:prstGeom>
          <a:noFill/>
          <a:ln/>
        </p:spPr>
        <p:txBody>
          <a:bodyPr wrap="square" lIns="0" tIns="0" rIns="0" bIns="0" rtlCol="0" anchor="ctr"/>
          <a:lstStyle/>
          <a:p>
            <a:pPr indent="0" marL="0">
              <a:buNone/>
            </a:pPr>
            <a:r>
              <a:rPr lang="en-US" sz="950" b="1" spc="115" kern="0" dirty="0">
                <a:solidFill>
                  <a:srgbClr val="F5C96A"/>
                </a:solidFill>
                <a:latin typeface="Aptos" pitchFamily="34" charset="0"/>
                <a:ea typeface="Aptos" pitchFamily="34" charset="-122"/>
                <a:cs typeface="Aptos" pitchFamily="34" charset="-120"/>
              </a:rPr>
              <a:t>DA OSSERVARE</a:t>
            </a:r>
            <a:endParaRPr lang="en-US" sz="950" dirty="0"/>
          </a:p>
        </p:txBody>
      </p:sp>
      <p:sp>
        <p:nvSpPr>
          <p:cNvPr id="62" name="Shape 60"/>
          <p:cNvSpPr/>
          <p:nvPr/>
        </p:nvSpPr>
        <p:spPr>
          <a:xfrm>
            <a:off x="8586216" y="2267712"/>
            <a:ext cx="91440" cy="91440"/>
          </a:xfrm>
          <a:prstGeom prst="ellipse">
            <a:avLst/>
          </a:prstGeom>
          <a:solidFill>
            <a:srgbClr val="7CD4FF"/>
          </a:solidFill>
          <a:ln w="12700">
            <a:solidFill>
              <a:srgbClr val="7CD4FF"/>
            </a:solidFill>
            <a:prstDash val="solid"/>
          </a:ln>
        </p:spPr>
      </p:sp>
      <p:sp>
        <p:nvSpPr>
          <p:cNvPr id="63" name="Text 61"/>
          <p:cNvSpPr/>
          <p:nvPr/>
        </p:nvSpPr>
        <p:spPr>
          <a:xfrm>
            <a:off x="8778240" y="2212848"/>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Nomi semantici, non componenti.</a:t>
            </a:r>
            <a:endParaRPr lang="en-US" sz="1420" dirty="0"/>
          </a:p>
        </p:txBody>
      </p:sp>
      <p:sp>
        <p:nvSpPr>
          <p:cNvPr id="64" name="Shape 62"/>
          <p:cNvSpPr/>
          <p:nvPr/>
        </p:nvSpPr>
        <p:spPr>
          <a:xfrm>
            <a:off x="8586216" y="2980944"/>
            <a:ext cx="91440" cy="91440"/>
          </a:xfrm>
          <a:prstGeom prst="ellipse">
            <a:avLst/>
          </a:prstGeom>
          <a:solidFill>
            <a:srgbClr val="7CD4FF"/>
          </a:solidFill>
          <a:ln w="12700">
            <a:solidFill>
              <a:srgbClr val="7CD4FF"/>
            </a:solidFill>
            <a:prstDash val="solid"/>
          </a:ln>
        </p:spPr>
      </p:sp>
      <p:sp>
        <p:nvSpPr>
          <p:cNvPr id="65" name="Text 63"/>
          <p:cNvSpPr/>
          <p:nvPr/>
        </p:nvSpPr>
        <p:spPr>
          <a:xfrm>
            <a:off x="8778240" y="2926080"/>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Scala condivisa e limitata.</a:t>
            </a:r>
            <a:endParaRPr lang="en-US" sz="1420" dirty="0"/>
          </a:p>
        </p:txBody>
      </p:sp>
      <p:sp>
        <p:nvSpPr>
          <p:cNvPr id="66" name="Shape 64"/>
          <p:cNvSpPr/>
          <p:nvPr/>
        </p:nvSpPr>
        <p:spPr>
          <a:xfrm>
            <a:off x="8586216" y="3694176"/>
            <a:ext cx="91440" cy="91440"/>
          </a:xfrm>
          <a:prstGeom prst="ellipse">
            <a:avLst/>
          </a:prstGeom>
          <a:solidFill>
            <a:srgbClr val="7CD4FF"/>
          </a:solidFill>
          <a:ln w="12700">
            <a:solidFill>
              <a:srgbClr val="7CD4FF"/>
            </a:solidFill>
            <a:prstDash val="solid"/>
          </a:ln>
        </p:spPr>
      </p:sp>
      <p:sp>
        <p:nvSpPr>
          <p:cNvPr id="67" name="Text 65"/>
          <p:cNvSpPr/>
          <p:nvPr/>
        </p:nvSpPr>
        <p:spPr>
          <a:xfrm>
            <a:off x="8778240" y="3639312"/>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Il partial non conosce le feature.</a:t>
            </a:r>
            <a:endParaRPr lang="en-US" sz="142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34</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SASS MODULES</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@use rende visibile la dipendenza Sass</a:t>
            </a:r>
            <a:endParaRPr lang="en-US" sz="2700" dirty="0"/>
          </a:p>
        </p:txBody>
      </p:sp>
      <p:sp>
        <p:nvSpPr>
          <p:cNvPr id="29" name="Shape 27"/>
          <p:cNvSpPr/>
          <p:nvPr/>
        </p:nvSpPr>
        <p:spPr>
          <a:xfrm>
            <a:off x="530352" y="1591056"/>
            <a:ext cx="7589520" cy="4553712"/>
          </a:xfrm>
          <a:prstGeom prst="roundRect">
            <a:avLst>
              <a:gd name="adj" fmla="val 1004"/>
            </a:avLst>
          </a:prstGeom>
          <a:solidFill>
            <a:srgbClr val="0D1A2B"/>
          </a:solidFill>
          <a:ln w="13970">
            <a:solidFill>
              <a:srgbClr val="263A55"/>
            </a:solidFill>
            <a:prstDash val="solid"/>
          </a:ln>
        </p:spPr>
      </p:sp>
      <p:sp>
        <p:nvSpPr>
          <p:cNvPr id="30" name="Shape 28"/>
          <p:cNvSpPr/>
          <p:nvPr/>
        </p:nvSpPr>
        <p:spPr>
          <a:xfrm>
            <a:off x="530352" y="1591056"/>
            <a:ext cx="7589520" cy="347472"/>
          </a:xfrm>
          <a:prstGeom prst="rect">
            <a:avLst/>
          </a:prstGeom>
          <a:solidFill>
            <a:srgbClr val="122238"/>
          </a:solidFill>
          <a:ln w="12700">
            <a:solidFill>
              <a:srgbClr val="122238"/>
            </a:solidFill>
            <a:prstDash val="solid"/>
          </a:ln>
        </p:spPr>
      </p:sp>
      <p:sp>
        <p:nvSpPr>
          <p:cNvPr id="31" name="Shape 29"/>
          <p:cNvSpPr/>
          <p:nvPr/>
        </p:nvSpPr>
        <p:spPr>
          <a:xfrm>
            <a:off x="694944" y="1632204"/>
            <a:ext cx="658368" cy="274320"/>
          </a:xfrm>
          <a:prstGeom prst="roundRect">
            <a:avLst>
              <a:gd name="adj" fmla="val 20000"/>
            </a:avLst>
          </a:prstGeom>
          <a:solidFill>
            <a:srgbClr val="7CD4FF">
              <a:alpha val="20000"/>
            </a:srgbClr>
          </a:solidFill>
          <a:ln w="10160">
            <a:solidFill>
              <a:srgbClr val="7CD4FF">
                <a:alpha val="55000"/>
              </a:srgbClr>
            </a:solidFill>
            <a:prstDash val="solid"/>
          </a:ln>
        </p:spPr>
      </p:sp>
      <p:sp>
        <p:nvSpPr>
          <p:cNvPr id="32" name="Text 30"/>
          <p:cNvSpPr/>
          <p:nvPr/>
        </p:nvSpPr>
        <p:spPr>
          <a:xfrm>
            <a:off x="786384" y="1691640"/>
            <a:ext cx="475488" cy="128016"/>
          </a:xfrm>
          <a:prstGeom prst="rect">
            <a:avLst/>
          </a:prstGeom>
          <a:noFill/>
          <a:ln/>
        </p:spPr>
        <p:txBody>
          <a:bodyPr wrap="square" lIns="0" tIns="0" rIns="0" bIns="0" rtlCol="0" anchor="ctr"/>
          <a:lstStyle/>
          <a:p>
            <a:pPr algn="ctr" indent="0" marL="0">
              <a:buNone/>
            </a:pPr>
            <a:r>
              <a:rPr lang="en-US" sz="820" b="1" dirty="0">
                <a:solidFill>
                  <a:srgbClr val="7CD4FF"/>
                </a:solidFill>
                <a:latin typeface="Aptos Mono" pitchFamily="34" charset="0"/>
                <a:ea typeface="Aptos Mono" pitchFamily="34" charset="-122"/>
                <a:cs typeface="Aptos Mono" pitchFamily="34" charset="-120"/>
              </a:rPr>
              <a:t>SCSS</a:t>
            </a:r>
            <a:endParaRPr lang="en-US" sz="820" dirty="0"/>
          </a:p>
        </p:txBody>
      </p:sp>
      <p:sp>
        <p:nvSpPr>
          <p:cNvPr id="33" name="Text 31"/>
          <p:cNvSpPr/>
          <p:nvPr/>
        </p:nvSpPr>
        <p:spPr>
          <a:xfrm>
            <a:off x="1490472" y="1687068"/>
            <a:ext cx="635508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Dashboard/Dashboard.scss</a:t>
            </a:r>
            <a:endParaRPr lang="en-US" sz="880" dirty="0"/>
          </a:p>
        </p:txBody>
      </p:sp>
      <p:sp>
        <p:nvSpPr>
          <p:cNvPr id="34" name="Text 32"/>
          <p:cNvSpPr/>
          <p:nvPr/>
        </p:nvSpPr>
        <p:spPr>
          <a:xfrm>
            <a:off x="640080" y="205282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01</a:t>
            </a:r>
            <a:endParaRPr lang="en-US" sz="1200" dirty="0"/>
          </a:p>
        </p:txBody>
      </p:sp>
      <p:sp>
        <p:nvSpPr>
          <p:cNvPr id="35" name="Text 33"/>
          <p:cNvSpPr/>
          <p:nvPr/>
        </p:nvSpPr>
        <p:spPr>
          <a:xfrm>
            <a:off x="1033272" y="203911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@use '../../styles/variables' as v;</a:t>
            </a:r>
            <a:endParaRPr lang="en-US" sz="1420" dirty="0"/>
          </a:p>
        </p:txBody>
      </p:sp>
      <p:sp>
        <p:nvSpPr>
          <p:cNvPr id="36" name="Text 34"/>
          <p:cNvSpPr/>
          <p:nvPr/>
        </p:nvSpPr>
        <p:spPr>
          <a:xfrm>
            <a:off x="640080" y="229514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02</a:t>
            </a:r>
            <a:endParaRPr lang="en-US" sz="1200" dirty="0"/>
          </a:p>
        </p:txBody>
      </p:sp>
      <p:sp>
        <p:nvSpPr>
          <p:cNvPr id="37" name="Text 35"/>
          <p:cNvSpPr/>
          <p:nvPr/>
        </p:nvSpPr>
        <p:spPr>
          <a:xfrm>
            <a:off x="1033272" y="228142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38" name="Text 36"/>
          <p:cNvSpPr/>
          <p:nvPr/>
        </p:nvSpPr>
        <p:spPr>
          <a:xfrm>
            <a:off x="640080" y="253746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03</a:t>
            </a:r>
            <a:endParaRPr lang="en-US" sz="1200" dirty="0"/>
          </a:p>
        </p:txBody>
      </p:sp>
      <p:sp>
        <p:nvSpPr>
          <p:cNvPr id="39" name="Text 37"/>
          <p:cNvSpPr/>
          <p:nvPr/>
        </p:nvSpPr>
        <p:spPr>
          <a:xfrm>
            <a:off x="1033272" y="2523744"/>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.dashboard {</a:t>
            </a:r>
            <a:endParaRPr lang="en-US" sz="1420" dirty="0"/>
          </a:p>
        </p:txBody>
      </p:sp>
      <p:sp>
        <p:nvSpPr>
          <p:cNvPr id="40" name="Text 38"/>
          <p:cNvSpPr/>
          <p:nvPr/>
        </p:nvSpPr>
        <p:spPr>
          <a:xfrm>
            <a:off x="640080" y="277977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04</a:t>
            </a:r>
            <a:endParaRPr lang="en-US" sz="1200" dirty="0"/>
          </a:p>
        </p:txBody>
      </p:sp>
      <p:sp>
        <p:nvSpPr>
          <p:cNvPr id="41" name="Text 39"/>
          <p:cNvSpPr/>
          <p:nvPr/>
        </p:nvSpPr>
        <p:spPr>
          <a:xfrm>
            <a:off x="1033272" y="2766060"/>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padding: v.$space-4;</a:t>
            </a:r>
            <a:endParaRPr lang="en-US" sz="1420" dirty="0"/>
          </a:p>
        </p:txBody>
      </p:sp>
      <p:sp>
        <p:nvSpPr>
          <p:cNvPr id="42" name="Text 40"/>
          <p:cNvSpPr/>
          <p:nvPr/>
        </p:nvSpPr>
        <p:spPr>
          <a:xfrm>
            <a:off x="640080" y="3022092"/>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05</a:t>
            </a:r>
            <a:endParaRPr lang="en-US" sz="1200" dirty="0"/>
          </a:p>
        </p:txBody>
      </p:sp>
      <p:sp>
        <p:nvSpPr>
          <p:cNvPr id="43" name="Text 41"/>
          <p:cNvSpPr/>
          <p:nvPr/>
        </p:nvSpPr>
        <p:spPr>
          <a:xfrm>
            <a:off x="1033272" y="3008376"/>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background: v.$color-bg;</a:t>
            </a:r>
            <a:endParaRPr lang="en-US" sz="1420" dirty="0"/>
          </a:p>
        </p:txBody>
      </p:sp>
      <p:sp>
        <p:nvSpPr>
          <p:cNvPr id="44" name="Text 42"/>
          <p:cNvSpPr/>
          <p:nvPr/>
        </p:nvSpPr>
        <p:spPr>
          <a:xfrm>
            <a:off x="640080" y="326440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06</a:t>
            </a:r>
            <a:endParaRPr lang="en-US" sz="1200" dirty="0"/>
          </a:p>
        </p:txBody>
      </p:sp>
      <p:sp>
        <p:nvSpPr>
          <p:cNvPr id="45" name="Text 43"/>
          <p:cNvSpPr/>
          <p:nvPr/>
        </p:nvSpPr>
        <p:spPr>
          <a:xfrm>
            <a:off x="1033272" y="325069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border-radius: v.$radius-control;</a:t>
            </a:r>
            <a:endParaRPr lang="en-US" sz="1420" dirty="0"/>
          </a:p>
        </p:txBody>
      </p:sp>
      <p:sp>
        <p:nvSpPr>
          <p:cNvPr id="46" name="Text 44"/>
          <p:cNvSpPr/>
          <p:nvPr/>
        </p:nvSpPr>
        <p:spPr>
          <a:xfrm>
            <a:off x="640080" y="350672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07</a:t>
            </a:r>
            <a:endParaRPr lang="en-US" sz="1200" dirty="0"/>
          </a:p>
        </p:txBody>
      </p:sp>
      <p:sp>
        <p:nvSpPr>
          <p:cNvPr id="47" name="Text 45"/>
          <p:cNvSpPr/>
          <p:nvPr/>
        </p:nvSpPr>
        <p:spPr>
          <a:xfrm>
            <a:off x="1033272" y="349300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48" name="Text 46"/>
          <p:cNvSpPr/>
          <p:nvPr/>
        </p:nvSpPr>
        <p:spPr>
          <a:xfrm>
            <a:off x="640080" y="374904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08</a:t>
            </a:r>
            <a:endParaRPr lang="en-US" sz="1200" dirty="0"/>
          </a:p>
        </p:txBody>
      </p:sp>
      <p:sp>
        <p:nvSpPr>
          <p:cNvPr id="49" name="Text 47"/>
          <p:cNvSpPr/>
          <p:nvPr/>
        </p:nvSpPr>
        <p:spPr>
          <a:xfrm>
            <a:off x="1033272" y="3735324"/>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&amp;__title {</a:t>
            </a:r>
            <a:endParaRPr lang="en-US" sz="1420" dirty="0"/>
          </a:p>
        </p:txBody>
      </p:sp>
      <p:sp>
        <p:nvSpPr>
          <p:cNvPr id="50" name="Text 48"/>
          <p:cNvSpPr/>
          <p:nvPr/>
        </p:nvSpPr>
        <p:spPr>
          <a:xfrm>
            <a:off x="640080" y="399135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09</a:t>
            </a:r>
            <a:endParaRPr lang="en-US" sz="1200" dirty="0"/>
          </a:p>
        </p:txBody>
      </p:sp>
      <p:sp>
        <p:nvSpPr>
          <p:cNvPr id="51" name="Text 49"/>
          <p:cNvSpPr/>
          <p:nvPr/>
        </p:nvSpPr>
        <p:spPr>
          <a:xfrm>
            <a:off x="1033272" y="3977640"/>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color: v.$color-accent;</a:t>
            </a:r>
            <a:endParaRPr lang="en-US" sz="1420" dirty="0"/>
          </a:p>
        </p:txBody>
      </p:sp>
      <p:sp>
        <p:nvSpPr>
          <p:cNvPr id="52" name="Text 50"/>
          <p:cNvSpPr/>
          <p:nvPr/>
        </p:nvSpPr>
        <p:spPr>
          <a:xfrm>
            <a:off x="640080" y="4233672"/>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10</a:t>
            </a:r>
            <a:endParaRPr lang="en-US" sz="1200" dirty="0"/>
          </a:p>
        </p:txBody>
      </p:sp>
      <p:sp>
        <p:nvSpPr>
          <p:cNvPr id="53" name="Text 51"/>
          <p:cNvSpPr/>
          <p:nvPr/>
        </p:nvSpPr>
        <p:spPr>
          <a:xfrm>
            <a:off x="1033272" y="4219956"/>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54" name="Text 52"/>
          <p:cNvSpPr/>
          <p:nvPr/>
        </p:nvSpPr>
        <p:spPr>
          <a:xfrm>
            <a:off x="640080" y="447598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11</a:t>
            </a:r>
            <a:endParaRPr lang="en-US" sz="1200" dirty="0"/>
          </a:p>
        </p:txBody>
      </p:sp>
      <p:sp>
        <p:nvSpPr>
          <p:cNvPr id="55" name="Text 53"/>
          <p:cNvSpPr/>
          <p:nvPr/>
        </p:nvSpPr>
        <p:spPr>
          <a:xfrm>
            <a:off x="1033272" y="446227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a:t>
            </a:r>
            <a:endParaRPr lang="en-US" sz="1420" dirty="0"/>
          </a:p>
        </p:txBody>
      </p:sp>
      <p:sp>
        <p:nvSpPr>
          <p:cNvPr id="56" name="Text 54"/>
          <p:cNvSpPr/>
          <p:nvPr/>
        </p:nvSpPr>
        <p:spPr>
          <a:xfrm>
            <a:off x="640080" y="471830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12</a:t>
            </a:r>
            <a:endParaRPr lang="en-US" sz="1200" dirty="0"/>
          </a:p>
        </p:txBody>
      </p:sp>
      <p:sp>
        <p:nvSpPr>
          <p:cNvPr id="57" name="Text 55"/>
          <p:cNvSpPr/>
          <p:nvPr/>
        </p:nvSpPr>
        <p:spPr>
          <a:xfrm>
            <a:off x="1033272" y="470458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58" name="Text 56"/>
          <p:cNvSpPr/>
          <p:nvPr/>
        </p:nvSpPr>
        <p:spPr>
          <a:xfrm>
            <a:off x="640080" y="496062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13</a:t>
            </a:r>
            <a:endParaRPr lang="en-US" sz="1200" dirty="0"/>
          </a:p>
        </p:txBody>
      </p:sp>
      <p:sp>
        <p:nvSpPr>
          <p:cNvPr id="59" name="Text 57"/>
          <p:cNvSpPr/>
          <p:nvPr/>
        </p:nvSpPr>
        <p:spPr>
          <a:xfrm>
            <a:off x="1033272" y="4946904"/>
            <a:ext cx="6931152" cy="242316"/>
          </a:xfrm>
          <a:prstGeom prst="rect">
            <a:avLst/>
          </a:prstGeom>
          <a:noFill/>
          <a:ln/>
        </p:spPr>
        <p:txBody>
          <a:bodyPr wrap="square" lIns="0" tIns="0" rIns="0" bIns="0" rtlCol="0" anchor="ctr">
            <a:normAutofit/>
          </a:bodyPr>
          <a:lstStyle/>
          <a:p>
            <a:pPr indent="0" marL="0">
              <a:buNone/>
            </a:pPr>
            <a:r>
              <a:rPr lang="en-US" sz="1420" dirty="0">
                <a:solidFill>
                  <a:srgbClr val="78C9A6"/>
                </a:solidFill>
                <a:latin typeface="Aptos Mono" pitchFamily="34" charset="0"/>
                <a:ea typeface="Aptos Mono" pitchFamily="34" charset="-122"/>
                <a:cs typeface="Aptos Mono" pitchFamily="34" charset="-120"/>
              </a:rPr>
              <a:t>// Il namespace mostra da dove arriva ogni token.</a:t>
            </a:r>
            <a:endParaRPr lang="en-US" sz="1420" dirty="0"/>
          </a:p>
        </p:txBody>
      </p:sp>
      <p:sp>
        <p:nvSpPr>
          <p:cNvPr id="60" name="Shape 58"/>
          <p:cNvSpPr/>
          <p:nvPr/>
        </p:nvSpPr>
        <p:spPr>
          <a:xfrm>
            <a:off x="8366760" y="1591056"/>
            <a:ext cx="3310128" cy="4553712"/>
          </a:xfrm>
          <a:prstGeom prst="roundRect">
            <a:avLst>
              <a:gd name="adj" fmla="val 1381"/>
            </a:avLst>
          </a:prstGeom>
          <a:solidFill>
            <a:srgbClr val="122238"/>
          </a:solidFill>
          <a:ln w="12700">
            <a:solidFill>
              <a:srgbClr val="263A55"/>
            </a:solidFill>
            <a:prstDash val="solid"/>
          </a:ln>
        </p:spPr>
      </p:sp>
      <p:sp>
        <p:nvSpPr>
          <p:cNvPr id="61" name="Text 59"/>
          <p:cNvSpPr/>
          <p:nvPr/>
        </p:nvSpPr>
        <p:spPr>
          <a:xfrm>
            <a:off x="8586216" y="1801368"/>
            <a:ext cx="2871216" cy="182880"/>
          </a:xfrm>
          <a:prstGeom prst="rect">
            <a:avLst/>
          </a:prstGeom>
          <a:noFill/>
          <a:ln/>
        </p:spPr>
        <p:txBody>
          <a:bodyPr wrap="square" lIns="0" tIns="0" rIns="0" bIns="0" rtlCol="0" anchor="ctr"/>
          <a:lstStyle/>
          <a:p>
            <a:pPr indent="0" marL="0">
              <a:buNone/>
            </a:pPr>
            <a:r>
              <a:rPr lang="en-US" sz="950" b="1" spc="115" kern="0" dirty="0">
                <a:solidFill>
                  <a:srgbClr val="F5C96A"/>
                </a:solidFill>
                <a:latin typeface="Aptos" pitchFamily="34" charset="0"/>
                <a:ea typeface="Aptos" pitchFamily="34" charset="-122"/>
                <a:cs typeface="Aptos" pitchFamily="34" charset="-120"/>
              </a:rPr>
              <a:t>DA OSSERVARE</a:t>
            </a:r>
            <a:endParaRPr lang="en-US" sz="950" dirty="0"/>
          </a:p>
        </p:txBody>
      </p:sp>
      <p:sp>
        <p:nvSpPr>
          <p:cNvPr id="62" name="Shape 60"/>
          <p:cNvSpPr/>
          <p:nvPr/>
        </p:nvSpPr>
        <p:spPr>
          <a:xfrm>
            <a:off x="8586216" y="2267712"/>
            <a:ext cx="91440" cy="91440"/>
          </a:xfrm>
          <a:prstGeom prst="ellipse">
            <a:avLst/>
          </a:prstGeom>
          <a:solidFill>
            <a:srgbClr val="7CD4FF"/>
          </a:solidFill>
          <a:ln w="12700">
            <a:solidFill>
              <a:srgbClr val="7CD4FF"/>
            </a:solidFill>
            <a:prstDash val="solid"/>
          </a:ln>
        </p:spPr>
      </p:sp>
      <p:sp>
        <p:nvSpPr>
          <p:cNvPr id="63" name="Text 61"/>
          <p:cNvSpPr/>
          <p:nvPr/>
        </p:nvSpPr>
        <p:spPr>
          <a:xfrm>
            <a:off x="8778240" y="2212848"/>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Dipendenza esplicita con namespace.</a:t>
            </a:r>
            <a:endParaRPr lang="en-US" sz="1420" dirty="0"/>
          </a:p>
        </p:txBody>
      </p:sp>
      <p:sp>
        <p:nvSpPr>
          <p:cNvPr id="64" name="Shape 62"/>
          <p:cNvSpPr/>
          <p:nvPr/>
        </p:nvSpPr>
        <p:spPr>
          <a:xfrm>
            <a:off x="8586216" y="2980944"/>
            <a:ext cx="91440" cy="91440"/>
          </a:xfrm>
          <a:prstGeom prst="ellipse">
            <a:avLst/>
          </a:prstGeom>
          <a:solidFill>
            <a:srgbClr val="7CD4FF"/>
          </a:solidFill>
          <a:ln w="12700">
            <a:solidFill>
              <a:srgbClr val="7CD4FF"/>
            </a:solidFill>
            <a:prstDash val="solid"/>
          </a:ln>
        </p:spPr>
      </p:sp>
      <p:sp>
        <p:nvSpPr>
          <p:cNvPr id="65" name="Text 63"/>
          <p:cNvSpPr/>
          <p:nvPr/>
        </p:nvSpPr>
        <p:spPr>
          <a:xfrm>
            <a:off x="8778240" y="2926080"/>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Selettore locale al componente.</a:t>
            </a:r>
            <a:endParaRPr lang="en-US" sz="1420" dirty="0"/>
          </a:p>
        </p:txBody>
      </p:sp>
      <p:sp>
        <p:nvSpPr>
          <p:cNvPr id="66" name="Shape 64"/>
          <p:cNvSpPr/>
          <p:nvPr/>
        </p:nvSpPr>
        <p:spPr>
          <a:xfrm>
            <a:off x="8586216" y="3694176"/>
            <a:ext cx="91440" cy="91440"/>
          </a:xfrm>
          <a:prstGeom prst="ellipse">
            <a:avLst/>
          </a:prstGeom>
          <a:solidFill>
            <a:srgbClr val="7CD4FF"/>
          </a:solidFill>
          <a:ln w="12700">
            <a:solidFill>
              <a:srgbClr val="7CD4FF"/>
            </a:solidFill>
            <a:prstDash val="solid"/>
          </a:ln>
        </p:spPr>
      </p:sp>
      <p:sp>
        <p:nvSpPr>
          <p:cNvPr id="67" name="Text 65"/>
          <p:cNvSpPr/>
          <p:nvPr/>
        </p:nvSpPr>
        <p:spPr>
          <a:xfrm>
            <a:off x="8778240" y="3639312"/>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Nesting poco profondo.</a:t>
            </a:r>
            <a:endParaRPr lang="en-US" sz="142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35</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STILE LOCALE</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Un namespace BEM mantiene specificità bassa</a:t>
            </a:r>
            <a:endParaRPr lang="en-US" sz="2700" dirty="0"/>
          </a:p>
        </p:txBody>
      </p:sp>
      <p:sp>
        <p:nvSpPr>
          <p:cNvPr id="29" name="Shape 27"/>
          <p:cNvSpPr/>
          <p:nvPr/>
        </p:nvSpPr>
        <p:spPr>
          <a:xfrm>
            <a:off x="530352" y="1591056"/>
            <a:ext cx="7589520" cy="4553712"/>
          </a:xfrm>
          <a:prstGeom prst="roundRect">
            <a:avLst>
              <a:gd name="adj" fmla="val 1004"/>
            </a:avLst>
          </a:prstGeom>
          <a:solidFill>
            <a:srgbClr val="0D1A2B"/>
          </a:solidFill>
          <a:ln w="13970">
            <a:solidFill>
              <a:srgbClr val="263A55"/>
            </a:solidFill>
            <a:prstDash val="solid"/>
          </a:ln>
        </p:spPr>
      </p:sp>
      <p:sp>
        <p:nvSpPr>
          <p:cNvPr id="30" name="Shape 28"/>
          <p:cNvSpPr/>
          <p:nvPr/>
        </p:nvSpPr>
        <p:spPr>
          <a:xfrm>
            <a:off x="530352" y="1591056"/>
            <a:ext cx="7589520" cy="347472"/>
          </a:xfrm>
          <a:prstGeom prst="rect">
            <a:avLst/>
          </a:prstGeom>
          <a:solidFill>
            <a:srgbClr val="122238"/>
          </a:solidFill>
          <a:ln w="12700">
            <a:solidFill>
              <a:srgbClr val="122238"/>
            </a:solidFill>
            <a:prstDash val="solid"/>
          </a:ln>
        </p:spPr>
      </p:sp>
      <p:sp>
        <p:nvSpPr>
          <p:cNvPr id="31" name="Shape 29"/>
          <p:cNvSpPr/>
          <p:nvPr/>
        </p:nvSpPr>
        <p:spPr>
          <a:xfrm>
            <a:off x="694944" y="1632204"/>
            <a:ext cx="658368" cy="274320"/>
          </a:xfrm>
          <a:prstGeom prst="roundRect">
            <a:avLst>
              <a:gd name="adj" fmla="val 20000"/>
            </a:avLst>
          </a:prstGeom>
          <a:solidFill>
            <a:srgbClr val="7CD4FF">
              <a:alpha val="20000"/>
            </a:srgbClr>
          </a:solidFill>
          <a:ln w="10160">
            <a:solidFill>
              <a:srgbClr val="7CD4FF">
                <a:alpha val="55000"/>
              </a:srgbClr>
            </a:solidFill>
            <a:prstDash val="solid"/>
          </a:ln>
        </p:spPr>
      </p:sp>
      <p:sp>
        <p:nvSpPr>
          <p:cNvPr id="32" name="Text 30"/>
          <p:cNvSpPr/>
          <p:nvPr/>
        </p:nvSpPr>
        <p:spPr>
          <a:xfrm>
            <a:off x="786384" y="1691640"/>
            <a:ext cx="475488" cy="128016"/>
          </a:xfrm>
          <a:prstGeom prst="rect">
            <a:avLst/>
          </a:prstGeom>
          <a:noFill/>
          <a:ln/>
        </p:spPr>
        <p:txBody>
          <a:bodyPr wrap="square" lIns="0" tIns="0" rIns="0" bIns="0" rtlCol="0" anchor="ctr"/>
          <a:lstStyle/>
          <a:p>
            <a:pPr algn="ctr" indent="0" marL="0">
              <a:buNone/>
            </a:pPr>
            <a:r>
              <a:rPr lang="en-US" sz="820" b="1" dirty="0">
                <a:solidFill>
                  <a:srgbClr val="7CD4FF"/>
                </a:solidFill>
                <a:latin typeface="Aptos Mono" pitchFamily="34" charset="0"/>
                <a:ea typeface="Aptos Mono" pitchFamily="34" charset="-122"/>
                <a:cs typeface="Aptos Mono" pitchFamily="34" charset="-120"/>
              </a:rPr>
              <a:t>SCSS</a:t>
            </a:r>
            <a:endParaRPr lang="en-US" sz="820" dirty="0"/>
          </a:p>
        </p:txBody>
      </p:sp>
      <p:sp>
        <p:nvSpPr>
          <p:cNvPr id="33" name="Text 31"/>
          <p:cNvSpPr/>
          <p:nvPr/>
        </p:nvSpPr>
        <p:spPr>
          <a:xfrm>
            <a:off x="1490472" y="1687068"/>
            <a:ext cx="635508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Dashboard.scss</a:t>
            </a:r>
            <a:endParaRPr lang="en-US" sz="880" dirty="0"/>
          </a:p>
        </p:txBody>
      </p:sp>
      <p:sp>
        <p:nvSpPr>
          <p:cNvPr id="34" name="Text 32"/>
          <p:cNvSpPr/>
          <p:nvPr/>
        </p:nvSpPr>
        <p:spPr>
          <a:xfrm>
            <a:off x="640080" y="2052828"/>
            <a:ext cx="320040" cy="237744"/>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01</a:t>
            </a:r>
            <a:endParaRPr lang="en-US" sz="1200" dirty="0"/>
          </a:p>
        </p:txBody>
      </p:sp>
      <p:sp>
        <p:nvSpPr>
          <p:cNvPr id="35" name="Text 33"/>
          <p:cNvSpPr/>
          <p:nvPr/>
        </p:nvSpPr>
        <p:spPr>
          <a:xfrm>
            <a:off x="1033272" y="2039112"/>
            <a:ext cx="6931152" cy="237744"/>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.dashboard {</a:t>
            </a:r>
            <a:endParaRPr lang="en-US" sz="1420" dirty="0"/>
          </a:p>
        </p:txBody>
      </p:sp>
      <p:sp>
        <p:nvSpPr>
          <p:cNvPr id="36" name="Text 34"/>
          <p:cNvSpPr/>
          <p:nvPr/>
        </p:nvSpPr>
        <p:spPr>
          <a:xfrm>
            <a:off x="640080" y="2290572"/>
            <a:ext cx="320040" cy="237744"/>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02</a:t>
            </a:r>
            <a:endParaRPr lang="en-US" sz="1200" dirty="0"/>
          </a:p>
        </p:txBody>
      </p:sp>
      <p:sp>
        <p:nvSpPr>
          <p:cNvPr id="37" name="Text 35"/>
          <p:cNvSpPr/>
          <p:nvPr/>
        </p:nvSpPr>
        <p:spPr>
          <a:xfrm>
            <a:off x="1033272" y="2276856"/>
            <a:ext cx="6931152" cy="237744"/>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&amp;__header {</a:t>
            </a:r>
            <a:endParaRPr lang="en-US" sz="1420" dirty="0"/>
          </a:p>
        </p:txBody>
      </p:sp>
      <p:sp>
        <p:nvSpPr>
          <p:cNvPr id="38" name="Text 36"/>
          <p:cNvSpPr/>
          <p:nvPr/>
        </p:nvSpPr>
        <p:spPr>
          <a:xfrm>
            <a:off x="640080" y="2528316"/>
            <a:ext cx="320040" cy="237744"/>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03</a:t>
            </a:r>
            <a:endParaRPr lang="en-US" sz="1200" dirty="0"/>
          </a:p>
        </p:txBody>
      </p:sp>
      <p:sp>
        <p:nvSpPr>
          <p:cNvPr id="39" name="Text 37"/>
          <p:cNvSpPr/>
          <p:nvPr/>
        </p:nvSpPr>
        <p:spPr>
          <a:xfrm>
            <a:off x="1033272" y="2514600"/>
            <a:ext cx="6931152" cy="237744"/>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display: flex;</a:t>
            </a:r>
            <a:endParaRPr lang="en-US" sz="1420" dirty="0"/>
          </a:p>
        </p:txBody>
      </p:sp>
      <p:sp>
        <p:nvSpPr>
          <p:cNvPr id="40" name="Text 38"/>
          <p:cNvSpPr/>
          <p:nvPr/>
        </p:nvSpPr>
        <p:spPr>
          <a:xfrm>
            <a:off x="640080" y="2766060"/>
            <a:ext cx="320040" cy="237744"/>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04</a:t>
            </a:r>
            <a:endParaRPr lang="en-US" sz="1200" dirty="0"/>
          </a:p>
        </p:txBody>
      </p:sp>
      <p:sp>
        <p:nvSpPr>
          <p:cNvPr id="41" name="Text 39"/>
          <p:cNvSpPr/>
          <p:nvPr/>
        </p:nvSpPr>
        <p:spPr>
          <a:xfrm>
            <a:off x="1033272" y="2752344"/>
            <a:ext cx="6931152" cy="237744"/>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justify-content: space-between;</a:t>
            </a:r>
            <a:endParaRPr lang="en-US" sz="1420" dirty="0"/>
          </a:p>
        </p:txBody>
      </p:sp>
      <p:sp>
        <p:nvSpPr>
          <p:cNvPr id="42" name="Text 40"/>
          <p:cNvSpPr/>
          <p:nvPr/>
        </p:nvSpPr>
        <p:spPr>
          <a:xfrm>
            <a:off x="640080" y="3003804"/>
            <a:ext cx="320040" cy="237744"/>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05</a:t>
            </a:r>
            <a:endParaRPr lang="en-US" sz="1200" dirty="0"/>
          </a:p>
        </p:txBody>
      </p:sp>
      <p:sp>
        <p:nvSpPr>
          <p:cNvPr id="43" name="Text 41"/>
          <p:cNvSpPr/>
          <p:nvPr/>
        </p:nvSpPr>
        <p:spPr>
          <a:xfrm>
            <a:off x="1033272" y="2990088"/>
            <a:ext cx="6931152" cy="237744"/>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44" name="Text 42"/>
          <p:cNvSpPr/>
          <p:nvPr/>
        </p:nvSpPr>
        <p:spPr>
          <a:xfrm>
            <a:off x="640080" y="3241548"/>
            <a:ext cx="320040" cy="237744"/>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06</a:t>
            </a:r>
            <a:endParaRPr lang="en-US" sz="1200" dirty="0"/>
          </a:p>
        </p:txBody>
      </p:sp>
      <p:sp>
        <p:nvSpPr>
          <p:cNvPr id="45" name="Text 43"/>
          <p:cNvSpPr/>
          <p:nvPr/>
        </p:nvSpPr>
        <p:spPr>
          <a:xfrm>
            <a:off x="1033272" y="3227832"/>
            <a:ext cx="6931152" cy="237744"/>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46" name="Text 44"/>
          <p:cNvSpPr/>
          <p:nvPr/>
        </p:nvSpPr>
        <p:spPr>
          <a:xfrm>
            <a:off x="640080" y="3479292"/>
            <a:ext cx="320040" cy="237744"/>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07</a:t>
            </a:r>
            <a:endParaRPr lang="en-US" sz="1200" dirty="0"/>
          </a:p>
        </p:txBody>
      </p:sp>
      <p:sp>
        <p:nvSpPr>
          <p:cNvPr id="47" name="Text 45"/>
          <p:cNvSpPr/>
          <p:nvPr/>
        </p:nvSpPr>
        <p:spPr>
          <a:xfrm>
            <a:off x="1033272" y="3465576"/>
            <a:ext cx="6931152" cy="237744"/>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&amp;__ticket-list {</a:t>
            </a:r>
            <a:endParaRPr lang="en-US" sz="1420" dirty="0"/>
          </a:p>
        </p:txBody>
      </p:sp>
      <p:sp>
        <p:nvSpPr>
          <p:cNvPr id="48" name="Text 46"/>
          <p:cNvSpPr/>
          <p:nvPr/>
        </p:nvSpPr>
        <p:spPr>
          <a:xfrm>
            <a:off x="640080" y="3717036"/>
            <a:ext cx="320040" cy="237744"/>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08</a:t>
            </a:r>
            <a:endParaRPr lang="en-US" sz="1200" dirty="0"/>
          </a:p>
        </p:txBody>
      </p:sp>
      <p:sp>
        <p:nvSpPr>
          <p:cNvPr id="49" name="Text 47"/>
          <p:cNvSpPr/>
          <p:nvPr/>
        </p:nvSpPr>
        <p:spPr>
          <a:xfrm>
            <a:off x="1033272" y="3703320"/>
            <a:ext cx="6931152" cy="237744"/>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display: grid;</a:t>
            </a:r>
            <a:endParaRPr lang="en-US" sz="1420" dirty="0"/>
          </a:p>
        </p:txBody>
      </p:sp>
      <p:sp>
        <p:nvSpPr>
          <p:cNvPr id="50" name="Text 48"/>
          <p:cNvSpPr/>
          <p:nvPr/>
        </p:nvSpPr>
        <p:spPr>
          <a:xfrm>
            <a:off x="640080" y="3954780"/>
            <a:ext cx="320040" cy="237744"/>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09</a:t>
            </a:r>
            <a:endParaRPr lang="en-US" sz="1200" dirty="0"/>
          </a:p>
        </p:txBody>
      </p:sp>
      <p:sp>
        <p:nvSpPr>
          <p:cNvPr id="51" name="Text 49"/>
          <p:cNvSpPr/>
          <p:nvPr/>
        </p:nvSpPr>
        <p:spPr>
          <a:xfrm>
            <a:off x="1033272" y="3941064"/>
            <a:ext cx="6931152" cy="237744"/>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gap: v.$space-2;</a:t>
            </a:r>
            <a:endParaRPr lang="en-US" sz="1420" dirty="0"/>
          </a:p>
        </p:txBody>
      </p:sp>
      <p:sp>
        <p:nvSpPr>
          <p:cNvPr id="52" name="Text 50"/>
          <p:cNvSpPr/>
          <p:nvPr/>
        </p:nvSpPr>
        <p:spPr>
          <a:xfrm>
            <a:off x="640080" y="4192524"/>
            <a:ext cx="320040" cy="237744"/>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10</a:t>
            </a:r>
            <a:endParaRPr lang="en-US" sz="1200" dirty="0"/>
          </a:p>
        </p:txBody>
      </p:sp>
      <p:sp>
        <p:nvSpPr>
          <p:cNvPr id="53" name="Text 51"/>
          <p:cNvSpPr/>
          <p:nvPr/>
        </p:nvSpPr>
        <p:spPr>
          <a:xfrm>
            <a:off x="1033272" y="4178808"/>
            <a:ext cx="6931152" cy="237744"/>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54" name="Text 52"/>
          <p:cNvSpPr/>
          <p:nvPr/>
        </p:nvSpPr>
        <p:spPr>
          <a:xfrm>
            <a:off x="640080" y="4430268"/>
            <a:ext cx="320040" cy="237744"/>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11</a:t>
            </a:r>
            <a:endParaRPr lang="en-US" sz="1200" dirty="0"/>
          </a:p>
        </p:txBody>
      </p:sp>
      <p:sp>
        <p:nvSpPr>
          <p:cNvPr id="55" name="Text 53"/>
          <p:cNvSpPr/>
          <p:nvPr/>
        </p:nvSpPr>
        <p:spPr>
          <a:xfrm>
            <a:off x="1033272" y="4416552"/>
            <a:ext cx="6931152" cy="237744"/>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56" name="Text 54"/>
          <p:cNvSpPr/>
          <p:nvPr/>
        </p:nvSpPr>
        <p:spPr>
          <a:xfrm>
            <a:off x="640080" y="4668012"/>
            <a:ext cx="320040" cy="237744"/>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12</a:t>
            </a:r>
            <a:endParaRPr lang="en-US" sz="1200" dirty="0"/>
          </a:p>
        </p:txBody>
      </p:sp>
      <p:sp>
        <p:nvSpPr>
          <p:cNvPr id="57" name="Text 55"/>
          <p:cNvSpPr/>
          <p:nvPr/>
        </p:nvSpPr>
        <p:spPr>
          <a:xfrm>
            <a:off x="1033272" y="4654296"/>
            <a:ext cx="6931152" cy="237744"/>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&amp;__ticket--active {</a:t>
            </a:r>
            <a:endParaRPr lang="en-US" sz="1420" dirty="0"/>
          </a:p>
        </p:txBody>
      </p:sp>
      <p:sp>
        <p:nvSpPr>
          <p:cNvPr id="58" name="Text 56"/>
          <p:cNvSpPr/>
          <p:nvPr/>
        </p:nvSpPr>
        <p:spPr>
          <a:xfrm>
            <a:off x="640080" y="4905756"/>
            <a:ext cx="320040" cy="237744"/>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13</a:t>
            </a:r>
            <a:endParaRPr lang="en-US" sz="1200" dirty="0"/>
          </a:p>
        </p:txBody>
      </p:sp>
      <p:sp>
        <p:nvSpPr>
          <p:cNvPr id="59" name="Text 57"/>
          <p:cNvSpPr/>
          <p:nvPr/>
        </p:nvSpPr>
        <p:spPr>
          <a:xfrm>
            <a:off x="1033272" y="4892040"/>
            <a:ext cx="6931152" cy="237744"/>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outline: 2px solid v.$color-accent;</a:t>
            </a:r>
            <a:endParaRPr lang="en-US" sz="1420" dirty="0"/>
          </a:p>
        </p:txBody>
      </p:sp>
      <p:sp>
        <p:nvSpPr>
          <p:cNvPr id="60" name="Text 58"/>
          <p:cNvSpPr/>
          <p:nvPr/>
        </p:nvSpPr>
        <p:spPr>
          <a:xfrm>
            <a:off x="640080" y="5143500"/>
            <a:ext cx="320040" cy="237744"/>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14</a:t>
            </a:r>
            <a:endParaRPr lang="en-US" sz="1200" dirty="0"/>
          </a:p>
        </p:txBody>
      </p:sp>
      <p:sp>
        <p:nvSpPr>
          <p:cNvPr id="61" name="Text 59"/>
          <p:cNvSpPr/>
          <p:nvPr/>
        </p:nvSpPr>
        <p:spPr>
          <a:xfrm>
            <a:off x="1033272" y="5129784"/>
            <a:ext cx="6931152" cy="237744"/>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62" name="Text 60"/>
          <p:cNvSpPr/>
          <p:nvPr/>
        </p:nvSpPr>
        <p:spPr>
          <a:xfrm>
            <a:off x="640080" y="5381244"/>
            <a:ext cx="320040" cy="237744"/>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15</a:t>
            </a:r>
            <a:endParaRPr lang="en-US" sz="1200" dirty="0"/>
          </a:p>
        </p:txBody>
      </p:sp>
      <p:sp>
        <p:nvSpPr>
          <p:cNvPr id="63" name="Text 61"/>
          <p:cNvSpPr/>
          <p:nvPr/>
        </p:nvSpPr>
        <p:spPr>
          <a:xfrm>
            <a:off x="1033272" y="5367528"/>
            <a:ext cx="6931152" cy="237744"/>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a:t>
            </a:r>
            <a:endParaRPr lang="en-US" sz="1420" dirty="0"/>
          </a:p>
        </p:txBody>
      </p:sp>
      <p:sp>
        <p:nvSpPr>
          <p:cNvPr id="64" name="Text 62"/>
          <p:cNvSpPr/>
          <p:nvPr/>
        </p:nvSpPr>
        <p:spPr>
          <a:xfrm>
            <a:off x="640080" y="5618988"/>
            <a:ext cx="320040" cy="237744"/>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16</a:t>
            </a:r>
            <a:endParaRPr lang="en-US" sz="1200" dirty="0"/>
          </a:p>
        </p:txBody>
      </p:sp>
      <p:sp>
        <p:nvSpPr>
          <p:cNvPr id="65" name="Text 63"/>
          <p:cNvSpPr/>
          <p:nvPr/>
        </p:nvSpPr>
        <p:spPr>
          <a:xfrm>
            <a:off x="1033272" y="5605272"/>
            <a:ext cx="6931152" cy="237744"/>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66" name="Text 64"/>
          <p:cNvSpPr/>
          <p:nvPr/>
        </p:nvSpPr>
        <p:spPr>
          <a:xfrm>
            <a:off x="640080" y="5856732"/>
            <a:ext cx="320040" cy="237744"/>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17</a:t>
            </a:r>
            <a:endParaRPr lang="en-US" sz="1200" dirty="0"/>
          </a:p>
        </p:txBody>
      </p:sp>
      <p:sp>
        <p:nvSpPr>
          <p:cNvPr id="67" name="Text 65"/>
          <p:cNvSpPr/>
          <p:nvPr/>
        </p:nvSpPr>
        <p:spPr>
          <a:xfrm>
            <a:off x="1033272" y="5843016"/>
            <a:ext cx="6931152" cy="237744"/>
          </a:xfrm>
          <a:prstGeom prst="rect">
            <a:avLst/>
          </a:prstGeom>
          <a:noFill/>
          <a:ln/>
        </p:spPr>
        <p:txBody>
          <a:bodyPr wrap="square" lIns="0" tIns="0" rIns="0" bIns="0" rtlCol="0" anchor="ctr">
            <a:normAutofit/>
          </a:bodyPr>
          <a:lstStyle/>
          <a:p>
            <a:pPr indent="0" marL="0">
              <a:buNone/>
            </a:pPr>
            <a:r>
              <a:rPr lang="en-US" sz="1420" dirty="0">
                <a:solidFill>
                  <a:srgbClr val="78C9A6"/>
                </a:solidFill>
                <a:latin typeface="Aptos Mono" pitchFamily="34" charset="0"/>
                <a:ea typeface="Aptos Mono" pitchFamily="34" charset="-122"/>
                <a:cs typeface="Aptos Mono" pitchFamily="34" charset="-120"/>
              </a:rPr>
              <a:t>// Evita .dashboard .panel .list li.active</a:t>
            </a:r>
            <a:endParaRPr lang="en-US" sz="1420" dirty="0"/>
          </a:p>
        </p:txBody>
      </p:sp>
      <p:sp>
        <p:nvSpPr>
          <p:cNvPr id="68" name="Shape 66"/>
          <p:cNvSpPr/>
          <p:nvPr/>
        </p:nvSpPr>
        <p:spPr>
          <a:xfrm>
            <a:off x="8366760" y="1591056"/>
            <a:ext cx="3310128" cy="4553712"/>
          </a:xfrm>
          <a:prstGeom prst="roundRect">
            <a:avLst>
              <a:gd name="adj" fmla="val 1381"/>
            </a:avLst>
          </a:prstGeom>
          <a:solidFill>
            <a:srgbClr val="122238"/>
          </a:solidFill>
          <a:ln w="12700">
            <a:solidFill>
              <a:srgbClr val="263A55"/>
            </a:solidFill>
            <a:prstDash val="solid"/>
          </a:ln>
        </p:spPr>
      </p:sp>
      <p:sp>
        <p:nvSpPr>
          <p:cNvPr id="69" name="Text 67"/>
          <p:cNvSpPr/>
          <p:nvPr/>
        </p:nvSpPr>
        <p:spPr>
          <a:xfrm>
            <a:off x="8586216" y="1801368"/>
            <a:ext cx="2871216" cy="182880"/>
          </a:xfrm>
          <a:prstGeom prst="rect">
            <a:avLst/>
          </a:prstGeom>
          <a:noFill/>
          <a:ln/>
        </p:spPr>
        <p:txBody>
          <a:bodyPr wrap="square" lIns="0" tIns="0" rIns="0" bIns="0" rtlCol="0" anchor="ctr"/>
          <a:lstStyle/>
          <a:p>
            <a:pPr indent="0" marL="0">
              <a:buNone/>
            </a:pPr>
            <a:r>
              <a:rPr lang="en-US" sz="950" b="1" spc="115" kern="0" dirty="0">
                <a:solidFill>
                  <a:srgbClr val="F5C96A"/>
                </a:solidFill>
                <a:latin typeface="Aptos" pitchFamily="34" charset="0"/>
                <a:ea typeface="Aptos" pitchFamily="34" charset="-122"/>
                <a:cs typeface="Aptos" pitchFamily="34" charset="-120"/>
              </a:rPr>
              <a:t>DA OSSERVARE</a:t>
            </a:r>
            <a:endParaRPr lang="en-US" sz="950" dirty="0"/>
          </a:p>
        </p:txBody>
      </p:sp>
      <p:sp>
        <p:nvSpPr>
          <p:cNvPr id="70" name="Shape 68"/>
          <p:cNvSpPr/>
          <p:nvPr/>
        </p:nvSpPr>
        <p:spPr>
          <a:xfrm>
            <a:off x="8586216" y="2267712"/>
            <a:ext cx="91440" cy="91440"/>
          </a:xfrm>
          <a:prstGeom prst="ellipse">
            <a:avLst/>
          </a:prstGeom>
          <a:solidFill>
            <a:srgbClr val="7CD4FF"/>
          </a:solidFill>
          <a:ln w="12700">
            <a:solidFill>
              <a:srgbClr val="7CD4FF"/>
            </a:solidFill>
            <a:prstDash val="solid"/>
          </a:ln>
        </p:spPr>
      </p:sp>
      <p:sp>
        <p:nvSpPr>
          <p:cNvPr id="71" name="Text 69"/>
          <p:cNvSpPr/>
          <p:nvPr/>
        </p:nvSpPr>
        <p:spPr>
          <a:xfrm>
            <a:off x="8778240" y="2212848"/>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Prefisso unico e proprietà visibile.</a:t>
            </a:r>
            <a:endParaRPr lang="en-US" sz="1420" dirty="0"/>
          </a:p>
        </p:txBody>
      </p:sp>
      <p:sp>
        <p:nvSpPr>
          <p:cNvPr id="72" name="Shape 70"/>
          <p:cNvSpPr/>
          <p:nvPr/>
        </p:nvSpPr>
        <p:spPr>
          <a:xfrm>
            <a:off x="8586216" y="2980944"/>
            <a:ext cx="91440" cy="91440"/>
          </a:xfrm>
          <a:prstGeom prst="ellipse">
            <a:avLst/>
          </a:prstGeom>
          <a:solidFill>
            <a:srgbClr val="7CD4FF"/>
          </a:solidFill>
          <a:ln w="12700">
            <a:solidFill>
              <a:srgbClr val="7CD4FF"/>
            </a:solidFill>
            <a:prstDash val="solid"/>
          </a:ln>
        </p:spPr>
      </p:sp>
      <p:sp>
        <p:nvSpPr>
          <p:cNvPr id="73" name="Text 71"/>
          <p:cNvSpPr/>
          <p:nvPr/>
        </p:nvSpPr>
        <p:spPr>
          <a:xfrm>
            <a:off x="8778240" y="2926080"/>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Selettori piatti e removibili.</a:t>
            </a:r>
            <a:endParaRPr lang="en-US" sz="1420" dirty="0"/>
          </a:p>
        </p:txBody>
      </p:sp>
      <p:sp>
        <p:nvSpPr>
          <p:cNvPr id="74" name="Shape 72"/>
          <p:cNvSpPr/>
          <p:nvPr/>
        </p:nvSpPr>
        <p:spPr>
          <a:xfrm>
            <a:off x="8586216" y="3694176"/>
            <a:ext cx="91440" cy="91440"/>
          </a:xfrm>
          <a:prstGeom prst="ellipse">
            <a:avLst/>
          </a:prstGeom>
          <a:solidFill>
            <a:srgbClr val="7CD4FF"/>
          </a:solidFill>
          <a:ln w="12700">
            <a:solidFill>
              <a:srgbClr val="7CD4FF"/>
            </a:solidFill>
            <a:prstDash val="solid"/>
          </a:ln>
        </p:spPr>
      </p:sp>
      <p:sp>
        <p:nvSpPr>
          <p:cNvPr id="75" name="Text 73"/>
          <p:cNvSpPr/>
          <p:nvPr/>
        </p:nvSpPr>
        <p:spPr>
          <a:xfrm>
            <a:off x="8778240" y="3639312"/>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Nessuna dipendenza dalla profondità DOM.</a:t>
            </a:r>
            <a:endParaRPr lang="en-US" sz="142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36</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ALTERNATIVA LOCALE</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CSS Modules rinforza il pairing con scope automatico</a:t>
            </a:r>
            <a:endParaRPr lang="en-US" sz="2700" dirty="0"/>
          </a:p>
        </p:txBody>
      </p:sp>
      <p:sp>
        <p:nvSpPr>
          <p:cNvPr id="29" name="Shape 27"/>
          <p:cNvSpPr/>
          <p:nvPr/>
        </p:nvSpPr>
        <p:spPr>
          <a:xfrm>
            <a:off x="530352" y="1591056"/>
            <a:ext cx="7589520" cy="4553712"/>
          </a:xfrm>
          <a:prstGeom prst="roundRect">
            <a:avLst>
              <a:gd name="adj" fmla="val 1004"/>
            </a:avLst>
          </a:prstGeom>
          <a:solidFill>
            <a:srgbClr val="0D1A2B"/>
          </a:solidFill>
          <a:ln w="13970">
            <a:solidFill>
              <a:srgbClr val="263A55"/>
            </a:solidFill>
            <a:prstDash val="solid"/>
          </a:ln>
        </p:spPr>
      </p:sp>
      <p:sp>
        <p:nvSpPr>
          <p:cNvPr id="30" name="Shape 28"/>
          <p:cNvSpPr/>
          <p:nvPr/>
        </p:nvSpPr>
        <p:spPr>
          <a:xfrm>
            <a:off x="530352" y="1591056"/>
            <a:ext cx="7589520" cy="347472"/>
          </a:xfrm>
          <a:prstGeom prst="rect">
            <a:avLst/>
          </a:prstGeom>
          <a:solidFill>
            <a:srgbClr val="122238"/>
          </a:solidFill>
          <a:ln w="12700">
            <a:solidFill>
              <a:srgbClr val="122238"/>
            </a:solidFill>
            <a:prstDash val="solid"/>
          </a:ln>
        </p:spPr>
      </p:sp>
      <p:sp>
        <p:nvSpPr>
          <p:cNvPr id="31" name="Shape 29"/>
          <p:cNvSpPr/>
          <p:nvPr/>
        </p:nvSpPr>
        <p:spPr>
          <a:xfrm>
            <a:off x="694944" y="1632204"/>
            <a:ext cx="658368" cy="274320"/>
          </a:xfrm>
          <a:prstGeom prst="roundRect">
            <a:avLst>
              <a:gd name="adj" fmla="val 20000"/>
            </a:avLst>
          </a:prstGeom>
          <a:solidFill>
            <a:srgbClr val="7CD4FF">
              <a:alpha val="20000"/>
            </a:srgbClr>
          </a:solidFill>
          <a:ln w="10160">
            <a:solidFill>
              <a:srgbClr val="7CD4FF">
                <a:alpha val="55000"/>
              </a:srgbClr>
            </a:solidFill>
            <a:prstDash val="solid"/>
          </a:ln>
        </p:spPr>
      </p:sp>
      <p:sp>
        <p:nvSpPr>
          <p:cNvPr id="32" name="Text 30"/>
          <p:cNvSpPr/>
          <p:nvPr/>
        </p:nvSpPr>
        <p:spPr>
          <a:xfrm>
            <a:off x="786384" y="1691640"/>
            <a:ext cx="475488" cy="128016"/>
          </a:xfrm>
          <a:prstGeom prst="rect">
            <a:avLst/>
          </a:prstGeom>
          <a:noFill/>
          <a:ln/>
        </p:spPr>
        <p:txBody>
          <a:bodyPr wrap="square" lIns="0" tIns="0" rIns="0" bIns="0" rtlCol="0" anchor="ctr"/>
          <a:lstStyle/>
          <a:p>
            <a:pPr algn="ctr" indent="0" marL="0">
              <a:buNone/>
            </a:pPr>
            <a:r>
              <a:rPr lang="en-US" sz="820" b="1" dirty="0">
                <a:solidFill>
                  <a:srgbClr val="7CD4FF"/>
                </a:solidFill>
                <a:latin typeface="Aptos Mono" pitchFamily="34" charset="0"/>
                <a:ea typeface="Aptos Mono" pitchFamily="34" charset="-122"/>
                <a:cs typeface="Aptos Mono" pitchFamily="34" charset="-120"/>
              </a:rPr>
              <a:t>TSX</a:t>
            </a:r>
            <a:endParaRPr lang="en-US" sz="820" dirty="0"/>
          </a:p>
        </p:txBody>
      </p:sp>
      <p:sp>
        <p:nvSpPr>
          <p:cNvPr id="33" name="Text 31"/>
          <p:cNvSpPr/>
          <p:nvPr/>
        </p:nvSpPr>
        <p:spPr>
          <a:xfrm>
            <a:off x="1490472" y="1687068"/>
            <a:ext cx="635508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TicketList.tsx</a:t>
            </a:r>
            <a:endParaRPr lang="en-US" sz="880" dirty="0"/>
          </a:p>
        </p:txBody>
      </p:sp>
      <p:sp>
        <p:nvSpPr>
          <p:cNvPr id="34" name="Text 32"/>
          <p:cNvSpPr/>
          <p:nvPr/>
        </p:nvSpPr>
        <p:spPr>
          <a:xfrm>
            <a:off x="640080" y="2052828"/>
            <a:ext cx="320040" cy="224536"/>
          </a:xfrm>
          <a:prstGeom prst="rect">
            <a:avLst/>
          </a:prstGeom>
          <a:noFill/>
          <a:ln/>
        </p:spPr>
        <p:txBody>
          <a:bodyPr wrap="square" lIns="0" tIns="0" rIns="0" bIns="0" rtlCol="0" anchor="ctr"/>
          <a:lstStyle/>
          <a:p>
            <a:pPr algn="r" indent="0" marL="0">
              <a:buNone/>
            </a:pPr>
            <a:r>
              <a:rPr lang="en-US" sz="1155" dirty="0">
                <a:solidFill>
                  <a:srgbClr val="8296AE"/>
                </a:solidFill>
                <a:latin typeface="Aptos Mono" pitchFamily="34" charset="0"/>
                <a:ea typeface="Aptos Mono" pitchFamily="34" charset="-122"/>
                <a:cs typeface="Aptos Mono" pitchFamily="34" charset="-120"/>
              </a:rPr>
              <a:t>01</a:t>
            </a:r>
            <a:endParaRPr lang="en-US" sz="1155" dirty="0"/>
          </a:p>
        </p:txBody>
      </p:sp>
      <p:sp>
        <p:nvSpPr>
          <p:cNvPr id="35" name="Text 33"/>
          <p:cNvSpPr/>
          <p:nvPr/>
        </p:nvSpPr>
        <p:spPr>
          <a:xfrm>
            <a:off x="1033272" y="2039112"/>
            <a:ext cx="6931152" cy="224536"/>
          </a:xfrm>
          <a:prstGeom prst="rect">
            <a:avLst/>
          </a:prstGeom>
          <a:noFill/>
          <a:ln/>
        </p:spPr>
        <p:txBody>
          <a:bodyPr wrap="square" lIns="0" tIns="0" rIns="0" bIns="0" rtlCol="0" anchor="ctr">
            <a:normAutofit/>
          </a:bodyPr>
          <a:lstStyle/>
          <a:p>
            <a:pPr indent="0" marL="0">
              <a:buNone/>
            </a:pPr>
            <a:r>
              <a:rPr lang="en-US" sz="1375" dirty="0">
                <a:solidFill>
                  <a:srgbClr val="D9E4F2"/>
                </a:solidFill>
                <a:latin typeface="Aptos Mono" pitchFamily="34" charset="0"/>
                <a:ea typeface="Aptos Mono" pitchFamily="34" charset="-122"/>
                <a:cs typeface="Aptos Mono" pitchFamily="34" charset="-120"/>
              </a:rPr>
              <a:t>import styles from './TicketList.module.scss';</a:t>
            </a:r>
            <a:endParaRPr lang="en-US" sz="1375" dirty="0"/>
          </a:p>
        </p:txBody>
      </p:sp>
      <p:sp>
        <p:nvSpPr>
          <p:cNvPr id="36" name="Text 34"/>
          <p:cNvSpPr/>
          <p:nvPr/>
        </p:nvSpPr>
        <p:spPr>
          <a:xfrm>
            <a:off x="640080" y="2277364"/>
            <a:ext cx="320040" cy="224536"/>
          </a:xfrm>
          <a:prstGeom prst="rect">
            <a:avLst/>
          </a:prstGeom>
          <a:noFill/>
          <a:ln/>
        </p:spPr>
        <p:txBody>
          <a:bodyPr wrap="square" lIns="0" tIns="0" rIns="0" bIns="0" rtlCol="0" anchor="ctr"/>
          <a:lstStyle/>
          <a:p>
            <a:pPr algn="r" indent="0" marL="0">
              <a:buNone/>
            </a:pPr>
            <a:r>
              <a:rPr lang="en-US" sz="1155" dirty="0">
                <a:solidFill>
                  <a:srgbClr val="8296AE"/>
                </a:solidFill>
                <a:latin typeface="Aptos Mono" pitchFamily="34" charset="0"/>
                <a:ea typeface="Aptos Mono" pitchFamily="34" charset="-122"/>
                <a:cs typeface="Aptos Mono" pitchFamily="34" charset="-120"/>
              </a:rPr>
              <a:t>02</a:t>
            </a:r>
            <a:endParaRPr lang="en-US" sz="1155" dirty="0"/>
          </a:p>
        </p:txBody>
      </p:sp>
      <p:sp>
        <p:nvSpPr>
          <p:cNvPr id="37" name="Text 35"/>
          <p:cNvSpPr/>
          <p:nvPr/>
        </p:nvSpPr>
        <p:spPr>
          <a:xfrm>
            <a:off x="1033272" y="2263648"/>
            <a:ext cx="6931152" cy="224536"/>
          </a:xfrm>
          <a:prstGeom prst="rect">
            <a:avLst/>
          </a:prstGeom>
          <a:noFill/>
          <a:ln/>
        </p:spPr>
        <p:txBody>
          <a:bodyPr wrap="square" lIns="0" tIns="0" rIns="0" bIns="0" rtlCol="0" anchor="ctr">
            <a:normAutofit/>
          </a:bodyPr>
          <a:lstStyle/>
          <a:p>
            <a:pPr indent="0" marL="0">
              <a:buNone/>
            </a:pPr>
            <a:r>
              <a:rPr lang="en-US" sz="1375" dirty="0">
                <a:solidFill>
                  <a:srgbClr val="D9E4F2"/>
                </a:solidFill>
                <a:latin typeface="Aptos Mono" pitchFamily="34" charset="0"/>
                <a:ea typeface="Aptos Mono" pitchFamily="34" charset="-122"/>
                <a:cs typeface="Aptos Mono" pitchFamily="34" charset="-120"/>
              </a:rPr>
              <a:t> </a:t>
            </a:r>
            <a:endParaRPr lang="en-US" sz="1375" dirty="0"/>
          </a:p>
        </p:txBody>
      </p:sp>
      <p:sp>
        <p:nvSpPr>
          <p:cNvPr id="38" name="Text 36"/>
          <p:cNvSpPr/>
          <p:nvPr/>
        </p:nvSpPr>
        <p:spPr>
          <a:xfrm>
            <a:off x="640080" y="2501900"/>
            <a:ext cx="320040" cy="224536"/>
          </a:xfrm>
          <a:prstGeom prst="rect">
            <a:avLst/>
          </a:prstGeom>
          <a:noFill/>
          <a:ln/>
        </p:spPr>
        <p:txBody>
          <a:bodyPr wrap="square" lIns="0" tIns="0" rIns="0" bIns="0" rtlCol="0" anchor="ctr"/>
          <a:lstStyle/>
          <a:p>
            <a:pPr algn="r" indent="0" marL="0">
              <a:buNone/>
            </a:pPr>
            <a:r>
              <a:rPr lang="en-US" sz="1155" dirty="0">
                <a:solidFill>
                  <a:srgbClr val="8296AE"/>
                </a:solidFill>
                <a:latin typeface="Aptos Mono" pitchFamily="34" charset="0"/>
                <a:ea typeface="Aptos Mono" pitchFamily="34" charset="-122"/>
                <a:cs typeface="Aptos Mono" pitchFamily="34" charset="-120"/>
              </a:rPr>
              <a:t>03</a:t>
            </a:r>
            <a:endParaRPr lang="en-US" sz="1155" dirty="0"/>
          </a:p>
        </p:txBody>
      </p:sp>
      <p:sp>
        <p:nvSpPr>
          <p:cNvPr id="39" name="Text 37"/>
          <p:cNvSpPr/>
          <p:nvPr/>
        </p:nvSpPr>
        <p:spPr>
          <a:xfrm>
            <a:off x="1033272" y="2488184"/>
            <a:ext cx="6931152" cy="224536"/>
          </a:xfrm>
          <a:prstGeom prst="rect">
            <a:avLst/>
          </a:prstGeom>
          <a:noFill/>
          <a:ln/>
        </p:spPr>
        <p:txBody>
          <a:bodyPr wrap="square" lIns="0" tIns="0" rIns="0" bIns="0" rtlCol="0" anchor="ctr">
            <a:normAutofit/>
          </a:bodyPr>
          <a:lstStyle/>
          <a:p>
            <a:pPr indent="0" marL="0">
              <a:buNone/>
            </a:pPr>
            <a:r>
              <a:rPr lang="en-US" sz="1375" dirty="0">
                <a:solidFill>
                  <a:srgbClr val="D9E4F2"/>
                </a:solidFill>
                <a:latin typeface="Aptos Mono" pitchFamily="34" charset="0"/>
                <a:ea typeface="Aptos Mono" pitchFamily="34" charset="-122"/>
                <a:cs typeface="Aptos Mono" pitchFamily="34" charset="-120"/>
              </a:rPr>
              <a:t>export function TicketList({ tickets }: Props) {</a:t>
            </a:r>
            <a:endParaRPr lang="en-US" sz="1375" dirty="0"/>
          </a:p>
        </p:txBody>
      </p:sp>
      <p:sp>
        <p:nvSpPr>
          <p:cNvPr id="40" name="Text 38"/>
          <p:cNvSpPr/>
          <p:nvPr/>
        </p:nvSpPr>
        <p:spPr>
          <a:xfrm>
            <a:off x="640080" y="2726436"/>
            <a:ext cx="320040" cy="224536"/>
          </a:xfrm>
          <a:prstGeom prst="rect">
            <a:avLst/>
          </a:prstGeom>
          <a:noFill/>
          <a:ln/>
        </p:spPr>
        <p:txBody>
          <a:bodyPr wrap="square" lIns="0" tIns="0" rIns="0" bIns="0" rtlCol="0" anchor="ctr"/>
          <a:lstStyle/>
          <a:p>
            <a:pPr algn="r" indent="0" marL="0">
              <a:buNone/>
            </a:pPr>
            <a:r>
              <a:rPr lang="en-US" sz="1155" dirty="0">
                <a:solidFill>
                  <a:srgbClr val="8296AE"/>
                </a:solidFill>
                <a:latin typeface="Aptos Mono" pitchFamily="34" charset="0"/>
                <a:ea typeface="Aptos Mono" pitchFamily="34" charset="-122"/>
                <a:cs typeface="Aptos Mono" pitchFamily="34" charset="-120"/>
              </a:rPr>
              <a:t>04</a:t>
            </a:r>
            <a:endParaRPr lang="en-US" sz="1155" dirty="0"/>
          </a:p>
        </p:txBody>
      </p:sp>
      <p:sp>
        <p:nvSpPr>
          <p:cNvPr id="41" name="Text 39"/>
          <p:cNvSpPr/>
          <p:nvPr/>
        </p:nvSpPr>
        <p:spPr>
          <a:xfrm>
            <a:off x="1033272" y="2712720"/>
            <a:ext cx="6931152" cy="224536"/>
          </a:xfrm>
          <a:prstGeom prst="rect">
            <a:avLst/>
          </a:prstGeom>
          <a:noFill/>
          <a:ln/>
        </p:spPr>
        <p:txBody>
          <a:bodyPr wrap="square" lIns="0" tIns="0" rIns="0" bIns="0" rtlCol="0" anchor="ctr">
            <a:normAutofit/>
          </a:bodyPr>
          <a:lstStyle/>
          <a:p>
            <a:pPr indent="0" marL="0">
              <a:buNone/>
            </a:pPr>
            <a:r>
              <a:rPr lang="en-US" sz="1375" dirty="0">
                <a:solidFill>
                  <a:srgbClr val="D9E4F2"/>
                </a:solidFill>
                <a:latin typeface="Aptos Mono" pitchFamily="34" charset="0"/>
                <a:ea typeface="Aptos Mono" pitchFamily="34" charset="-122"/>
                <a:cs typeface="Aptos Mono" pitchFamily="34" charset="-120"/>
              </a:rPr>
              <a:t>  return (</a:t>
            </a:r>
            <a:endParaRPr lang="en-US" sz="1375" dirty="0"/>
          </a:p>
        </p:txBody>
      </p:sp>
      <p:sp>
        <p:nvSpPr>
          <p:cNvPr id="42" name="Text 40"/>
          <p:cNvSpPr/>
          <p:nvPr/>
        </p:nvSpPr>
        <p:spPr>
          <a:xfrm>
            <a:off x="640080" y="2950972"/>
            <a:ext cx="320040" cy="224536"/>
          </a:xfrm>
          <a:prstGeom prst="rect">
            <a:avLst/>
          </a:prstGeom>
          <a:noFill/>
          <a:ln/>
        </p:spPr>
        <p:txBody>
          <a:bodyPr wrap="square" lIns="0" tIns="0" rIns="0" bIns="0" rtlCol="0" anchor="ctr"/>
          <a:lstStyle/>
          <a:p>
            <a:pPr algn="r" indent="0" marL="0">
              <a:buNone/>
            </a:pPr>
            <a:r>
              <a:rPr lang="en-US" sz="1155" dirty="0">
                <a:solidFill>
                  <a:srgbClr val="8296AE"/>
                </a:solidFill>
                <a:latin typeface="Aptos Mono" pitchFamily="34" charset="0"/>
                <a:ea typeface="Aptos Mono" pitchFamily="34" charset="-122"/>
                <a:cs typeface="Aptos Mono" pitchFamily="34" charset="-120"/>
              </a:rPr>
              <a:t>05</a:t>
            </a:r>
            <a:endParaRPr lang="en-US" sz="1155" dirty="0"/>
          </a:p>
        </p:txBody>
      </p:sp>
      <p:sp>
        <p:nvSpPr>
          <p:cNvPr id="43" name="Text 41"/>
          <p:cNvSpPr/>
          <p:nvPr/>
        </p:nvSpPr>
        <p:spPr>
          <a:xfrm>
            <a:off x="1033272" y="2937256"/>
            <a:ext cx="6931152" cy="224536"/>
          </a:xfrm>
          <a:prstGeom prst="rect">
            <a:avLst/>
          </a:prstGeom>
          <a:noFill/>
          <a:ln/>
        </p:spPr>
        <p:txBody>
          <a:bodyPr wrap="square" lIns="0" tIns="0" rIns="0" bIns="0" rtlCol="0" anchor="ctr">
            <a:normAutofit/>
          </a:bodyPr>
          <a:lstStyle/>
          <a:p>
            <a:pPr indent="0" marL="0">
              <a:buNone/>
            </a:pPr>
            <a:r>
              <a:rPr lang="en-US" sz="1375" dirty="0">
                <a:solidFill>
                  <a:srgbClr val="D9E4F2"/>
                </a:solidFill>
                <a:latin typeface="Aptos Mono" pitchFamily="34" charset="0"/>
                <a:ea typeface="Aptos Mono" pitchFamily="34" charset="-122"/>
                <a:cs typeface="Aptos Mono" pitchFamily="34" charset="-120"/>
              </a:rPr>
              <a:t>    &lt;ul className={styles.list}&gt;</a:t>
            </a:r>
            <a:endParaRPr lang="en-US" sz="1375" dirty="0"/>
          </a:p>
        </p:txBody>
      </p:sp>
      <p:sp>
        <p:nvSpPr>
          <p:cNvPr id="44" name="Text 42"/>
          <p:cNvSpPr/>
          <p:nvPr/>
        </p:nvSpPr>
        <p:spPr>
          <a:xfrm>
            <a:off x="640080" y="3175508"/>
            <a:ext cx="320040" cy="224536"/>
          </a:xfrm>
          <a:prstGeom prst="rect">
            <a:avLst/>
          </a:prstGeom>
          <a:noFill/>
          <a:ln/>
        </p:spPr>
        <p:txBody>
          <a:bodyPr wrap="square" lIns="0" tIns="0" rIns="0" bIns="0" rtlCol="0" anchor="ctr"/>
          <a:lstStyle/>
          <a:p>
            <a:pPr algn="r" indent="0" marL="0">
              <a:buNone/>
            </a:pPr>
            <a:r>
              <a:rPr lang="en-US" sz="1155" dirty="0">
                <a:solidFill>
                  <a:srgbClr val="8296AE"/>
                </a:solidFill>
                <a:latin typeface="Aptos Mono" pitchFamily="34" charset="0"/>
                <a:ea typeface="Aptos Mono" pitchFamily="34" charset="-122"/>
                <a:cs typeface="Aptos Mono" pitchFamily="34" charset="-120"/>
              </a:rPr>
              <a:t>06</a:t>
            </a:r>
            <a:endParaRPr lang="en-US" sz="1155" dirty="0"/>
          </a:p>
        </p:txBody>
      </p:sp>
      <p:sp>
        <p:nvSpPr>
          <p:cNvPr id="45" name="Text 43"/>
          <p:cNvSpPr/>
          <p:nvPr/>
        </p:nvSpPr>
        <p:spPr>
          <a:xfrm>
            <a:off x="1033272" y="3161792"/>
            <a:ext cx="6931152" cy="224536"/>
          </a:xfrm>
          <a:prstGeom prst="rect">
            <a:avLst/>
          </a:prstGeom>
          <a:noFill/>
          <a:ln/>
        </p:spPr>
        <p:txBody>
          <a:bodyPr wrap="square" lIns="0" tIns="0" rIns="0" bIns="0" rtlCol="0" anchor="ctr">
            <a:normAutofit/>
          </a:bodyPr>
          <a:lstStyle/>
          <a:p>
            <a:pPr indent="0" marL="0">
              <a:buNone/>
            </a:pPr>
            <a:r>
              <a:rPr lang="en-US" sz="1375" dirty="0">
                <a:solidFill>
                  <a:srgbClr val="D9E4F2"/>
                </a:solidFill>
                <a:latin typeface="Aptos Mono" pitchFamily="34" charset="0"/>
                <a:ea typeface="Aptos Mono" pitchFamily="34" charset="-122"/>
                <a:cs typeface="Aptos Mono" pitchFamily="34" charset="-120"/>
              </a:rPr>
              <a:t>      {tickets.map(ticket =&gt; (</a:t>
            </a:r>
            <a:endParaRPr lang="en-US" sz="1375" dirty="0"/>
          </a:p>
        </p:txBody>
      </p:sp>
      <p:sp>
        <p:nvSpPr>
          <p:cNvPr id="46" name="Text 44"/>
          <p:cNvSpPr/>
          <p:nvPr/>
        </p:nvSpPr>
        <p:spPr>
          <a:xfrm>
            <a:off x="640080" y="3400044"/>
            <a:ext cx="320040" cy="224536"/>
          </a:xfrm>
          <a:prstGeom prst="rect">
            <a:avLst/>
          </a:prstGeom>
          <a:noFill/>
          <a:ln/>
        </p:spPr>
        <p:txBody>
          <a:bodyPr wrap="square" lIns="0" tIns="0" rIns="0" bIns="0" rtlCol="0" anchor="ctr"/>
          <a:lstStyle/>
          <a:p>
            <a:pPr algn="r" indent="0" marL="0">
              <a:buNone/>
            </a:pPr>
            <a:r>
              <a:rPr lang="en-US" sz="1155" dirty="0">
                <a:solidFill>
                  <a:srgbClr val="8296AE"/>
                </a:solidFill>
                <a:latin typeface="Aptos Mono" pitchFamily="34" charset="0"/>
                <a:ea typeface="Aptos Mono" pitchFamily="34" charset="-122"/>
                <a:cs typeface="Aptos Mono" pitchFamily="34" charset="-120"/>
              </a:rPr>
              <a:t>07</a:t>
            </a:r>
            <a:endParaRPr lang="en-US" sz="1155" dirty="0"/>
          </a:p>
        </p:txBody>
      </p:sp>
      <p:sp>
        <p:nvSpPr>
          <p:cNvPr id="47" name="Text 45"/>
          <p:cNvSpPr/>
          <p:nvPr/>
        </p:nvSpPr>
        <p:spPr>
          <a:xfrm>
            <a:off x="1033272" y="3386328"/>
            <a:ext cx="6931152" cy="224536"/>
          </a:xfrm>
          <a:prstGeom prst="rect">
            <a:avLst/>
          </a:prstGeom>
          <a:noFill/>
          <a:ln/>
        </p:spPr>
        <p:txBody>
          <a:bodyPr wrap="square" lIns="0" tIns="0" rIns="0" bIns="0" rtlCol="0" anchor="ctr">
            <a:normAutofit/>
          </a:bodyPr>
          <a:lstStyle/>
          <a:p>
            <a:pPr indent="0" marL="0">
              <a:buNone/>
            </a:pPr>
            <a:r>
              <a:rPr lang="en-US" sz="1375" dirty="0">
                <a:solidFill>
                  <a:srgbClr val="D9E4F2"/>
                </a:solidFill>
                <a:latin typeface="Aptos Mono" pitchFamily="34" charset="0"/>
                <a:ea typeface="Aptos Mono" pitchFamily="34" charset="-122"/>
                <a:cs typeface="Aptos Mono" pitchFamily="34" charset="-120"/>
              </a:rPr>
              <a:t>        &lt;li</a:t>
            </a:r>
            <a:endParaRPr lang="en-US" sz="1375" dirty="0"/>
          </a:p>
        </p:txBody>
      </p:sp>
      <p:sp>
        <p:nvSpPr>
          <p:cNvPr id="48" name="Text 46"/>
          <p:cNvSpPr/>
          <p:nvPr/>
        </p:nvSpPr>
        <p:spPr>
          <a:xfrm>
            <a:off x="640080" y="3624580"/>
            <a:ext cx="320040" cy="224536"/>
          </a:xfrm>
          <a:prstGeom prst="rect">
            <a:avLst/>
          </a:prstGeom>
          <a:noFill/>
          <a:ln/>
        </p:spPr>
        <p:txBody>
          <a:bodyPr wrap="square" lIns="0" tIns="0" rIns="0" bIns="0" rtlCol="0" anchor="ctr"/>
          <a:lstStyle/>
          <a:p>
            <a:pPr algn="r" indent="0" marL="0">
              <a:buNone/>
            </a:pPr>
            <a:r>
              <a:rPr lang="en-US" sz="1155" dirty="0">
                <a:solidFill>
                  <a:srgbClr val="8296AE"/>
                </a:solidFill>
                <a:latin typeface="Aptos Mono" pitchFamily="34" charset="0"/>
                <a:ea typeface="Aptos Mono" pitchFamily="34" charset="-122"/>
                <a:cs typeface="Aptos Mono" pitchFamily="34" charset="-120"/>
              </a:rPr>
              <a:t>08</a:t>
            </a:r>
            <a:endParaRPr lang="en-US" sz="1155" dirty="0"/>
          </a:p>
        </p:txBody>
      </p:sp>
      <p:sp>
        <p:nvSpPr>
          <p:cNvPr id="49" name="Text 47"/>
          <p:cNvSpPr/>
          <p:nvPr/>
        </p:nvSpPr>
        <p:spPr>
          <a:xfrm>
            <a:off x="1033272" y="3610864"/>
            <a:ext cx="6931152" cy="224536"/>
          </a:xfrm>
          <a:prstGeom prst="rect">
            <a:avLst/>
          </a:prstGeom>
          <a:noFill/>
          <a:ln/>
        </p:spPr>
        <p:txBody>
          <a:bodyPr wrap="square" lIns="0" tIns="0" rIns="0" bIns="0" rtlCol="0" anchor="ctr">
            <a:normAutofit/>
          </a:bodyPr>
          <a:lstStyle/>
          <a:p>
            <a:pPr indent="0" marL="0">
              <a:buNone/>
            </a:pPr>
            <a:r>
              <a:rPr lang="en-US" sz="1375" dirty="0">
                <a:solidFill>
                  <a:srgbClr val="D9E4F2"/>
                </a:solidFill>
                <a:latin typeface="Aptos Mono" pitchFamily="34" charset="0"/>
                <a:ea typeface="Aptos Mono" pitchFamily="34" charset="-122"/>
                <a:cs typeface="Aptos Mono" pitchFamily="34" charset="-120"/>
              </a:rPr>
              <a:t>          key={ticket.id}</a:t>
            </a:r>
            <a:endParaRPr lang="en-US" sz="1375" dirty="0"/>
          </a:p>
        </p:txBody>
      </p:sp>
      <p:sp>
        <p:nvSpPr>
          <p:cNvPr id="50" name="Text 48"/>
          <p:cNvSpPr/>
          <p:nvPr/>
        </p:nvSpPr>
        <p:spPr>
          <a:xfrm>
            <a:off x="640080" y="3849116"/>
            <a:ext cx="320040" cy="224536"/>
          </a:xfrm>
          <a:prstGeom prst="rect">
            <a:avLst/>
          </a:prstGeom>
          <a:noFill/>
          <a:ln/>
        </p:spPr>
        <p:txBody>
          <a:bodyPr wrap="square" lIns="0" tIns="0" rIns="0" bIns="0" rtlCol="0" anchor="ctr"/>
          <a:lstStyle/>
          <a:p>
            <a:pPr algn="r" indent="0" marL="0">
              <a:buNone/>
            </a:pPr>
            <a:r>
              <a:rPr lang="en-US" sz="1155" dirty="0">
                <a:solidFill>
                  <a:srgbClr val="8296AE"/>
                </a:solidFill>
                <a:latin typeface="Aptos Mono" pitchFamily="34" charset="0"/>
                <a:ea typeface="Aptos Mono" pitchFamily="34" charset="-122"/>
                <a:cs typeface="Aptos Mono" pitchFamily="34" charset="-120"/>
              </a:rPr>
              <a:t>09</a:t>
            </a:r>
            <a:endParaRPr lang="en-US" sz="1155" dirty="0"/>
          </a:p>
        </p:txBody>
      </p:sp>
      <p:sp>
        <p:nvSpPr>
          <p:cNvPr id="51" name="Text 49"/>
          <p:cNvSpPr/>
          <p:nvPr/>
        </p:nvSpPr>
        <p:spPr>
          <a:xfrm>
            <a:off x="1033272" y="3835400"/>
            <a:ext cx="6931152" cy="224536"/>
          </a:xfrm>
          <a:prstGeom prst="rect">
            <a:avLst/>
          </a:prstGeom>
          <a:noFill/>
          <a:ln/>
        </p:spPr>
        <p:txBody>
          <a:bodyPr wrap="square" lIns="0" tIns="0" rIns="0" bIns="0" rtlCol="0" anchor="ctr">
            <a:normAutofit/>
          </a:bodyPr>
          <a:lstStyle/>
          <a:p>
            <a:pPr indent="0" marL="0">
              <a:buNone/>
            </a:pPr>
            <a:r>
              <a:rPr lang="en-US" sz="1375" dirty="0">
                <a:solidFill>
                  <a:srgbClr val="D9E4F2"/>
                </a:solidFill>
                <a:latin typeface="Aptos Mono" pitchFamily="34" charset="0"/>
                <a:ea typeface="Aptos Mono" pitchFamily="34" charset="-122"/>
                <a:cs typeface="Aptos Mono" pitchFamily="34" charset="-120"/>
              </a:rPr>
              <a:t>          className={styles.item}</a:t>
            </a:r>
            <a:endParaRPr lang="en-US" sz="1375" dirty="0"/>
          </a:p>
        </p:txBody>
      </p:sp>
      <p:sp>
        <p:nvSpPr>
          <p:cNvPr id="52" name="Text 50"/>
          <p:cNvSpPr/>
          <p:nvPr/>
        </p:nvSpPr>
        <p:spPr>
          <a:xfrm>
            <a:off x="640080" y="4073652"/>
            <a:ext cx="320040" cy="224536"/>
          </a:xfrm>
          <a:prstGeom prst="rect">
            <a:avLst/>
          </a:prstGeom>
          <a:noFill/>
          <a:ln/>
        </p:spPr>
        <p:txBody>
          <a:bodyPr wrap="square" lIns="0" tIns="0" rIns="0" bIns="0" rtlCol="0" anchor="ctr"/>
          <a:lstStyle/>
          <a:p>
            <a:pPr algn="r" indent="0" marL="0">
              <a:buNone/>
            </a:pPr>
            <a:r>
              <a:rPr lang="en-US" sz="1155" dirty="0">
                <a:solidFill>
                  <a:srgbClr val="8296AE"/>
                </a:solidFill>
                <a:latin typeface="Aptos Mono" pitchFamily="34" charset="0"/>
                <a:ea typeface="Aptos Mono" pitchFamily="34" charset="-122"/>
                <a:cs typeface="Aptos Mono" pitchFamily="34" charset="-120"/>
              </a:rPr>
              <a:t>10</a:t>
            </a:r>
            <a:endParaRPr lang="en-US" sz="1155" dirty="0"/>
          </a:p>
        </p:txBody>
      </p:sp>
      <p:sp>
        <p:nvSpPr>
          <p:cNvPr id="53" name="Text 51"/>
          <p:cNvSpPr/>
          <p:nvPr/>
        </p:nvSpPr>
        <p:spPr>
          <a:xfrm>
            <a:off x="1033272" y="4059936"/>
            <a:ext cx="6931152" cy="224536"/>
          </a:xfrm>
          <a:prstGeom prst="rect">
            <a:avLst/>
          </a:prstGeom>
          <a:noFill/>
          <a:ln/>
        </p:spPr>
        <p:txBody>
          <a:bodyPr wrap="square" lIns="0" tIns="0" rIns="0" bIns="0" rtlCol="0" anchor="ctr">
            <a:normAutofit/>
          </a:bodyPr>
          <a:lstStyle/>
          <a:p>
            <a:pPr indent="0" marL="0">
              <a:buNone/>
            </a:pPr>
            <a:r>
              <a:rPr lang="en-US" sz="1375" dirty="0">
                <a:solidFill>
                  <a:srgbClr val="D9E4F2"/>
                </a:solidFill>
                <a:latin typeface="Aptos Mono" pitchFamily="34" charset="0"/>
                <a:ea typeface="Aptos Mono" pitchFamily="34" charset="-122"/>
                <a:cs typeface="Aptos Mono" pitchFamily="34" charset="-120"/>
              </a:rPr>
              <a:t>        &gt;</a:t>
            </a:r>
            <a:endParaRPr lang="en-US" sz="1375" dirty="0"/>
          </a:p>
        </p:txBody>
      </p:sp>
      <p:sp>
        <p:nvSpPr>
          <p:cNvPr id="54" name="Text 52"/>
          <p:cNvSpPr/>
          <p:nvPr/>
        </p:nvSpPr>
        <p:spPr>
          <a:xfrm>
            <a:off x="640080" y="4298188"/>
            <a:ext cx="320040" cy="224536"/>
          </a:xfrm>
          <a:prstGeom prst="rect">
            <a:avLst/>
          </a:prstGeom>
          <a:noFill/>
          <a:ln/>
        </p:spPr>
        <p:txBody>
          <a:bodyPr wrap="square" lIns="0" tIns="0" rIns="0" bIns="0" rtlCol="0" anchor="ctr"/>
          <a:lstStyle/>
          <a:p>
            <a:pPr algn="r" indent="0" marL="0">
              <a:buNone/>
            </a:pPr>
            <a:r>
              <a:rPr lang="en-US" sz="1155" dirty="0">
                <a:solidFill>
                  <a:srgbClr val="8296AE"/>
                </a:solidFill>
                <a:latin typeface="Aptos Mono" pitchFamily="34" charset="0"/>
                <a:ea typeface="Aptos Mono" pitchFamily="34" charset="-122"/>
                <a:cs typeface="Aptos Mono" pitchFamily="34" charset="-120"/>
              </a:rPr>
              <a:t>11</a:t>
            </a:r>
            <a:endParaRPr lang="en-US" sz="1155" dirty="0"/>
          </a:p>
        </p:txBody>
      </p:sp>
      <p:sp>
        <p:nvSpPr>
          <p:cNvPr id="55" name="Text 53"/>
          <p:cNvSpPr/>
          <p:nvPr/>
        </p:nvSpPr>
        <p:spPr>
          <a:xfrm>
            <a:off x="1033272" y="4284472"/>
            <a:ext cx="6931152" cy="224536"/>
          </a:xfrm>
          <a:prstGeom prst="rect">
            <a:avLst/>
          </a:prstGeom>
          <a:noFill/>
          <a:ln/>
        </p:spPr>
        <p:txBody>
          <a:bodyPr wrap="square" lIns="0" tIns="0" rIns="0" bIns="0" rtlCol="0" anchor="ctr">
            <a:normAutofit/>
          </a:bodyPr>
          <a:lstStyle/>
          <a:p>
            <a:pPr indent="0" marL="0">
              <a:buNone/>
            </a:pPr>
            <a:r>
              <a:rPr lang="en-US" sz="1375" dirty="0">
                <a:solidFill>
                  <a:srgbClr val="D9E4F2"/>
                </a:solidFill>
                <a:latin typeface="Aptos Mono" pitchFamily="34" charset="0"/>
                <a:ea typeface="Aptos Mono" pitchFamily="34" charset="-122"/>
                <a:cs typeface="Aptos Mono" pitchFamily="34" charset="-120"/>
              </a:rPr>
              <a:t>          {ticket.title}</a:t>
            </a:r>
            <a:endParaRPr lang="en-US" sz="1375" dirty="0"/>
          </a:p>
        </p:txBody>
      </p:sp>
      <p:sp>
        <p:nvSpPr>
          <p:cNvPr id="56" name="Text 54"/>
          <p:cNvSpPr/>
          <p:nvPr/>
        </p:nvSpPr>
        <p:spPr>
          <a:xfrm>
            <a:off x="640080" y="4522724"/>
            <a:ext cx="320040" cy="224536"/>
          </a:xfrm>
          <a:prstGeom prst="rect">
            <a:avLst/>
          </a:prstGeom>
          <a:noFill/>
          <a:ln/>
        </p:spPr>
        <p:txBody>
          <a:bodyPr wrap="square" lIns="0" tIns="0" rIns="0" bIns="0" rtlCol="0" anchor="ctr"/>
          <a:lstStyle/>
          <a:p>
            <a:pPr algn="r" indent="0" marL="0">
              <a:buNone/>
            </a:pPr>
            <a:r>
              <a:rPr lang="en-US" sz="1155" dirty="0">
                <a:solidFill>
                  <a:srgbClr val="8296AE"/>
                </a:solidFill>
                <a:latin typeface="Aptos Mono" pitchFamily="34" charset="0"/>
                <a:ea typeface="Aptos Mono" pitchFamily="34" charset="-122"/>
                <a:cs typeface="Aptos Mono" pitchFamily="34" charset="-120"/>
              </a:rPr>
              <a:t>12</a:t>
            </a:r>
            <a:endParaRPr lang="en-US" sz="1155" dirty="0"/>
          </a:p>
        </p:txBody>
      </p:sp>
      <p:sp>
        <p:nvSpPr>
          <p:cNvPr id="57" name="Text 55"/>
          <p:cNvSpPr/>
          <p:nvPr/>
        </p:nvSpPr>
        <p:spPr>
          <a:xfrm>
            <a:off x="1033272" y="4509008"/>
            <a:ext cx="6931152" cy="224536"/>
          </a:xfrm>
          <a:prstGeom prst="rect">
            <a:avLst/>
          </a:prstGeom>
          <a:noFill/>
          <a:ln/>
        </p:spPr>
        <p:txBody>
          <a:bodyPr wrap="square" lIns="0" tIns="0" rIns="0" bIns="0" rtlCol="0" anchor="ctr">
            <a:normAutofit/>
          </a:bodyPr>
          <a:lstStyle/>
          <a:p>
            <a:pPr indent="0" marL="0">
              <a:buNone/>
            </a:pPr>
            <a:r>
              <a:rPr lang="en-US" sz="1375" dirty="0">
                <a:solidFill>
                  <a:srgbClr val="D9E4F2"/>
                </a:solidFill>
                <a:latin typeface="Aptos Mono" pitchFamily="34" charset="0"/>
                <a:ea typeface="Aptos Mono" pitchFamily="34" charset="-122"/>
                <a:cs typeface="Aptos Mono" pitchFamily="34" charset="-120"/>
              </a:rPr>
              <a:t>        &lt;/li&gt;</a:t>
            </a:r>
            <a:endParaRPr lang="en-US" sz="1375" dirty="0"/>
          </a:p>
        </p:txBody>
      </p:sp>
      <p:sp>
        <p:nvSpPr>
          <p:cNvPr id="58" name="Text 56"/>
          <p:cNvSpPr/>
          <p:nvPr/>
        </p:nvSpPr>
        <p:spPr>
          <a:xfrm>
            <a:off x="640080" y="4747260"/>
            <a:ext cx="320040" cy="224536"/>
          </a:xfrm>
          <a:prstGeom prst="rect">
            <a:avLst/>
          </a:prstGeom>
          <a:noFill/>
          <a:ln/>
        </p:spPr>
        <p:txBody>
          <a:bodyPr wrap="square" lIns="0" tIns="0" rIns="0" bIns="0" rtlCol="0" anchor="ctr"/>
          <a:lstStyle/>
          <a:p>
            <a:pPr algn="r" indent="0" marL="0">
              <a:buNone/>
            </a:pPr>
            <a:r>
              <a:rPr lang="en-US" sz="1155" dirty="0">
                <a:solidFill>
                  <a:srgbClr val="8296AE"/>
                </a:solidFill>
                <a:latin typeface="Aptos Mono" pitchFamily="34" charset="0"/>
                <a:ea typeface="Aptos Mono" pitchFamily="34" charset="-122"/>
                <a:cs typeface="Aptos Mono" pitchFamily="34" charset="-120"/>
              </a:rPr>
              <a:t>13</a:t>
            </a:r>
            <a:endParaRPr lang="en-US" sz="1155" dirty="0"/>
          </a:p>
        </p:txBody>
      </p:sp>
      <p:sp>
        <p:nvSpPr>
          <p:cNvPr id="59" name="Text 57"/>
          <p:cNvSpPr/>
          <p:nvPr/>
        </p:nvSpPr>
        <p:spPr>
          <a:xfrm>
            <a:off x="1033272" y="4733544"/>
            <a:ext cx="6931152" cy="224536"/>
          </a:xfrm>
          <a:prstGeom prst="rect">
            <a:avLst/>
          </a:prstGeom>
          <a:noFill/>
          <a:ln/>
        </p:spPr>
        <p:txBody>
          <a:bodyPr wrap="square" lIns="0" tIns="0" rIns="0" bIns="0" rtlCol="0" anchor="ctr">
            <a:normAutofit/>
          </a:bodyPr>
          <a:lstStyle/>
          <a:p>
            <a:pPr indent="0" marL="0">
              <a:buNone/>
            </a:pPr>
            <a:r>
              <a:rPr lang="en-US" sz="1375" dirty="0">
                <a:solidFill>
                  <a:srgbClr val="D9E4F2"/>
                </a:solidFill>
                <a:latin typeface="Aptos Mono" pitchFamily="34" charset="0"/>
                <a:ea typeface="Aptos Mono" pitchFamily="34" charset="-122"/>
                <a:cs typeface="Aptos Mono" pitchFamily="34" charset="-120"/>
              </a:rPr>
              <a:t>      ))}</a:t>
            </a:r>
            <a:endParaRPr lang="en-US" sz="1375" dirty="0"/>
          </a:p>
        </p:txBody>
      </p:sp>
      <p:sp>
        <p:nvSpPr>
          <p:cNvPr id="60" name="Text 58"/>
          <p:cNvSpPr/>
          <p:nvPr/>
        </p:nvSpPr>
        <p:spPr>
          <a:xfrm>
            <a:off x="640080" y="4971796"/>
            <a:ext cx="320040" cy="224536"/>
          </a:xfrm>
          <a:prstGeom prst="rect">
            <a:avLst/>
          </a:prstGeom>
          <a:noFill/>
          <a:ln/>
        </p:spPr>
        <p:txBody>
          <a:bodyPr wrap="square" lIns="0" tIns="0" rIns="0" bIns="0" rtlCol="0" anchor="ctr"/>
          <a:lstStyle/>
          <a:p>
            <a:pPr algn="r" indent="0" marL="0">
              <a:buNone/>
            </a:pPr>
            <a:r>
              <a:rPr lang="en-US" sz="1155" dirty="0">
                <a:solidFill>
                  <a:srgbClr val="8296AE"/>
                </a:solidFill>
                <a:latin typeface="Aptos Mono" pitchFamily="34" charset="0"/>
                <a:ea typeface="Aptos Mono" pitchFamily="34" charset="-122"/>
                <a:cs typeface="Aptos Mono" pitchFamily="34" charset="-120"/>
              </a:rPr>
              <a:t>14</a:t>
            </a:r>
            <a:endParaRPr lang="en-US" sz="1155" dirty="0"/>
          </a:p>
        </p:txBody>
      </p:sp>
      <p:sp>
        <p:nvSpPr>
          <p:cNvPr id="61" name="Text 59"/>
          <p:cNvSpPr/>
          <p:nvPr/>
        </p:nvSpPr>
        <p:spPr>
          <a:xfrm>
            <a:off x="1033272" y="4958080"/>
            <a:ext cx="6931152" cy="224536"/>
          </a:xfrm>
          <a:prstGeom prst="rect">
            <a:avLst/>
          </a:prstGeom>
          <a:noFill/>
          <a:ln/>
        </p:spPr>
        <p:txBody>
          <a:bodyPr wrap="square" lIns="0" tIns="0" rIns="0" bIns="0" rtlCol="0" anchor="ctr">
            <a:normAutofit/>
          </a:bodyPr>
          <a:lstStyle/>
          <a:p>
            <a:pPr indent="0" marL="0">
              <a:buNone/>
            </a:pPr>
            <a:r>
              <a:rPr lang="en-US" sz="1375" dirty="0">
                <a:solidFill>
                  <a:srgbClr val="D9E4F2"/>
                </a:solidFill>
                <a:latin typeface="Aptos Mono" pitchFamily="34" charset="0"/>
                <a:ea typeface="Aptos Mono" pitchFamily="34" charset="-122"/>
                <a:cs typeface="Aptos Mono" pitchFamily="34" charset="-120"/>
              </a:rPr>
              <a:t>    &lt;/ul&gt;</a:t>
            </a:r>
            <a:endParaRPr lang="en-US" sz="1375" dirty="0"/>
          </a:p>
        </p:txBody>
      </p:sp>
      <p:sp>
        <p:nvSpPr>
          <p:cNvPr id="62" name="Text 60"/>
          <p:cNvSpPr/>
          <p:nvPr/>
        </p:nvSpPr>
        <p:spPr>
          <a:xfrm>
            <a:off x="640080" y="5196332"/>
            <a:ext cx="320040" cy="224536"/>
          </a:xfrm>
          <a:prstGeom prst="rect">
            <a:avLst/>
          </a:prstGeom>
          <a:noFill/>
          <a:ln/>
        </p:spPr>
        <p:txBody>
          <a:bodyPr wrap="square" lIns="0" tIns="0" rIns="0" bIns="0" rtlCol="0" anchor="ctr"/>
          <a:lstStyle/>
          <a:p>
            <a:pPr algn="r" indent="0" marL="0">
              <a:buNone/>
            </a:pPr>
            <a:r>
              <a:rPr lang="en-US" sz="1155" dirty="0">
                <a:solidFill>
                  <a:srgbClr val="8296AE"/>
                </a:solidFill>
                <a:latin typeface="Aptos Mono" pitchFamily="34" charset="0"/>
                <a:ea typeface="Aptos Mono" pitchFamily="34" charset="-122"/>
                <a:cs typeface="Aptos Mono" pitchFamily="34" charset="-120"/>
              </a:rPr>
              <a:t>15</a:t>
            </a:r>
            <a:endParaRPr lang="en-US" sz="1155" dirty="0"/>
          </a:p>
        </p:txBody>
      </p:sp>
      <p:sp>
        <p:nvSpPr>
          <p:cNvPr id="63" name="Text 61"/>
          <p:cNvSpPr/>
          <p:nvPr/>
        </p:nvSpPr>
        <p:spPr>
          <a:xfrm>
            <a:off x="1033272" y="5182616"/>
            <a:ext cx="6931152" cy="224536"/>
          </a:xfrm>
          <a:prstGeom prst="rect">
            <a:avLst/>
          </a:prstGeom>
          <a:noFill/>
          <a:ln/>
        </p:spPr>
        <p:txBody>
          <a:bodyPr wrap="square" lIns="0" tIns="0" rIns="0" bIns="0" rtlCol="0" anchor="ctr">
            <a:normAutofit/>
          </a:bodyPr>
          <a:lstStyle/>
          <a:p>
            <a:pPr indent="0" marL="0">
              <a:buNone/>
            </a:pPr>
            <a:r>
              <a:rPr lang="en-US" sz="1375" dirty="0">
                <a:solidFill>
                  <a:srgbClr val="D9E4F2"/>
                </a:solidFill>
                <a:latin typeface="Aptos Mono" pitchFamily="34" charset="0"/>
                <a:ea typeface="Aptos Mono" pitchFamily="34" charset="-122"/>
                <a:cs typeface="Aptos Mono" pitchFamily="34" charset="-120"/>
              </a:rPr>
              <a:t>  );</a:t>
            </a:r>
            <a:endParaRPr lang="en-US" sz="1375" dirty="0"/>
          </a:p>
        </p:txBody>
      </p:sp>
      <p:sp>
        <p:nvSpPr>
          <p:cNvPr id="64" name="Text 62"/>
          <p:cNvSpPr/>
          <p:nvPr/>
        </p:nvSpPr>
        <p:spPr>
          <a:xfrm>
            <a:off x="640080" y="5420868"/>
            <a:ext cx="320040" cy="224536"/>
          </a:xfrm>
          <a:prstGeom prst="rect">
            <a:avLst/>
          </a:prstGeom>
          <a:noFill/>
          <a:ln/>
        </p:spPr>
        <p:txBody>
          <a:bodyPr wrap="square" lIns="0" tIns="0" rIns="0" bIns="0" rtlCol="0" anchor="ctr"/>
          <a:lstStyle/>
          <a:p>
            <a:pPr algn="r" indent="0" marL="0">
              <a:buNone/>
            </a:pPr>
            <a:r>
              <a:rPr lang="en-US" sz="1155" dirty="0">
                <a:solidFill>
                  <a:srgbClr val="8296AE"/>
                </a:solidFill>
                <a:latin typeface="Aptos Mono" pitchFamily="34" charset="0"/>
                <a:ea typeface="Aptos Mono" pitchFamily="34" charset="-122"/>
                <a:cs typeface="Aptos Mono" pitchFamily="34" charset="-120"/>
              </a:rPr>
              <a:t>16</a:t>
            </a:r>
            <a:endParaRPr lang="en-US" sz="1155" dirty="0"/>
          </a:p>
        </p:txBody>
      </p:sp>
      <p:sp>
        <p:nvSpPr>
          <p:cNvPr id="65" name="Text 63"/>
          <p:cNvSpPr/>
          <p:nvPr/>
        </p:nvSpPr>
        <p:spPr>
          <a:xfrm>
            <a:off x="1033272" y="5407152"/>
            <a:ext cx="6931152" cy="224536"/>
          </a:xfrm>
          <a:prstGeom prst="rect">
            <a:avLst/>
          </a:prstGeom>
          <a:noFill/>
          <a:ln/>
        </p:spPr>
        <p:txBody>
          <a:bodyPr wrap="square" lIns="0" tIns="0" rIns="0" bIns="0" rtlCol="0" anchor="ctr">
            <a:normAutofit/>
          </a:bodyPr>
          <a:lstStyle/>
          <a:p>
            <a:pPr indent="0" marL="0">
              <a:buNone/>
            </a:pPr>
            <a:r>
              <a:rPr lang="en-US" sz="1375" dirty="0">
                <a:solidFill>
                  <a:srgbClr val="D9E4F2"/>
                </a:solidFill>
                <a:latin typeface="Aptos Mono" pitchFamily="34" charset="0"/>
                <a:ea typeface="Aptos Mono" pitchFamily="34" charset="-122"/>
                <a:cs typeface="Aptos Mono" pitchFamily="34" charset="-120"/>
              </a:rPr>
              <a:t>}</a:t>
            </a:r>
            <a:endParaRPr lang="en-US" sz="1375" dirty="0"/>
          </a:p>
        </p:txBody>
      </p:sp>
      <p:sp>
        <p:nvSpPr>
          <p:cNvPr id="66" name="Text 64"/>
          <p:cNvSpPr/>
          <p:nvPr/>
        </p:nvSpPr>
        <p:spPr>
          <a:xfrm>
            <a:off x="640080" y="5645404"/>
            <a:ext cx="320040" cy="224536"/>
          </a:xfrm>
          <a:prstGeom prst="rect">
            <a:avLst/>
          </a:prstGeom>
          <a:noFill/>
          <a:ln/>
        </p:spPr>
        <p:txBody>
          <a:bodyPr wrap="square" lIns="0" tIns="0" rIns="0" bIns="0" rtlCol="0" anchor="ctr"/>
          <a:lstStyle/>
          <a:p>
            <a:pPr algn="r" indent="0" marL="0">
              <a:buNone/>
            </a:pPr>
            <a:r>
              <a:rPr lang="en-US" sz="1155" dirty="0">
                <a:solidFill>
                  <a:srgbClr val="8296AE"/>
                </a:solidFill>
                <a:latin typeface="Aptos Mono" pitchFamily="34" charset="0"/>
                <a:ea typeface="Aptos Mono" pitchFamily="34" charset="-122"/>
                <a:cs typeface="Aptos Mono" pitchFamily="34" charset="-120"/>
              </a:rPr>
              <a:t>17</a:t>
            </a:r>
            <a:endParaRPr lang="en-US" sz="1155" dirty="0"/>
          </a:p>
        </p:txBody>
      </p:sp>
      <p:sp>
        <p:nvSpPr>
          <p:cNvPr id="67" name="Text 65"/>
          <p:cNvSpPr/>
          <p:nvPr/>
        </p:nvSpPr>
        <p:spPr>
          <a:xfrm>
            <a:off x="1033272" y="5631688"/>
            <a:ext cx="6931152" cy="224536"/>
          </a:xfrm>
          <a:prstGeom prst="rect">
            <a:avLst/>
          </a:prstGeom>
          <a:noFill/>
          <a:ln/>
        </p:spPr>
        <p:txBody>
          <a:bodyPr wrap="square" lIns="0" tIns="0" rIns="0" bIns="0" rtlCol="0" anchor="ctr">
            <a:normAutofit/>
          </a:bodyPr>
          <a:lstStyle/>
          <a:p>
            <a:pPr indent="0" marL="0">
              <a:buNone/>
            </a:pPr>
            <a:r>
              <a:rPr lang="en-US" sz="1375" dirty="0">
                <a:solidFill>
                  <a:srgbClr val="D9E4F2"/>
                </a:solidFill>
                <a:latin typeface="Aptos Mono" pitchFamily="34" charset="0"/>
                <a:ea typeface="Aptos Mono" pitchFamily="34" charset="-122"/>
                <a:cs typeface="Aptos Mono" pitchFamily="34" charset="-120"/>
              </a:rPr>
              <a:t> </a:t>
            </a:r>
            <a:endParaRPr lang="en-US" sz="1375" dirty="0"/>
          </a:p>
        </p:txBody>
      </p:sp>
      <p:sp>
        <p:nvSpPr>
          <p:cNvPr id="68" name="Text 66"/>
          <p:cNvSpPr/>
          <p:nvPr/>
        </p:nvSpPr>
        <p:spPr>
          <a:xfrm>
            <a:off x="640080" y="5869940"/>
            <a:ext cx="320040" cy="224536"/>
          </a:xfrm>
          <a:prstGeom prst="rect">
            <a:avLst/>
          </a:prstGeom>
          <a:noFill/>
          <a:ln/>
        </p:spPr>
        <p:txBody>
          <a:bodyPr wrap="square" lIns="0" tIns="0" rIns="0" bIns="0" rtlCol="0" anchor="ctr"/>
          <a:lstStyle/>
          <a:p>
            <a:pPr algn="r" indent="0" marL="0">
              <a:buNone/>
            </a:pPr>
            <a:r>
              <a:rPr lang="en-US" sz="1155" dirty="0">
                <a:solidFill>
                  <a:srgbClr val="8296AE"/>
                </a:solidFill>
                <a:latin typeface="Aptos Mono" pitchFamily="34" charset="0"/>
                <a:ea typeface="Aptos Mono" pitchFamily="34" charset="-122"/>
                <a:cs typeface="Aptos Mono" pitchFamily="34" charset="-120"/>
              </a:rPr>
              <a:t>18</a:t>
            </a:r>
            <a:endParaRPr lang="en-US" sz="1155" dirty="0"/>
          </a:p>
        </p:txBody>
      </p:sp>
      <p:sp>
        <p:nvSpPr>
          <p:cNvPr id="69" name="Text 67"/>
          <p:cNvSpPr/>
          <p:nvPr/>
        </p:nvSpPr>
        <p:spPr>
          <a:xfrm>
            <a:off x="1033272" y="5856224"/>
            <a:ext cx="6931152" cy="224536"/>
          </a:xfrm>
          <a:prstGeom prst="rect">
            <a:avLst/>
          </a:prstGeom>
          <a:noFill/>
          <a:ln/>
        </p:spPr>
        <p:txBody>
          <a:bodyPr wrap="square" lIns="0" tIns="0" rIns="0" bIns="0" rtlCol="0" anchor="ctr">
            <a:normAutofit/>
          </a:bodyPr>
          <a:lstStyle/>
          <a:p>
            <a:pPr indent="0" marL="0">
              <a:buNone/>
            </a:pPr>
            <a:r>
              <a:rPr lang="en-US" sz="1375" dirty="0">
                <a:solidFill>
                  <a:srgbClr val="78C9A6"/>
                </a:solidFill>
                <a:latin typeface="Aptos Mono" pitchFamily="34" charset="0"/>
                <a:ea typeface="Aptos Mono" pitchFamily="34" charset="-122"/>
                <a:cs typeface="Aptos Mono" pitchFamily="34" charset="-120"/>
              </a:rPr>
              <a:t>// Il bundler genera nomi unici.</a:t>
            </a:r>
            <a:endParaRPr lang="en-US" sz="1375" dirty="0"/>
          </a:p>
        </p:txBody>
      </p:sp>
      <p:sp>
        <p:nvSpPr>
          <p:cNvPr id="70" name="Shape 68"/>
          <p:cNvSpPr/>
          <p:nvPr/>
        </p:nvSpPr>
        <p:spPr>
          <a:xfrm>
            <a:off x="8366760" y="1591056"/>
            <a:ext cx="3310128" cy="4553712"/>
          </a:xfrm>
          <a:prstGeom prst="roundRect">
            <a:avLst>
              <a:gd name="adj" fmla="val 1381"/>
            </a:avLst>
          </a:prstGeom>
          <a:solidFill>
            <a:srgbClr val="122238"/>
          </a:solidFill>
          <a:ln w="12700">
            <a:solidFill>
              <a:srgbClr val="263A55"/>
            </a:solidFill>
            <a:prstDash val="solid"/>
          </a:ln>
        </p:spPr>
      </p:sp>
      <p:sp>
        <p:nvSpPr>
          <p:cNvPr id="71" name="Text 69"/>
          <p:cNvSpPr/>
          <p:nvPr/>
        </p:nvSpPr>
        <p:spPr>
          <a:xfrm>
            <a:off x="8586216" y="1801368"/>
            <a:ext cx="2871216" cy="182880"/>
          </a:xfrm>
          <a:prstGeom prst="rect">
            <a:avLst/>
          </a:prstGeom>
          <a:noFill/>
          <a:ln/>
        </p:spPr>
        <p:txBody>
          <a:bodyPr wrap="square" lIns="0" tIns="0" rIns="0" bIns="0" rtlCol="0" anchor="ctr"/>
          <a:lstStyle/>
          <a:p>
            <a:pPr indent="0" marL="0">
              <a:buNone/>
            </a:pPr>
            <a:r>
              <a:rPr lang="en-US" sz="950" b="1" spc="115" kern="0" dirty="0">
                <a:solidFill>
                  <a:srgbClr val="F5C96A"/>
                </a:solidFill>
                <a:latin typeface="Aptos" pitchFamily="34" charset="0"/>
                <a:ea typeface="Aptos" pitchFamily="34" charset="-122"/>
                <a:cs typeface="Aptos" pitchFamily="34" charset="-120"/>
              </a:rPr>
              <a:t>DA OSSERVARE</a:t>
            </a:r>
            <a:endParaRPr lang="en-US" sz="950" dirty="0"/>
          </a:p>
        </p:txBody>
      </p:sp>
      <p:sp>
        <p:nvSpPr>
          <p:cNvPr id="72" name="Shape 70"/>
          <p:cNvSpPr/>
          <p:nvPr/>
        </p:nvSpPr>
        <p:spPr>
          <a:xfrm>
            <a:off x="8586216" y="2267712"/>
            <a:ext cx="91440" cy="91440"/>
          </a:xfrm>
          <a:prstGeom prst="ellipse">
            <a:avLst/>
          </a:prstGeom>
          <a:solidFill>
            <a:srgbClr val="7CD4FF"/>
          </a:solidFill>
          <a:ln w="12700">
            <a:solidFill>
              <a:srgbClr val="7CD4FF"/>
            </a:solidFill>
            <a:prstDash val="solid"/>
          </a:ln>
        </p:spPr>
      </p:sp>
      <p:sp>
        <p:nvSpPr>
          <p:cNvPr id="73" name="Text 71"/>
          <p:cNvSpPr/>
          <p:nvPr/>
        </p:nvSpPr>
        <p:spPr>
          <a:xfrm>
            <a:off x="8778240" y="2212848"/>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Import tipicamente locale.</a:t>
            </a:r>
            <a:endParaRPr lang="en-US" sz="1420" dirty="0"/>
          </a:p>
        </p:txBody>
      </p:sp>
      <p:sp>
        <p:nvSpPr>
          <p:cNvPr id="74" name="Shape 72"/>
          <p:cNvSpPr/>
          <p:nvPr/>
        </p:nvSpPr>
        <p:spPr>
          <a:xfrm>
            <a:off x="8586216" y="2980944"/>
            <a:ext cx="91440" cy="91440"/>
          </a:xfrm>
          <a:prstGeom prst="ellipse">
            <a:avLst/>
          </a:prstGeom>
          <a:solidFill>
            <a:srgbClr val="7CD4FF"/>
          </a:solidFill>
          <a:ln w="12700">
            <a:solidFill>
              <a:srgbClr val="7CD4FF"/>
            </a:solidFill>
            <a:prstDash val="solid"/>
          </a:ln>
        </p:spPr>
      </p:sp>
      <p:sp>
        <p:nvSpPr>
          <p:cNvPr id="75" name="Text 73"/>
          <p:cNvSpPr/>
          <p:nvPr/>
        </p:nvSpPr>
        <p:spPr>
          <a:xfrm>
            <a:off x="8778240" y="2926080"/>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Collisioni ridotte dal bundler.</a:t>
            </a:r>
            <a:endParaRPr lang="en-US" sz="1420" dirty="0"/>
          </a:p>
        </p:txBody>
      </p:sp>
      <p:sp>
        <p:nvSpPr>
          <p:cNvPr id="76" name="Shape 74"/>
          <p:cNvSpPr/>
          <p:nvPr/>
        </p:nvSpPr>
        <p:spPr>
          <a:xfrm>
            <a:off x="8586216" y="3694176"/>
            <a:ext cx="91440" cy="91440"/>
          </a:xfrm>
          <a:prstGeom prst="ellipse">
            <a:avLst/>
          </a:prstGeom>
          <a:solidFill>
            <a:srgbClr val="7CD4FF"/>
          </a:solidFill>
          <a:ln w="12700">
            <a:solidFill>
              <a:srgbClr val="7CD4FF"/>
            </a:solidFill>
            <a:prstDash val="solid"/>
          </a:ln>
        </p:spPr>
      </p:sp>
      <p:sp>
        <p:nvSpPr>
          <p:cNvPr id="77" name="Text 75"/>
          <p:cNvSpPr/>
          <p:nvPr/>
        </p:nvSpPr>
        <p:spPr>
          <a:xfrm>
            <a:off x="8778240" y="3639312"/>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Il file resta eliminabile col componente.</a:t>
            </a:r>
            <a:endParaRPr lang="en-US" sz="142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37</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LEAKAGE E SPECIFICITÀ</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Prima: un foglio globale perde la proprietà</a:t>
            </a:r>
            <a:endParaRPr lang="en-US" sz="2700" dirty="0"/>
          </a:p>
        </p:txBody>
      </p:sp>
      <p:sp>
        <p:nvSpPr>
          <p:cNvPr id="29" name="Shape 27"/>
          <p:cNvSpPr/>
          <p:nvPr/>
        </p:nvSpPr>
        <p:spPr>
          <a:xfrm>
            <a:off x="530352" y="1581912"/>
            <a:ext cx="5440680" cy="4526280"/>
          </a:xfrm>
          <a:prstGeom prst="roundRect">
            <a:avLst>
              <a:gd name="adj" fmla="val 1010"/>
            </a:avLst>
          </a:prstGeom>
          <a:solidFill>
            <a:srgbClr val="0D1A2B"/>
          </a:solidFill>
          <a:ln w="13970">
            <a:solidFill>
              <a:srgbClr val="263A55"/>
            </a:solidFill>
            <a:prstDash val="solid"/>
          </a:ln>
        </p:spPr>
      </p:sp>
      <p:sp>
        <p:nvSpPr>
          <p:cNvPr id="30" name="Shape 28"/>
          <p:cNvSpPr/>
          <p:nvPr/>
        </p:nvSpPr>
        <p:spPr>
          <a:xfrm>
            <a:off x="530352" y="1581912"/>
            <a:ext cx="5440680" cy="347472"/>
          </a:xfrm>
          <a:prstGeom prst="rect">
            <a:avLst/>
          </a:prstGeom>
          <a:solidFill>
            <a:srgbClr val="122238"/>
          </a:solidFill>
          <a:ln w="12700">
            <a:solidFill>
              <a:srgbClr val="122238"/>
            </a:solidFill>
            <a:prstDash val="solid"/>
          </a:ln>
        </p:spPr>
      </p:sp>
      <p:sp>
        <p:nvSpPr>
          <p:cNvPr id="31" name="Shape 29"/>
          <p:cNvSpPr/>
          <p:nvPr/>
        </p:nvSpPr>
        <p:spPr>
          <a:xfrm>
            <a:off x="694944" y="1623060"/>
            <a:ext cx="658368" cy="274320"/>
          </a:xfrm>
          <a:prstGeom prst="roundRect">
            <a:avLst>
              <a:gd name="adj" fmla="val 20000"/>
            </a:avLst>
          </a:prstGeom>
          <a:solidFill>
            <a:srgbClr val="FF7A8A">
              <a:alpha val="20000"/>
            </a:srgbClr>
          </a:solidFill>
          <a:ln w="10160">
            <a:solidFill>
              <a:srgbClr val="FF7A8A">
                <a:alpha val="55000"/>
              </a:srgbClr>
            </a:solidFill>
            <a:prstDash val="solid"/>
          </a:ln>
        </p:spPr>
      </p:sp>
      <p:sp>
        <p:nvSpPr>
          <p:cNvPr id="32" name="Text 30"/>
          <p:cNvSpPr/>
          <p:nvPr/>
        </p:nvSpPr>
        <p:spPr>
          <a:xfrm>
            <a:off x="786384" y="1682496"/>
            <a:ext cx="475488" cy="128016"/>
          </a:xfrm>
          <a:prstGeom prst="rect">
            <a:avLst/>
          </a:prstGeom>
          <a:noFill/>
          <a:ln/>
        </p:spPr>
        <p:txBody>
          <a:bodyPr wrap="square" lIns="0" tIns="0" rIns="0" bIns="0" rtlCol="0" anchor="ctr"/>
          <a:lstStyle/>
          <a:p>
            <a:pPr algn="ctr" indent="0" marL="0">
              <a:buNone/>
            </a:pPr>
            <a:r>
              <a:rPr lang="en-US" sz="820" b="1" dirty="0">
                <a:solidFill>
                  <a:srgbClr val="FF7A8A"/>
                </a:solidFill>
                <a:latin typeface="Aptos Mono" pitchFamily="34" charset="0"/>
                <a:ea typeface="Aptos Mono" pitchFamily="34" charset="-122"/>
                <a:cs typeface="Aptos Mono" pitchFamily="34" charset="-120"/>
              </a:rPr>
              <a:t>SCSS</a:t>
            </a:r>
            <a:endParaRPr lang="en-US" sz="820" dirty="0"/>
          </a:p>
        </p:txBody>
      </p:sp>
      <p:sp>
        <p:nvSpPr>
          <p:cNvPr id="33" name="Text 31"/>
          <p:cNvSpPr/>
          <p:nvPr/>
        </p:nvSpPr>
        <p:spPr>
          <a:xfrm>
            <a:off x="1490472" y="1677924"/>
            <a:ext cx="420624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PRIMA</a:t>
            </a:r>
            <a:endParaRPr lang="en-US" sz="880" dirty="0"/>
          </a:p>
        </p:txBody>
      </p:sp>
      <p:sp>
        <p:nvSpPr>
          <p:cNvPr id="34" name="Text 32"/>
          <p:cNvSpPr/>
          <p:nvPr/>
        </p:nvSpPr>
        <p:spPr>
          <a:xfrm>
            <a:off x="640080" y="204368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01</a:t>
            </a:r>
            <a:endParaRPr lang="en-US" sz="1060" dirty="0"/>
          </a:p>
        </p:txBody>
      </p:sp>
      <p:sp>
        <p:nvSpPr>
          <p:cNvPr id="35" name="Text 33"/>
          <p:cNvSpPr/>
          <p:nvPr/>
        </p:nvSpPr>
        <p:spPr>
          <a:xfrm>
            <a:off x="1033272" y="2029968"/>
            <a:ext cx="4782312" cy="242316"/>
          </a:xfrm>
          <a:prstGeom prst="rect">
            <a:avLst/>
          </a:prstGeom>
          <a:noFill/>
          <a:ln/>
        </p:spPr>
        <p:txBody>
          <a:bodyPr wrap="square" lIns="0" tIns="0" rIns="0" bIns="0" rtlCol="0" anchor="ctr">
            <a:normAutofit/>
          </a:bodyPr>
          <a:lstStyle/>
          <a:p>
            <a:pPr indent="0" marL="0">
              <a:buNone/>
            </a:pPr>
            <a:r>
              <a:rPr lang="en-US" sz="1280" dirty="0">
                <a:solidFill>
                  <a:srgbClr val="78C9A6"/>
                </a:solidFill>
                <a:latin typeface="Aptos Mono" pitchFamily="34" charset="0"/>
                <a:ea typeface="Aptos Mono" pitchFamily="34" charset="-122"/>
                <a:cs typeface="Aptos Mono" pitchFamily="34" charset="-120"/>
              </a:rPr>
              <a:t>// styles/app.scss</a:t>
            </a:r>
            <a:endParaRPr lang="en-US" sz="1280" dirty="0"/>
          </a:p>
        </p:txBody>
      </p:sp>
      <p:sp>
        <p:nvSpPr>
          <p:cNvPr id="36" name="Text 34"/>
          <p:cNvSpPr/>
          <p:nvPr/>
        </p:nvSpPr>
        <p:spPr>
          <a:xfrm>
            <a:off x="640080" y="228600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02</a:t>
            </a:r>
            <a:endParaRPr lang="en-US" sz="1060" dirty="0"/>
          </a:p>
        </p:txBody>
      </p:sp>
      <p:sp>
        <p:nvSpPr>
          <p:cNvPr id="37" name="Text 35"/>
          <p:cNvSpPr/>
          <p:nvPr/>
        </p:nvSpPr>
        <p:spPr>
          <a:xfrm>
            <a:off x="1033272" y="227228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.title { color: blue; }</a:t>
            </a:r>
            <a:endParaRPr lang="en-US" sz="1280" dirty="0"/>
          </a:p>
        </p:txBody>
      </p:sp>
      <p:sp>
        <p:nvSpPr>
          <p:cNvPr id="38" name="Text 36"/>
          <p:cNvSpPr/>
          <p:nvPr/>
        </p:nvSpPr>
        <p:spPr>
          <a:xfrm>
            <a:off x="640080" y="252831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03</a:t>
            </a:r>
            <a:endParaRPr lang="en-US" sz="1060" dirty="0"/>
          </a:p>
        </p:txBody>
      </p:sp>
      <p:sp>
        <p:nvSpPr>
          <p:cNvPr id="39" name="Text 37"/>
          <p:cNvSpPr/>
          <p:nvPr/>
        </p:nvSpPr>
        <p:spPr>
          <a:xfrm>
            <a:off x="1033272" y="2514600"/>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.list li { padding: 8px; }</a:t>
            </a:r>
            <a:endParaRPr lang="en-US" sz="1280" dirty="0"/>
          </a:p>
        </p:txBody>
      </p:sp>
      <p:sp>
        <p:nvSpPr>
          <p:cNvPr id="40" name="Text 38"/>
          <p:cNvSpPr/>
          <p:nvPr/>
        </p:nvSpPr>
        <p:spPr>
          <a:xfrm>
            <a:off x="640080" y="2770632"/>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04</a:t>
            </a:r>
            <a:endParaRPr lang="en-US" sz="1060" dirty="0"/>
          </a:p>
        </p:txBody>
      </p:sp>
      <p:sp>
        <p:nvSpPr>
          <p:cNvPr id="41" name="Text 39"/>
          <p:cNvSpPr/>
          <p:nvPr/>
        </p:nvSpPr>
        <p:spPr>
          <a:xfrm>
            <a:off x="1033272" y="2756916"/>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.active { font-weight: bold; }</a:t>
            </a:r>
            <a:endParaRPr lang="en-US" sz="1280" dirty="0"/>
          </a:p>
        </p:txBody>
      </p:sp>
      <p:sp>
        <p:nvSpPr>
          <p:cNvPr id="42" name="Text 40"/>
          <p:cNvSpPr/>
          <p:nvPr/>
        </p:nvSpPr>
        <p:spPr>
          <a:xfrm>
            <a:off x="640080" y="3012948"/>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05</a:t>
            </a:r>
            <a:endParaRPr lang="en-US" sz="1060" dirty="0"/>
          </a:p>
        </p:txBody>
      </p:sp>
      <p:sp>
        <p:nvSpPr>
          <p:cNvPr id="43" name="Text 41"/>
          <p:cNvSpPr/>
          <p:nvPr/>
        </p:nvSpPr>
        <p:spPr>
          <a:xfrm>
            <a:off x="1033272" y="2999232"/>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.dashboard .panel .title {</a:t>
            </a:r>
            <a:endParaRPr lang="en-US" sz="1280" dirty="0"/>
          </a:p>
        </p:txBody>
      </p:sp>
      <p:sp>
        <p:nvSpPr>
          <p:cNvPr id="44" name="Text 42"/>
          <p:cNvSpPr/>
          <p:nvPr/>
        </p:nvSpPr>
        <p:spPr>
          <a:xfrm>
            <a:off x="640080" y="325526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06</a:t>
            </a:r>
            <a:endParaRPr lang="en-US" sz="1060" dirty="0"/>
          </a:p>
        </p:txBody>
      </p:sp>
      <p:sp>
        <p:nvSpPr>
          <p:cNvPr id="45" name="Text 43"/>
          <p:cNvSpPr/>
          <p:nvPr/>
        </p:nvSpPr>
        <p:spPr>
          <a:xfrm>
            <a:off x="1033272" y="324154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margin-bottom: 12px;</a:t>
            </a:r>
            <a:endParaRPr lang="en-US" sz="1280" dirty="0"/>
          </a:p>
        </p:txBody>
      </p:sp>
      <p:sp>
        <p:nvSpPr>
          <p:cNvPr id="46" name="Text 44"/>
          <p:cNvSpPr/>
          <p:nvPr/>
        </p:nvSpPr>
        <p:spPr>
          <a:xfrm>
            <a:off x="640080" y="349758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07</a:t>
            </a:r>
            <a:endParaRPr lang="en-US" sz="1060" dirty="0"/>
          </a:p>
        </p:txBody>
      </p:sp>
      <p:sp>
        <p:nvSpPr>
          <p:cNvPr id="47" name="Text 45"/>
          <p:cNvSpPr/>
          <p:nvPr/>
        </p:nvSpPr>
        <p:spPr>
          <a:xfrm>
            <a:off x="1033272" y="348386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a:t>
            </a:r>
            <a:endParaRPr lang="en-US" sz="1280" dirty="0"/>
          </a:p>
        </p:txBody>
      </p:sp>
      <p:sp>
        <p:nvSpPr>
          <p:cNvPr id="48" name="Text 46"/>
          <p:cNvSpPr/>
          <p:nvPr/>
        </p:nvSpPr>
        <p:spPr>
          <a:xfrm>
            <a:off x="640080" y="373989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08</a:t>
            </a:r>
            <a:endParaRPr lang="en-US" sz="1060" dirty="0"/>
          </a:p>
        </p:txBody>
      </p:sp>
      <p:sp>
        <p:nvSpPr>
          <p:cNvPr id="49" name="Text 47"/>
          <p:cNvSpPr/>
          <p:nvPr/>
        </p:nvSpPr>
        <p:spPr>
          <a:xfrm>
            <a:off x="1033272" y="3726180"/>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t>
            </a:r>
            <a:endParaRPr lang="en-US" sz="1280" dirty="0"/>
          </a:p>
        </p:txBody>
      </p:sp>
      <p:sp>
        <p:nvSpPr>
          <p:cNvPr id="50" name="Text 48"/>
          <p:cNvSpPr/>
          <p:nvPr/>
        </p:nvSpPr>
        <p:spPr>
          <a:xfrm>
            <a:off x="640080" y="3982212"/>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09</a:t>
            </a:r>
            <a:endParaRPr lang="en-US" sz="1060" dirty="0"/>
          </a:p>
        </p:txBody>
      </p:sp>
      <p:sp>
        <p:nvSpPr>
          <p:cNvPr id="51" name="Text 49"/>
          <p:cNvSpPr/>
          <p:nvPr/>
        </p:nvSpPr>
        <p:spPr>
          <a:xfrm>
            <a:off x="1033272" y="3968496"/>
            <a:ext cx="4782312" cy="242316"/>
          </a:xfrm>
          <a:prstGeom prst="rect">
            <a:avLst/>
          </a:prstGeom>
          <a:noFill/>
          <a:ln/>
        </p:spPr>
        <p:txBody>
          <a:bodyPr wrap="square" lIns="0" tIns="0" rIns="0" bIns="0" rtlCol="0" anchor="ctr">
            <a:normAutofit/>
          </a:bodyPr>
          <a:lstStyle/>
          <a:p>
            <a:pPr indent="0" marL="0">
              <a:buNone/>
            </a:pPr>
            <a:r>
              <a:rPr lang="en-US" sz="1280" dirty="0">
                <a:solidFill>
                  <a:srgbClr val="78C9A6"/>
                </a:solidFill>
                <a:latin typeface="Aptos Mono" pitchFamily="34" charset="0"/>
                <a:ea typeface="Aptos Mono" pitchFamily="34" charset="-122"/>
                <a:cs typeface="Aptos Mono" pitchFamily="34" charset="-120"/>
              </a:rPr>
              <a:t>// Ogni correzione alza la specificità.</a:t>
            </a:r>
            <a:endParaRPr lang="en-US" sz="1280" dirty="0"/>
          </a:p>
        </p:txBody>
      </p:sp>
      <p:sp>
        <p:nvSpPr>
          <p:cNvPr id="52" name="Shape 50"/>
          <p:cNvSpPr/>
          <p:nvPr/>
        </p:nvSpPr>
        <p:spPr>
          <a:xfrm>
            <a:off x="6217920" y="1581912"/>
            <a:ext cx="5440680" cy="4526280"/>
          </a:xfrm>
          <a:prstGeom prst="roundRect">
            <a:avLst>
              <a:gd name="adj" fmla="val 1010"/>
            </a:avLst>
          </a:prstGeom>
          <a:solidFill>
            <a:srgbClr val="0D1A2B"/>
          </a:solidFill>
          <a:ln w="13970">
            <a:solidFill>
              <a:srgbClr val="263A55"/>
            </a:solidFill>
            <a:prstDash val="solid"/>
          </a:ln>
        </p:spPr>
      </p:sp>
      <p:sp>
        <p:nvSpPr>
          <p:cNvPr id="53" name="Shape 51"/>
          <p:cNvSpPr/>
          <p:nvPr/>
        </p:nvSpPr>
        <p:spPr>
          <a:xfrm>
            <a:off x="6217920" y="1581912"/>
            <a:ext cx="5440680" cy="347472"/>
          </a:xfrm>
          <a:prstGeom prst="rect">
            <a:avLst/>
          </a:prstGeom>
          <a:solidFill>
            <a:srgbClr val="122238"/>
          </a:solidFill>
          <a:ln w="12700">
            <a:solidFill>
              <a:srgbClr val="122238"/>
            </a:solidFill>
            <a:prstDash val="solid"/>
          </a:ln>
        </p:spPr>
      </p:sp>
      <p:sp>
        <p:nvSpPr>
          <p:cNvPr id="54" name="Shape 52"/>
          <p:cNvSpPr/>
          <p:nvPr/>
        </p:nvSpPr>
        <p:spPr>
          <a:xfrm>
            <a:off x="6382512" y="1623060"/>
            <a:ext cx="658368" cy="274320"/>
          </a:xfrm>
          <a:prstGeom prst="roundRect">
            <a:avLst>
              <a:gd name="adj" fmla="val 20000"/>
            </a:avLst>
          </a:prstGeom>
          <a:solidFill>
            <a:srgbClr val="6FE3B1">
              <a:alpha val="20000"/>
            </a:srgbClr>
          </a:solidFill>
          <a:ln w="10160">
            <a:solidFill>
              <a:srgbClr val="6FE3B1">
                <a:alpha val="55000"/>
              </a:srgbClr>
            </a:solidFill>
            <a:prstDash val="solid"/>
          </a:ln>
        </p:spPr>
      </p:sp>
      <p:sp>
        <p:nvSpPr>
          <p:cNvPr id="55" name="Text 53"/>
          <p:cNvSpPr/>
          <p:nvPr/>
        </p:nvSpPr>
        <p:spPr>
          <a:xfrm>
            <a:off x="6473952" y="1682496"/>
            <a:ext cx="475488" cy="128016"/>
          </a:xfrm>
          <a:prstGeom prst="rect">
            <a:avLst/>
          </a:prstGeom>
          <a:noFill/>
          <a:ln/>
        </p:spPr>
        <p:txBody>
          <a:bodyPr wrap="square" lIns="0" tIns="0" rIns="0" bIns="0" rtlCol="0" anchor="ctr"/>
          <a:lstStyle/>
          <a:p>
            <a:pPr algn="ctr" indent="0" marL="0">
              <a:buNone/>
            </a:pPr>
            <a:r>
              <a:rPr lang="en-US" sz="820" b="1" dirty="0">
                <a:solidFill>
                  <a:srgbClr val="6FE3B1"/>
                </a:solidFill>
                <a:latin typeface="Aptos Mono" pitchFamily="34" charset="0"/>
                <a:ea typeface="Aptos Mono" pitchFamily="34" charset="-122"/>
                <a:cs typeface="Aptos Mono" pitchFamily="34" charset="-120"/>
              </a:rPr>
              <a:t>SCSS</a:t>
            </a:r>
            <a:endParaRPr lang="en-US" sz="820" dirty="0"/>
          </a:p>
        </p:txBody>
      </p:sp>
      <p:sp>
        <p:nvSpPr>
          <p:cNvPr id="56" name="Text 54"/>
          <p:cNvSpPr/>
          <p:nvPr/>
        </p:nvSpPr>
        <p:spPr>
          <a:xfrm>
            <a:off x="7178040" y="1677924"/>
            <a:ext cx="420624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DOPO</a:t>
            </a:r>
            <a:endParaRPr lang="en-US" sz="880" dirty="0"/>
          </a:p>
        </p:txBody>
      </p:sp>
      <p:sp>
        <p:nvSpPr>
          <p:cNvPr id="57" name="Text 55"/>
          <p:cNvSpPr/>
          <p:nvPr/>
        </p:nvSpPr>
        <p:spPr>
          <a:xfrm>
            <a:off x="6327648" y="204368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01</a:t>
            </a:r>
            <a:endParaRPr lang="en-US" sz="1060" dirty="0"/>
          </a:p>
        </p:txBody>
      </p:sp>
      <p:sp>
        <p:nvSpPr>
          <p:cNvPr id="58" name="Text 56"/>
          <p:cNvSpPr/>
          <p:nvPr/>
        </p:nvSpPr>
        <p:spPr>
          <a:xfrm>
            <a:off x="6720840" y="2029968"/>
            <a:ext cx="4782312" cy="242316"/>
          </a:xfrm>
          <a:prstGeom prst="rect">
            <a:avLst/>
          </a:prstGeom>
          <a:noFill/>
          <a:ln/>
        </p:spPr>
        <p:txBody>
          <a:bodyPr wrap="square" lIns="0" tIns="0" rIns="0" bIns="0" rtlCol="0" anchor="ctr">
            <a:normAutofit/>
          </a:bodyPr>
          <a:lstStyle/>
          <a:p>
            <a:pPr indent="0" marL="0">
              <a:buNone/>
            </a:pPr>
            <a:r>
              <a:rPr lang="en-US" sz="1280" dirty="0">
                <a:solidFill>
                  <a:srgbClr val="78C9A6"/>
                </a:solidFill>
                <a:latin typeface="Aptos Mono" pitchFamily="34" charset="0"/>
                <a:ea typeface="Aptos Mono" pitchFamily="34" charset="-122"/>
                <a:cs typeface="Aptos Mono" pitchFamily="34" charset="-120"/>
              </a:rPr>
              <a:t>// Dashboard.scss</a:t>
            </a:r>
            <a:endParaRPr lang="en-US" sz="1280" dirty="0"/>
          </a:p>
        </p:txBody>
      </p:sp>
      <p:sp>
        <p:nvSpPr>
          <p:cNvPr id="59" name="Text 57"/>
          <p:cNvSpPr/>
          <p:nvPr/>
        </p:nvSpPr>
        <p:spPr>
          <a:xfrm>
            <a:off x="6327648" y="228600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02</a:t>
            </a:r>
            <a:endParaRPr lang="en-US" sz="1060" dirty="0"/>
          </a:p>
        </p:txBody>
      </p:sp>
      <p:sp>
        <p:nvSpPr>
          <p:cNvPr id="60" name="Text 58"/>
          <p:cNvSpPr/>
          <p:nvPr/>
        </p:nvSpPr>
        <p:spPr>
          <a:xfrm>
            <a:off x="6720840" y="227228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.dashboard {</a:t>
            </a:r>
            <a:endParaRPr lang="en-US" sz="1280" dirty="0"/>
          </a:p>
        </p:txBody>
      </p:sp>
      <p:sp>
        <p:nvSpPr>
          <p:cNvPr id="61" name="Text 59"/>
          <p:cNvSpPr/>
          <p:nvPr/>
        </p:nvSpPr>
        <p:spPr>
          <a:xfrm>
            <a:off x="6327648" y="252831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03</a:t>
            </a:r>
            <a:endParaRPr lang="en-US" sz="1060" dirty="0"/>
          </a:p>
        </p:txBody>
      </p:sp>
      <p:sp>
        <p:nvSpPr>
          <p:cNvPr id="62" name="Text 60"/>
          <p:cNvSpPr/>
          <p:nvPr/>
        </p:nvSpPr>
        <p:spPr>
          <a:xfrm>
            <a:off x="6720840" y="2514600"/>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&amp;__title { color: v.$color-accent; }</a:t>
            </a:r>
            <a:endParaRPr lang="en-US" sz="1280" dirty="0"/>
          </a:p>
        </p:txBody>
      </p:sp>
      <p:sp>
        <p:nvSpPr>
          <p:cNvPr id="63" name="Text 61"/>
          <p:cNvSpPr/>
          <p:nvPr/>
        </p:nvSpPr>
        <p:spPr>
          <a:xfrm>
            <a:off x="6327648" y="2770632"/>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04</a:t>
            </a:r>
            <a:endParaRPr lang="en-US" sz="1060" dirty="0"/>
          </a:p>
        </p:txBody>
      </p:sp>
      <p:sp>
        <p:nvSpPr>
          <p:cNvPr id="64" name="Text 62"/>
          <p:cNvSpPr/>
          <p:nvPr/>
        </p:nvSpPr>
        <p:spPr>
          <a:xfrm>
            <a:off x="6720840" y="2756916"/>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&amp;__list { padding: 0; }</a:t>
            </a:r>
            <a:endParaRPr lang="en-US" sz="1280" dirty="0"/>
          </a:p>
        </p:txBody>
      </p:sp>
      <p:sp>
        <p:nvSpPr>
          <p:cNvPr id="65" name="Text 63"/>
          <p:cNvSpPr/>
          <p:nvPr/>
        </p:nvSpPr>
        <p:spPr>
          <a:xfrm>
            <a:off x="6327648" y="3012948"/>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05</a:t>
            </a:r>
            <a:endParaRPr lang="en-US" sz="1060" dirty="0"/>
          </a:p>
        </p:txBody>
      </p:sp>
      <p:sp>
        <p:nvSpPr>
          <p:cNvPr id="66" name="Text 64"/>
          <p:cNvSpPr/>
          <p:nvPr/>
        </p:nvSpPr>
        <p:spPr>
          <a:xfrm>
            <a:off x="6720840" y="2999232"/>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&amp;__ticket--active { font-weight: 700; }</a:t>
            </a:r>
            <a:endParaRPr lang="en-US" sz="1280" dirty="0"/>
          </a:p>
        </p:txBody>
      </p:sp>
      <p:sp>
        <p:nvSpPr>
          <p:cNvPr id="67" name="Text 65"/>
          <p:cNvSpPr/>
          <p:nvPr/>
        </p:nvSpPr>
        <p:spPr>
          <a:xfrm>
            <a:off x="6327648" y="325526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06</a:t>
            </a:r>
            <a:endParaRPr lang="en-US" sz="1060" dirty="0"/>
          </a:p>
        </p:txBody>
      </p:sp>
      <p:sp>
        <p:nvSpPr>
          <p:cNvPr id="68" name="Text 66"/>
          <p:cNvSpPr/>
          <p:nvPr/>
        </p:nvSpPr>
        <p:spPr>
          <a:xfrm>
            <a:off x="6720840" y="324154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a:t>
            </a:r>
            <a:endParaRPr lang="en-US" sz="1280" dirty="0"/>
          </a:p>
        </p:txBody>
      </p:sp>
      <p:sp>
        <p:nvSpPr>
          <p:cNvPr id="69" name="Text 67"/>
          <p:cNvSpPr/>
          <p:nvPr/>
        </p:nvSpPr>
        <p:spPr>
          <a:xfrm>
            <a:off x="6327648" y="349758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07</a:t>
            </a:r>
            <a:endParaRPr lang="en-US" sz="1060" dirty="0"/>
          </a:p>
        </p:txBody>
      </p:sp>
      <p:sp>
        <p:nvSpPr>
          <p:cNvPr id="70" name="Text 68"/>
          <p:cNvSpPr/>
          <p:nvPr/>
        </p:nvSpPr>
        <p:spPr>
          <a:xfrm>
            <a:off x="6720840" y="348386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t>
            </a:r>
            <a:endParaRPr lang="en-US" sz="1280" dirty="0"/>
          </a:p>
        </p:txBody>
      </p:sp>
      <p:sp>
        <p:nvSpPr>
          <p:cNvPr id="71" name="Text 69"/>
          <p:cNvSpPr/>
          <p:nvPr/>
        </p:nvSpPr>
        <p:spPr>
          <a:xfrm>
            <a:off x="6327648" y="373989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08</a:t>
            </a:r>
            <a:endParaRPr lang="en-US" sz="1060" dirty="0"/>
          </a:p>
        </p:txBody>
      </p:sp>
      <p:sp>
        <p:nvSpPr>
          <p:cNvPr id="72" name="Text 70"/>
          <p:cNvSpPr/>
          <p:nvPr/>
        </p:nvSpPr>
        <p:spPr>
          <a:xfrm>
            <a:off x="6720840" y="3726180"/>
            <a:ext cx="4782312" cy="242316"/>
          </a:xfrm>
          <a:prstGeom prst="rect">
            <a:avLst/>
          </a:prstGeom>
          <a:noFill/>
          <a:ln/>
        </p:spPr>
        <p:txBody>
          <a:bodyPr wrap="square" lIns="0" tIns="0" rIns="0" bIns="0" rtlCol="0" anchor="ctr">
            <a:normAutofit/>
          </a:bodyPr>
          <a:lstStyle/>
          <a:p>
            <a:pPr indent="0" marL="0">
              <a:buNone/>
            </a:pPr>
            <a:r>
              <a:rPr lang="en-US" sz="1280" dirty="0">
                <a:solidFill>
                  <a:srgbClr val="78C9A6"/>
                </a:solidFill>
                <a:latin typeface="Aptos Mono" pitchFamily="34" charset="0"/>
                <a:ea typeface="Aptos Mono" pitchFamily="34" charset="-122"/>
                <a:cs typeface="Aptos Mono" pitchFamily="34" charset="-120"/>
              </a:rPr>
              <a:t>// Le regole appartengono al componente.</a:t>
            </a:r>
            <a:endParaRPr lang="en-US" sz="1280" dirty="0"/>
          </a:p>
        </p:txBody>
      </p:sp>
      <p:sp>
        <p:nvSpPr>
          <p:cNvPr id="73" name="Shape 71"/>
          <p:cNvSpPr/>
          <p:nvPr/>
        </p:nvSpPr>
        <p:spPr>
          <a:xfrm>
            <a:off x="5870448" y="3310128"/>
            <a:ext cx="274320" cy="475488"/>
          </a:xfrm>
          <a:prstGeom prst="chevron">
            <a:avLst/>
          </a:prstGeom>
          <a:solidFill>
            <a:srgbClr val="4C7DFF"/>
          </a:solidFill>
          <a:ln w="12700">
            <a:solidFill>
              <a:srgbClr val="4C7DFF"/>
            </a:solidFill>
            <a:prstDash val="solid"/>
          </a:ln>
        </p:spPr>
      </p:sp>
      <p:sp>
        <p:nvSpPr>
          <p:cNvPr id="74" name="Text 72"/>
          <p:cNvSpPr/>
          <p:nvPr/>
        </p:nvSpPr>
        <p:spPr>
          <a:xfrm>
            <a:off x="1828800" y="6217920"/>
            <a:ext cx="8503920" cy="210312"/>
          </a:xfrm>
          <a:prstGeom prst="rect">
            <a:avLst/>
          </a:prstGeom>
          <a:noFill/>
          <a:ln/>
        </p:spPr>
        <p:txBody>
          <a:bodyPr wrap="square" lIns="0" tIns="0" rIns="0" bIns="0" rtlCol="0" anchor="ctr"/>
          <a:lstStyle/>
          <a:p>
            <a:pPr algn="ctr" indent="0" marL="0">
              <a:buNone/>
            </a:pPr>
            <a:r>
              <a:rPr lang="en-US" sz="1050" b="1" dirty="0">
                <a:solidFill>
                  <a:srgbClr val="F5C96A"/>
                </a:solidFill>
                <a:latin typeface="Aptos" pitchFamily="34" charset="0"/>
                <a:ea typeface="Aptos" pitchFamily="34" charset="-122"/>
                <a:cs typeface="Aptos" pitchFamily="34" charset="-120"/>
              </a:rPr>
              <a:t>La prova migliore: posso eliminare il componente senza cercare regole sparse?</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38</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ACCESSIBILITÀ VISIVA</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Gli stati interattivi appartengono al controllo</a:t>
            </a:r>
            <a:endParaRPr lang="en-US" sz="2700" dirty="0"/>
          </a:p>
        </p:txBody>
      </p:sp>
      <p:sp>
        <p:nvSpPr>
          <p:cNvPr id="29" name="Shape 27"/>
          <p:cNvSpPr/>
          <p:nvPr/>
        </p:nvSpPr>
        <p:spPr>
          <a:xfrm>
            <a:off x="530352" y="1591056"/>
            <a:ext cx="7589520" cy="4553712"/>
          </a:xfrm>
          <a:prstGeom prst="roundRect">
            <a:avLst>
              <a:gd name="adj" fmla="val 1004"/>
            </a:avLst>
          </a:prstGeom>
          <a:solidFill>
            <a:srgbClr val="0D1A2B"/>
          </a:solidFill>
          <a:ln w="13970">
            <a:solidFill>
              <a:srgbClr val="263A55"/>
            </a:solidFill>
            <a:prstDash val="solid"/>
          </a:ln>
        </p:spPr>
      </p:sp>
      <p:sp>
        <p:nvSpPr>
          <p:cNvPr id="30" name="Shape 28"/>
          <p:cNvSpPr/>
          <p:nvPr/>
        </p:nvSpPr>
        <p:spPr>
          <a:xfrm>
            <a:off x="530352" y="1591056"/>
            <a:ext cx="7589520" cy="347472"/>
          </a:xfrm>
          <a:prstGeom prst="rect">
            <a:avLst/>
          </a:prstGeom>
          <a:solidFill>
            <a:srgbClr val="122238"/>
          </a:solidFill>
          <a:ln w="12700">
            <a:solidFill>
              <a:srgbClr val="122238"/>
            </a:solidFill>
            <a:prstDash val="solid"/>
          </a:ln>
        </p:spPr>
      </p:sp>
      <p:sp>
        <p:nvSpPr>
          <p:cNvPr id="31" name="Shape 29"/>
          <p:cNvSpPr/>
          <p:nvPr/>
        </p:nvSpPr>
        <p:spPr>
          <a:xfrm>
            <a:off x="694944" y="1632204"/>
            <a:ext cx="658368" cy="274320"/>
          </a:xfrm>
          <a:prstGeom prst="roundRect">
            <a:avLst>
              <a:gd name="adj" fmla="val 20000"/>
            </a:avLst>
          </a:prstGeom>
          <a:solidFill>
            <a:srgbClr val="7CD4FF">
              <a:alpha val="20000"/>
            </a:srgbClr>
          </a:solidFill>
          <a:ln w="10160">
            <a:solidFill>
              <a:srgbClr val="7CD4FF">
                <a:alpha val="55000"/>
              </a:srgbClr>
            </a:solidFill>
            <a:prstDash val="solid"/>
          </a:ln>
        </p:spPr>
      </p:sp>
      <p:sp>
        <p:nvSpPr>
          <p:cNvPr id="32" name="Text 30"/>
          <p:cNvSpPr/>
          <p:nvPr/>
        </p:nvSpPr>
        <p:spPr>
          <a:xfrm>
            <a:off x="786384" y="1691640"/>
            <a:ext cx="475488" cy="128016"/>
          </a:xfrm>
          <a:prstGeom prst="rect">
            <a:avLst/>
          </a:prstGeom>
          <a:noFill/>
          <a:ln/>
        </p:spPr>
        <p:txBody>
          <a:bodyPr wrap="square" lIns="0" tIns="0" rIns="0" bIns="0" rtlCol="0" anchor="ctr"/>
          <a:lstStyle/>
          <a:p>
            <a:pPr algn="ctr" indent="0" marL="0">
              <a:buNone/>
            </a:pPr>
            <a:r>
              <a:rPr lang="en-US" sz="820" b="1" dirty="0">
                <a:solidFill>
                  <a:srgbClr val="7CD4FF"/>
                </a:solidFill>
                <a:latin typeface="Aptos Mono" pitchFamily="34" charset="0"/>
                <a:ea typeface="Aptos Mono" pitchFamily="34" charset="-122"/>
                <a:cs typeface="Aptos Mono" pitchFamily="34" charset="-120"/>
              </a:rPr>
              <a:t>SCSS</a:t>
            </a:r>
            <a:endParaRPr lang="en-US" sz="820" dirty="0"/>
          </a:p>
        </p:txBody>
      </p:sp>
      <p:sp>
        <p:nvSpPr>
          <p:cNvPr id="33" name="Text 31"/>
          <p:cNvSpPr/>
          <p:nvPr/>
        </p:nvSpPr>
        <p:spPr>
          <a:xfrm>
            <a:off x="1490472" y="1687068"/>
            <a:ext cx="635508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Button.scss</a:t>
            </a:r>
            <a:endParaRPr lang="en-US" sz="880" dirty="0"/>
          </a:p>
        </p:txBody>
      </p:sp>
      <p:sp>
        <p:nvSpPr>
          <p:cNvPr id="34" name="Text 32"/>
          <p:cNvSpPr/>
          <p:nvPr/>
        </p:nvSpPr>
        <p:spPr>
          <a:xfrm>
            <a:off x="640080" y="205282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01</a:t>
            </a:r>
            <a:endParaRPr lang="en-US" sz="1200" dirty="0"/>
          </a:p>
        </p:txBody>
      </p:sp>
      <p:sp>
        <p:nvSpPr>
          <p:cNvPr id="35" name="Text 33"/>
          <p:cNvSpPr/>
          <p:nvPr/>
        </p:nvSpPr>
        <p:spPr>
          <a:xfrm>
            <a:off x="1033272" y="203911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.button {</a:t>
            </a:r>
            <a:endParaRPr lang="en-US" sz="1420" dirty="0"/>
          </a:p>
        </p:txBody>
      </p:sp>
      <p:sp>
        <p:nvSpPr>
          <p:cNvPr id="36" name="Text 34"/>
          <p:cNvSpPr/>
          <p:nvPr/>
        </p:nvSpPr>
        <p:spPr>
          <a:xfrm>
            <a:off x="640080" y="229514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02</a:t>
            </a:r>
            <a:endParaRPr lang="en-US" sz="1200" dirty="0"/>
          </a:p>
        </p:txBody>
      </p:sp>
      <p:sp>
        <p:nvSpPr>
          <p:cNvPr id="37" name="Text 35"/>
          <p:cNvSpPr/>
          <p:nvPr/>
        </p:nvSpPr>
        <p:spPr>
          <a:xfrm>
            <a:off x="1033272" y="228142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color: v.$color-text-on-accent;</a:t>
            </a:r>
            <a:endParaRPr lang="en-US" sz="1420" dirty="0"/>
          </a:p>
        </p:txBody>
      </p:sp>
      <p:sp>
        <p:nvSpPr>
          <p:cNvPr id="38" name="Text 36"/>
          <p:cNvSpPr/>
          <p:nvPr/>
        </p:nvSpPr>
        <p:spPr>
          <a:xfrm>
            <a:off x="640080" y="253746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03</a:t>
            </a:r>
            <a:endParaRPr lang="en-US" sz="1200" dirty="0"/>
          </a:p>
        </p:txBody>
      </p:sp>
      <p:sp>
        <p:nvSpPr>
          <p:cNvPr id="39" name="Text 37"/>
          <p:cNvSpPr/>
          <p:nvPr/>
        </p:nvSpPr>
        <p:spPr>
          <a:xfrm>
            <a:off x="1033272" y="2523744"/>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background: v.$color-accent;</a:t>
            </a:r>
            <a:endParaRPr lang="en-US" sz="1420" dirty="0"/>
          </a:p>
        </p:txBody>
      </p:sp>
      <p:sp>
        <p:nvSpPr>
          <p:cNvPr id="40" name="Text 38"/>
          <p:cNvSpPr/>
          <p:nvPr/>
        </p:nvSpPr>
        <p:spPr>
          <a:xfrm>
            <a:off x="640080" y="277977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04</a:t>
            </a:r>
            <a:endParaRPr lang="en-US" sz="1200" dirty="0"/>
          </a:p>
        </p:txBody>
      </p:sp>
      <p:sp>
        <p:nvSpPr>
          <p:cNvPr id="41" name="Text 39"/>
          <p:cNvSpPr/>
          <p:nvPr/>
        </p:nvSpPr>
        <p:spPr>
          <a:xfrm>
            <a:off x="1033272" y="2766060"/>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42" name="Text 40"/>
          <p:cNvSpPr/>
          <p:nvPr/>
        </p:nvSpPr>
        <p:spPr>
          <a:xfrm>
            <a:off x="640080" y="3022092"/>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05</a:t>
            </a:r>
            <a:endParaRPr lang="en-US" sz="1200" dirty="0"/>
          </a:p>
        </p:txBody>
      </p:sp>
      <p:sp>
        <p:nvSpPr>
          <p:cNvPr id="43" name="Text 41"/>
          <p:cNvSpPr/>
          <p:nvPr/>
        </p:nvSpPr>
        <p:spPr>
          <a:xfrm>
            <a:off x="1033272" y="3008376"/>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&amp;:focus-visible {</a:t>
            </a:r>
            <a:endParaRPr lang="en-US" sz="1420" dirty="0"/>
          </a:p>
        </p:txBody>
      </p:sp>
      <p:sp>
        <p:nvSpPr>
          <p:cNvPr id="44" name="Text 42"/>
          <p:cNvSpPr/>
          <p:nvPr/>
        </p:nvSpPr>
        <p:spPr>
          <a:xfrm>
            <a:off x="640080" y="326440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06</a:t>
            </a:r>
            <a:endParaRPr lang="en-US" sz="1200" dirty="0"/>
          </a:p>
        </p:txBody>
      </p:sp>
      <p:sp>
        <p:nvSpPr>
          <p:cNvPr id="45" name="Text 43"/>
          <p:cNvSpPr/>
          <p:nvPr/>
        </p:nvSpPr>
        <p:spPr>
          <a:xfrm>
            <a:off x="1033272" y="325069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outline: 3px solid v.$color-focus;</a:t>
            </a:r>
            <a:endParaRPr lang="en-US" sz="1420" dirty="0"/>
          </a:p>
        </p:txBody>
      </p:sp>
      <p:sp>
        <p:nvSpPr>
          <p:cNvPr id="46" name="Text 44"/>
          <p:cNvSpPr/>
          <p:nvPr/>
        </p:nvSpPr>
        <p:spPr>
          <a:xfrm>
            <a:off x="640080" y="350672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07</a:t>
            </a:r>
            <a:endParaRPr lang="en-US" sz="1200" dirty="0"/>
          </a:p>
        </p:txBody>
      </p:sp>
      <p:sp>
        <p:nvSpPr>
          <p:cNvPr id="47" name="Text 45"/>
          <p:cNvSpPr/>
          <p:nvPr/>
        </p:nvSpPr>
        <p:spPr>
          <a:xfrm>
            <a:off x="1033272" y="349300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outline-offset: 2px;</a:t>
            </a:r>
            <a:endParaRPr lang="en-US" sz="1420" dirty="0"/>
          </a:p>
        </p:txBody>
      </p:sp>
      <p:sp>
        <p:nvSpPr>
          <p:cNvPr id="48" name="Text 46"/>
          <p:cNvSpPr/>
          <p:nvPr/>
        </p:nvSpPr>
        <p:spPr>
          <a:xfrm>
            <a:off x="640080" y="374904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08</a:t>
            </a:r>
            <a:endParaRPr lang="en-US" sz="1200" dirty="0"/>
          </a:p>
        </p:txBody>
      </p:sp>
      <p:sp>
        <p:nvSpPr>
          <p:cNvPr id="49" name="Text 47"/>
          <p:cNvSpPr/>
          <p:nvPr/>
        </p:nvSpPr>
        <p:spPr>
          <a:xfrm>
            <a:off x="1033272" y="3735324"/>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50" name="Text 48"/>
          <p:cNvSpPr/>
          <p:nvPr/>
        </p:nvSpPr>
        <p:spPr>
          <a:xfrm>
            <a:off x="640080" y="399135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09</a:t>
            </a:r>
            <a:endParaRPr lang="en-US" sz="1200" dirty="0"/>
          </a:p>
        </p:txBody>
      </p:sp>
      <p:sp>
        <p:nvSpPr>
          <p:cNvPr id="51" name="Text 49"/>
          <p:cNvSpPr/>
          <p:nvPr/>
        </p:nvSpPr>
        <p:spPr>
          <a:xfrm>
            <a:off x="1033272" y="3977640"/>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52" name="Text 50"/>
          <p:cNvSpPr/>
          <p:nvPr/>
        </p:nvSpPr>
        <p:spPr>
          <a:xfrm>
            <a:off x="640080" y="4233672"/>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10</a:t>
            </a:r>
            <a:endParaRPr lang="en-US" sz="1200" dirty="0"/>
          </a:p>
        </p:txBody>
      </p:sp>
      <p:sp>
        <p:nvSpPr>
          <p:cNvPr id="53" name="Text 51"/>
          <p:cNvSpPr/>
          <p:nvPr/>
        </p:nvSpPr>
        <p:spPr>
          <a:xfrm>
            <a:off x="1033272" y="4219956"/>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&amp;:disabled {</a:t>
            </a:r>
            <a:endParaRPr lang="en-US" sz="1420" dirty="0"/>
          </a:p>
        </p:txBody>
      </p:sp>
      <p:sp>
        <p:nvSpPr>
          <p:cNvPr id="54" name="Text 52"/>
          <p:cNvSpPr/>
          <p:nvPr/>
        </p:nvSpPr>
        <p:spPr>
          <a:xfrm>
            <a:off x="640080" y="447598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11</a:t>
            </a:r>
            <a:endParaRPr lang="en-US" sz="1200" dirty="0"/>
          </a:p>
        </p:txBody>
      </p:sp>
      <p:sp>
        <p:nvSpPr>
          <p:cNvPr id="55" name="Text 53"/>
          <p:cNvSpPr/>
          <p:nvPr/>
        </p:nvSpPr>
        <p:spPr>
          <a:xfrm>
            <a:off x="1033272" y="446227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cursor: not-allowed;</a:t>
            </a:r>
            <a:endParaRPr lang="en-US" sz="1420" dirty="0"/>
          </a:p>
        </p:txBody>
      </p:sp>
      <p:sp>
        <p:nvSpPr>
          <p:cNvPr id="56" name="Text 54"/>
          <p:cNvSpPr/>
          <p:nvPr/>
        </p:nvSpPr>
        <p:spPr>
          <a:xfrm>
            <a:off x="640080" y="471830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12</a:t>
            </a:r>
            <a:endParaRPr lang="en-US" sz="1200" dirty="0"/>
          </a:p>
        </p:txBody>
      </p:sp>
      <p:sp>
        <p:nvSpPr>
          <p:cNvPr id="57" name="Text 55"/>
          <p:cNvSpPr/>
          <p:nvPr/>
        </p:nvSpPr>
        <p:spPr>
          <a:xfrm>
            <a:off x="1033272" y="470458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opacity: 0.55;</a:t>
            </a:r>
            <a:endParaRPr lang="en-US" sz="1420" dirty="0"/>
          </a:p>
        </p:txBody>
      </p:sp>
      <p:sp>
        <p:nvSpPr>
          <p:cNvPr id="58" name="Text 56"/>
          <p:cNvSpPr/>
          <p:nvPr/>
        </p:nvSpPr>
        <p:spPr>
          <a:xfrm>
            <a:off x="640080" y="496062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13</a:t>
            </a:r>
            <a:endParaRPr lang="en-US" sz="1200" dirty="0"/>
          </a:p>
        </p:txBody>
      </p:sp>
      <p:sp>
        <p:nvSpPr>
          <p:cNvPr id="59" name="Text 57"/>
          <p:cNvSpPr/>
          <p:nvPr/>
        </p:nvSpPr>
        <p:spPr>
          <a:xfrm>
            <a:off x="1033272" y="4946904"/>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60" name="Text 58"/>
          <p:cNvSpPr/>
          <p:nvPr/>
        </p:nvSpPr>
        <p:spPr>
          <a:xfrm>
            <a:off x="640080" y="520293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14</a:t>
            </a:r>
            <a:endParaRPr lang="en-US" sz="1200" dirty="0"/>
          </a:p>
        </p:txBody>
      </p:sp>
      <p:sp>
        <p:nvSpPr>
          <p:cNvPr id="61" name="Text 59"/>
          <p:cNvSpPr/>
          <p:nvPr/>
        </p:nvSpPr>
        <p:spPr>
          <a:xfrm>
            <a:off x="1033272" y="5189220"/>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a:t>
            </a:r>
            <a:endParaRPr lang="en-US" sz="1420" dirty="0"/>
          </a:p>
        </p:txBody>
      </p:sp>
      <p:sp>
        <p:nvSpPr>
          <p:cNvPr id="62" name="Text 60"/>
          <p:cNvSpPr/>
          <p:nvPr/>
        </p:nvSpPr>
        <p:spPr>
          <a:xfrm>
            <a:off x="640080" y="5445252"/>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15</a:t>
            </a:r>
            <a:endParaRPr lang="en-US" sz="1200" dirty="0"/>
          </a:p>
        </p:txBody>
      </p:sp>
      <p:sp>
        <p:nvSpPr>
          <p:cNvPr id="63" name="Text 61"/>
          <p:cNvSpPr/>
          <p:nvPr/>
        </p:nvSpPr>
        <p:spPr>
          <a:xfrm>
            <a:off x="1033272" y="5431536"/>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64" name="Text 62"/>
          <p:cNvSpPr/>
          <p:nvPr/>
        </p:nvSpPr>
        <p:spPr>
          <a:xfrm>
            <a:off x="640080" y="568756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16</a:t>
            </a:r>
            <a:endParaRPr lang="en-US" sz="1200" dirty="0"/>
          </a:p>
        </p:txBody>
      </p:sp>
      <p:sp>
        <p:nvSpPr>
          <p:cNvPr id="65" name="Text 63"/>
          <p:cNvSpPr/>
          <p:nvPr/>
        </p:nvSpPr>
        <p:spPr>
          <a:xfrm>
            <a:off x="1033272" y="5673852"/>
            <a:ext cx="6931152" cy="242316"/>
          </a:xfrm>
          <a:prstGeom prst="rect">
            <a:avLst/>
          </a:prstGeom>
          <a:noFill/>
          <a:ln/>
        </p:spPr>
        <p:txBody>
          <a:bodyPr wrap="square" lIns="0" tIns="0" rIns="0" bIns="0" rtlCol="0" anchor="ctr">
            <a:normAutofit/>
          </a:bodyPr>
          <a:lstStyle/>
          <a:p>
            <a:pPr indent="0" marL="0">
              <a:buNone/>
            </a:pPr>
            <a:r>
              <a:rPr lang="en-US" sz="1420" dirty="0">
                <a:solidFill>
                  <a:srgbClr val="78C9A6"/>
                </a:solidFill>
                <a:latin typeface="Aptos Mono" pitchFamily="34" charset="0"/>
                <a:ea typeface="Aptos Mono" pitchFamily="34" charset="-122"/>
                <a:cs typeface="Aptos Mono" pitchFamily="34" charset="-120"/>
              </a:rPr>
              <a:t>// Non dipendere dal colore ereditato dal parent.</a:t>
            </a:r>
            <a:endParaRPr lang="en-US" sz="1420" dirty="0"/>
          </a:p>
        </p:txBody>
      </p:sp>
      <p:sp>
        <p:nvSpPr>
          <p:cNvPr id="66" name="Shape 64"/>
          <p:cNvSpPr/>
          <p:nvPr/>
        </p:nvSpPr>
        <p:spPr>
          <a:xfrm>
            <a:off x="8366760" y="1591056"/>
            <a:ext cx="3310128" cy="4553712"/>
          </a:xfrm>
          <a:prstGeom prst="roundRect">
            <a:avLst>
              <a:gd name="adj" fmla="val 1381"/>
            </a:avLst>
          </a:prstGeom>
          <a:solidFill>
            <a:srgbClr val="122238"/>
          </a:solidFill>
          <a:ln w="12700">
            <a:solidFill>
              <a:srgbClr val="263A55"/>
            </a:solidFill>
            <a:prstDash val="solid"/>
          </a:ln>
        </p:spPr>
      </p:sp>
      <p:sp>
        <p:nvSpPr>
          <p:cNvPr id="67" name="Text 65"/>
          <p:cNvSpPr/>
          <p:nvPr/>
        </p:nvSpPr>
        <p:spPr>
          <a:xfrm>
            <a:off x="8586216" y="1801368"/>
            <a:ext cx="2871216" cy="182880"/>
          </a:xfrm>
          <a:prstGeom prst="rect">
            <a:avLst/>
          </a:prstGeom>
          <a:noFill/>
          <a:ln/>
        </p:spPr>
        <p:txBody>
          <a:bodyPr wrap="square" lIns="0" tIns="0" rIns="0" bIns="0" rtlCol="0" anchor="ctr"/>
          <a:lstStyle/>
          <a:p>
            <a:pPr indent="0" marL="0">
              <a:buNone/>
            </a:pPr>
            <a:r>
              <a:rPr lang="en-US" sz="950" b="1" spc="115" kern="0" dirty="0">
                <a:solidFill>
                  <a:srgbClr val="F5C96A"/>
                </a:solidFill>
                <a:latin typeface="Aptos" pitchFamily="34" charset="0"/>
                <a:ea typeface="Aptos" pitchFamily="34" charset="-122"/>
                <a:cs typeface="Aptos" pitchFamily="34" charset="-120"/>
              </a:rPr>
              <a:t>DA OSSERVARE</a:t>
            </a:r>
            <a:endParaRPr lang="en-US" sz="950" dirty="0"/>
          </a:p>
        </p:txBody>
      </p:sp>
      <p:sp>
        <p:nvSpPr>
          <p:cNvPr id="68" name="Shape 66"/>
          <p:cNvSpPr/>
          <p:nvPr/>
        </p:nvSpPr>
        <p:spPr>
          <a:xfrm>
            <a:off x="8586216" y="2267712"/>
            <a:ext cx="91440" cy="91440"/>
          </a:xfrm>
          <a:prstGeom prst="ellipse">
            <a:avLst/>
          </a:prstGeom>
          <a:solidFill>
            <a:srgbClr val="7CD4FF"/>
          </a:solidFill>
          <a:ln w="12700">
            <a:solidFill>
              <a:srgbClr val="7CD4FF"/>
            </a:solidFill>
            <a:prstDash val="solid"/>
          </a:ln>
        </p:spPr>
      </p:sp>
      <p:sp>
        <p:nvSpPr>
          <p:cNvPr id="69" name="Text 67"/>
          <p:cNvSpPr/>
          <p:nvPr/>
        </p:nvSpPr>
        <p:spPr>
          <a:xfrm>
            <a:off x="8778240" y="2212848"/>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Focus visibile e indipendente dall’hover.</a:t>
            </a:r>
            <a:endParaRPr lang="en-US" sz="1420" dirty="0"/>
          </a:p>
        </p:txBody>
      </p:sp>
      <p:sp>
        <p:nvSpPr>
          <p:cNvPr id="70" name="Shape 68"/>
          <p:cNvSpPr/>
          <p:nvPr/>
        </p:nvSpPr>
        <p:spPr>
          <a:xfrm>
            <a:off x="8586216" y="2980944"/>
            <a:ext cx="91440" cy="91440"/>
          </a:xfrm>
          <a:prstGeom prst="ellipse">
            <a:avLst/>
          </a:prstGeom>
          <a:solidFill>
            <a:srgbClr val="7CD4FF"/>
          </a:solidFill>
          <a:ln w="12700">
            <a:solidFill>
              <a:srgbClr val="7CD4FF"/>
            </a:solidFill>
            <a:prstDash val="solid"/>
          </a:ln>
        </p:spPr>
      </p:sp>
      <p:sp>
        <p:nvSpPr>
          <p:cNvPr id="71" name="Text 69"/>
          <p:cNvSpPr/>
          <p:nvPr/>
        </p:nvSpPr>
        <p:spPr>
          <a:xfrm>
            <a:off x="8778240" y="2926080"/>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Disabled conserva leggibilità.</a:t>
            </a:r>
            <a:endParaRPr lang="en-US" sz="1420" dirty="0"/>
          </a:p>
        </p:txBody>
      </p:sp>
      <p:sp>
        <p:nvSpPr>
          <p:cNvPr id="72" name="Shape 70"/>
          <p:cNvSpPr/>
          <p:nvPr/>
        </p:nvSpPr>
        <p:spPr>
          <a:xfrm>
            <a:off x="8586216" y="3694176"/>
            <a:ext cx="91440" cy="91440"/>
          </a:xfrm>
          <a:prstGeom prst="ellipse">
            <a:avLst/>
          </a:prstGeom>
          <a:solidFill>
            <a:srgbClr val="7CD4FF"/>
          </a:solidFill>
          <a:ln w="12700">
            <a:solidFill>
              <a:srgbClr val="7CD4FF"/>
            </a:solidFill>
            <a:prstDash val="solid"/>
          </a:ln>
        </p:spPr>
      </p:sp>
      <p:sp>
        <p:nvSpPr>
          <p:cNvPr id="73" name="Text 71"/>
          <p:cNvSpPr/>
          <p:nvPr/>
        </p:nvSpPr>
        <p:spPr>
          <a:xfrm>
            <a:off x="8778240" y="3639312"/>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Il componente possiede i propri stati.</a:t>
            </a:r>
            <a:endParaRPr lang="en-US" sz="142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0" y="0"/>
            <a:ext cx="3794760" cy="6858000"/>
          </a:xfrm>
          <a:prstGeom prst="rect">
            <a:avLst/>
          </a:prstGeom>
          <a:solidFill>
            <a:srgbClr val="4C7DFF"/>
          </a:solidFill>
          <a:ln w="12700">
            <a:solidFill>
              <a:srgbClr val="4C7DFF"/>
            </a:solidFill>
            <a:prstDash val="solid"/>
          </a:ln>
        </p:spPr>
      </p:sp>
      <p:sp>
        <p:nvSpPr>
          <p:cNvPr id="3" name="Text 1"/>
          <p:cNvSpPr/>
          <p:nvPr/>
        </p:nvSpPr>
        <p:spPr>
          <a:xfrm>
            <a:off x="576072" y="594360"/>
            <a:ext cx="2560320" cy="1097280"/>
          </a:xfrm>
          <a:prstGeom prst="rect">
            <a:avLst/>
          </a:prstGeom>
          <a:noFill/>
          <a:ln/>
        </p:spPr>
        <p:txBody>
          <a:bodyPr wrap="square" lIns="0" tIns="0" rIns="0" bIns="0" rtlCol="0" anchor="ctr"/>
          <a:lstStyle/>
          <a:p>
            <a:pPr indent="0" marL="0">
              <a:buNone/>
            </a:pPr>
            <a:r>
              <a:rPr lang="en-US" sz="7000" b="1" dirty="0">
                <a:solidFill>
                  <a:srgbClr val="FFFFFF">
                    <a:alpha val="98000"/>
                  </a:srgbClr>
                </a:solidFill>
                <a:latin typeface="Aptos Mono" pitchFamily="34" charset="0"/>
                <a:ea typeface="Aptos Mono" pitchFamily="34" charset="-122"/>
                <a:cs typeface="Aptos Mono" pitchFamily="34" charset="-120"/>
              </a:rPr>
              <a:t>04</a:t>
            </a:r>
            <a:endParaRPr lang="en-US" sz="7000" dirty="0"/>
          </a:p>
        </p:txBody>
      </p:sp>
      <p:sp>
        <p:nvSpPr>
          <p:cNvPr id="4" name="Text 2"/>
          <p:cNvSpPr/>
          <p:nvPr/>
        </p:nvSpPr>
        <p:spPr>
          <a:xfrm>
            <a:off x="658368" y="1975104"/>
            <a:ext cx="2560320" cy="274320"/>
          </a:xfrm>
          <a:prstGeom prst="rect">
            <a:avLst/>
          </a:prstGeom>
          <a:noFill/>
          <a:ln/>
        </p:spPr>
        <p:txBody>
          <a:bodyPr wrap="square" lIns="0" tIns="0" rIns="0" bIns="0" rtlCol="0" anchor="ctr"/>
          <a:lstStyle/>
          <a:p>
            <a:pPr indent="0" marL="0">
              <a:buNone/>
            </a:pPr>
            <a:r>
              <a:rPr lang="en-US" sz="1100" b="1" spc="200" kern="0" dirty="0">
                <a:solidFill>
                  <a:srgbClr val="FFFFFF"/>
                </a:solidFill>
                <a:latin typeface="Aptos" pitchFamily="34" charset="0"/>
                <a:ea typeface="Aptos" pitchFamily="34" charset="-122"/>
                <a:cs typeface="Aptos" pitchFamily="34" charset="-120"/>
              </a:rPr>
              <a:t>CODE LAB</a:t>
            </a:r>
            <a:endParaRPr lang="en-US" sz="1100" dirty="0"/>
          </a:p>
        </p:txBody>
      </p:sp>
      <p:sp>
        <p:nvSpPr>
          <p:cNvPr id="5" name="Text 3"/>
          <p:cNvSpPr/>
          <p:nvPr/>
        </p:nvSpPr>
        <p:spPr>
          <a:xfrm>
            <a:off x="4370832" y="1856232"/>
            <a:ext cx="6949440" cy="1051560"/>
          </a:xfrm>
          <a:prstGeom prst="rect">
            <a:avLst/>
          </a:prstGeom>
          <a:noFill/>
          <a:ln/>
        </p:spPr>
        <p:txBody>
          <a:bodyPr wrap="square" lIns="0" tIns="0" rIns="0" bIns="0" rtlCol="0" anchor="ctr">
            <a:normAutofit/>
          </a:bodyPr>
          <a:lstStyle/>
          <a:p>
            <a:pPr indent="0" marL="0">
              <a:buNone/>
            </a:pPr>
            <a:r>
              <a:rPr lang="en-US" sz="3800" b="1" dirty="0">
                <a:solidFill>
                  <a:srgbClr val="F4F7FB"/>
                </a:solidFill>
                <a:latin typeface="Aptos Display" pitchFamily="34" charset="0"/>
                <a:ea typeface="Aptos Display" pitchFamily="34" charset="-122"/>
                <a:cs typeface="Aptos Display" pitchFamily="34" charset="-120"/>
              </a:rPr>
              <a:t>State e Hooks</a:t>
            </a:r>
            <a:endParaRPr lang="en-US" sz="3800" dirty="0"/>
          </a:p>
        </p:txBody>
      </p:sp>
      <p:sp>
        <p:nvSpPr>
          <p:cNvPr id="6" name="Text 4"/>
          <p:cNvSpPr/>
          <p:nvPr/>
        </p:nvSpPr>
        <p:spPr>
          <a:xfrm>
            <a:off x="4407408" y="3136392"/>
            <a:ext cx="6309360" cy="822960"/>
          </a:xfrm>
          <a:prstGeom prst="rect">
            <a:avLst/>
          </a:prstGeom>
          <a:noFill/>
          <a:ln/>
        </p:spPr>
        <p:txBody>
          <a:bodyPr wrap="square" lIns="0" tIns="0" rIns="0" bIns="0" rtlCol="0" anchor="ctr">
            <a:normAutofit/>
          </a:bodyPr>
          <a:lstStyle/>
          <a:p>
            <a:pPr indent="0" marL="0">
              <a:buNone/>
            </a:pPr>
            <a:r>
              <a:rPr lang="en-US" sz="1900" dirty="0">
                <a:solidFill>
                  <a:srgbClr val="9DB0C7"/>
                </a:solidFill>
                <a:latin typeface="Aptos" pitchFamily="34" charset="0"/>
                <a:ea typeface="Aptos" pitchFamily="34" charset="-122"/>
                <a:cs typeface="Aptos" pitchFamily="34" charset="-120"/>
              </a:rPr>
              <a:t>Lo stato vive in React; la funzione riceve una fotografia del render.</a:t>
            </a:r>
            <a:endParaRPr lang="en-US" sz="1900" dirty="0"/>
          </a:p>
        </p:txBody>
      </p:sp>
      <p:sp>
        <p:nvSpPr>
          <p:cNvPr id="7" name="Shape 5"/>
          <p:cNvSpPr/>
          <p:nvPr/>
        </p:nvSpPr>
        <p:spPr>
          <a:xfrm>
            <a:off x="4407408" y="4343400"/>
            <a:ext cx="5669280" cy="0"/>
          </a:xfrm>
          <a:prstGeom prst="line">
            <a:avLst/>
          </a:prstGeom>
          <a:noFill/>
          <a:ln w="19050">
            <a:solidFill>
              <a:srgbClr val="263A55"/>
            </a:solidFill>
            <a:prstDash val="solid"/>
          </a:ln>
        </p:spPr>
      </p:sp>
      <p:sp>
        <p:nvSpPr>
          <p:cNvPr id="8" name="Text 6"/>
          <p:cNvSpPr/>
          <p:nvPr/>
        </p:nvSpPr>
        <p:spPr>
          <a:xfrm>
            <a:off x="10424160" y="6172200"/>
            <a:ext cx="1097280" cy="219456"/>
          </a:xfrm>
          <a:prstGeom prst="rect">
            <a:avLst/>
          </a:prstGeom>
          <a:noFill/>
          <a:ln/>
        </p:spPr>
        <p:txBody>
          <a:bodyPr wrap="square" lIns="0" tIns="0" rIns="0" bIns="0" rtlCol="0" anchor="ctr"/>
          <a:lstStyle/>
          <a:p>
            <a:pPr algn="r" indent="0" marL="0">
              <a:buNone/>
            </a:pPr>
            <a:r>
              <a:rPr lang="en-US" sz="1000" b="1" dirty="0">
                <a:solidFill>
                  <a:srgbClr val="8296AE"/>
                </a:solidFill>
                <a:latin typeface="Aptos Mono" pitchFamily="34" charset="0"/>
                <a:ea typeface="Aptos Mono" pitchFamily="34" charset="-122"/>
                <a:cs typeface="Aptos Mono" pitchFamily="34" charset="-120"/>
              </a:rPr>
              <a:t>SLIDE 39</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40</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PRIMA E DOPO</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Una variabile locale non conserva memoria React</a:t>
            </a:r>
            <a:endParaRPr lang="en-US" sz="2700" dirty="0"/>
          </a:p>
        </p:txBody>
      </p:sp>
      <p:sp>
        <p:nvSpPr>
          <p:cNvPr id="29" name="Shape 27"/>
          <p:cNvSpPr/>
          <p:nvPr/>
        </p:nvSpPr>
        <p:spPr>
          <a:xfrm>
            <a:off x="530352" y="1581912"/>
            <a:ext cx="5440680" cy="4526280"/>
          </a:xfrm>
          <a:prstGeom prst="roundRect">
            <a:avLst>
              <a:gd name="adj" fmla="val 1010"/>
            </a:avLst>
          </a:prstGeom>
          <a:solidFill>
            <a:srgbClr val="0D1A2B"/>
          </a:solidFill>
          <a:ln w="13970">
            <a:solidFill>
              <a:srgbClr val="263A55"/>
            </a:solidFill>
            <a:prstDash val="solid"/>
          </a:ln>
        </p:spPr>
      </p:sp>
      <p:sp>
        <p:nvSpPr>
          <p:cNvPr id="30" name="Shape 28"/>
          <p:cNvSpPr/>
          <p:nvPr/>
        </p:nvSpPr>
        <p:spPr>
          <a:xfrm>
            <a:off x="530352" y="1581912"/>
            <a:ext cx="5440680" cy="347472"/>
          </a:xfrm>
          <a:prstGeom prst="rect">
            <a:avLst/>
          </a:prstGeom>
          <a:solidFill>
            <a:srgbClr val="122238"/>
          </a:solidFill>
          <a:ln w="12700">
            <a:solidFill>
              <a:srgbClr val="122238"/>
            </a:solidFill>
            <a:prstDash val="solid"/>
          </a:ln>
        </p:spPr>
      </p:sp>
      <p:sp>
        <p:nvSpPr>
          <p:cNvPr id="31" name="Shape 29"/>
          <p:cNvSpPr/>
          <p:nvPr/>
        </p:nvSpPr>
        <p:spPr>
          <a:xfrm>
            <a:off x="694944" y="1623060"/>
            <a:ext cx="658368" cy="274320"/>
          </a:xfrm>
          <a:prstGeom prst="roundRect">
            <a:avLst>
              <a:gd name="adj" fmla="val 20000"/>
            </a:avLst>
          </a:prstGeom>
          <a:solidFill>
            <a:srgbClr val="FF7A8A">
              <a:alpha val="20000"/>
            </a:srgbClr>
          </a:solidFill>
          <a:ln w="10160">
            <a:solidFill>
              <a:srgbClr val="FF7A8A">
                <a:alpha val="55000"/>
              </a:srgbClr>
            </a:solidFill>
            <a:prstDash val="solid"/>
          </a:ln>
        </p:spPr>
      </p:sp>
      <p:sp>
        <p:nvSpPr>
          <p:cNvPr id="32" name="Text 30"/>
          <p:cNvSpPr/>
          <p:nvPr/>
        </p:nvSpPr>
        <p:spPr>
          <a:xfrm>
            <a:off x="786384" y="1682496"/>
            <a:ext cx="475488" cy="128016"/>
          </a:xfrm>
          <a:prstGeom prst="rect">
            <a:avLst/>
          </a:prstGeom>
          <a:noFill/>
          <a:ln/>
        </p:spPr>
        <p:txBody>
          <a:bodyPr wrap="square" lIns="0" tIns="0" rIns="0" bIns="0" rtlCol="0" anchor="ctr"/>
          <a:lstStyle/>
          <a:p>
            <a:pPr algn="ctr" indent="0" marL="0">
              <a:buNone/>
            </a:pPr>
            <a:r>
              <a:rPr lang="en-US" sz="820" b="1" dirty="0">
                <a:solidFill>
                  <a:srgbClr val="FF7A8A"/>
                </a:solidFill>
                <a:latin typeface="Aptos Mono" pitchFamily="34" charset="0"/>
                <a:ea typeface="Aptos Mono" pitchFamily="34" charset="-122"/>
                <a:cs typeface="Aptos Mono" pitchFamily="34" charset="-120"/>
              </a:rPr>
              <a:t>TSX</a:t>
            </a:r>
            <a:endParaRPr lang="en-US" sz="820" dirty="0"/>
          </a:p>
        </p:txBody>
      </p:sp>
      <p:sp>
        <p:nvSpPr>
          <p:cNvPr id="33" name="Text 31"/>
          <p:cNvSpPr/>
          <p:nvPr/>
        </p:nvSpPr>
        <p:spPr>
          <a:xfrm>
            <a:off x="1490472" y="1677924"/>
            <a:ext cx="420624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PRIMA</a:t>
            </a:r>
            <a:endParaRPr lang="en-US" sz="880" dirty="0"/>
          </a:p>
        </p:txBody>
      </p:sp>
      <p:sp>
        <p:nvSpPr>
          <p:cNvPr id="34" name="Text 32"/>
          <p:cNvSpPr/>
          <p:nvPr/>
        </p:nvSpPr>
        <p:spPr>
          <a:xfrm>
            <a:off x="640080" y="204368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01</a:t>
            </a:r>
            <a:endParaRPr lang="en-US" sz="1060" dirty="0"/>
          </a:p>
        </p:txBody>
      </p:sp>
      <p:sp>
        <p:nvSpPr>
          <p:cNvPr id="35" name="Text 33"/>
          <p:cNvSpPr/>
          <p:nvPr/>
        </p:nvSpPr>
        <p:spPr>
          <a:xfrm>
            <a:off x="1033272" y="202996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function Counter() {</a:t>
            </a:r>
            <a:endParaRPr lang="en-US" sz="1280" dirty="0"/>
          </a:p>
        </p:txBody>
      </p:sp>
      <p:sp>
        <p:nvSpPr>
          <p:cNvPr id="36" name="Text 34"/>
          <p:cNvSpPr/>
          <p:nvPr/>
        </p:nvSpPr>
        <p:spPr>
          <a:xfrm>
            <a:off x="640080" y="228600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02</a:t>
            </a:r>
            <a:endParaRPr lang="en-US" sz="1060" dirty="0"/>
          </a:p>
        </p:txBody>
      </p:sp>
      <p:sp>
        <p:nvSpPr>
          <p:cNvPr id="37" name="Text 35"/>
          <p:cNvSpPr/>
          <p:nvPr/>
        </p:nvSpPr>
        <p:spPr>
          <a:xfrm>
            <a:off x="1033272" y="227228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let count = 0;</a:t>
            </a:r>
            <a:endParaRPr lang="en-US" sz="1280" dirty="0"/>
          </a:p>
        </p:txBody>
      </p:sp>
      <p:sp>
        <p:nvSpPr>
          <p:cNvPr id="38" name="Text 36"/>
          <p:cNvSpPr/>
          <p:nvPr/>
        </p:nvSpPr>
        <p:spPr>
          <a:xfrm>
            <a:off x="640080" y="252831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03</a:t>
            </a:r>
            <a:endParaRPr lang="en-US" sz="1060" dirty="0"/>
          </a:p>
        </p:txBody>
      </p:sp>
      <p:sp>
        <p:nvSpPr>
          <p:cNvPr id="39" name="Text 37"/>
          <p:cNvSpPr/>
          <p:nvPr/>
        </p:nvSpPr>
        <p:spPr>
          <a:xfrm>
            <a:off x="1033272" y="2514600"/>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t>
            </a:r>
            <a:endParaRPr lang="en-US" sz="1280" dirty="0"/>
          </a:p>
        </p:txBody>
      </p:sp>
      <p:sp>
        <p:nvSpPr>
          <p:cNvPr id="40" name="Text 38"/>
          <p:cNvSpPr/>
          <p:nvPr/>
        </p:nvSpPr>
        <p:spPr>
          <a:xfrm>
            <a:off x="640080" y="2770632"/>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04</a:t>
            </a:r>
            <a:endParaRPr lang="en-US" sz="1060" dirty="0"/>
          </a:p>
        </p:txBody>
      </p:sp>
      <p:sp>
        <p:nvSpPr>
          <p:cNvPr id="41" name="Text 39"/>
          <p:cNvSpPr/>
          <p:nvPr/>
        </p:nvSpPr>
        <p:spPr>
          <a:xfrm>
            <a:off x="1033272" y="2756916"/>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function increment() {</a:t>
            </a:r>
            <a:endParaRPr lang="en-US" sz="1280" dirty="0"/>
          </a:p>
        </p:txBody>
      </p:sp>
      <p:sp>
        <p:nvSpPr>
          <p:cNvPr id="42" name="Text 40"/>
          <p:cNvSpPr/>
          <p:nvPr/>
        </p:nvSpPr>
        <p:spPr>
          <a:xfrm>
            <a:off x="640080" y="3012948"/>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05</a:t>
            </a:r>
            <a:endParaRPr lang="en-US" sz="1060" dirty="0"/>
          </a:p>
        </p:txBody>
      </p:sp>
      <p:sp>
        <p:nvSpPr>
          <p:cNvPr id="43" name="Text 41"/>
          <p:cNvSpPr/>
          <p:nvPr/>
        </p:nvSpPr>
        <p:spPr>
          <a:xfrm>
            <a:off x="1033272" y="2999232"/>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count += 1; // cambia solo la variabile locale</a:t>
            </a:r>
            <a:endParaRPr lang="en-US" sz="1280" dirty="0"/>
          </a:p>
        </p:txBody>
      </p:sp>
      <p:sp>
        <p:nvSpPr>
          <p:cNvPr id="44" name="Text 42"/>
          <p:cNvSpPr/>
          <p:nvPr/>
        </p:nvSpPr>
        <p:spPr>
          <a:xfrm>
            <a:off x="640080" y="325526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06</a:t>
            </a:r>
            <a:endParaRPr lang="en-US" sz="1060" dirty="0"/>
          </a:p>
        </p:txBody>
      </p:sp>
      <p:sp>
        <p:nvSpPr>
          <p:cNvPr id="45" name="Text 43"/>
          <p:cNvSpPr/>
          <p:nvPr/>
        </p:nvSpPr>
        <p:spPr>
          <a:xfrm>
            <a:off x="1033272" y="324154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t>
            </a:r>
            <a:endParaRPr lang="en-US" sz="1280" dirty="0"/>
          </a:p>
        </p:txBody>
      </p:sp>
      <p:sp>
        <p:nvSpPr>
          <p:cNvPr id="46" name="Text 44"/>
          <p:cNvSpPr/>
          <p:nvPr/>
        </p:nvSpPr>
        <p:spPr>
          <a:xfrm>
            <a:off x="640080" y="349758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07</a:t>
            </a:r>
            <a:endParaRPr lang="en-US" sz="1060" dirty="0"/>
          </a:p>
        </p:txBody>
      </p:sp>
      <p:sp>
        <p:nvSpPr>
          <p:cNvPr id="47" name="Text 45"/>
          <p:cNvSpPr/>
          <p:nvPr/>
        </p:nvSpPr>
        <p:spPr>
          <a:xfrm>
            <a:off x="1033272" y="348386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t>
            </a:r>
            <a:endParaRPr lang="en-US" sz="1280" dirty="0"/>
          </a:p>
        </p:txBody>
      </p:sp>
      <p:sp>
        <p:nvSpPr>
          <p:cNvPr id="48" name="Text 46"/>
          <p:cNvSpPr/>
          <p:nvPr/>
        </p:nvSpPr>
        <p:spPr>
          <a:xfrm>
            <a:off x="640080" y="373989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08</a:t>
            </a:r>
            <a:endParaRPr lang="en-US" sz="1060" dirty="0"/>
          </a:p>
        </p:txBody>
      </p:sp>
      <p:sp>
        <p:nvSpPr>
          <p:cNvPr id="49" name="Text 47"/>
          <p:cNvSpPr/>
          <p:nvPr/>
        </p:nvSpPr>
        <p:spPr>
          <a:xfrm>
            <a:off x="1033272" y="3726180"/>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return (</a:t>
            </a:r>
            <a:endParaRPr lang="en-US" sz="1280" dirty="0"/>
          </a:p>
        </p:txBody>
      </p:sp>
      <p:sp>
        <p:nvSpPr>
          <p:cNvPr id="50" name="Text 48"/>
          <p:cNvSpPr/>
          <p:nvPr/>
        </p:nvSpPr>
        <p:spPr>
          <a:xfrm>
            <a:off x="640080" y="3982212"/>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09</a:t>
            </a:r>
            <a:endParaRPr lang="en-US" sz="1060" dirty="0"/>
          </a:p>
        </p:txBody>
      </p:sp>
      <p:sp>
        <p:nvSpPr>
          <p:cNvPr id="51" name="Text 49"/>
          <p:cNvSpPr/>
          <p:nvPr/>
        </p:nvSpPr>
        <p:spPr>
          <a:xfrm>
            <a:off x="1033272" y="3968496"/>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&lt;button onClick={increment}&gt;{count}&lt;/button&gt;</a:t>
            </a:r>
            <a:endParaRPr lang="en-US" sz="1280" dirty="0"/>
          </a:p>
        </p:txBody>
      </p:sp>
      <p:sp>
        <p:nvSpPr>
          <p:cNvPr id="52" name="Text 50"/>
          <p:cNvSpPr/>
          <p:nvPr/>
        </p:nvSpPr>
        <p:spPr>
          <a:xfrm>
            <a:off x="640080" y="4224528"/>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10</a:t>
            </a:r>
            <a:endParaRPr lang="en-US" sz="1060" dirty="0"/>
          </a:p>
        </p:txBody>
      </p:sp>
      <p:sp>
        <p:nvSpPr>
          <p:cNvPr id="53" name="Text 51"/>
          <p:cNvSpPr/>
          <p:nvPr/>
        </p:nvSpPr>
        <p:spPr>
          <a:xfrm>
            <a:off x="1033272" y="4210812"/>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t>
            </a:r>
            <a:endParaRPr lang="en-US" sz="1280" dirty="0"/>
          </a:p>
        </p:txBody>
      </p:sp>
      <p:sp>
        <p:nvSpPr>
          <p:cNvPr id="54" name="Text 52"/>
          <p:cNvSpPr/>
          <p:nvPr/>
        </p:nvSpPr>
        <p:spPr>
          <a:xfrm>
            <a:off x="640080" y="446684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11</a:t>
            </a:r>
            <a:endParaRPr lang="en-US" sz="1060" dirty="0"/>
          </a:p>
        </p:txBody>
      </p:sp>
      <p:sp>
        <p:nvSpPr>
          <p:cNvPr id="55" name="Text 53"/>
          <p:cNvSpPr/>
          <p:nvPr/>
        </p:nvSpPr>
        <p:spPr>
          <a:xfrm>
            <a:off x="1033272" y="445312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a:t>
            </a:r>
            <a:endParaRPr lang="en-US" sz="1280" dirty="0"/>
          </a:p>
        </p:txBody>
      </p:sp>
      <p:sp>
        <p:nvSpPr>
          <p:cNvPr id="56" name="Shape 54"/>
          <p:cNvSpPr/>
          <p:nvPr/>
        </p:nvSpPr>
        <p:spPr>
          <a:xfrm>
            <a:off x="6217920" y="1581912"/>
            <a:ext cx="5440680" cy="4526280"/>
          </a:xfrm>
          <a:prstGeom prst="roundRect">
            <a:avLst>
              <a:gd name="adj" fmla="val 1010"/>
            </a:avLst>
          </a:prstGeom>
          <a:solidFill>
            <a:srgbClr val="0D1A2B"/>
          </a:solidFill>
          <a:ln w="13970">
            <a:solidFill>
              <a:srgbClr val="263A55"/>
            </a:solidFill>
            <a:prstDash val="solid"/>
          </a:ln>
        </p:spPr>
      </p:sp>
      <p:sp>
        <p:nvSpPr>
          <p:cNvPr id="57" name="Shape 55"/>
          <p:cNvSpPr/>
          <p:nvPr/>
        </p:nvSpPr>
        <p:spPr>
          <a:xfrm>
            <a:off x="6217920" y="1581912"/>
            <a:ext cx="5440680" cy="347472"/>
          </a:xfrm>
          <a:prstGeom prst="rect">
            <a:avLst/>
          </a:prstGeom>
          <a:solidFill>
            <a:srgbClr val="122238"/>
          </a:solidFill>
          <a:ln w="12700">
            <a:solidFill>
              <a:srgbClr val="122238"/>
            </a:solidFill>
            <a:prstDash val="solid"/>
          </a:ln>
        </p:spPr>
      </p:sp>
      <p:sp>
        <p:nvSpPr>
          <p:cNvPr id="58" name="Shape 56"/>
          <p:cNvSpPr/>
          <p:nvPr/>
        </p:nvSpPr>
        <p:spPr>
          <a:xfrm>
            <a:off x="6382512" y="1623060"/>
            <a:ext cx="658368" cy="274320"/>
          </a:xfrm>
          <a:prstGeom prst="roundRect">
            <a:avLst>
              <a:gd name="adj" fmla="val 20000"/>
            </a:avLst>
          </a:prstGeom>
          <a:solidFill>
            <a:srgbClr val="6FE3B1">
              <a:alpha val="20000"/>
            </a:srgbClr>
          </a:solidFill>
          <a:ln w="10160">
            <a:solidFill>
              <a:srgbClr val="6FE3B1">
                <a:alpha val="55000"/>
              </a:srgbClr>
            </a:solidFill>
            <a:prstDash val="solid"/>
          </a:ln>
        </p:spPr>
      </p:sp>
      <p:sp>
        <p:nvSpPr>
          <p:cNvPr id="59" name="Text 57"/>
          <p:cNvSpPr/>
          <p:nvPr/>
        </p:nvSpPr>
        <p:spPr>
          <a:xfrm>
            <a:off x="6473952" y="1682496"/>
            <a:ext cx="475488" cy="128016"/>
          </a:xfrm>
          <a:prstGeom prst="rect">
            <a:avLst/>
          </a:prstGeom>
          <a:noFill/>
          <a:ln/>
        </p:spPr>
        <p:txBody>
          <a:bodyPr wrap="square" lIns="0" tIns="0" rIns="0" bIns="0" rtlCol="0" anchor="ctr"/>
          <a:lstStyle/>
          <a:p>
            <a:pPr algn="ctr" indent="0" marL="0">
              <a:buNone/>
            </a:pPr>
            <a:r>
              <a:rPr lang="en-US" sz="820" b="1" dirty="0">
                <a:solidFill>
                  <a:srgbClr val="6FE3B1"/>
                </a:solidFill>
                <a:latin typeface="Aptos Mono" pitchFamily="34" charset="0"/>
                <a:ea typeface="Aptos Mono" pitchFamily="34" charset="-122"/>
                <a:cs typeface="Aptos Mono" pitchFamily="34" charset="-120"/>
              </a:rPr>
              <a:t>TSX</a:t>
            </a:r>
            <a:endParaRPr lang="en-US" sz="820" dirty="0"/>
          </a:p>
        </p:txBody>
      </p:sp>
      <p:sp>
        <p:nvSpPr>
          <p:cNvPr id="60" name="Text 58"/>
          <p:cNvSpPr/>
          <p:nvPr/>
        </p:nvSpPr>
        <p:spPr>
          <a:xfrm>
            <a:off x="7178040" y="1677924"/>
            <a:ext cx="420624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DOPO</a:t>
            </a:r>
            <a:endParaRPr lang="en-US" sz="880" dirty="0"/>
          </a:p>
        </p:txBody>
      </p:sp>
      <p:sp>
        <p:nvSpPr>
          <p:cNvPr id="61" name="Text 59"/>
          <p:cNvSpPr/>
          <p:nvPr/>
        </p:nvSpPr>
        <p:spPr>
          <a:xfrm>
            <a:off x="6327648" y="204368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01</a:t>
            </a:r>
            <a:endParaRPr lang="en-US" sz="1060" dirty="0"/>
          </a:p>
        </p:txBody>
      </p:sp>
      <p:sp>
        <p:nvSpPr>
          <p:cNvPr id="62" name="Text 60"/>
          <p:cNvSpPr/>
          <p:nvPr/>
        </p:nvSpPr>
        <p:spPr>
          <a:xfrm>
            <a:off x="6720840" y="202996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function Counter() {</a:t>
            </a:r>
            <a:endParaRPr lang="en-US" sz="1280" dirty="0"/>
          </a:p>
        </p:txBody>
      </p:sp>
      <p:sp>
        <p:nvSpPr>
          <p:cNvPr id="63" name="Text 61"/>
          <p:cNvSpPr/>
          <p:nvPr/>
        </p:nvSpPr>
        <p:spPr>
          <a:xfrm>
            <a:off x="6327648" y="228600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02</a:t>
            </a:r>
            <a:endParaRPr lang="en-US" sz="1060" dirty="0"/>
          </a:p>
        </p:txBody>
      </p:sp>
      <p:sp>
        <p:nvSpPr>
          <p:cNvPr id="64" name="Text 62"/>
          <p:cNvSpPr/>
          <p:nvPr/>
        </p:nvSpPr>
        <p:spPr>
          <a:xfrm>
            <a:off x="6720840" y="227228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const [count, setCount] = useState(0);</a:t>
            </a:r>
            <a:endParaRPr lang="en-US" sz="1280" dirty="0"/>
          </a:p>
        </p:txBody>
      </p:sp>
      <p:sp>
        <p:nvSpPr>
          <p:cNvPr id="65" name="Text 63"/>
          <p:cNvSpPr/>
          <p:nvPr/>
        </p:nvSpPr>
        <p:spPr>
          <a:xfrm>
            <a:off x="6327648" y="252831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03</a:t>
            </a:r>
            <a:endParaRPr lang="en-US" sz="1060" dirty="0"/>
          </a:p>
        </p:txBody>
      </p:sp>
      <p:sp>
        <p:nvSpPr>
          <p:cNvPr id="66" name="Text 64"/>
          <p:cNvSpPr/>
          <p:nvPr/>
        </p:nvSpPr>
        <p:spPr>
          <a:xfrm>
            <a:off x="6720840" y="2514600"/>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t>
            </a:r>
            <a:endParaRPr lang="en-US" sz="1280" dirty="0"/>
          </a:p>
        </p:txBody>
      </p:sp>
      <p:sp>
        <p:nvSpPr>
          <p:cNvPr id="67" name="Text 65"/>
          <p:cNvSpPr/>
          <p:nvPr/>
        </p:nvSpPr>
        <p:spPr>
          <a:xfrm>
            <a:off x="6327648" y="2770632"/>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04</a:t>
            </a:r>
            <a:endParaRPr lang="en-US" sz="1060" dirty="0"/>
          </a:p>
        </p:txBody>
      </p:sp>
      <p:sp>
        <p:nvSpPr>
          <p:cNvPr id="68" name="Text 66"/>
          <p:cNvSpPr/>
          <p:nvPr/>
        </p:nvSpPr>
        <p:spPr>
          <a:xfrm>
            <a:off x="6720840" y="2756916"/>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function increment() {</a:t>
            </a:r>
            <a:endParaRPr lang="en-US" sz="1280" dirty="0"/>
          </a:p>
        </p:txBody>
      </p:sp>
      <p:sp>
        <p:nvSpPr>
          <p:cNvPr id="69" name="Text 67"/>
          <p:cNvSpPr/>
          <p:nvPr/>
        </p:nvSpPr>
        <p:spPr>
          <a:xfrm>
            <a:off x="6327648" y="3012948"/>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05</a:t>
            </a:r>
            <a:endParaRPr lang="en-US" sz="1060" dirty="0"/>
          </a:p>
        </p:txBody>
      </p:sp>
      <p:sp>
        <p:nvSpPr>
          <p:cNvPr id="70" name="Text 68"/>
          <p:cNvSpPr/>
          <p:nvPr/>
        </p:nvSpPr>
        <p:spPr>
          <a:xfrm>
            <a:off x="6720840" y="2999232"/>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setCount(previous =&gt; previous + 1);</a:t>
            </a:r>
            <a:endParaRPr lang="en-US" sz="1280" dirty="0"/>
          </a:p>
        </p:txBody>
      </p:sp>
      <p:sp>
        <p:nvSpPr>
          <p:cNvPr id="71" name="Text 69"/>
          <p:cNvSpPr/>
          <p:nvPr/>
        </p:nvSpPr>
        <p:spPr>
          <a:xfrm>
            <a:off x="6327648" y="325526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06</a:t>
            </a:r>
            <a:endParaRPr lang="en-US" sz="1060" dirty="0"/>
          </a:p>
        </p:txBody>
      </p:sp>
      <p:sp>
        <p:nvSpPr>
          <p:cNvPr id="72" name="Text 70"/>
          <p:cNvSpPr/>
          <p:nvPr/>
        </p:nvSpPr>
        <p:spPr>
          <a:xfrm>
            <a:off x="6720840" y="324154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t>
            </a:r>
            <a:endParaRPr lang="en-US" sz="1280" dirty="0"/>
          </a:p>
        </p:txBody>
      </p:sp>
      <p:sp>
        <p:nvSpPr>
          <p:cNvPr id="73" name="Text 71"/>
          <p:cNvSpPr/>
          <p:nvPr/>
        </p:nvSpPr>
        <p:spPr>
          <a:xfrm>
            <a:off x="6327648" y="349758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07</a:t>
            </a:r>
            <a:endParaRPr lang="en-US" sz="1060" dirty="0"/>
          </a:p>
        </p:txBody>
      </p:sp>
      <p:sp>
        <p:nvSpPr>
          <p:cNvPr id="74" name="Text 72"/>
          <p:cNvSpPr/>
          <p:nvPr/>
        </p:nvSpPr>
        <p:spPr>
          <a:xfrm>
            <a:off x="6720840" y="348386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t>
            </a:r>
            <a:endParaRPr lang="en-US" sz="1280" dirty="0"/>
          </a:p>
        </p:txBody>
      </p:sp>
      <p:sp>
        <p:nvSpPr>
          <p:cNvPr id="75" name="Text 73"/>
          <p:cNvSpPr/>
          <p:nvPr/>
        </p:nvSpPr>
        <p:spPr>
          <a:xfrm>
            <a:off x="6327648" y="373989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08</a:t>
            </a:r>
            <a:endParaRPr lang="en-US" sz="1060" dirty="0"/>
          </a:p>
        </p:txBody>
      </p:sp>
      <p:sp>
        <p:nvSpPr>
          <p:cNvPr id="76" name="Text 74"/>
          <p:cNvSpPr/>
          <p:nvPr/>
        </p:nvSpPr>
        <p:spPr>
          <a:xfrm>
            <a:off x="6720840" y="3726180"/>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return (</a:t>
            </a:r>
            <a:endParaRPr lang="en-US" sz="1280" dirty="0"/>
          </a:p>
        </p:txBody>
      </p:sp>
      <p:sp>
        <p:nvSpPr>
          <p:cNvPr id="77" name="Text 75"/>
          <p:cNvSpPr/>
          <p:nvPr/>
        </p:nvSpPr>
        <p:spPr>
          <a:xfrm>
            <a:off x="6327648" y="3982212"/>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09</a:t>
            </a:r>
            <a:endParaRPr lang="en-US" sz="1060" dirty="0"/>
          </a:p>
        </p:txBody>
      </p:sp>
      <p:sp>
        <p:nvSpPr>
          <p:cNvPr id="78" name="Text 76"/>
          <p:cNvSpPr/>
          <p:nvPr/>
        </p:nvSpPr>
        <p:spPr>
          <a:xfrm>
            <a:off x="6720840" y="3968496"/>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&lt;button onClick={increment}&gt;{count}&lt;/button&gt;</a:t>
            </a:r>
            <a:endParaRPr lang="en-US" sz="1280" dirty="0"/>
          </a:p>
        </p:txBody>
      </p:sp>
      <p:sp>
        <p:nvSpPr>
          <p:cNvPr id="79" name="Text 77"/>
          <p:cNvSpPr/>
          <p:nvPr/>
        </p:nvSpPr>
        <p:spPr>
          <a:xfrm>
            <a:off x="6327648" y="4224528"/>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10</a:t>
            </a:r>
            <a:endParaRPr lang="en-US" sz="1060" dirty="0"/>
          </a:p>
        </p:txBody>
      </p:sp>
      <p:sp>
        <p:nvSpPr>
          <p:cNvPr id="80" name="Text 78"/>
          <p:cNvSpPr/>
          <p:nvPr/>
        </p:nvSpPr>
        <p:spPr>
          <a:xfrm>
            <a:off x="6720840" y="4210812"/>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t>
            </a:r>
            <a:endParaRPr lang="en-US" sz="1280" dirty="0"/>
          </a:p>
        </p:txBody>
      </p:sp>
      <p:sp>
        <p:nvSpPr>
          <p:cNvPr id="81" name="Text 79"/>
          <p:cNvSpPr/>
          <p:nvPr/>
        </p:nvSpPr>
        <p:spPr>
          <a:xfrm>
            <a:off x="6327648" y="446684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11</a:t>
            </a:r>
            <a:endParaRPr lang="en-US" sz="1060" dirty="0"/>
          </a:p>
        </p:txBody>
      </p:sp>
      <p:sp>
        <p:nvSpPr>
          <p:cNvPr id="82" name="Text 80"/>
          <p:cNvSpPr/>
          <p:nvPr/>
        </p:nvSpPr>
        <p:spPr>
          <a:xfrm>
            <a:off x="6720840" y="445312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a:t>
            </a:r>
            <a:endParaRPr lang="en-US" sz="1280" dirty="0"/>
          </a:p>
        </p:txBody>
      </p:sp>
      <p:sp>
        <p:nvSpPr>
          <p:cNvPr id="83" name="Shape 81"/>
          <p:cNvSpPr/>
          <p:nvPr/>
        </p:nvSpPr>
        <p:spPr>
          <a:xfrm>
            <a:off x="5870448" y="3310128"/>
            <a:ext cx="274320" cy="475488"/>
          </a:xfrm>
          <a:prstGeom prst="chevron">
            <a:avLst/>
          </a:prstGeom>
          <a:solidFill>
            <a:srgbClr val="4C7DFF"/>
          </a:solidFill>
          <a:ln w="12700">
            <a:solidFill>
              <a:srgbClr val="4C7DFF"/>
            </a:solidFill>
            <a:prstDash val="solid"/>
          </a:ln>
        </p:spPr>
      </p:sp>
      <p:sp>
        <p:nvSpPr>
          <p:cNvPr id="84" name="Text 82"/>
          <p:cNvSpPr/>
          <p:nvPr/>
        </p:nvSpPr>
        <p:spPr>
          <a:xfrm>
            <a:off x="1828800" y="6217920"/>
            <a:ext cx="8503920" cy="210312"/>
          </a:xfrm>
          <a:prstGeom prst="rect">
            <a:avLst/>
          </a:prstGeom>
          <a:noFill/>
          <a:ln/>
        </p:spPr>
        <p:txBody>
          <a:bodyPr wrap="square" lIns="0" tIns="0" rIns="0" bIns="0" rtlCol="0" anchor="ctr"/>
          <a:lstStyle/>
          <a:p>
            <a:pPr algn="ctr" indent="0" marL="0">
              <a:buNone/>
            </a:pPr>
            <a:r>
              <a:rPr lang="en-US" sz="1050" b="1" dirty="0">
                <a:solidFill>
                  <a:srgbClr val="F5C96A"/>
                </a:solidFill>
                <a:latin typeface="Aptos" pitchFamily="34" charset="0"/>
                <a:ea typeface="Aptos" pitchFamily="34" charset="-122"/>
                <a:cs typeface="Aptos" pitchFamily="34" charset="-120"/>
              </a:rPr>
              <a:t>useState conserva il valore e richiede un nuovo render.</a:t>
            </a:r>
            <a:endParaRPr lang="en-US" sz="10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41</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STATE SNAPSHOT</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Ogni render vede uno snapshot immutabile</a:t>
            </a:r>
            <a:endParaRPr lang="en-US" sz="2700" dirty="0"/>
          </a:p>
        </p:txBody>
      </p:sp>
      <p:sp>
        <p:nvSpPr>
          <p:cNvPr id="29" name="Shape 27"/>
          <p:cNvSpPr/>
          <p:nvPr/>
        </p:nvSpPr>
        <p:spPr>
          <a:xfrm>
            <a:off x="530352" y="1591056"/>
            <a:ext cx="7589520" cy="4553712"/>
          </a:xfrm>
          <a:prstGeom prst="roundRect">
            <a:avLst>
              <a:gd name="adj" fmla="val 1004"/>
            </a:avLst>
          </a:prstGeom>
          <a:solidFill>
            <a:srgbClr val="0D1A2B"/>
          </a:solidFill>
          <a:ln w="13970">
            <a:solidFill>
              <a:srgbClr val="263A55"/>
            </a:solidFill>
            <a:prstDash val="solid"/>
          </a:ln>
        </p:spPr>
      </p:sp>
      <p:sp>
        <p:nvSpPr>
          <p:cNvPr id="30" name="Shape 28"/>
          <p:cNvSpPr/>
          <p:nvPr/>
        </p:nvSpPr>
        <p:spPr>
          <a:xfrm>
            <a:off x="530352" y="1591056"/>
            <a:ext cx="7589520" cy="347472"/>
          </a:xfrm>
          <a:prstGeom prst="rect">
            <a:avLst/>
          </a:prstGeom>
          <a:solidFill>
            <a:srgbClr val="122238"/>
          </a:solidFill>
          <a:ln w="12700">
            <a:solidFill>
              <a:srgbClr val="122238"/>
            </a:solidFill>
            <a:prstDash val="solid"/>
          </a:ln>
        </p:spPr>
      </p:sp>
      <p:sp>
        <p:nvSpPr>
          <p:cNvPr id="31" name="Shape 29"/>
          <p:cNvSpPr/>
          <p:nvPr/>
        </p:nvSpPr>
        <p:spPr>
          <a:xfrm>
            <a:off x="694944" y="1632204"/>
            <a:ext cx="658368" cy="274320"/>
          </a:xfrm>
          <a:prstGeom prst="roundRect">
            <a:avLst>
              <a:gd name="adj" fmla="val 20000"/>
            </a:avLst>
          </a:prstGeom>
          <a:solidFill>
            <a:srgbClr val="7CD4FF">
              <a:alpha val="20000"/>
            </a:srgbClr>
          </a:solidFill>
          <a:ln w="10160">
            <a:solidFill>
              <a:srgbClr val="7CD4FF">
                <a:alpha val="55000"/>
              </a:srgbClr>
            </a:solidFill>
            <a:prstDash val="solid"/>
          </a:ln>
        </p:spPr>
      </p:sp>
      <p:sp>
        <p:nvSpPr>
          <p:cNvPr id="32" name="Text 30"/>
          <p:cNvSpPr/>
          <p:nvPr/>
        </p:nvSpPr>
        <p:spPr>
          <a:xfrm>
            <a:off x="786384" y="1691640"/>
            <a:ext cx="475488" cy="128016"/>
          </a:xfrm>
          <a:prstGeom prst="rect">
            <a:avLst/>
          </a:prstGeom>
          <a:noFill/>
          <a:ln/>
        </p:spPr>
        <p:txBody>
          <a:bodyPr wrap="square" lIns="0" tIns="0" rIns="0" bIns="0" rtlCol="0" anchor="ctr"/>
          <a:lstStyle/>
          <a:p>
            <a:pPr algn="ctr" indent="0" marL="0">
              <a:buNone/>
            </a:pPr>
            <a:r>
              <a:rPr lang="en-US" sz="820" b="1" dirty="0">
                <a:solidFill>
                  <a:srgbClr val="7CD4FF"/>
                </a:solidFill>
                <a:latin typeface="Aptos Mono" pitchFamily="34" charset="0"/>
                <a:ea typeface="Aptos Mono" pitchFamily="34" charset="-122"/>
                <a:cs typeface="Aptos Mono" pitchFamily="34" charset="-120"/>
              </a:rPr>
              <a:t>TSX</a:t>
            </a:r>
            <a:endParaRPr lang="en-US" sz="820" dirty="0"/>
          </a:p>
        </p:txBody>
      </p:sp>
      <p:sp>
        <p:nvSpPr>
          <p:cNvPr id="33" name="Text 31"/>
          <p:cNvSpPr/>
          <p:nvPr/>
        </p:nvSpPr>
        <p:spPr>
          <a:xfrm>
            <a:off x="1490472" y="1687068"/>
            <a:ext cx="635508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Counter.tsx</a:t>
            </a:r>
            <a:endParaRPr lang="en-US" sz="880" dirty="0"/>
          </a:p>
        </p:txBody>
      </p:sp>
      <p:sp>
        <p:nvSpPr>
          <p:cNvPr id="34" name="Text 32"/>
          <p:cNvSpPr/>
          <p:nvPr/>
        </p:nvSpPr>
        <p:spPr>
          <a:xfrm>
            <a:off x="640080" y="205282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01</a:t>
            </a:r>
            <a:endParaRPr lang="en-US" sz="1200" dirty="0"/>
          </a:p>
        </p:txBody>
      </p:sp>
      <p:sp>
        <p:nvSpPr>
          <p:cNvPr id="35" name="Text 33"/>
          <p:cNvSpPr/>
          <p:nvPr/>
        </p:nvSpPr>
        <p:spPr>
          <a:xfrm>
            <a:off x="1033272" y="203911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function Counter() {</a:t>
            </a:r>
            <a:endParaRPr lang="en-US" sz="1420" dirty="0"/>
          </a:p>
        </p:txBody>
      </p:sp>
      <p:sp>
        <p:nvSpPr>
          <p:cNvPr id="36" name="Text 34"/>
          <p:cNvSpPr/>
          <p:nvPr/>
        </p:nvSpPr>
        <p:spPr>
          <a:xfrm>
            <a:off x="640080" y="229514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02</a:t>
            </a:r>
            <a:endParaRPr lang="en-US" sz="1200" dirty="0"/>
          </a:p>
        </p:txBody>
      </p:sp>
      <p:sp>
        <p:nvSpPr>
          <p:cNvPr id="37" name="Text 35"/>
          <p:cNvSpPr/>
          <p:nvPr/>
        </p:nvSpPr>
        <p:spPr>
          <a:xfrm>
            <a:off x="1033272" y="228142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const [count, setCount] = useState(0);</a:t>
            </a:r>
            <a:endParaRPr lang="en-US" sz="1420" dirty="0"/>
          </a:p>
        </p:txBody>
      </p:sp>
      <p:sp>
        <p:nvSpPr>
          <p:cNvPr id="38" name="Text 36"/>
          <p:cNvSpPr/>
          <p:nvPr/>
        </p:nvSpPr>
        <p:spPr>
          <a:xfrm>
            <a:off x="640080" y="253746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03</a:t>
            </a:r>
            <a:endParaRPr lang="en-US" sz="1200" dirty="0"/>
          </a:p>
        </p:txBody>
      </p:sp>
      <p:sp>
        <p:nvSpPr>
          <p:cNvPr id="39" name="Text 37"/>
          <p:cNvSpPr/>
          <p:nvPr/>
        </p:nvSpPr>
        <p:spPr>
          <a:xfrm>
            <a:off x="1033272" y="2523744"/>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40" name="Text 38"/>
          <p:cNvSpPr/>
          <p:nvPr/>
        </p:nvSpPr>
        <p:spPr>
          <a:xfrm>
            <a:off x="640080" y="277977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04</a:t>
            </a:r>
            <a:endParaRPr lang="en-US" sz="1200" dirty="0"/>
          </a:p>
        </p:txBody>
      </p:sp>
      <p:sp>
        <p:nvSpPr>
          <p:cNvPr id="41" name="Text 39"/>
          <p:cNvSpPr/>
          <p:nvPr/>
        </p:nvSpPr>
        <p:spPr>
          <a:xfrm>
            <a:off x="1033272" y="2766060"/>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function handleClick() {</a:t>
            </a:r>
            <a:endParaRPr lang="en-US" sz="1420" dirty="0"/>
          </a:p>
        </p:txBody>
      </p:sp>
      <p:sp>
        <p:nvSpPr>
          <p:cNvPr id="42" name="Text 40"/>
          <p:cNvSpPr/>
          <p:nvPr/>
        </p:nvSpPr>
        <p:spPr>
          <a:xfrm>
            <a:off x="640080" y="3022092"/>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05</a:t>
            </a:r>
            <a:endParaRPr lang="en-US" sz="1200" dirty="0"/>
          </a:p>
        </p:txBody>
      </p:sp>
      <p:sp>
        <p:nvSpPr>
          <p:cNvPr id="43" name="Text 41"/>
          <p:cNvSpPr/>
          <p:nvPr/>
        </p:nvSpPr>
        <p:spPr>
          <a:xfrm>
            <a:off x="1033272" y="3008376"/>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setCount(count + 1);</a:t>
            </a:r>
            <a:endParaRPr lang="en-US" sz="1420" dirty="0"/>
          </a:p>
        </p:txBody>
      </p:sp>
      <p:sp>
        <p:nvSpPr>
          <p:cNvPr id="44" name="Text 42"/>
          <p:cNvSpPr/>
          <p:nvPr/>
        </p:nvSpPr>
        <p:spPr>
          <a:xfrm>
            <a:off x="640080" y="326440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06</a:t>
            </a:r>
            <a:endParaRPr lang="en-US" sz="1200" dirty="0"/>
          </a:p>
        </p:txBody>
      </p:sp>
      <p:sp>
        <p:nvSpPr>
          <p:cNvPr id="45" name="Text 43"/>
          <p:cNvSpPr/>
          <p:nvPr/>
        </p:nvSpPr>
        <p:spPr>
          <a:xfrm>
            <a:off x="1033272" y="325069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46" name="Text 44"/>
          <p:cNvSpPr/>
          <p:nvPr/>
        </p:nvSpPr>
        <p:spPr>
          <a:xfrm>
            <a:off x="640080" y="350672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07</a:t>
            </a:r>
            <a:endParaRPr lang="en-US" sz="1200" dirty="0"/>
          </a:p>
        </p:txBody>
      </p:sp>
      <p:sp>
        <p:nvSpPr>
          <p:cNvPr id="47" name="Text 45"/>
          <p:cNvSpPr/>
          <p:nvPr/>
        </p:nvSpPr>
        <p:spPr>
          <a:xfrm>
            <a:off x="1033272" y="3493008"/>
            <a:ext cx="6931152" cy="242316"/>
          </a:xfrm>
          <a:prstGeom prst="rect">
            <a:avLst/>
          </a:prstGeom>
          <a:noFill/>
          <a:ln/>
        </p:spPr>
        <p:txBody>
          <a:bodyPr wrap="square" lIns="0" tIns="0" rIns="0" bIns="0" rtlCol="0" anchor="ctr">
            <a:normAutofit/>
          </a:bodyPr>
          <a:lstStyle/>
          <a:p>
            <a:pPr indent="0" marL="0">
              <a:buNone/>
            </a:pPr>
            <a:r>
              <a:rPr lang="en-US" sz="1420" dirty="0">
                <a:solidFill>
                  <a:srgbClr val="78C9A6"/>
                </a:solidFill>
                <a:latin typeface="Aptos Mono" pitchFamily="34" charset="0"/>
                <a:ea typeface="Aptos Mono" pitchFamily="34" charset="-122"/>
                <a:cs typeface="Aptos Mono" pitchFamily="34" charset="-120"/>
              </a:rPr>
              <a:t>    // Mostra ancora il valore del render corrente.</a:t>
            </a:r>
            <a:endParaRPr lang="en-US" sz="1420" dirty="0"/>
          </a:p>
        </p:txBody>
      </p:sp>
      <p:sp>
        <p:nvSpPr>
          <p:cNvPr id="48" name="Text 46"/>
          <p:cNvSpPr/>
          <p:nvPr/>
        </p:nvSpPr>
        <p:spPr>
          <a:xfrm>
            <a:off x="640080" y="374904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08</a:t>
            </a:r>
            <a:endParaRPr lang="en-US" sz="1200" dirty="0"/>
          </a:p>
        </p:txBody>
      </p:sp>
      <p:sp>
        <p:nvSpPr>
          <p:cNvPr id="49" name="Text 47"/>
          <p:cNvSpPr/>
          <p:nvPr/>
        </p:nvSpPr>
        <p:spPr>
          <a:xfrm>
            <a:off x="1033272" y="3735324"/>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console.log(count);</a:t>
            </a:r>
            <a:endParaRPr lang="en-US" sz="1420" dirty="0"/>
          </a:p>
        </p:txBody>
      </p:sp>
      <p:sp>
        <p:nvSpPr>
          <p:cNvPr id="50" name="Text 48"/>
          <p:cNvSpPr/>
          <p:nvPr/>
        </p:nvSpPr>
        <p:spPr>
          <a:xfrm>
            <a:off x="640080" y="399135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09</a:t>
            </a:r>
            <a:endParaRPr lang="en-US" sz="1200" dirty="0"/>
          </a:p>
        </p:txBody>
      </p:sp>
      <p:sp>
        <p:nvSpPr>
          <p:cNvPr id="51" name="Text 49"/>
          <p:cNvSpPr/>
          <p:nvPr/>
        </p:nvSpPr>
        <p:spPr>
          <a:xfrm>
            <a:off x="1033272" y="3977640"/>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52" name="Text 50"/>
          <p:cNvSpPr/>
          <p:nvPr/>
        </p:nvSpPr>
        <p:spPr>
          <a:xfrm>
            <a:off x="640080" y="4233672"/>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10</a:t>
            </a:r>
            <a:endParaRPr lang="en-US" sz="1200" dirty="0"/>
          </a:p>
        </p:txBody>
      </p:sp>
      <p:sp>
        <p:nvSpPr>
          <p:cNvPr id="53" name="Text 51"/>
          <p:cNvSpPr/>
          <p:nvPr/>
        </p:nvSpPr>
        <p:spPr>
          <a:xfrm>
            <a:off x="1033272" y="4219956"/>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54" name="Text 52"/>
          <p:cNvSpPr/>
          <p:nvPr/>
        </p:nvSpPr>
        <p:spPr>
          <a:xfrm>
            <a:off x="640080" y="447598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11</a:t>
            </a:r>
            <a:endParaRPr lang="en-US" sz="1200" dirty="0"/>
          </a:p>
        </p:txBody>
      </p:sp>
      <p:sp>
        <p:nvSpPr>
          <p:cNvPr id="55" name="Text 53"/>
          <p:cNvSpPr/>
          <p:nvPr/>
        </p:nvSpPr>
        <p:spPr>
          <a:xfrm>
            <a:off x="1033272" y="446227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return &lt;button onClick={handleClick}&gt;{count}&lt;/button&gt;;</a:t>
            </a:r>
            <a:endParaRPr lang="en-US" sz="1420" dirty="0"/>
          </a:p>
        </p:txBody>
      </p:sp>
      <p:sp>
        <p:nvSpPr>
          <p:cNvPr id="56" name="Text 54"/>
          <p:cNvSpPr/>
          <p:nvPr/>
        </p:nvSpPr>
        <p:spPr>
          <a:xfrm>
            <a:off x="640080" y="471830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12</a:t>
            </a:r>
            <a:endParaRPr lang="en-US" sz="1200" dirty="0"/>
          </a:p>
        </p:txBody>
      </p:sp>
      <p:sp>
        <p:nvSpPr>
          <p:cNvPr id="57" name="Text 55"/>
          <p:cNvSpPr/>
          <p:nvPr/>
        </p:nvSpPr>
        <p:spPr>
          <a:xfrm>
            <a:off x="1033272" y="470458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a:t>
            </a:r>
            <a:endParaRPr lang="en-US" sz="1420" dirty="0"/>
          </a:p>
        </p:txBody>
      </p:sp>
      <p:sp>
        <p:nvSpPr>
          <p:cNvPr id="58" name="Text 56"/>
          <p:cNvSpPr/>
          <p:nvPr/>
        </p:nvSpPr>
        <p:spPr>
          <a:xfrm>
            <a:off x="640080" y="496062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13</a:t>
            </a:r>
            <a:endParaRPr lang="en-US" sz="1200" dirty="0"/>
          </a:p>
        </p:txBody>
      </p:sp>
      <p:sp>
        <p:nvSpPr>
          <p:cNvPr id="59" name="Text 57"/>
          <p:cNvSpPr/>
          <p:nvPr/>
        </p:nvSpPr>
        <p:spPr>
          <a:xfrm>
            <a:off x="1033272" y="4946904"/>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60" name="Text 58"/>
          <p:cNvSpPr/>
          <p:nvPr/>
        </p:nvSpPr>
        <p:spPr>
          <a:xfrm>
            <a:off x="640080" y="520293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14</a:t>
            </a:r>
            <a:endParaRPr lang="en-US" sz="1200" dirty="0"/>
          </a:p>
        </p:txBody>
      </p:sp>
      <p:sp>
        <p:nvSpPr>
          <p:cNvPr id="61" name="Text 59"/>
          <p:cNvSpPr/>
          <p:nvPr/>
        </p:nvSpPr>
        <p:spPr>
          <a:xfrm>
            <a:off x="1033272" y="5189220"/>
            <a:ext cx="6931152" cy="242316"/>
          </a:xfrm>
          <a:prstGeom prst="rect">
            <a:avLst/>
          </a:prstGeom>
          <a:noFill/>
          <a:ln/>
        </p:spPr>
        <p:txBody>
          <a:bodyPr wrap="square" lIns="0" tIns="0" rIns="0" bIns="0" rtlCol="0" anchor="ctr">
            <a:normAutofit/>
          </a:bodyPr>
          <a:lstStyle/>
          <a:p>
            <a:pPr indent="0" marL="0">
              <a:buNone/>
            </a:pPr>
            <a:r>
              <a:rPr lang="en-US" sz="1420" dirty="0">
                <a:solidFill>
                  <a:srgbClr val="78C9A6"/>
                </a:solidFill>
                <a:latin typeface="Aptos Mono" pitchFamily="34" charset="0"/>
                <a:ea typeface="Aptos Mono" pitchFamily="34" charset="-122"/>
                <a:cs typeface="Aptos Mono" pitchFamily="34" charset="-120"/>
              </a:rPr>
              <a:t>// Il nuovo valore arriverà nel render successivo.</a:t>
            </a:r>
            <a:endParaRPr lang="en-US" sz="1420" dirty="0"/>
          </a:p>
        </p:txBody>
      </p:sp>
      <p:sp>
        <p:nvSpPr>
          <p:cNvPr id="62" name="Shape 60"/>
          <p:cNvSpPr/>
          <p:nvPr/>
        </p:nvSpPr>
        <p:spPr>
          <a:xfrm>
            <a:off x="8366760" y="1591056"/>
            <a:ext cx="3310128" cy="4553712"/>
          </a:xfrm>
          <a:prstGeom prst="roundRect">
            <a:avLst>
              <a:gd name="adj" fmla="val 1381"/>
            </a:avLst>
          </a:prstGeom>
          <a:solidFill>
            <a:srgbClr val="122238"/>
          </a:solidFill>
          <a:ln w="12700">
            <a:solidFill>
              <a:srgbClr val="263A55"/>
            </a:solidFill>
            <a:prstDash val="solid"/>
          </a:ln>
        </p:spPr>
      </p:sp>
      <p:sp>
        <p:nvSpPr>
          <p:cNvPr id="63" name="Text 61"/>
          <p:cNvSpPr/>
          <p:nvPr/>
        </p:nvSpPr>
        <p:spPr>
          <a:xfrm>
            <a:off x="8586216" y="1801368"/>
            <a:ext cx="2871216" cy="182880"/>
          </a:xfrm>
          <a:prstGeom prst="rect">
            <a:avLst/>
          </a:prstGeom>
          <a:noFill/>
          <a:ln/>
        </p:spPr>
        <p:txBody>
          <a:bodyPr wrap="square" lIns="0" tIns="0" rIns="0" bIns="0" rtlCol="0" anchor="ctr"/>
          <a:lstStyle/>
          <a:p>
            <a:pPr indent="0" marL="0">
              <a:buNone/>
            </a:pPr>
            <a:r>
              <a:rPr lang="en-US" sz="950" b="1" spc="115" kern="0" dirty="0">
                <a:solidFill>
                  <a:srgbClr val="F5C96A"/>
                </a:solidFill>
                <a:latin typeface="Aptos" pitchFamily="34" charset="0"/>
                <a:ea typeface="Aptos" pitchFamily="34" charset="-122"/>
                <a:cs typeface="Aptos" pitchFamily="34" charset="-120"/>
              </a:rPr>
              <a:t>DA OSSERVARE</a:t>
            </a:r>
            <a:endParaRPr lang="en-US" sz="950" dirty="0"/>
          </a:p>
        </p:txBody>
      </p:sp>
      <p:sp>
        <p:nvSpPr>
          <p:cNvPr id="64" name="Shape 62"/>
          <p:cNvSpPr/>
          <p:nvPr/>
        </p:nvSpPr>
        <p:spPr>
          <a:xfrm>
            <a:off x="8586216" y="2267712"/>
            <a:ext cx="91440" cy="91440"/>
          </a:xfrm>
          <a:prstGeom prst="ellipse">
            <a:avLst/>
          </a:prstGeom>
          <a:solidFill>
            <a:srgbClr val="7CD4FF"/>
          </a:solidFill>
          <a:ln w="12700">
            <a:solidFill>
              <a:srgbClr val="7CD4FF"/>
            </a:solidFill>
            <a:prstDash val="solid"/>
          </a:ln>
        </p:spPr>
      </p:sp>
      <p:sp>
        <p:nvSpPr>
          <p:cNvPr id="65" name="Text 63"/>
          <p:cNvSpPr/>
          <p:nvPr/>
        </p:nvSpPr>
        <p:spPr>
          <a:xfrm>
            <a:off x="8778240" y="2212848"/>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count resta fisso durante l’handler.</a:t>
            </a:r>
            <a:endParaRPr lang="en-US" sz="1420" dirty="0"/>
          </a:p>
        </p:txBody>
      </p:sp>
      <p:sp>
        <p:nvSpPr>
          <p:cNvPr id="66" name="Shape 64"/>
          <p:cNvSpPr/>
          <p:nvPr/>
        </p:nvSpPr>
        <p:spPr>
          <a:xfrm>
            <a:off x="8586216" y="2980944"/>
            <a:ext cx="91440" cy="91440"/>
          </a:xfrm>
          <a:prstGeom prst="ellipse">
            <a:avLst/>
          </a:prstGeom>
          <a:solidFill>
            <a:srgbClr val="7CD4FF"/>
          </a:solidFill>
          <a:ln w="12700">
            <a:solidFill>
              <a:srgbClr val="7CD4FF"/>
            </a:solidFill>
            <a:prstDash val="solid"/>
          </a:ln>
        </p:spPr>
      </p:sp>
      <p:sp>
        <p:nvSpPr>
          <p:cNvPr id="67" name="Text 65"/>
          <p:cNvSpPr/>
          <p:nvPr/>
        </p:nvSpPr>
        <p:spPr>
          <a:xfrm>
            <a:off x="8778240" y="2926080"/>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Il setter non muta la variabile corrente.</a:t>
            </a:r>
            <a:endParaRPr lang="en-US" sz="1420" dirty="0"/>
          </a:p>
        </p:txBody>
      </p:sp>
      <p:sp>
        <p:nvSpPr>
          <p:cNvPr id="68" name="Shape 66"/>
          <p:cNvSpPr/>
          <p:nvPr/>
        </p:nvSpPr>
        <p:spPr>
          <a:xfrm>
            <a:off x="8586216" y="3694176"/>
            <a:ext cx="91440" cy="91440"/>
          </a:xfrm>
          <a:prstGeom prst="ellipse">
            <a:avLst/>
          </a:prstGeom>
          <a:solidFill>
            <a:srgbClr val="7CD4FF"/>
          </a:solidFill>
          <a:ln w="12700">
            <a:solidFill>
              <a:srgbClr val="7CD4FF"/>
            </a:solidFill>
            <a:prstDash val="solid"/>
          </a:ln>
        </p:spPr>
      </p:sp>
      <p:sp>
        <p:nvSpPr>
          <p:cNvPr id="69" name="Text 67"/>
          <p:cNvSpPr/>
          <p:nvPr/>
        </p:nvSpPr>
        <p:spPr>
          <a:xfrm>
            <a:off x="8778240" y="3639312"/>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Gli handler chiudono sui valori del loro render.</a:t>
            </a:r>
            <a:endParaRPr lang="en-US" sz="142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42</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QUEUE DI USESTATE</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La forma funzionale compone gli update</a:t>
            </a:r>
            <a:endParaRPr lang="en-US" sz="2700" dirty="0"/>
          </a:p>
        </p:txBody>
      </p:sp>
      <p:sp>
        <p:nvSpPr>
          <p:cNvPr id="29" name="Shape 27"/>
          <p:cNvSpPr/>
          <p:nvPr/>
        </p:nvSpPr>
        <p:spPr>
          <a:xfrm>
            <a:off x="530352" y="1581912"/>
            <a:ext cx="5440680" cy="4526280"/>
          </a:xfrm>
          <a:prstGeom prst="roundRect">
            <a:avLst>
              <a:gd name="adj" fmla="val 1010"/>
            </a:avLst>
          </a:prstGeom>
          <a:solidFill>
            <a:srgbClr val="0D1A2B"/>
          </a:solidFill>
          <a:ln w="13970">
            <a:solidFill>
              <a:srgbClr val="263A55"/>
            </a:solidFill>
            <a:prstDash val="solid"/>
          </a:ln>
        </p:spPr>
      </p:sp>
      <p:sp>
        <p:nvSpPr>
          <p:cNvPr id="30" name="Shape 28"/>
          <p:cNvSpPr/>
          <p:nvPr/>
        </p:nvSpPr>
        <p:spPr>
          <a:xfrm>
            <a:off x="530352" y="1581912"/>
            <a:ext cx="5440680" cy="347472"/>
          </a:xfrm>
          <a:prstGeom prst="rect">
            <a:avLst/>
          </a:prstGeom>
          <a:solidFill>
            <a:srgbClr val="122238"/>
          </a:solidFill>
          <a:ln w="12700">
            <a:solidFill>
              <a:srgbClr val="122238"/>
            </a:solidFill>
            <a:prstDash val="solid"/>
          </a:ln>
        </p:spPr>
      </p:sp>
      <p:sp>
        <p:nvSpPr>
          <p:cNvPr id="31" name="Shape 29"/>
          <p:cNvSpPr/>
          <p:nvPr/>
        </p:nvSpPr>
        <p:spPr>
          <a:xfrm>
            <a:off x="694944" y="1623060"/>
            <a:ext cx="658368" cy="274320"/>
          </a:xfrm>
          <a:prstGeom prst="roundRect">
            <a:avLst>
              <a:gd name="adj" fmla="val 20000"/>
            </a:avLst>
          </a:prstGeom>
          <a:solidFill>
            <a:srgbClr val="FF7A8A">
              <a:alpha val="20000"/>
            </a:srgbClr>
          </a:solidFill>
          <a:ln w="10160">
            <a:solidFill>
              <a:srgbClr val="FF7A8A">
                <a:alpha val="55000"/>
              </a:srgbClr>
            </a:solidFill>
            <a:prstDash val="solid"/>
          </a:ln>
        </p:spPr>
      </p:sp>
      <p:sp>
        <p:nvSpPr>
          <p:cNvPr id="32" name="Text 30"/>
          <p:cNvSpPr/>
          <p:nvPr/>
        </p:nvSpPr>
        <p:spPr>
          <a:xfrm>
            <a:off x="786384" y="1682496"/>
            <a:ext cx="475488" cy="128016"/>
          </a:xfrm>
          <a:prstGeom prst="rect">
            <a:avLst/>
          </a:prstGeom>
          <a:noFill/>
          <a:ln/>
        </p:spPr>
        <p:txBody>
          <a:bodyPr wrap="square" lIns="0" tIns="0" rIns="0" bIns="0" rtlCol="0" anchor="ctr"/>
          <a:lstStyle/>
          <a:p>
            <a:pPr algn="ctr" indent="0" marL="0">
              <a:buNone/>
            </a:pPr>
            <a:r>
              <a:rPr lang="en-US" sz="820" b="1" dirty="0">
                <a:solidFill>
                  <a:srgbClr val="FF7A8A"/>
                </a:solidFill>
                <a:latin typeface="Aptos Mono" pitchFamily="34" charset="0"/>
                <a:ea typeface="Aptos Mono" pitchFamily="34" charset="-122"/>
                <a:cs typeface="Aptos Mono" pitchFamily="34" charset="-120"/>
              </a:rPr>
              <a:t>TSX</a:t>
            </a:r>
            <a:endParaRPr lang="en-US" sz="820" dirty="0"/>
          </a:p>
        </p:txBody>
      </p:sp>
      <p:sp>
        <p:nvSpPr>
          <p:cNvPr id="33" name="Text 31"/>
          <p:cNvSpPr/>
          <p:nvPr/>
        </p:nvSpPr>
        <p:spPr>
          <a:xfrm>
            <a:off x="1490472" y="1677924"/>
            <a:ext cx="420624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PRIMA</a:t>
            </a:r>
            <a:endParaRPr lang="en-US" sz="880" dirty="0"/>
          </a:p>
        </p:txBody>
      </p:sp>
      <p:sp>
        <p:nvSpPr>
          <p:cNvPr id="34" name="Text 32"/>
          <p:cNvSpPr/>
          <p:nvPr/>
        </p:nvSpPr>
        <p:spPr>
          <a:xfrm>
            <a:off x="640080" y="204368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01</a:t>
            </a:r>
            <a:endParaRPr lang="en-US" sz="1060" dirty="0"/>
          </a:p>
        </p:txBody>
      </p:sp>
      <p:sp>
        <p:nvSpPr>
          <p:cNvPr id="35" name="Text 33"/>
          <p:cNvSpPr/>
          <p:nvPr/>
        </p:nvSpPr>
        <p:spPr>
          <a:xfrm>
            <a:off x="1033272" y="2029968"/>
            <a:ext cx="4782312" cy="242316"/>
          </a:xfrm>
          <a:prstGeom prst="rect">
            <a:avLst/>
          </a:prstGeom>
          <a:noFill/>
          <a:ln/>
        </p:spPr>
        <p:txBody>
          <a:bodyPr wrap="square" lIns="0" tIns="0" rIns="0" bIns="0" rtlCol="0" anchor="ctr">
            <a:normAutofit/>
          </a:bodyPr>
          <a:lstStyle/>
          <a:p>
            <a:pPr indent="0" marL="0">
              <a:buNone/>
            </a:pPr>
            <a:r>
              <a:rPr lang="en-US" sz="1280" dirty="0">
                <a:solidFill>
                  <a:srgbClr val="78C9A6"/>
                </a:solidFill>
                <a:latin typeface="Aptos Mono" pitchFamily="34" charset="0"/>
                <a:ea typeface="Aptos Mono" pitchFamily="34" charset="-122"/>
                <a:cs typeface="Aptos Mono" pitchFamily="34" charset="-120"/>
              </a:rPr>
              <a:t>// Tutte le righe leggono lo stesso count.</a:t>
            </a:r>
            <a:endParaRPr lang="en-US" sz="1280" dirty="0"/>
          </a:p>
        </p:txBody>
      </p:sp>
      <p:sp>
        <p:nvSpPr>
          <p:cNvPr id="36" name="Text 34"/>
          <p:cNvSpPr/>
          <p:nvPr/>
        </p:nvSpPr>
        <p:spPr>
          <a:xfrm>
            <a:off x="640080" y="228600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02</a:t>
            </a:r>
            <a:endParaRPr lang="en-US" sz="1060" dirty="0"/>
          </a:p>
        </p:txBody>
      </p:sp>
      <p:sp>
        <p:nvSpPr>
          <p:cNvPr id="37" name="Text 35"/>
          <p:cNvSpPr/>
          <p:nvPr/>
        </p:nvSpPr>
        <p:spPr>
          <a:xfrm>
            <a:off x="1033272" y="227228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setCount(count + 1);</a:t>
            </a:r>
            <a:endParaRPr lang="en-US" sz="1280" dirty="0"/>
          </a:p>
        </p:txBody>
      </p:sp>
      <p:sp>
        <p:nvSpPr>
          <p:cNvPr id="38" name="Text 36"/>
          <p:cNvSpPr/>
          <p:nvPr/>
        </p:nvSpPr>
        <p:spPr>
          <a:xfrm>
            <a:off x="640080" y="252831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03</a:t>
            </a:r>
            <a:endParaRPr lang="en-US" sz="1060" dirty="0"/>
          </a:p>
        </p:txBody>
      </p:sp>
      <p:sp>
        <p:nvSpPr>
          <p:cNvPr id="39" name="Text 37"/>
          <p:cNvSpPr/>
          <p:nvPr/>
        </p:nvSpPr>
        <p:spPr>
          <a:xfrm>
            <a:off x="1033272" y="2514600"/>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setCount(count + 1);</a:t>
            </a:r>
            <a:endParaRPr lang="en-US" sz="1280" dirty="0"/>
          </a:p>
        </p:txBody>
      </p:sp>
      <p:sp>
        <p:nvSpPr>
          <p:cNvPr id="40" name="Text 38"/>
          <p:cNvSpPr/>
          <p:nvPr/>
        </p:nvSpPr>
        <p:spPr>
          <a:xfrm>
            <a:off x="640080" y="2770632"/>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04</a:t>
            </a:r>
            <a:endParaRPr lang="en-US" sz="1060" dirty="0"/>
          </a:p>
        </p:txBody>
      </p:sp>
      <p:sp>
        <p:nvSpPr>
          <p:cNvPr id="41" name="Text 39"/>
          <p:cNvSpPr/>
          <p:nvPr/>
        </p:nvSpPr>
        <p:spPr>
          <a:xfrm>
            <a:off x="1033272" y="2756916"/>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setCount(count + 1);</a:t>
            </a:r>
            <a:endParaRPr lang="en-US" sz="1280" dirty="0"/>
          </a:p>
        </p:txBody>
      </p:sp>
      <p:sp>
        <p:nvSpPr>
          <p:cNvPr id="42" name="Text 40"/>
          <p:cNvSpPr/>
          <p:nvPr/>
        </p:nvSpPr>
        <p:spPr>
          <a:xfrm>
            <a:off x="640080" y="3012948"/>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05</a:t>
            </a:r>
            <a:endParaRPr lang="en-US" sz="1060" dirty="0"/>
          </a:p>
        </p:txBody>
      </p:sp>
      <p:sp>
        <p:nvSpPr>
          <p:cNvPr id="43" name="Text 41"/>
          <p:cNvSpPr/>
          <p:nvPr/>
        </p:nvSpPr>
        <p:spPr>
          <a:xfrm>
            <a:off x="1033272" y="2999232"/>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t>
            </a:r>
            <a:endParaRPr lang="en-US" sz="1280" dirty="0"/>
          </a:p>
        </p:txBody>
      </p:sp>
      <p:sp>
        <p:nvSpPr>
          <p:cNvPr id="44" name="Text 42"/>
          <p:cNvSpPr/>
          <p:nvPr/>
        </p:nvSpPr>
        <p:spPr>
          <a:xfrm>
            <a:off x="640080" y="325526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06</a:t>
            </a:r>
            <a:endParaRPr lang="en-US" sz="1060" dirty="0"/>
          </a:p>
        </p:txBody>
      </p:sp>
      <p:sp>
        <p:nvSpPr>
          <p:cNvPr id="45" name="Text 43"/>
          <p:cNvSpPr/>
          <p:nvPr/>
        </p:nvSpPr>
        <p:spPr>
          <a:xfrm>
            <a:off x="1033272" y="3241548"/>
            <a:ext cx="4782312" cy="242316"/>
          </a:xfrm>
          <a:prstGeom prst="rect">
            <a:avLst/>
          </a:prstGeom>
          <a:noFill/>
          <a:ln/>
        </p:spPr>
        <p:txBody>
          <a:bodyPr wrap="square" lIns="0" tIns="0" rIns="0" bIns="0" rtlCol="0" anchor="ctr">
            <a:normAutofit/>
          </a:bodyPr>
          <a:lstStyle/>
          <a:p>
            <a:pPr indent="0" marL="0">
              <a:buNone/>
            </a:pPr>
            <a:r>
              <a:rPr lang="en-US" sz="1280" dirty="0">
                <a:solidFill>
                  <a:srgbClr val="78C9A6"/>
                </a:solidFill>
                <a:latin typeface="Aptos Mono" pitchFamily="34" charset="0"/>
                <a:ea typeface="Aptos Mono" pitchFamily="34" charset="-122"/>
                <a:cs typeface="Aptos Mono" pitchFamily="34" charset="-120"/>
              </a:rPr>
              <a:t>// Risultato del batch: +1</a:t>
            </a:r>
            <a:endParaRPr lang="en-US" sz="1280" dirty="0"/>
          </a:p>
        </p:txBody>
      </p:sp>
      <p:sp>
        <p:nvSpPr>
          <p:cNvPr id="46" name="Shape 44"/>
          <p:cNvSpPr/>
          <p:nvPr/>
        </p:nvSpPr>
        <p:spPr>
          <a:xfrm>
            <a:off x="6217920" y="1581912"/>
            <a:ext cx="5440680" cy="4526280"/>
          </a:xfrm>
          <a:prstGeom prst="roundRect">
            <a:avLst>
              <a:gd name="adj" fmla="val 1010"/>
            </a:avLst>
          </a:prstGeom>
          <a:solidFill>
            <a:srgbClr val="0D1A2B"/>
          </a:solidFill>
          <a:ln w="13970">
            <a:solidFill>
              <a:srgbClr val="263A55"/>
            </a:solidFill>
            <a:prstDash val="solid"/>
          </a:ln>
        </p:spPr>
      </p:sp>
      <p:sp>
        <p:nvSpPr>
          <p:cNvPr id="47" name="Shape 45"/>
          <p:cNvSpPr/>
          <p:nvPr/>
        </p:nvSpPr>
        <p:spPr>
          <a:xfrm>
            <a:off x="6217920" y="1581912"/>
            <a:ext cx="5440680" cy="347472"/>
          </a:xfrm>
          <a:prstGeom prst="rect">
            <a:avLst/>
          </a:prstGeom>
          <a:solidFill>
            <a:srgbClr val="122238"/>
          </a:solidFill>
          <a:ln w="12700">
            <a:solidFill>
              <a:srgbClr val="122238"/>
            </a:solidFill>
            <a:prstDash val="solid"/>
          </a:ln>
        </p:spPr>
      </p:sp>
      <p:sp>
        <p:nvSpPr>
          <p:cNvPr id="48" name="Shape 46"/>
          <p:cNvSpPr/>
          <p:nvPr/>
        </p:nvSpPr>
        <p:spPr>
          <a:xfrm>
            <a:off x="6382512" y="1623060"/>
            <a:ext cx="658368" cy="274320"/>
          </a:xfrm>
          <a:prstGeom prst="roundRect">
            <a:avLst>
              <a:gd name="adj" fmla="val 20000"/>
            </a:avLst>
          </a:prstGeom>
          <a:solidFill>
            <a:srgbClr val="6FE3B1">
              <a:alpha val="20000"/>
            </a:srgbClr>
          </a:solidFill>
          <a:ln w="10160">
            <a:solidFill>
              <a:srgbClr val="6FE3B1">
                <a:alpha val="55000"/>
              </a:srgbClr>
            </a:solidFill>
            <a:prstDash val="solid"/>
          </a:ln>
        </p:spPr>
      </p:sp>
      <p:sp>
        <p:nvSpPr>
          <p:cNvPr id="49" name="Text 47"/>
          <p:cNvSpPr/>
          <p:nvPr/>
        </p:nvSpPr>
        <p:spPr>
          <a:xfrm>
            <a:off x="6473952" y="1682496"/>
            <a:ext cx="475488" cy="128016"/>
          </a:xfrm>
          <a:prstGeom prst="rect">
            <a:avLst/>
          </a:prstGeom>
          <a:noFill/>
          <a:ln/>
        </p:spPr>
        <p:txBody>
          <a:bodyPr wrap="square" lIns="0" tIns="0" rIns="0" bIns="0" rtlCol="0" anchor="ctr"/>
          <a:lstStyle/>
          <a:p>
            <a:pPr algn="ctr" indent="0" marL="0">
              <a:buNone/>
            </a:pPr>
            <a:r>
              <a:rPr lang="en-US" sz="820" b="1" dirty="0">
                <a:solidFill>
                  <a:srgbClr val="6FE3B1"/>
                </a:solidFill>
                <a:latin typeface="Aptos Mono" pitchFamily="34" charset="0"/>
                <a:ea typeface="Aptos Mono" pitchFamily="34" charset="-122"/>
                <a:cs typeface="Aptos Mono" pitchFamily="34" charset="-120"/>
              </a:rPr>
              <a:t>TSX</a:t>
            </a:r>
            <a:endParaRPr lang="en-US" sz="820" dirty="0"/>
          </a:p>
        </p:txBody>
      </p:sp>
      <p:sp>
        <p:nvSpPr>
          <p:cNvPr id="50" name="Text 48"/>
          <p:cNvSpPr/>
          <p:nvPr/>
        </p:nvSpPr>
        <p:spPr>
          <a:xfrm>
            <a:off x="7178040" y="1677924"/>
            <a:ext cx="420624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DOPO</a:t>
            </a:r>
            <a:endParaRPr lang="en-US" sz="880" dirty="0"/>
          </a:p>
        </p:txBody>
      </p:sp>
      <p:sp>
        <p:nvSpPr>
          <p:cNvPr id="51" name="Text 49"/>
          <p:cNvSpPr/>
          <p:nvPr/>
        </p:nvSpPr>
        <p:spPr>
          <a:xfrm>
            <a:off x="6327648" y="204368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01</a:t>
            </a:r>
            <a:endParaRPr lang="en-US" sz="1060" dirty="0"/>
          </a:p>
        </p:txBody>
      </p:sp>
      <p:sp>
        <p:nvSpPr>
          <p:cNvPr id="52" name="Text 50"/>
          <p:cNvSpPr/>
          <p:nvPr/>
        </p:nvSpPr>
        <p:spPr>
          <a:xfrm>
            <a:off x="6720840" y="2029968"/>
            <a:ext cx="4782312" cy="242316"/>
          </a:xfrm>
          <a:prstGeom prst="rect">
            <a:avLst/>
          </a:prstGeom>
          <a:noFill/>
          <a:ln/>
        </p:spPr>
        <p:txBody>
          <a:bodyPr wrap="square" lIns="0" tIns="0" rIns="0" bIns="0" rtlCol="0" anchor="ctr">
            <a:normAutofit/>
          </a:bodyPr>
          <a:lstStyle/>
          <a:p>
            <a:pPr indent="0" marL="0">
              <a:buNone/>
            </a:pPr>
            <a:r>
              <a:rPr lang="en-US" sz="1280" dirty="0">
                <a:solidFill>
                  <a:srgbClr val="78C9A6"/>
                </a:solidFill>
                <a:latin typeface="Aptos Mono" pitchFamily="34" charset="0"/>
                <a:ea typeface="Aptos Mono" pitchFamily="34" charset="-122"/>
                <a:cs typeface="Aptos Mono" pitchFamily="34" charset="-120"/>
              </a:rPr>
              <a:t>// Ogni updater riceve il risultato precedente.</a:t>
            </a:r>
            <a:endParaRPr lang="en-US" sz="1280" dirty="0"/>
          </a:p>
        </p:txBody>
      </p:sp>
      <p:sp>
        <p:nvSpPr>
          <p:cNvPr id="53" name="Text 51"/>
          <p:cNvSpPr/>
          <p:nvPr/>
        </p:nvSpPr>
        <p:spPr>
          <a:xfrm>
            <a:off x="6327648" y="228600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02</a:t>
            </a:r>
            <a:endParaRPr lang="en-US" sz="1060" dirty="0"/>
          </a:p>
        </p:txBody>
      </p:sp>
      <p:sp>
        <p:nvSpPr>
          <p:cNvPr id="54" name="Text 52"/>
          <p:cNvSpPr/>
          <p:nvPr/>
        </p:nvSpPr>
        <p:spPr>
          <a:xfrm>
            <a:off x="6720840" y="227228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setCount(c =&gt; c + 1);</a:t>
            </a:r>
            <a:endParaRPr lang="en-US" sz="1280" dirty="0"/>
          </a:p>
        </p:txBody>
      </p:sp>
      <p:sp>
        <p:nvSpPr>
          <p:cNvPr id="55" name="Text 53"/>
          <p:cNvSpPr/>
          <p:nvPr/>
        </p:nvSpPr>
        <p:spPr>
          <a:xfrm>
            <a:off x="6327648" y="252831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03</a:t>
            </a:r>
            <a:endParaRPr lang="en-US" sz="1060" dirty="0"/>
          </a:p>
        </p:txBody>
      </p:sp>
      <p:sp>
        <p:nvSpPr>
          <p:cNvPr id="56" name="Text 54"/>
          <p:cNvSpPr/>
          <p:nvPr/>
        </p:nvSpPr>
        <p:spPr>
          <a:xfrm>
            <a:off x="6720840" y="2514600"/>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setCount(c =&gt; c + 1);</a:t>
            </a:r>
            <a:endParaRPr lang="en-US" sz="1280" dirty="0"/>
          </a:p>
        </p:txBody>
      </p:sp>
      <p:sp>
        <p:nvSpPr>
          <p:cNvPr id="57" name="Text 55"/>
          <p:cNvSpPr/>
          <p:nvPr/>
        </p:nvSpPr>
        <p:spPr>
          <a:xfrm>
            <a:off x="6327648" y="2770632"/>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04</a:t>
            </a:r>
            <a:endParaRPr lang="en-US" sz="1060" dirty="0"/>
          </a:p>
        </p:txBody>
      </p:sp>
      <p:sp>
        <p:nvSpPr>
          <p:cNvPr id="58" name="Text 56"/>
          <p:cNvSpPr/>
          <p:nvPr/>
        </p:nvSpPr>
        <p:spPr>
          <a:xfrm>
            <a:off x="6720840" y="2756916"/>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setCount(c =&gt; c + 1);</a:t>
            </a:r>
            <a:endParaRPr lang="en-US" sz="1280" dirty="0"/>
          </a:p>
        </p:txBody>
      </p:sp>
      <p:sp>
        <p:nvSpPr>
          <p:cNvPr id="59" name="Text 57"/>
          <p:cNvSpPr/>
          <p:nvPr/>
        </p:nvSpPr>
        <p:spPr>
          <a:xfrm>
            <a:off x="6327648" y="3012948"/>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05</a:t>
            </a:r>
            <a:endParaRPr lang="en-US" sz="1060" dirty="0"/>
          </a:p>
        </p:txBody>
      </p:sp>
      <p:sp>
        <p:nvSpPr>
          <p:cNvPr id="60" name="Text 58"/>
          <p:cNvSpPr/>
          <p:nvPr/>
        </p:nvSpPr>
        <p:spPr>
          <a:xfrm>
            <a:off x="6720840" y="2999232"/>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t>
            </a:r>
            <a:endParaRPr lang="en-US" sz="1280" dirty="0"/>
          </a:p>
        </p:txBody>
      </p:sp>
      <p:sp>
        <p:nvSpPr>
          <p:cNvPr id="61" name="Text 59"/>
          <p:cNvSpPr/>
          <p:nvPr/>
        </p:nvSpPr>
        <p:spPr>
          <a:xfrm>
            <a:off x="6327648" y="325526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06</a:t>
            </a:r>
            <a:endParaRPr lang="en-US" sz="1060" dirty="0"/>
          </a:p>
        </p:txBody>
      </p:sp>
      <p:sp>
        <p:nvSpPr>
          <p:cNvPr id="62" name="Text 60"/>
          <p:cNvSpPr/>
          <p:nvPr/>
        </p:nvSpPr>
        <p:spPr>
          <a:xfrm>
            <a:off x="6720840" y="3241548"/>
            <a:ext cx="4782312" cy="242316"/>
          </a:xfrm>
          <a:prstGeom prst="rect">
            <a:avLst/>
          </a:prstGeom>
          <a:noFill/>
          <a:ln/>
        </p:spPr>
        <p:txBody>
          <a:bodyPr wrap="square" lIns="0" tIns="0" rIns="0" bIns="0" rtlCol="0" anchor="ctr">
            <a:normAutofit/>
          </a:bodyPr>
          <a:lstStyle/>
          <a:p>
            <a:pPr indent="0" marL="0">
              <a:buNone/>
            </a:pPr>
            <a:r>
              <a:rPr lang="en-US" sz="1280" dirty="0">
                <a:solidFill>
                  <a:srgbClr val="78C9A6"/>
                </a:solidFill>
                <a:latin typeface="Aptos Mono" pitchFamily="34" charset="0"/>
                <a:ea typeface="Aptos Mono" pitchFamily="34" charset="-122"/>
                <a:cs typeface="Aptos Mono" pitchFamily="34" charset="-120"/>
              </a:rPr>
              <a:t>// Risultato del batch: +3</a:t>
            </a:r>
            <a:endParaRPr lang="en-US" sz="1280" dirty="0"/>
          </a:p>
        </p:txBody>
      </p:sp>
      <p:sp>
        <p:nvSpPr>
          <p:cNvPr id="63" name="Shape 61"/>
          <p:cNvSpPr/>
          <p:nvPr/>
        </p:nvSpPr>
        <p:spPr>
          <a:xfrm>
            <a:off x="5870448" y="3310128"/>
            <a:ext cx="274320" cy="475488"/>
          </a:xfrm>
          <a:prstGeom prst="chevron">
            <a:avLst/>
          </a:prstGeom>
          <a:solidFill>
            <a:srgbClr val="4C7DFF"/>
          </a:solidFill>
          <a:ln w="12700">
            <a:solidFill>
              <a:srgbClr val="4C7DFF"/>
            </a:solidFill>
            <a:prstDash val="solid"/>
          </a:ln>
        </p:spPr>
      </p:sp>
      <p:sp>
        <p:nvSpPr>
          <p:cNvPr id="64" name="Text 62"/>
          <p:cNvSpPr/>
          <p:nvPr/>
        </p:nvSpPr>
        <p:spPr>
          <a:xfrm>
            <a:off x="1828800" y="6217920"/>
            <a:ext cx="8503920" cy="210312"/>
          </a:xfrm>
          <a:prstGeom prst="rect">
            <a:avLst/>
          </a:prstGeom>
          <a:noFill/>
          <a:ln/>
        </p:spPr>
        <p:txBody>
          <a:bodyPr wrap="square" lIns="0" tIns="0" rIns="0" bIns="0" rtlCol="0" anchor="ctr"/>
          <a:lstStyle/>
          <a:p>
            <a:pPr algn="ctr" indent="0" marL="0">
              <a:buNone/>
            </a:pPr>
            <a:r>
              <a:rPr lang="en-US" sz="1050" b="1" dirty="0">
                <a:solidFill>
                  <a:srgbClr val="F5C96A"/>
                </a:solidFill>
                <a:latin typeface="Aptos" pitchFamily="34" charset="0"/>
                <a:ea typeface="Aptos" pitchFamily="34" charset="-122"/>
                <a:cs typeface="Aptos" pitchFamily="34" charset="-120"/>
              </a:rPr>
              <a:t>Usa un updater quando il prossimo valore dipende dal precedente.</a:t>
            </a:r>
            <a:endParaRPr lang="en-US" sz="10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43</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IMMUTABILITÀ</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Gli oggetti di state si sostituiscono, non si mutano</a:t>
            </a:r>
            <a:endParaRPr lang="en-US" sz="2700" dirty="0"/>
          </a:p>
        </p:txBody>
      </p:sp>
      <p:sp>
        <p:nvSpPr>
          <p:cNvPr id="29" name="Shape 27"/>
          <p:cNvSpPr/>
          <p:nvPr/>
        </p:nvSpPr>
        <p:spPr>
          <a:xfrm>
            <a:off x="530352" y="1581912"/>
            <a:ext cx="5440680" cy="4526280"/>
          </a:xfrm>
          <a:prstGeom prst="roundRect">
            <a:avLst>
              <a:gd name="adj" fmla="val 1010"/>
            </a:avLst>
          </a:prstGeom>
          <a:solidFill>
            <a:srgbClr val="0D1A2B"/>
          </a:solidFill>
          <a:ln w="13970">
            <a:solidFill>
              <a:srgbClr val="263A55"/>
            </a:solidFill>
            <a:prstDash val="solid"/>
          </a:ln>
        </p:spPr>
      </p:sp>
      <p:sp>
        <p:nvSpPr>
          <p:cNvPr id="30" name="Shape 28"/>
          <p:cNvSpPr/>
          <p:nvPr/>
        </p:nvSpPr>
        <p:spPr>
          <a:xfrm>
            <a:off x="530352" y="1581912"/>
            <a:ext cx="5440680" cy="347472"/>
          </a:xfrm>
          <a:prstGeom prst="rect">
            <a:avLst/>
          </a:prstGeom>
          <a:solidFill>
            <a:srgbClr val="122238"/>
          </a:solidFill>
          <a:ln w="12700">
            <a:solidFill>
              <a:srgbClr val="122238"/>
            </a:solidFill>
            <a:prstDash val="solid"/>
          </a:ln>
        </p:spPr>
      </p:sp>
      <p:sp>
        <p:nvSpPr>
          <p:cNvPr id="31" name="Shape 29"/>
          <p:cNvSpPr/>
          <p:nvPr/>
        </p:nvSpPr>
        <p:spPr>
          <a:xfrm>
            <a:off x="694944" y="1623060"/>
            <a:ext cx="658368" cy="274320"/>
          </a:xfrm>
          <a:prstGeom prst="roundRect">
            <a:avLst>
              <a:gd name="adj" fmla="val 20000"/>
            </a:avLst>
          </a:prstGeom>
          <a:solidFill>
            <a:srgbClr val="FF7A8A">
              <a:alpha val="20000"/>
            </a:srgbClr>
          </a:solidFill>
          <a:ln w="10160">
            <a:solidFill>
              <a:srgbClr val="FF7A8A">
                <a:alpha val="55000"/>
              </a:srgbClr>
            </a:solidFill>
            <a:prstDash val="solid"/>
          </a:ln>
        </p:spPr>
      </p:sp>
      <p:sp>
        <p:nvSpPr>
          <p:cNvPr id="32" name="Text 30"/>
          <p:cNvSpPr/>
          <p:nvPr/>
        </p:nvSpPr>
        <p:spPr>
          <a:xfrm>
            <a:off x="786384" y="1682496"/>
            <a:ext cx="475488" cy="128016"/>
          </a:xfrm>
          <a:prstGeom prst="rect">
            <a:avLst/>
          </a:prstGeom>
          <a:noFill/>
          <a:ln/>
        </p:spPr>
        <p:txBody>
          <a:bodyPr wrap="square" lIns="0" tIns="0" rIns="0" bIns="0" rtlCol="0" anchor="ctr"/>
          <a:lstStyle/>
          <a:p>
            <a:pPr algn="ctr" indent="0" marL="0">
              <a:buNone/>
            </a:pPr>
            <a:r>
              <a:rPr lang="en-US" sz="820" b="1" dirty="0">
                <a:solidFill>
                  <a:srgbClr val="FF7A8A"/>
                </a:solidFill>
                <a:latin typeface="Aptos Mono" pitchFamily="34" charset="0"/>
                <a:ea typeface="Aptos Mono" pitchFamily="34" charset="-122"/>
                <a:cs typeface="Aptos Mono" pitchFamily="34" charset="-120"/>
              </a:rPr>
              <a:t>TSX</a:t>
            </a:r>
            <a:endParaRPr lang="en-US" sz="820" dirty="0"/>
          </a:p>
        </p:txBody>
      </p:sp>
      <p:sp>
        <p:nvSpPr>
          <p:cNvPr id="33" name="Text 31"/>
          <p:cNvSpPr/>
          <p:nvPr/>
        </p:nvSpPr>
        <p:spPr>
          <a:xfrm>
            <a:off x="1490472" y="1677924"/>
            <a:ext cx="420624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PRIMA</a:t>
            </a:r>
            <a:endParaRPr lang="en-US" sz="880" dirty="0"/>
          </a:p>
        </p:txBody>
      </p:sp>
      <p:sp>
        <p:nvSpPr>
          <p:cNvPr id="34" name="Text 32"/>
          <p:cNvSpPr/>
          <p:nvPr/>
        </p:nvSpPr>
        <p:spPr>
          <a:xfrm>
            <a:off x="640080" y="204368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01</a:t>
            </a:r>
            <a:endParaRPr lang="en-US" sz="1060" dirty="0"/>
          </a:p>
        </p:txBody>
      </p:sp>
      <p:sp>
        <p:nvSpPr>
          <p:cNvPr id="35" name="Text 33"/>
          <p:cNvSpPr/>
          <p:nvPr/>
        </p:nvSpPr>
        <p:spPr>
          <a:xfrm>
            <a:off x="1033272" y="202996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function rename(title: string) {</a:t>
            </a:r>
            <a:endParaRPr lang="en-US" sz="1280" dirty="0"/>
          </a:p>
        </p:txBody>
      </p:sp>
      <p:sp>
        <p:nvSpPr>
          <p:cNvPr id="36" name="Text 34"/>
          <p:cNvSpPr/>
          <p:nvPr/>
        </p:nvSpPr>
        <p:spPr>
          <a:xfrm>
            <a:off x="640080" y="228600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02</a:t>
            </a:r>
            <a:endParaRPr lang="en-US" sz="1060" dirty="0"/>
          </a:p>
        </p:txBody>
      </p:sp>
      <p:sp>
        <p:nvSpPr>
          <p:cNvPr id="37" name="Text 35"/>
          <p:cNvSpPr/>
          <p:nvPr/>
        </p:nvSpPr>
        <p:spPr>
          <a:xfrm>
            <a:off x="1033272" y="227228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ticket.title = title; // mutazione</a:t>
            </a:r>
            <a:endParaRPr lang="en-US" sz="1280" dirty="0"/>
          </a:p>
        </p:txBody>
      </p:sp>
      <p:sp>
        <p:nvSpPr>
          <p:cNvPr id="38" name="Text 36"/>
          <p:cNvSpPr/>
          <p:nvPr/>
        </p:nvSpPr>
        <p:spPr>
          <a:xfrm>
            <a:off x="640080" y="252831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03</a:t>
            </a:r>
            <a:endParaRPr lang="en-US" sz="1060" dirty="0"/>
          </a:p>
        </p:txBody>
      </p:sp>
      <p:sp>
        <p:nvSpPr>
          <p:cNvPr id="39" name="Text 37"/>
          <p:cNvSpPr/>
          <p:nvPr/>
        </p:nvSpPr>
        <p:spPr>
          <a:xfrm>
            <a:off x="1033272" y="2514600"/>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setTicket(ticket);    // stessa reference</a:t>
            </a:r>
            <a:endParaRPr lang="en-US" sz="1280" dirty="0"/>
          </a:p>
        </p:txBody>
      </p:sp>
      <p:sp>
        <p:nvSpPr>
          <p:cNvPr id="40" name="Text 38"/>
          <p:cNvSpPr/>
          <p:nvPr/>
        </p:nvSpPr>
        <p:spPr>
          <a:xfrm>
            <a:off x="640080" y="2770632"/>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04</a:t>
            </a:r>
            <a:endParaRPr lang="en-US" sz="1060" dirty="0"/>
          </a:p>
        </p:txBody>
      </p:sp>
      <p:sp>
        <p:nvSpPr>
          <p:cNvPr id="41" name="Text 39"/>
          <p:cNvSpPr/>
          <p:nvPr/>
        </p:nvSpPr>
        <p:spPr>
          <a:xfrm>
            <a:off x="1033272" y="2756916"/>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a:t>
            </a:r>
            <a:endParaRPr lang="en-US" sz="1280" dirty="0"/>
          </a:p>
        </p:txBody>
      </p:sp>
      <p:sp>
        <p:nvSpPr>
          <p:cNvPr id="42" name="Text 40"/>
          <p:cNvSpPr/>
          <p:nvPr/>
        </p:nvSpPr>
        <p:spPr>
          <a:xfrm>
            <a:off x="640080" y="3012948"/>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05</a:t>
            </a:r>
            <a:endParaRPr lang="en-US" sz="1060" dirty="0"/>
          </a:p>
        </p:txBody>
      </p:sp>
      <p:sp>
        <p:nvSpPr>
          <p:cNvPr id="43" name="Text 41"/>
          <p:cNvSpPr/>
          <p:nvPr/>
        </p:nvSpPr>
        <p:spPr>
          <a:xfrm>
            <a:off x="1033272" y="2999232"/>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t>
            </a:r>
            <a:endParaRPr lang="en-US" sz="1280" dirty="0"/>
          </a:p>
        </p:txBody>
      </p:sp>
      <p:sp>
        <p:nvSpPr>
          <p:cNvPr id="44" name="Text 42"/>
          <p:cNvSpPr/>
          <p:nvPr/>
        </p:nvSpPr>
        <p:spPr>
          <a:xfrm>
            <a:off x="640080" y="325526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06</a:t>
            </a:r>
            <a:endParaRPr lang="en-US" sz="1060" dirty="0"/>
          </a:p>
        </p:txBody>
      </p:sp>
      <p:sp>
        <p:nvSpPr>
          <p:cNvPr id="45" name="Text 43"/>
          <p:cNvSpPr/>
          <p:nvPr/>
        </p:nvSpPr>
        <p:spPr>
          <a:xfrm>
            <a:off x="1033272" y="3241548"/>
            <a:ext cx="4782312" cy="242316"/>
          </a:xfrm>
          <a:prstGeom prst="rect">
            <a:avLst/>
          </a:prstGeom>
          <a:noFill/>
          <a:ln/>
        </p:spPr>
        <p:txBody>
          <a:bodyPr wrap="square" lIns="0" tIns="0" rIns="0" bIns="0" rtlCol="0" anchor="ctr">
            <a:normAutofit/>
          </a:bodyPr>
          <a:lstStyle/>
          <a:p>
            <a:pPr indent="0" marL="0">
              <a:buNone/>
            </a:pPr>
            <a:r>
              <a:rPr lang="en-US" sz="1280" dirty="0">
                <a:solidFill>
                  <a:srgbClr val="78C9A6"/>
                </a:solidFill>
                <a:latin typeface="Aptos Mono" pitchFamily="34" charset="0"/>
                <a:ea typeface="Aptos Mono" pitchFamily="34" charset="-122"/>
                <a:cs typeface="Aptos Mono" pitchFamily="34" charset="-120"/>
              </a:rPr>
              <a:t>// React può ignorare l’update.</a:t>
            </a:r>
            <a:endParaRPr lang="en-US" sz="1280" dirty="0"/>
          </a:p>
        </p:txBody>
      </p:sp>
      <p:sp>
        <p:nvSpPr>
          <p:cNvPr id="46" name="Shape 44"/>
          <p:cNvSpPr/>
          <p:nvPr/>
        </p:nvSpPr>
        <p:spPr>
          <a:xfrm>
            <a:off x="6217920" y="1581912"/>
            <a:ext cx="5440680" cy="4526280"/>
          </a:xfrm>
          <a:prstGeom prst="roundRect">
            <a:avLst>
              <a:gd name="adj" fmla="val 1010"/>
            </a:avLst>
          </a:prstGeom>
          <a:solidFill>
            <a:srgbClr val="0D1A2B"/>
          </a:solidFill>
          <a:ln w="13970">
            <a:solidFill>
              <a:srgbClr val="263A55"/>
            </a:solidFill>
            <a:prstDash val="solid"/>
          </a:ln>
        </p:spPr>
      </p:sp>
      <p:sp>
        <p:nvSpPr>
          <p:cNvPr id="47" name="Shape 45"/>
          <p:cNvSpPr/>
          <p:nvPr/>
        </p:nvSpPr>
        <p:spPr>
          <a:xfrm>
            <a:off x="6217920" y="1581912"/>
            <a:ext cx="5440680" cy="347472"/>
          </a:xfrm>
          <a:prstGeom prst="rect">
            <a:avLst/>
          </a:prstGeom>
          <a:solidFill>
            <a:srgbClr val="122238"/>
          </a:solidFill>
          <a:ln w="12700">
            <a:solidFill>
              <a:srgbClr val="122238"/>
            </a:solidFill>
            <a:prstDash val="solid"/>
          </a:ln>
        </p:spPr>
      </p:sp>
      <p:sp>
        <p:nvSpPr>
          <p:cNvPr id="48" name="Shape 46"/>
          <p:cNvSpPr/>
          <p:nvPr/>
        </p:nvSpPr>
        <p:spPr>
          <a:xfrm>
            <a:off x="6382512" y="1623060"/>
            <a:ext cx="658368" cy="274320"/>
          </a:xfrm>
          <a:prstGeom prst="roundRect">
            <a:avLst>
              <a:gd name="adj" fmla="val 20000"/>
            </a:avLst>
          </a:prstGeom>
          <a:solidFill>
            <a:srgbClr val="6FE3B1">
              <a:alpha val="20000"/>
            </a:srgbClr>
          </a:solidFill>
          <a:ln w="10160">
            <a:solidFill>
              <a:srgbClr val="6FE3B1">
                <a:alpha val="55000"/>
              </a:srgbClr>
            </a:solidFill>
            <a:prstDash val="solid"/>
          </a:ln>
        </p:spPr>
      </p:sp>
      <p:sp>
        <p:nvSpPr>
          <p:cNvPr id="49" name="Text 47"/>
          <p:cNvSpPr/>
          <p:nvPr/>
        </p:nvSpPr>
        <p:spPr>
          <a:xfrm>
            <a:off x="6473952" y="1682496"/>
            <a:ext cx="475488" cy="128016"/>
          </a:xfrm>
          <a:prstGeom prst="rect">
            <a:avLst/>
          </a:prstGeom>
          <a:noFill/>
          <a:ln/>
        </p:spPr>
        <p:txBody>
          <a:bodyPr wrap="square" lIns="0" tIns="0" rIns="0" bIns="0" rtlCol="0" anchor="ctr"/>
          <a:lstStyle/>
          <a:p>
            <a:pPr algn="ctr" indent="0" marL="0">
              <a:buNone/>
            </a:pPr>
            <a:r>
              <a:rPr lang="en-US" sz="820" b="1" dirty="0">
                <a:solidFill>
                  <a:srgbClr val="6FE3B1"/>
                </a:solidFill>
                <a:latin typeface="Aptos Mono" pitchFamily="34" charset="0"/>
                <a:ea typeface="Aptos Mono" pitchFamily="34" charset="-122"/>
                <a:cs typeface="Aptos Mono" pitchFamily="34" charset="-120"/>
              </a:rPr>
              <a:t>TSX</a:t>
            </a:r>
            <a:endParaRPr lang="en-US" sz="820" dirty="0"/>
          </a:p>
        </p:txBody>
      </p:sp>
      <p:sp>
        <p:nvSpPr>
          <p:cNvPr id="50" name="Text 48"/>
          <p:cNvSpPr/>
          <p:nvPr/>
        </p:nvSpPr>
        <p:spPr>
          <a:xfrm>
            <a:off x="7178040" y="1677924"/>
            <a:ext cx="420624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DOPO</a:t>
            </a:r>
            <a:endParaRPr lang="en-US" sz="880" dirty="0"/>
          </a:p>
        </p:txBody>
      </p:sp>
      <p:sp>
        <p:nvSpPr>
          <p:cNvPr id="51" name="Text 49"/>
          <p:cNvSpPr/>
          <p:nvPr/>
        </p:nvSpPr>
        <p:spPr>
          <a:xfrm>
            <a:off x="6327648" y="204368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01</a:t>
            </a:r>
            <a:endParaRPr lang="en-US" sz="1060" dirty="0"/>
          </a:p>
        </p:txBody>
      </p:sp>
      <p:sp>
        <p:nvSpPr>
          <p:cNvPr id="52" name="Text 50"/>
          <p:cNvSpPr/>
          <p:nvPr/>
        </p:nvSpPr>
        <p:spPr>
          <a:xfrm>
            <a:off x="6720840" y="202996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function rename(title: string) {</a:t>
            </a:r>
            <a:endParaRPr lang="en-US" sz="1280" dirty="0"/>
          </a:p>
        </p:txBody>
      </p:sp>
      <p:sp>
        <p:nvSpPr>
          <p:cNvPr id="53" name="Text 51"/>
          <p:cNvSpPr/>
          <p:nvPr/>
        </p:nvSpPr>
        <p:spPr>
          <a:xfrm>
            <a:off x="6327648" y="228600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02</a:t>
            </a:r>
            <a:endParaRPr lang="en-US" sz="1060" dirty="0"/>
          </a:p>
        </p:txBody>
      </p:sp>
      <p:sp>
        <p:nvSpPr>
          <p:cNvPr id="54" name="Text 52"/>
          <p:cNvSpPr/>
          <p:nvPr/>
        </p:nvSpPr>
        <p:spPr>
          <a:xfrm>
            <a:off x="6720840" y="227228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setTicket(previous =&gt; ({</a:t>
            </a:r>
            <a:endParaRPr lang="en-US" sz="1280" dirty="0"/>
          </a:p>
        </p:txBody>
      </p:sp>
      <p:sp>
        <p:nvSpPr>
          <p:cNvPr id="55" name="Text 53"/>
          <p:cNvSpPr/>
          <p:nvPr/>
        </p:nvSpPr>
        <p:spPr>
          <a:xfrm>
            <a:off x="6327648" y="252831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03</a:t>
            </a:r>
            <a:endParaRPr lang="en-US" sz="1060" dirty="0"/>
          </a:p>
        </p:txBody>
      </p:sp>
      <p:sp>
        <p:nvSpPr>
          <p:cNvPr id="56" name="Text 54"/>
          <p:cNvSpPr/>
          <p:nvPr/>
        </p:nvSpPr>
        <p:spPr>
          <a:xfrm>
            <a:off x="6720840" y="2514600"/>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...previous,</a:t>
            </a:r>
            <a:endParaRPr lang="en-US" sz="1280" dirty="0"/>
          </a:p>
        </p:txBody>
      </p:sp>
      <p:sp>
        <p:nvSpPr>
          <p:cNvPr id="57" name="Text 55"/>
          <p:cNvSpPr/>
          <p:nvPr/>
        </p:nvSpPr>
        <p:spPr>
          <a:xfrm>
            <a:off x="6327648" y="2770632"/>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04</a:t>
            </a:r>
            <a:endParaRPr lang="en-US" sz="1060" dirty="0"/>
          </a:p>
        </p:txBody>
      </p:sp>
      <p:sp>
        <p:nvSpPr>
          <p:cNvPr id="58" name="Text 56"/>
          <p:cNvSpPr/>
          <p:nvPr/>
        </p:nvSpPr>
        <p:spPr>
          <a:xfrm>
            <a:off x="6720840" y="2756916"/>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title // nuova reference</a:t>
            </a:r>
            <a:endParaRPr lang="en-US" sz="1280" dirty="0"/>
          </a:p>
        </p:txBody>
      </p:sp>
      <p:sp>
        <p:nvSpPr>
          <p:cNvPr id="59" name="Text 57"/>
          <p:cNvSpPr/>
          <p:nvPr/>
        </p:nvSpPr>
        <p:spPr>
          <a:xfrm>
            <a:off x="6327648" y="3012948"/>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05</a:t>
            </a:r>
            <a:endParaRPr lang="en-US" sz="1060" dirty="0"/>
          </a:p>
        </p:txBody>
      </p:sp>
      <p:sp>
        <p:nvSpPr>
          <p:cNvPr id="60" name="Text 58"/>
          <p:cNvSpPr/>
          <p:nvPr/>
        </p:nvSpPr>
        <p:spPr>
          <a:xfrm>
            <a:off x="6720840" y="2999232"/>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t>
            </a:r>
            <a:endParaRPr lang="en-US" sz="1280" dirty="0"/>
          </a:p>
        </p:txBody>
      </p:sp>
      <p:sp>
        <p:nvSpPr>
          <p:cNvPr id="61" name="Text 59"/>
          <p:cNvSpPr/>
          <p:nvPr/>
        </p:nvSpPr>
        <p:spPr>
          <a:xfrm>
            <a:off x="6327648" y="325526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06</a:t>
            </a:r>
            <a:endParaRPr lang="en-US" sz="1060" dirty="0"/>
          </a:p>
        </p:txBody>
      </p:sp>
      <p:sp>
        <p:nvSpPr>
          <p:cNvPr id="62" name="Text 60"/>
          <p:cNvSpPr/>
          <p:nvPr/>
        </p:nvSpPr>
        <p:spPr>
          <a:xfrm>
            <a:off x="6720840" y="324154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a:t>
            </a:r>
            <a:endParaRPr lang="en-US" sz="1280" dirty="0"/>
          </a:p>
        </p:txBody>
      </p:sp>
      <p:sp>
        <p:nvSpPr>
          <p:cNvPr id="63" name="Text 61"/>
          <p:cNvSpPr/>
          <p:nvPr/>
        </p:nvSpPr>
        <p:spPr>
          <a:xfrm>
            <a:off x="6327648" y="349758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07</a:t>
            </a:r>
            <a:endParaRPr lang="en-US" sz="1060" dirty="0"/>
          </a:p>
        </p:txBody>
      </p:sp>
      <p:sp>
        <p:nvSpPr>
          <p:cNvPr id="64" name="Text 62"/>
          <p:cNvSpPr/>
          <p:nvPr/>
        </p:nvSpPr>
        <p:spPr>
          <a:xfrm>
            <a:off x="6720840" y="348386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t>
            </a:r>
            <a:endParaRPr lang="en-US" sz="1280" dirty="0"/>
          </a:p>
        </p:txBody>
      </p:sp>
      <p:sp>
        <p:nvSpPr>
          <p:cNvPr id="65" name="Text 63"/>
          <p:cNvSpPr/>
          <p:nvPr/>
        </p:nvSpPr>
        <p:spPr>
          <a:xfrm>
            <a:off x="6327648" y="373989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08</a:t>
            </a:r>
            <a:endParaRPr lang="en-US" sz="1060" dirty="0"/>
          </a:p>
        </p:txBody>
      </p:sp>
      <p:sp>
        <p:nvSpPr>
          <p:cNvPr id="66" name="Text 64"/>
          <p:cNvSpPr/>
          <p:nvPr/>
        </p:nvSpPr>
        <p:spPr>
          <a:xfrm>
            <a:off x="6720840" y="3726180"/>
            <a:ext cx="4782312" cy="242316"/>
          </a:xfrm>
          <a:prstGeom prst="rect">
            <a:avLst/>
          </a:prstGeom>
          <a:noFill/>
          <a:ln/>
        </p:spPr>
        <p:txBody>
          <a:bodyPr wrap="square" lIns="0" tIns="0" rIns="0" bIns="0" rtlCol="0" anchor="ctr">
            <a:normAutofit/>
          </a:bodyPr>
          <a:lstStyle/>
          <a:p>
            <a:pPr indent="0" marL="0">
              <a:buNone/>
            </a:pPr>
            <a:r>
              <a:rPr lang="en-US" sz="1280" dirty="0">
                <a:solidFill>
                  <a:srgbClr val="78C9A6"/>
                </a:solidFill>
                <a:latin typeface="Aptos Mono" pitchFamily="34" charset="0"/>
                <a:ea typeface="Aptos Mono" pitchFamily="34" charset="-122"/>
                <a:cs typeface="Aptos Mono" pitchFamily="34" charset="-120"/>
              </a:rPr>
              <a:t>// Le proprietà non modificate vengono copiate.</a:t>
            </a:r>
            <a:endParaRPr lang="en-US" sz="1280" dirty="0"/>
          </a:p>
        </p:txBody>
      </p:sp>
      <p:sp>
        <p:nvSpPr>
          <p:cNvPr id="67" name="Shape 65"/>
          <p:cNvSpPr/>
          <p:nvPr/>
        </p:nvSpPr>
        <p:spPr>
          <a:xfrm>
            <a:off x="5870448" y="3310128"/>
            <a:ext cx="274320" cy="475488"/>
          </a:xfrm>
          <a:prstGeom prst="chevron">
            <a:avLst/>
          </a:prstGeom>
          <a:solidFill>
            <a:srgbClr val="4C7DFF"/>
          </a:solidFill>
          <a:ln w="12700">
            <a:solidFill>
              <a:srgbClr val="4C7DFF"/>
            </a:solidFill>
            <a:prstDash val="solid"/>
          </a:ln>
        </p:spPr>
      </p:sp>
      <p:sp>
        <p:nvSpPr>
          <p:cNvPr id="68" name="Text 66"/>
          <p:cNvSpPr/>
          <p:nvPr/>
        </p:nvSpPr>
        <p:spPr>
          <a:xfrm>
            <a:off x="1828800" y="6217920"/>
            <a:ext cx="8503920" cy="210312"/>
          </a:xfrm>
          <a:prstGeom prst="rect">
            <a:avLst/>
          </a:prstGeom>
          <a:noFill/>
          <a:ln/>
        </p:spPr>
        <p:txBody>
          <a:bodyPr wrap="square" lIns="0" tIns="0" rIns="0" bIns="0" rtlCol="0" anchor="ctr"/>
          <a:lstStyle/>
          <a:p>
            <a:pPr algn="ctr" indent="0" marL="0">
              <a:buNone/>
            </a:pPr>
            <a:r>
              <a:rPr lang="en-US" sz="1050" b="1" dirty="0">
                <a:solidFill>
                  <a:srgbClr val="F5C96A"/>
                </a:solidFill>
                <a:latin typeface="Aptos" pitchFamily="34" charset="0"/>
                <a:ea typeface="Aptos" pitchFamily="34" charset="-122"/>
                <a:cs typeface="Aptos" pitchFamily="34" charset="-120"/>
              </a:rPr>
              <a:t>Crea una nuova rappresentazione dello stato.</a:t>
            </a:r>
            <a:endParaRPr lang="en-US" sz="10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44</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ARRAY STATE</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Le collezioni si aggiornano con map, filter e spread</a:t>
            </a:r>
            <a:endParaRPr lang="en-US" sz="2700" dirty="0"/>
          </a:p>
        </p:txBody>
      </p:sp>
      <p:sp>
        <p:nvSpPr>
          <p:cNvPr id="29" name="Shape 27"/>
          <p:cNvSpPr/>
          <p:nvPr/>
        </p:nvSpPr>
        <p:spPr>
          <a:xfrm>
            <a:off x="530352" y="1581912"/>
            <a:ext cx="5440680" cy="4526280"/>
          </a:xfrm>
          <a:prstGeom prst="roundRect">
            <a:avLst>
              <a:gd name="adj" fmla="val 1010"/>
            </a:avLst>
          </a:prstGeom>
          <a:solidFill>
            <a:srgbClr val="0D1A2B"/>
          </a:solidFill>
          <a:ln w="13970">
            <a:solidFill>
              <a:srgbClr val="263A55"/>
            </a:solidFill>
            <a:prstDash val="solid"/>
          </a:ln>
        </p:spPr>
      </p:sp>
      <p:sp>
        <p:nvSpPr>
          <p:cNvPr id="30" name="Shape 28"/>
          <p:cNvSpPr/>
          <p:nvPr/>
        </p:nvSpPr>
        <p:spPr>
          <a:xfrm>
            <a:off x="530352" y="1581912"/>
            <a:ext cx="5440680" cy="347472"/>
          </a:xfrm>
          <a:prstGeom prst="rect">
            <a:avLst/>
          </a:prstGeom>
          <a:solidFill>
            <a:srgbClr val="122238"/>
          </a:solidFill>
          <a:ln w="12700">
            <a:solidFill>
              <a:srgbClr val="122238"/>
            </a:solidFill>
            <a:prstDash val="solid"/>
          </a:ln>
        </p:spPr>
      </p:sp>
      <p:sp>
        <p:nvSpPr>
          <p:cNvPr id="31" name="Shape 29"/>
          <p:cNvSpPr/>
          <p:nvPr/>
        </p:nvSpPr>
        <p:spPr>
          <a:xfrm>
            <a:off x="694944" y="1623060"/>
            <a:ext cx="658368" cy="274320"/>
          </a:xfrm>
          <a:prstGeom prst="roundRect">
            <a:avLst>
              <a:gd name="adj" fmla="val 20000"/>
            </a:avLst>
          </a:prstGeom>
          <a:solidFill>
            <a:srgbClr val="FF7A8A">
              <a:alpha val="20000"/>
            </a:srgbClr>
          </a:solidFill>
          <a:ln w="10160">
            <a:solidFill>
              <a:srgbClr val="FF7A8A">
                <a:alpha val="55000"/>
              </a:srgbClr>
            </a:solidFill>
            <a:prstDash val="solid"/>
          </a:ln>
        </p:spPr>
      </p:sp>
      <p:sp>
        <p:nvSpPr>
          <p:cNvPr id="32" name="Text 30"/>
          <p:cNvSpPr/>
          <p:nvPr/>
        </p:nvSpPr>
        <p:spPr>
          <a:xfrm>
            <a:off x="786384" y="1682496"/>
            <a:ext cx="475488" cy="128016"/>
          </a:xfrm>
          <a:prstGeom prst="rect">
            <a:avLst/>
          </a:prstGeom>
          <a:noFill/>
          <a:ln/>
        </p:spPr>
        <p:txBody>
          <a:bodyPr wrap="square" lIns="0" tIns="0" rIns="0" bIns="0" rtlCol="0" anchor="ctr"/>
          <a:lstStyle/>
          <a:p>
            <a:pPr algn="ctr" indent="0" marL="0">
              <a:buNone/>
            </a:pPr>
            <a:r>
              <a:rPr lang="en-US" sz="820" b="1" dirty="0">
                <a:solidFill>
                  <a:srgbClr val="FF7A8A"/>
                </a:solidFill>
                <a:latin typeface="Aptos Mono" pitchFamily="34" charset="0"/>
                <a:ea typeface="Aptos Mono" pitchFamily="34" charset="-122"/>
                <a:cs typeface="Aptos Mono" pitchFamily="34" charset="-120"/>
              </a:rPr>
              <a:t>TSX</a:t>
            </a:r>
            <a:endParaRPr lang="en-US" sz="820" dirty="0"/>
          </a:p>
        </p:txBody>
      </p:sp>
      <p:sp>
        <p:nvSpPr>
          <p:cNvPr id="33" name="Text 31"/>
          <p:cNvSpPr/>
          <p:nvPr/>
        </p:nvSpPr>
        <p:spPr>
          <a:xfrm>
            <a:off x="1490472" y="1677924"/>
            <a:ext cx="420624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PRIMA</a:t>
            </a:r>
            <a:endParaRPr lang="en-US" sz="880" dirty="0"/>
          </a:p>
        </p:txBody>
      </p:sp>
      <p:sp>
        <p:nvSpPr>
          <p:cNvPr id="34" name="Text 32"/>
          <p:cNvSpPr/>
          <p:nvPr/>
        </p:nvSpPr>
        <p:spPr>
          <a:xfrm>
            <a:off x="640080" y="204368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01</a:t>
            </a:r>
            <a:endParaRPr lang="en-US" sz="1060" dirty="0"/>
          </a:p>
        </p:txBody>
      </p:sp>
      <p:sp>
        <p:nvSpPr>
          <p:cNvPr id="35" name="Text 33"/>
          <p:cNvSpPr/>
          <p:nvPr/>
        </p:nvSpPr>
        <p:spPr>
          <a:xfrm>
            <a:off x="1033272" y="202996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function closeTicket(id: string) {</a:t>
            </a:r>
            <a:endParaRPr lang="en-US" sz="1280" dirty="0"/>
          </a:p>
        </p:txBody>
      </p:sp>
      <p:sp>
        <p:nvSpPr>
          <p:cNvPr id="36" name="Text 34"/>
          <p:cNvSpPr/>
          <p:nvPr/>
        </p:nvSpPr>
        <p:spPr>
          <a:xfrm>
            <a:off x="640080" y="228600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02</a:t>
            </a:r>
            <a:endParaRPr lang="en-US" sz="1060" dirty="0"/>
          </a:p>
        </p:txBody>
      </p:sp>
      <p:sp>
        <p:nvSpPr>
          <p:cNvPr id="37" name="Text 35"/>
          <p:cNvSpPr/>
          <p:nvPr/>
        </p:nvSpPr>
        <p:spPr>
          <a:xfrm>
            <a:off x="1033272" y="227228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const ticket = tickets.find(t =&gt; t.id === id);</a:t>
            </a:r>
            <a:endParaRPr lang="en-US" sz="1280" dirty="0"/>
          </a:p>
        </p:txBody>
      </p:sp>
      <p:sp>
        <p:nvSpPr>
          <p:cNvPr id="38" name="Text 36"/>
          <p:cNvSpPr/>
          <p:nvPr/>
        </p:nvSpPr>
        <p:spPr>
          <a:xfrm>
            <a:off x="640080" y="252831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03</a:t>
            </a:r>
            <a:endParaRPr lang="en-US" sz="1060" dirty="0"/>
          </a:p>
        </p:txBody>
      </p:sp>
      <p:sp>
        <p:nvSpPr>
          <p:cNvPr id="39" name="Text 37"/>
          <p:cNvSpPr/>
          <p:nvPr/>
        </p:nvSpPr>
        <p:spPr>
          <a:xfrm>
            <a:off x="1033272" y="2514600"/>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ticket.status = 'closed'; // muta elemento</a:t>
            </a:r>
            <a:endParaRPr lang="en-US" sz="1280" dirty="0"/>
          </a:p>
        </p:txBody>
      </p:sp>
      <p:sp>
        <p:nvSpPr>
          <p:cNvPr id="40" name="Text 38"/>
          <p:cNvSpPr/>
          <p:nvPr/>
        </p:nvSpPr>
        <p:spPr>
          <a:xfrm>
            <a:off x="640080" y="2770632"/>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04</a:t>
            </a:r>
            <a:endParaRPr lang="en-US" sz="1060" dirty="0"/>
          </a:p>
        </p:txBody>
      </p:sp>
      <p:sp>
        <p:nvSpPr>
          <p:cNvPr id="41" name="Text 39"/>
          <p:cNvSpPr/>
          <p:nvPr/>
        </p:nvSpPr>
        <p:spPr>
          <a:xfrm>
            <a:off x="1033272" y="2756916"/>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setTickets(tickets);      // stessa lista</a:t>
            </a:r>
            <a:endParaRPr lang="en-US" sz="1280" dirty="0"/>
          </a:p>
        </p:txBody>
      </p:sp>
      <p:sp>
        <p:nvSpPr>
          <p:cNvPr id="42" name="Text 40"/>
          <p:cNvSpPr/>
          <p:nvPr/>
        </p:nvSpPr>
        <p:spPr>
          <a:xfrm>
            <a:off x="640080" y="3012948"/>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05</a:t>
            </a:r>
            <a:endParaRPr lang="en-US" sz="1060" dirty="0"/>
          </a:p>
        </p:txBody>
      </p:sp>
      <p:sp>
        <p:nvSpPr>
          <p:cNvPr id="43" name="Text 41"/>
          <p:cNvSpPr/>
          <p:nvPr/>
        </p:nvSpPr>
        <p:spPr>
          <a:xfrm>
            <a:off x="1033272" y="2999232"/>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a:t>
            </a:r>
            <a:endParaRPr lang="en-US" sz="1280" dirty="0"/>
          </a:p>
        </p:txBody>
      </p:sp>
      <p:sp>
        <p:nvSpPr>
          <p:cNvPr id="44" name="Shape 42"/>
          <p:cNvSpPr/>
          <p:nvPr/>
        </p:nvSpPr>
        <p:spPr>
          <a:xfrm>
            <a:off x="6217920" y="1581912"/>
            <a:ext cx="5440680" cy="4526280"/>
          </a:xfrm>
          <a:prstGeom prst="roundRect">
            <a:avLst>
              <a:gd name="adj" fmla="val 1010"/>
            </a:avLst>
          </a:prstGeom>
          <a:solidFill>
            <a:srgbClr val="0D1A2B"/>
          </a:solidFill>
          <a:ln w="13970">
            <a:solidFill>
              <a:srgbClr val="263A55"/>
            </a:solidFill>
            <a:prstDash val="solid"/>
          </a:ln>
        </p:spPr>
      </p:sp>
      <p:sp>
        <p:nvSpPr>
          <p:cNvPr id="45" name="Shape 43"/>
          <p:cNvSpPr/>
          <p:nvPr/>
        </p:nvSpPr>
        <p:spPr>
          <a:xfrm>
            <a:off x="6217920" y="1581912"/>
            <a:ext cx="5440680" cy="347472"/>
          </a:xfrm>
          <a:prstGeom prst="rect">
            <a:avLst/>
          </a:prstGeom>
          <a:solidFill>
            <a:srgbClr val="122238"/>
          </a:solidFill>
          <a:ln w="12700">
            <a:solidFill>
              <a:srgbClr val="122238"/>
            </a:solidFill>
            <a:prstDash val="solid"/>
          </a:ln>
        </p:spPr>
      </p:sp>
      <p:sp>
        <p:nvSpPr>
          <p:cNvPr id="46" name="Shape 44"/>
          <p:cNvSpPr/>
          <p:nvPr/>
        </p:nvSpPr>
        <p:spPr>
          <a:xfrm>
            <a:off x="6382512" y="1623060"/>
            <a:ext cx="658368" cy="274320"/>
          </a:xfrm>
          <a:prstGeom prst="roundRect">
            <a:avLst>
              <a:gd name="adj" fmla="val 20000"/>
            </a:avLst>
          </a:prstGeom>
          <a:solidFill>
            <a:srgbClr val="6FE3B1">
              <a:alpha val="20000"/>
            </a:srgbClr>
          </a:solidFill>
          <a:ln w="10160">
            <a:solidFill>
              <a:srgbClr val="6FE3B1">
                <a:alpha val="55000"/>
              </a:srgbClr>
            </a:solidFill>
            <a:prstDash val="solid"/>
          </a:ln>
        </p:spPr>
      </p:sp>
      <p:sp>
        <p:nvSpPr>
          <p:cNvPr id="47" name="Text 45"/>
          <p:cNvSpPr/>
          <p:nvPr/>
        </p:nvSpPr>
        <p:spPr>
          <a:xfrm>
            <a:off x="6473952" y="1682496"/>
            <a:ext cx="475488" cy="128016"/>
          </a:xfrm>
          <a:prstGeom prst="rect">
            <a:avLst/>
          </a:prstGeom>
          <a:noFill/>
          <a:ln/>
        </p:spPr>
        <p:txBody>
          <a:bodyPr wrap="square" lIns="0" tIns="0" rIns="0" bIns="0" rtlCol="0" anchor="ctr"/>
          <a:lstStyle/>
          <a:p>
            <a:pPr algn="ctr" indent="0" marL="0">
              <a:buNone/>
            </a:pPr>
            <a:r>
              <a:rPr lang="en-US" sz="820" b="1" dirty="0">
                <a:solidFill>
                  <a:srgbClr val="6FE3B1"/>
                </a:solidFill>
                <a:latin typeface="Aptos Mono" pitchFamily="34" charset="0"/>
                <a:ea typeface="Aptos Mono" pitchFamily="34" charset="-122"/>
                <a:cs typeface="Aptos Mono" pitchFamily="34" charset="-120"/>
              </a:rPr>
              <a:t>TSX</a:t>
            </a:r>
            <a:endParaRPr lang="en-US" sz="820" dirty="0"/>
          </a:p>
        </p:txBody>
      </p:sp>
      <p:sp>
        <p:nvSpPr>
          <p:cNvPr id="48" name="Text 46"/>
          <p:cNvSpPr/>
          <p:nvPr/>
        </p:nvSpPr>
        <p:spPr>
          <a:xfrm>
            <a:off x="7178040" y="1677924"/>
            <a:ext cx="420624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DOPO</a:t>
            </a:r>
            <a:endParaRPr lang="en-US" sz="880" dirty="0"/>
          </a:p>
        </p:txBody>
      </p:sp>
      <p:sp>
        <p:nvSpPr>
          <p:cNvPr id="49" name="Text 47"/>
          <p:cNvSpPr/>
          <p:nvPr/>
        </p:nvSpPr>
        <p:spPr>
          <a:xfrm>
            <a:off x="6327648" y="204368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01</a:t>
            </a:r>
            <a:endParaRPr lang="en-US" sz="1060" dirty="0"/>
          </a:p>
        </p:txBody>
      </p:sp>
      <p:sp>
        <p:nvSpPr>
          <p:cNvPr id="50" name="Text 48"/>
          <p:cNvSpPr/>
          <p:nvPr/>
        </p:nvSpPr>
        <p:spPr>
          <a:xfrm>
            <a:off x="6720840" y="202996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function closeTicket(id: string) {</a:t>
            </a:r>
            <a:endParaRPr lang="en-US" sz="1280" dirty="0"/>
          </a:p>
        </p:txBody>
      </p:sp>
      <p:sp>
        <p:nvSpPr>
          <p:cNvPr id="51" name="Text 49"/>
          <p:cNvSpPr/>
          <p:nvPr/>
        </p:nvSpPr>
        <p:spPr>
          <a:xfrm>
            <a:off x="6327648" y="228600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02</a:t>
            </a:r>
            <a:endParaRPr lang="en-US" sz="1060" dirty="0"/>
          </a:p>
        </p:txBody>
      </p:sp>
      <p:sp>
        <p:nvSpPr>
          <p:cNvPr id="52" name="Text 50"/>
          <p:cNvSpPr/>
          <p:nvPr/>
        </p:nvSpPr>
        <p:spPr>
          <a:xfrm>
            <a:off x="6720840" y="227228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setTickets(current =&gt;</a:t>
            </a:r>
            <a:endParaRPr lang="en-US" sz="1280" dirty="0"/>
          </a:p>
        </p:txBody>
      </p:sp>
      <p:sp>
        <p:nvSpPr>
          <p:cNvPr id="53" name="Text 51"/>
          <p:cNvSpPr/>
          <p:nvPr/>
        </p:nvSpPr>
        <p:spPr>
          <a:xfrm>
            <a:off x="6327648" y="252831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03</a:t>
            </a:r>
            <a:endParaRPr lang="en-US" sz="1060" dirty="0"/>
          </a:p>
        </p:txBody>
      </p:sp>
      <p:sp>
        <p:nvSpPr>
          <p:cNvPr id="54" name="Text 52"/>
          <p:cNvSpPr/>
          <p:nvPr/>
        </p:nvSpPr>
        <p:spPr>
          <a:xfrm>
            <a:off x="6720840" y="2514600"/>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current.map(ticket =&gt;</a:t>
            </a:r>
            <a:endParaRPr lang="en-US" sz="1280" dirty="0"/>
          </a:p>
        </p:txBody>
      </p:sp>
      <p:sp>
        <p:nvSpPr>
          <p:cNvPr id="55" name="Text 53"/>
          <p:cNvSpPr/>
          <p:nvPr/>
        </p:nvSpPr>
        <p:spPr>
          <a:xfrm>
            <a:off x="6327648" y="2770632"/>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04</a:t>
            </a:r>
            <a:endParaRPr lang="en-US" sz="1060" dirty="0"/>
          </a:p>
        </p:txBody>
      </p:sp>
      <p:sp>
        <p:nvSpPr>
          <p:cNvPr id="56" name="Text 54"/>
          <p:cNvSpPr/>
          <p:nvPr/>
        </p:nvSpPr>
        <p:spPr>
          <a:xfrm>
            <a:off x="6720840" y="2756916"/>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ticket.id === id</a:t>
            </a:r>
            <a:endParaRPr lang="en-US" sz="1280" dirty="0"/>
          </a:p>
        </p:txBody>
      </p:sp>
      <p:sp>
        <p:nvSpPr>
          <p:cNvPr id="57" name="Text 55"/>
          <p:cNvSpPr/>
          <p:nvPr/>
        </p:nvSpPr>
        <p:spPr>
          <a:xfrm>
            <a:off x="6327648" y="3012948"/>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05</a:t>
            </a:r>
            <a:endParaRPr lang="en-US" sz="1060" dirty="0"/>
          </a:p>
        </p:txBody>
      </p:sp>
      <p:sp>
        <p:nvSpPr>
          <p:cNvPr id="58" name="Text 56"/>
          <p:cNvSpPr/>
          <p:nvPr/>
        </p:nvSpPr>
        <p:spPr>
          <a:xfrm>
            <a:off x="6720840" y="2999232"/>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 { ...ticket, status: 'closed' }</a:t>
            </a:r>
            <a:endParaRPr lang="en-US" sz="1280" dirty="0"/>
          </a:p>
        </p:txBody>
      </p:sp>
      <p:sp>
        <p:nvSpPr>
          <p:cNvPr id="59" name="Text 57"/>
          <p:cNvSpPr/>
          <p:nvPr/>
        </p:nvSpPr>
        <p:spPr>
          <a:xfrm>
            <a:off x="6327648" y="325526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06</a:t>
            </a:r>
            <a:endParaRPr lang="en-US" sz="1060" dirty="0"/>
          </a:p>
        </p:txBody>
      </p:sp>
      <p:sp>
        <p:nvSpPr>
          <p:cNvPr id="60" name="Text 58"/>
          <p:cNvSpPr/>
          <p:nvPr/>
        </p:nvSpPr>
        <p:spPr>
          <a:xfrm>
            <a:off x="6720840" y="324154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 ticket</a:t>
            </a:r>
            <a:endParaRPr lang="en-US" sz="1280" dirty="0"/>
          </a:p>
        </p:txBody>
      </p:sp>
      <p:sp>
        <p:nvSpPr>
          <p:cNvPr id="61" name="Text 59"/>
          <p:cNvSpPr/>
          <p:nvPr/>
        </p:nvSpPr>
        <p:spPr>
          <a:xfrm>
            <a:off x="6327648" y="349758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07</a:t>
            </a:r>
            <a:endParaRPr lang="en-US" sz="1060" dirty="0"/>
          </a:p>
        </p:txBody>
      </p:sp>
      <p:sp>
        <p:nvSpPr>
          <p:cNvPr id="62" name="Text 60"/>
          <p:cNvSpPr/>
          <p:nvPr/>
        </p:nvSpPr>
        <p:spPr>
          <a:xfrm>
            <a:off x="6720840" y="348386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t>
            </a:r>
            <a:endParaRPr lang="en-US" sz="1280" dirty="0"/>
          </a:p>
        </p:txBody>
      </p:sp>
      <p:sp>
        <p:nvSpPr>
          <p:cNvPr id="63" name="Text 61"/>
          <p:cNvSpPr/>
          <p:nvPr/>
        </p:nvSpPr>
        <p:spPr>
          <a:xfrm>
            <a:off x="6327648" y="373989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08</a:t>
            </a:r>
            <a:endParaRPr lang="en-US" sz="1060" dirty="0"/>
          </a:p>
        </p:txBody>
      </p:sp>
      <p:sp>
        <p:nvSpPr>
          <p:cNvPr id="64" name="Text 62"/>
          <p:cNvSpPr/>
          <p:nvPr/>
        </p:nvSpPr>
        <p:spPr>
          <a:xfrm>
            <a:off x="6720840" y="3726180"/>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t>
            </a:r>
            <a:endParaRPr lang="en-US" sz="1280" dirty="0"/>
          </a:p>
        </p:txBody>
      </p:sp>
      <p:sp>
        <p:nvSpPr>
          <p:cNvPr id="65" name="Text 63"/>
          <p:cNvSpPr/>
          <p:nvPr/>
        </p:nvSpPr>
        <p:spPr>
          <a:xfrm>
            <a:off x="6327648" y="3982212"/>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09</a:t>
            </a:r>
            <a:endParaRPr lang="en-US" sz="1060" dirty="0"/>
          </a:p>
        </p:txBody>
      </p:sp>
      <p:sp>
        <p:nvSpPr>
          <p:cNvPr id="66" name="Text 64"/>
          <p:cNvSpPr/>
          <p:nvPr/>
        </p:nvSpPr>
        <p:spPr>
          <a:xfrm>
            <a:off x="6720840" y="3968496"/>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a:t>
            </a:r>
            <a:endParaRPr lang="en-US" sz="1280" dirty="0"/>
          </a:p>
        </p:txBody>
      </p:sp>
      <p:sp>
        <p:nvSpPr>
          <p:cNvPr id="67" name="Shape 65"/>
          <p:cNvSpPr/>
          <p:nvPr/>
        </p:nvSpPr>
        <p:spPr>
          <a:xfrm>
            <a:off x="5870448" y="3310128"/>
            <a:ext cx="274320" cy="475488"/>
          </a:xfrm>
          <a:prstGeom prst="chevron">
            <a:avLst/>
          </a:prstGeom>
          <a:solidFill>
            <a:srgbClr val="4C7DFF"/>
          </a:solidFill>
          <a:ln w="12700">
            <a:solidFill>
              <a:srgbClr val="4C7DFF"/>
            </a:solidFill>
            <a:prstDash val="solid"/>
          </a:ln>
        </p:spPr>
      </p:sp>
      <p:sp>
        <p:nvSpPr>
          <p:cNvPr id="68" name="Text 66"/>
          <p:cNvSpPr/>
          <p:nvPr/>
        </p:nvSpPr>
        <p:spPr>
          <a:xfrm>
            <a:off x="1828800" y="6217920"/>
            <a:ext cx="8503920" cy="210312"/>
          </a:xfrm>
          <a:prstGeom prst="rect">
            <a:avLst/>
          </a:prstGeom>
          <a:noFill/>
          <a:ln/>
        </p:spPr>
        <p:txBody>
          <a:bodyPr wrap="square" lIns="0" tIns="0" rIns="0" bIns="0" rtlCol="0" anchor="ctr"/>
          <a:lstStyle/>
          <a:p>
            <a:pPr algn="ctr" indent="0" marL="0">
              <a:buNone/>
            </a:pPr>
            <a:r>
              <a:rPr lang="en-US" sz="1050" b="1" dirty="0">
                <a:solidFill>
                  <a:srgbClr val="F5C96A"/>
                </a:solidFill>
                <a:latin typeface="Aptos" pitchFamily="34" charset="0"/>
                <a:ea typeface="Aptos" pitchFamily="34" charset="-122"/>
                <a:cs typeface="Aptos" pitchFamily="34" charset="-120"/>
              </a:rPr>
              <a:t>Conserva le reference degli elementi invariati, sostituisci quello modificato.</a:t>
            </a:r>
            <a:endParaRPr lang="en-US" sz="10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45</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INIZIALIZZAZIONE COSTOSA</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La lazy initializer evita lavoro a ogni render</a:t>
            </a:r>
            <a:endParaRPr lang="en-US" sz="2700" dirty="0"/>
          </a:p>
        </p:txBody>
      </p:sp>
      <p:sp>
        <p:nvSpPr>
          <p:cNvPr id="29" name="Shape 27"/>
          <p:cNvSpPr/>
          <p:nvPr/>
        </p:nvSpPr>
        <p:spPr>
          <a:xfrm>
            <a:off x="530352" y="1591056"/>
            <a:ext cx="7589520" cy="4553712"/>
          </a:xfrm>
          <a:prstGeom prst="roundRect">
            <a:avLst>
              <a:gd name="adj" fmla="val 1004"/>
            </a:avLst>
          </a:prstGeom>
          <a:solidFill>
            <a:srgbClr val="0D1A2B"/>
          </a:solidFill>
          <a:ln w="13970">
            <a:solidFill>
              <a:srgbClr val="263A55"/>
            </a:solidFill>
            <a:prstDash val="solid"/>
          </a:ln>
        </p:spPr>
      </p:sp>
      <p:sp>
        <p:nvSpPr>
          <p:cNvPr id="30" name="Shape 28"/>
          <p:cNvSpPr/>
          <p:nvPr/>
        </p:nvSpPr>
        <p:spPr>
          <a:xfrm>
            <a:off x="530352" y="1591056"/>
            <a:ext cx="7589520" cy="347472"/>
          </a:xfrm>
          <a:prstGeom prst="rect">
            <a:avLst/>
          </a:prstGeom>
          <a:solidFill>
            <a:srgbClr val="122238"/>
          </a:solidFill>
          <a:ln w="12700">
            <a:solidFill>
              <a:srgbClr val="122238"/>
            </a:solidFill>
            <a:prstDash val="solid"/>
          </a:ln>
        </p:spPr>
      </p:sp>
      <p:sp>
        <p:nvSpPr>
          <p:cNvPr id="31" name="Shape 29"/>
          <p:cNvSpPr/>
          <p:nvPr/>
        </p:nvSpPr>
        <p:spPr>
          <a:xfrm>
            <a:off x="694944" y="1632204"/>
            <a:ext cx="658368" cy="274320"/>
          </a:xfrm>
          <a:prstGeom prst="roundRect">
            <a:avLst>
              <a:gd name="adj" fmla="val 20000"/>
            </a:avLst>
          </a:prstGeom>
          <a:solidFill>
            <a:srgbClr val="7CD4FF">
              <a:alpha val="20000"/>
            </a:srgbClr>
          </a:solidFill>
          <a:ln w="10160">
            <a:solidFill>
              <a:srgbClr val="7CD4FF">
                <a:alpha val="55000"/>
              </a:srgbClr>
            </a:solidFill>
            <a:prstDash val="solid"/>
          </a:ln>
        </p:spPr>
      </p:sp>
      <p:sp>
        <p:nvSpPr>
          <p:cNvPr id="32" name="Text 30"/>
          <p:cNvSpPr/>
          <p:nvPr/>
        </p:nvSpPr>
        <p:spPr>
          <a:xfrm>
            <a:off x="786384" y="1691640"/>
            <a:ext cx="475488" cy="128016"/>
          </a:xfrm>
          <a:prstGeom prst="rect">
            <a:avLst/>
          </a:prstGeom>
          <a:noFill/>
          <a:ln/>
        </p:spPr>
        <p:txBody>
          <a:bodyPr wrap="square" lIns="0" tIns="0" rIns="0" bIns="0" rtlCol="0" anchor="ctr"/>
          <a:lstStyle/>
          <a:p>
            <a:pPr algn="ctr" indent="0" marL="0">
              <a:buNone/>
            </a:pPr>
            <a:r>
              <a:rPr lang="en-US" sz="820" b="1" dirty="0">
                <a:solidFill>
                  <a:srgbClr val="7CD4FF"/>
                </a:solidFill>
                <a:latin typeface="Aptos Mono" pitchFamily="34" charset="0"/>
                <a:ea typeface="Aptos Mono" pitchFamily="34" charset="-122"/>
                <a:cs typeface="Aptos Mono" pitchFamily="34" charset="-120"/>
              </a:rPr>
              <a:t>TSX</a:t>
            </a:r>
            <a:endParaRPr lang="en-US" sz="820" dirty="0"/>
          </a:p>
        </p:txBody>
      </p:sp>
      <p:sp>
        <p:nvSpPr>
          <p:cNvPr id="33" name="Text 31"/>
          <p:cNvSpPr/>
          <p:nvPr/>
        </p:nvSpPr>
        <p:spPr>
          <a:xfrm>
            <a:off x="1490472" y="1687068"/>
            <a:ext cx="635508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Preferences.tsx</a:t>
            </a:r>
            <a:endParaRPr lang="en-US" sz="880" dirty="0"/>
          </a:p>
        </p:txBody>
      </p:sp>
      <p:sp>
        <p:nvSpPr>
          <p:cNvPr id="34" name="Text 32"/>
          <p:cNvSpPr/>
          <p:nvPr/>
        </p:nvSpPr>
        <p:spPr>
          <a:xfrm>
            <a:off x="640080" y="205282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01</a:t>
            </a:r>
            <a:endParaRPr lang="en-US" sz="1200" dirty="0"/>
          </a:p>
        </p:txBody>
      </p:sp>
      <p:sp>
        <p:nvSpPr>
          <p:cNvPr id="35" name="Text 33"/>
          <p:cNvSpPr/>
          <p:nvPr/>
        </p:nvSpPr>
        <p:spPr>
          <a:xfrm>
            <a:off x="1033272" y="203911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function readInitialFilters(): Filters {</a:t>
            </a:r>
            <a:endParaRPr lang="en-US" sz="1420" dirty="0"/>
          </a:p>
        </p:txBody>
      </p:sp>
      <p:sp>
        <p:nvSpPr>
          <p:cNvPr id="36" name="Text 34"/>
          <p:cNvSpPr/>
          <p:nvPr/>
        </p:nvSpPr>
        <p:spPr>
          <a:xfrm>
            <a:off x="640080" y="229514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02</a:t>
            </a:r>
            <a:endParaRPr lang="en-US" sz="1200" dirty="0"/>
          </a:p>
        </p:txBody>
      </p:sp>
      <p:sp>
        <p:nvSpPr>
          <p:cNvPr id="37" name="Text 35"/>
          <p:cNvSpPr/>
          <p:nvPr/>
        </p:nvSpPr>
        <p:spPr>
          <a:xfrm>
            <a:off x="1033272" y="228142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const raw = localStorage.getItem('ticket-filters');</a:t>
            </a:r>
            <a:endParaRPr lang="en-US" sz="1420" dirty="0"/>
          </a:p>
        </p:txBody>
      </p:sp>
      <p:sp>
        <p:nvSpPr>
          <p:cNvPr id="38" name="Text 36"/>
          <p:cNvSpPr/>
          <p:nvPr/>
        </p:nvSpPr>
        <p:spPr>
          <a:xfrm>
            <a:off x="640080" y="253746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03</a:t>
            </a:r>
            <a:endParaRPr lang="en-US" sz="1200" dirty="0"/>
          </a:p>
        </p:txBody>
      </p:sp>
      <p:sp>
        <p:nvSpPr>
          <p:cNvPr id="39" name="Text 37"/>
          <p:cNvSpPr/>
          <p:nvPr/>
        </p:nvSpPr>
        <p:spPr>
          <a:xfrm>
            <a:off x="1033272" y="2523744"/>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return raw ? JSON.parse(raw) : DEFAULT_FILTERS;</a:t>
            </a:r>
            <a:endParaRPr lang="en-US" sz="1420" dirty="0"/>
          </a:p>
        </p:txBody>
      </p:sp>
      <p:sp>
        <p:nvSpPr>
          <p:cNvPr id="40" name="Text 38"/>
          <p:cNvSpPr/>
          <p:nvPr/>
        </p:nvSpPr>
        <p:spPr>
          <a:xfrm>
            <a:off x="640080" y="277977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04</a:t>
            </a:r>
            <a:endParaRPr lang="en-US" sz="1200" dirty="0"/>
          </a:p>
        </p:txBody>
      </p:sp>
      <p:sp>
        <p:nvSpPr>
          <p:cNvPr id="41" name="Text 39"/>
          <p:cNvSpPr/>
          <p:nvPr/>
        </p:nvSpPr>
        <p:spPr>
          <a:xfrm>
            <a:off x="1033272" y="2766060"/>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a:t>
            </a:r>
            <a:endParaRPr lang="en-US" sz="1420" dirty="0"/>
          </a:p>
        </p:txBody>
      </p:sp>
      <p:sp>
        <p:nvSpPr>
          <p:cNvPr id="42" name="Text 40"/>
          <p:cNvSpPr/>
          <p:nvPr/>
        </p:nvSpPr>
        <p:spPr>
          <a:xfrm>
            <a:off x="640080" y="3022092"/>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05</a:t>
            </a:r>
            <a:endParaRPr lang="en-US" sz="1200" dirty="0"/>
          </a:p>
        </p:txBody>
      </p:sp>
      <p:sp>
        <p:nvSpPr>
          <p:cNvPr id="43" name="Text 41"/>
          <p:cNvSpPr/>
          <p:nvPr/>
        </p:nvSpPr>
        <p:spPr>
          <a:xfrm>
            <a:off x="1033272" y="3008376"/>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44" name="Text 42"/>
          <p:cNvSpPr/>
          <p:nvPr/>
        </p:nvSpPr>
        <p:spPr>
          <a:xfrm>
            <a:off x="640080" y="326440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06</a:t>
            </a:r>
            <a:endParaRPr lang="en-US" sz="1200" dirty="0"/>
          </a:p>
        </p:txBody>
      </p:sp>
      <p:sp>
        <p:nvSpPr>
          <p:cNvPr id="45" name="Text 43"/>
          <p:cNvSpPr/>
          <p:nvPr/>
        </p:nvSpPr>
        <p:spPr>
          <a:xfrm>
            <a:off x="1033272" y="325069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export function Preferences() {</a:t>
            </a:r>
            <a:endParaRPr lang="en-US" sz="1420" dirty="0"/>
          </a:p>
        </p:txBody>
      </p:sp>
      <p:sp>
        <p:nvSpPr>
          <p:cNvPr id="46" name="Text 44"/>
          <p:cNvSpPr/>
          <p:nvPr/>
        </p:nvSpPr>
        <p:spPr>
          <a:xfrm>
            <a:off x="640080" y="350672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07</a:t>
            </a:r>
            <a:endParaRPr lang="en-US" sz="1200" dirty="0"/>
          </a:p>
        </p:txBody>
      </p:sp>
      <p:sp>
        <p:nvSpPr>
          <p:cNvPr id="47" name="Text 45"/>
          <p:cNvSpPr/>
          <p:nvPr/>
        </p:nvSpPr>
        <p:spPr>
          <a:xfrm>
            <a:off x="1033272" y="3493008"/>
            <a:ext cx="6931152" cy="242316"/>
          </a:xfrm>
          <a:prstGeom prst="rect">
            <a:avLst/>
          </a:prstGeom>
          <a:noFill/>
          <a:ln/>
        </p:spPr>
        <p:txBody>
          <a:bodyPr wrap="square" lIns="0" tIns="0" rIns="0" bIns="0" rtlCol="0" anchor="ctr">
            <a:normAutofit/>
          </a:bodyPr>
          <a:lstStyle/>
          <a:p>
            <a:pPr indent="0" marL="0">
              <a:buNone/>
            </a:pPr>
            <a:r>
              <a:rPr lang="en-US" sz="1420" dirty="0">
                <a:solidFill>
                  <a:srgbClr val="78C9A6"/>
                </a:solidFill>
                <a:latin typeface="Aptos Mono" pitchFamily="34" charset="0"/>
                <a:ea typeface="Aptos Mono" pitchFamily="34" charset="-122"/>
                <a:cs typeface="Aptos Mono" pitchFamily="34" charset="-120"/>
              </a:rPr>
              <a:t>  // React chiama la funzione durante l’inizializzazione.</a:t>
            </a:r>
            <a:endParaRPr lang="en-US" sz="1420" dirty="0"/>
          </a:p>
        </p:txBody>
      </p:sp>
      <p:sp>
        <p:nvSpPr>
          <p:cNvPr id="48" name="Text 46"/>
          <p:cNvSpPr/>
          <p:nvPr/>
        </p:nvSpPr>
        <p:spPr>
          <a:xfrm>
            <a:off x="640080" y="374904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08</a:t>
            </a:r>
            <a:endParaRPr lang="en-US" sz="1200" dirty="0"/>
          </a:p>
        </p:txBody>
      </p:sp>
      <p:sp>
        <p:nvSpPr>
          <p:cNvPr id="49" name="Text 47"/>
          <p:cNvSpPr/>
          <p:nvPr/>
        </p:nvSpPr>
        <p:spPr>
          <a:xfrm>
            <a:off x="1033272" y="3735324"/>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const [filters, setFilters] = useState(readInitialFilters);</a:t>
            </a:r>
            <a:endParaRPr lang="en-US" sz="1420" dirty="0"/>
          </a:p>
        </p:txBody>
      </p:sp>
      <p:sp>
        <p:nvSpPr>
          <p:cNvPr id="50" name="Text 48"/>
          <p:cNvSpPr/>
          <p:nvPr/>
        </p:nvSpPr>
        <p:spPr>
          <a:xfrm>
            <a:off x="640080" y="399135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09</a:t>
            </a:r>
            <a:endParaRPr lang="en-US" sz="1200" dirty="0"/>
          </a:p>
        </p:txBody>
      </p:sp>
      <p:sp>
        <p:nvSpPr>
          <p:cNvPr id="51" name="Text 49"/>
          <p:cNvSpPr/>
          <p:nvPr/>
        </p:nvSpPr>
        <p:spPr>
          <a:xfrm>
            <a:off x="1033272" y="3977640"/>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52" name="Text 50"/>
          <p:cNvSpPr/>
          <p:nvPr/>
        </p:nvSpPr>
        <p:spPr>
          <a:xfrm>
            <a:off x="640080" y="4233672"/>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10</a:t>
            </a:r>
            <a:endParaRPr lang="en-US" sz="1200" dirty="0"/>
          </a:p>
        </p:txBody>
      </p:sp>
      <p:sp>
        <p:nvSpPr>
          <p:cNvPr id="53" name="Text 51"/>
          <p:cNvSpPr/>
          <p:nvPr/>
        </p:nvSpPr>
        <p:spPr>
          <a:xfrm>
            <a:off x="1033272" y="4219956"/>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return &lt;FiltersForm value={filters} onChange={setFilters} /&gt;;</a:t>
            </a:r>
            <a:endParaRPr lang="en-US" sz="1420" dirty="0"/>
          </a:p>
        </p:txBody>
      </p:sp>
      <p:sp>
        <p:nvSpPr>
          <p:cNvPr id="54" name="Text 52"/>
          <p:cNvSpPr/>
          <p:nvPr/>
        </p:nvSpPr>
        <p:spPr>
          <a:xfrm>
            <a:off x="640080" y="447598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11</a:t>
            </a:r>
            <a:endParaRPr lang="en-US" sz="1200" dirty="0"/>
          </a:p>
        </p:txBody>
      </p:sp>
      <p:sp>
        <p:nvSpPr>
          <p:cNvPr id="55" name="Text 53"/>
          <p:cNvSpPr/>
          <p:nvPr/>
        </p:nvSpPr>
        <p:spPr>
          <a:xfrm>
            <a:off x="1033272" y="446227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a:t>
            </a:r>
            <a:endParaRPr lang="en-US" sz="1420" dirty="0"/>
          </a:p>
        </p:txBody>
      </p:sp>
      <p:sp>
        <p:nvSpPr>
          <p:cNvPr id="56" name="Text 54"/>
          <p:cNvSpPr/>
          <p:nvPr/>
        </p:nvSpPr>
        <p:spPr>
          <a:xfrm>
            <a:off x="640080" y="471830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12</a:t>
            </a:r>
            <a:endParaRPr lang="en-US" sz="1200" dirty="0"/>
          </a:p>
        </p:txBody>
      </p:sp>
      <p:sp>
        <p:nvSpPr>
          <p:cNvPr id="57" name="Text 55"/>
          <p:cNvSpPr/>
          <p:nvPr/>
        </p:nvSpPr>
        <p:spPr>
          <a:xfrm>
            <a:off x="1033272" y="470458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58" name="Text 56"/>
          <p:cNvSpPr/>
          <p:nvPr/>
        </p:nvSpPr>
        <p:spPr>
          <a:xfrm>
            <a:off x="640080" y="496062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13</a:t>
            </a:r>
            <a:endParaRPr lang="en-US" sz="1200" dirty="0"/>
          </a:p>
        </p:txBody>
      </p:sp>
      <p:sp>
        <p:nvSpPr>
          <p:cNvPr id="59" name="Text 57"/>
          <p:cNvSpPr/>
          <p:nvPr/>
        </p:nvSpPr>
        <p:spPr>
          <a:xfrm>
            <a:off x="1033272" y="4946904"/>
            <a:ext cx="6931152" cy="242316"/>
          </a:xfrm>
          <a:prstGeom prst="rect">
            <a:avLst/>
          </a:prstGeom>
          <a:noFill/>
          <a:ln/>
        </p:spPr>
        <p:txBody>
          <a:bodyPr wrap="square" lIns="0" tIns="0" rIns="0" bIns="0" rtlCol="0" anchor="ctr">
            <a:normAutofit/>
          </a:bodyPr>
          <a:lstStyle/>
          <a:p>
            <a:pPr indent="0" marL="0">
              <a:buNone/>
            </a:pPr>
            <a:r>
              <a:rPr lang="en-US" sz="1420" dirty="0">
                <a:solidFill>
                  <a:srgbClr val="78C9A6"/>
                </a:solidFill>
                <a:latin typeface="Aptos Mono" pitchFamily="34" charset="0"/>
                <a:ea typeface="Aptos Mono" pitchFamily="34" charset="-122"/>
                <a:cs typeface="Aptos Mono" pitchFamily="34" charset="-120"/>
              </a:rPr>
              <a:t>// Evita useState(readInitialFilters()) se la lettura è costosa.</a:t>
            </a:r>
            <a:endParaRPr lang="en-US" sz="1420" dirty="0"/>
          </a:p>
        </p:txBody>
      </p:sp>
      <p:sp>
        <p:nvSpPr>
          <p:cNvPr id="60" name="Shape 58"/>
          <p:cNvSpPr/>
          <p:nvPr/>
        </p:nvSpPr>
        <p:spPr>
          <a:xfrm>
            <a:off x="8366760" y="1591056"/>
            <a:ext cx="3310128" cy="4553712"/>
          </a:xfrm>
          <a:prstGeom prst="roundRect">
            <a:avLst>
              <a:gd name="adj" fmla="val 1381"/>
            </a:avLst>
          </a:prstGeom>
          <a:solidFill>
            <a:srgbClr val="122238"/>
          </a:solidFill>
          <a:ln w="12700">
            <a:solidFill>
              <a:srgbClr val="263A55"/>
            </a:solidFill>
            <a:prstDash val="solid"/>
          </a:ln>
        </p:spPr>
      </p:sp>
      <p:sp>
        <p:nvSpPr>
          <p:cNvPr id="61" name="Text 59"/>
          <p:cNvSpPr/>
          <p:nvPr/>
        </p:nvSpPr>
        <p:spPr>
          <a:xfrm>
            <a:off x="8586216" y="1801368"/>
            <a:ext cx="2871216" cy="182880"/>
          </a:xfrm>
          <a:prstGeom prst="rect">
            <a:avLst/>
          </a:prstGeom>
          <a:noFill/>
          <a:ln/>
        </p:spPr>
        <p:txBody>
          <a:bodyPr wrap="square" lIns="0" tIns="0" rIns="0" bIns="0" rtlCol="0" anchor="ctr"/>
          <a:lstStyle/>
          <a:p>
            <a:pPr indent="0" marL="0">
              <a:buNone/>
            </a:pPr>
            <a:r>
              <a:rPr lang="en-US" sz="950" b="1" spc="115" kern="0" dirty="0">
                <a:solidFill>
                  <a:srgbClr val="F5C96A"/>
                </a:solidFill>
                <a:latin typeface="Aptos" pitchFamily="34" charset="0"/>
                <a:ea typeface="Aptos" pitchFamily="34" charset="-122"/>
                <a:cs typeface="Aptos" pitchFamily="34" charset="-120"/>
              </a:rPr>
              <a:t>DA OSSERVARE</a:t>
            </a:r>
            <a:endParaRPr lang="en-US" sz="950" dirty="0"/>
          </a:p>
        </p:txBody>
      </p:sp>
      <p:sp>
        <p:nvSpPr>
          <p:cNvPr id="62" name="Shape 60"/>
          <p:cNvSpPr/>
          <p:nvPr/>
        </p:nvSpPr>
        <p:spPr>
          <a:xfrm>
            <a:off x="8586216" y="2267712"/>
            <a:ext cx="91440" cy="91440"/>
          </a:xfrm>
          <a:prstGeom prst="ellipse">
            <a:avLst/>
          </a:prstGeom>
          <a:solidFill>
            <a:srgbClr val="7CD4FF"/>
          </a:solidFill>
          <a:ln w="12700">
            <a:solidFill>
              <a:srgbClr val="7CD4FF"/>
            </a:solidFill>
            <a:prstDash val="solid"/>
          </a:ln>
        </p:spPr>
      </p:sp>
      <p:sp>
        <p:nvSpPr>
          <p:cNvPr id="63" name="Text 61"/>
          <p:cNvSpPr/>
          <p:nvPr/>
        </p:nvSpPr>
        <p:spPr>
          <a:xfrm>
            <a:off x="8778240" y="2212848"/>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Passa la funzione, non il risultato.</a:t>
            </a:r>
            <a:endParaRPr lang="en-US" sz="1420" dirty="0"/>
          </a:p>
        </p:txBody>
      </p:sp>
      <p:sp>
        <p:nvSpPr>
          <p:cNvPr id="64" name="Shape 62"/>
          <p:cNvSpPr/>
          <p:nvPr/>
        </p:nvSpPr>
        <p:spPr>
          <a:xfrm>
            <a:off x="8586216" y="2980944"/>
            <a:ext cx="91440" cy="91440"/>
          </a:xfrm>
          <a:prstGeom prst="ellipse">
            <a:avLst/>
          </a:prstGeom>
          <a:solidFill>
            <a:srgbClr val="7CD4FF"/>
          </a:solidFill>
          <a:ln w="12700">
            <a:solidFill>
              <a:srgbClr val="7CD4FF"/>
            </a:solidFill>
            <a:prstDash val="solid"/>
          </a:ln>
        </p:spPr>
      </p:sp>
      <p:sp>
        <p:nvSpPr>
          <p:cNvPr id="65" name="Text 63"/>
          <p:cNvSpPr/>
          <p:nvPr/>
        </p:nvSpPr>
        <p:spPr>
          <a:xfrm>
            <a:off x="8778240" y="2926080"/>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Il calcolo iniziale resta fuori dal render successivo.</a:t>
            </a:r>
            <a:endParaRPr lang="en-US" sz="1420" dirty="0"/>
          </a:p>
        </p:txBody>
      </p:sp>
      <p:sp>
        <p:nvSpPr>
          <p:cNvPr id="66" name="Shape 64"/>
          <p:cNvSpPr/>
          <p:nvPr/>
        </p:nvSpPr>
        <p:spPr>
          <a:xfrm>
            <a:off x="8586216" y="3694176"/>
            <a:ext cx="91440" cy="91440"/>
          </a:xfrm>
          <a:prstGeom prst="ellipse">
            <a:avLst/>
          </a:prstGeom>
          <a:solidFill>
            <a:srgbClr val="7CD4FF"/>
          </a:solidFill>
          <a:ln w="12700">
            <a:solidFill>
              <a:srgbClr val="7CD4FF"/>
            </a:solidFill>
            <a:prstDash val="solid"/>
          </a:ln>
        </p:spPr>
      </p:sp>
      <p:sp>
        <p:nvSpPr>
          <p:cNvPr id="67" name="Text 65"/>
          <p:cNvSpPr/>
          <p:nvPr/>
        </p:nvSpPr>
        <p:spPr>
          <a:xfrm>
            <a:off x="8778240" y="3639312"/>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L’inizializzatore deve essere puro.</a:t>
            </a:r>
            <a:endParaRPr lang="en-US" sz="142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46</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DERIVED STATE</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Non duplicare nello state ciò che si può derivare</a:t>
            </a:r>
            <a:endParaRPr lang="en-US" sz="2700" dirty="0"/>
          </a:p>
        </p:txBody>
      </p:sp>
      <p:sp>
        <p:nvSpPr>
          <p:cNvPr id="29" name="Shape 27"/>
          <p:cNvSpPr/>
          <p:nvPr/>
        </p:nvSpPr>
        <p:spPr>
          <a:xfrm>
            <a:off x="530352" y="1581912"/>
            <a:ext cx="5440680" cy="4526280"/>
          </a:xfrm>
          <a:prstGeom prst="roundRect">
            <a:avLst>
              <a:gd name="adj" fmla="val 1010"/>
            </a:avLst>
          </a:prstGeom>
          <a:solidFill>
            <a:srgbClr val="0D1A2B"/>
          </a:solidFill>
          <a:ln w="13970">
            <a:solidFill>
              <a:srgbClr val="263A55"/>
            </a:solidFill>
            <a:prstDash val="solid"/>
          </a:ln>
        </p:spPr>
      </p:sp>
      <p:sp>
        <p:nvSpPr>
          <p:cNvPr id="30" name="Shape 28"/>
          <p:cNvSpPr/>
          <p:nvPr/>
        </p:nvSpPr>
        <p:spPr>
          <a:xfrm>
            <a:off x="530352" y="1581912"/>
            <a:ext cx="5440680" cy="347472"/>
          </a:xfrm>
          <a:prstGeom prst="rect">
            <a:avLst/>
          </a:prstGeom>
          <a:solidFill>
            <a:srgbClr val="122238"/>
          </a:solidFill>
          <a:ln w="12700">
            <a:solidFill>
              <a:srgbClr val="122238"/>
            </a:solidFill>
            <a:prstDash val="solid"/>
          </a:ln>
        </p:spPr>
      </p:sp>
      <p:sp>
        <p:nvSpPr>
          <p:cNvPr id="31" name="Shape 29"/>
          <p:cNvSpPr/>
          <p:nvPr/>
        </p:nvSpPr>
        <p:spPr>
          <a:xfrm>
            <a:off x="694944" y="1623060"/>
            <a:ext cx="658368" cy="274320"/>
          </a:xfrm>
          <a:prstGeom prst="roundRect">
            <a:avLst>
              <a:gd name="adj" fmla="val 20000"/>
            </a:avLst>
          </a:prstGeom>
          <a:solidFill>
            <a:srgbClr val="FF7A8A">
              <a:alpha val="20000"/>
            </a:srgbClr>
          </a:solidFill>
          <a:ln w="10160">
            <a:solidFill>
              <a:srgbClr val="FF7A8A">
                <a:alpha val="55000"/>
              </a:srgbClr>
            </a:solidFill>
            <a:prstDash val="solid"/>
          </a:ln>
        </p:spPr>
      </p:sp>
      <p:sp>
        <p:nvSpPr>
          <p:cNvPr id="32" name="Text 30"/>
          <p:cNvSpPr/>
          <p:nvPr/>
        </p:nvSpPr>
        <p:spPr>
          <a:xfrm>
            <a:off x="786384" y="1682496"/>
            <a:ext cx="475488" cy="128016"/>
          </a:xfrm>
          <a:prstGeom prst="rect">
            <a:avLst/>
          </a:prstGeom>
          <a:noFill/>
          <a:ln/>
        </p:spPr>
        <p:txBody>
          <a:bodyPr wrap="square" lIns="0" tIns="0" rIns="0" bIns="0" rtlCol="0" anchor="ctr"/>
          <a:lstStyle/>
          <a:p>
            <a:pPr algn="ctr" indent="0" marL="0">
              <a:buNone/>
            </a:pPr>
            <a:r>
              <a:rPr lang="en-US" sz="820" b="1" dirty="0">
                <a:solidFill>
                  <a:srgbClr val="FF7A8A"/>
                </a:solidFill>
                <a:latin typeface="Aptos Mono" pitchFamily="34" charset="0"/>
                <a:ea typeface="Aptos Mono" pitchFamily="34" charset="-122"/>
                <a:cs typeface="Aptos Mono" pitchFamily="34" charset="-120"/>
              </a:rPr>
              <a:t>TSX</a:t>
            </a:r>
            <a:endParaRPr lang="en-US" sz="820" dirty="0"/>
          </a:p>
        </p:txBody>
      </p:sp>
      <p:sp>
        <p:nvSpPr>
          <p:cNvPr id="33" name="Text 31"/>
          <p:cNvSpPr/>
          <p:nvPr/>
        </p:nvSpPr>
        <p:spPr>
          <a:xfrm>
            <a:off x="1490472" y="1677924"/>
            <a:ext cx="420624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PRIMA</a:t>
            </a:r>
            <a:endParaRPr lang="en-US" sz="880" dirty="0"/>
          </a:p>
        </p:txBody>
      </p:sp>
      <p:sp>
        <p:nvSpPr>
          <p:cNvPr id="34" name="Text 32"/>
          <p:cNvSpPr/>
          <p:nvPr/>
        </p:nvSpPr>
        <p:spPr>
          <a:xfrm>
            <a:off x="640080" y="204368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01</a:t>
            </a:r>
            <a:endParaRPr lang="en-US" sz="1060" dirty="0"/>
          </a:p>
        </p:txBody>
      </p:sp>
      <p:sp>
        <p:nvSpPr>
          <p:cNvPr id="35" name="Text 33"/>
          <p:cNvSpPr/>
          <p:nvPr/>
        </p:nvSpPr>
        <p:spPr>
          <a:xfrm>
            <a:off x="1033272" y="202996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const [tickets, setTickets] = useState&lt;Ticket[]&gt;([]);</a:t>
            </a:r>
            <a:endParaRPr lang="en-US" sz="1280" dirty="0"/>
          </a:p>
        </p:txBody>
      </p:sp>
      <p:sp>
        <p:nvSpPr>
          <p:cNvPr id="36" name="Text 34"/>
          <p:cNvSpPr/>
          <p:nvPr/>
        </p:nvSpPr>
        <p:spPr>
          <a:xfrm>
            <a:off x="640080" y="228600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02</a:t>
            </a:r>
            <a:endParaRPr lang="en-US" sz="1060" dirty="0"/>
          </a:p>
        </p:txBody>
      </p:sp>
      <p:sp>
        <p:nvSpPr>
          <p:cNvPr id="37" name="Text 35"/>
          <p:cNvSpPr/>
          <p:nvPr/>
        </p:nvSpPr>
        <p:spPr>
          <a:xfrm>
            <a:off x="1033272" y="227228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const [openTickets, setOpenTickets] = useState&lt;Ticket[]&gt;([]);</a:t>
            </a:r>
            <a:endParaRPr lang="en-US" sz="1280" dirty="0"/>
          </a:p>
        </p:txBody>
      </p:sp>
      <p:sp>
        <p:nvSpPr>
          <p:cNvPr id="38" name="Text 36"/>
          <p:cNvSpPr/>
          <p:nvPr/>
        </p:nvSpPr>
        <p:spPr>
          <a:xfrm>
            <a:off x="640080" y="252831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03</a:t>
            </a:r>
            <a:endParaRPr lang="en-US" sz="1060" dirty="0"/>
          </a:p>
        </p:txBody>
      </p:sp>
      <p:sp>
        <p:nvSpPr>
          <p:cNvPr id="39" name="Text 37"/>
          <p:cNvSpPr/>
          <p:nvPr/>
        </p:nvSpPr>
        <p:spPr>
          <a:xfrm>
            <a:off x="1033272" y="2514600"/>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t>
            </a:r>
            <a:endParaRPr lang="en-US" sz="1280" dirty="0"/>
          </a:p>
        </p:txBody>
      </p:sp>
      <p:sp>
        <p:nvSpPr>
          <p:cNvPr id="40" name="Text 38"/>
          <p:cNvSpPr/>
          <p:nvPr/>
        </p:nvSpPr>
        <p:spPr>
          <a:xfrm>
            <a:off x="640080" y="2770632"/>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04</a:t>
            </a:r>
            <a:endParaRPr lang="en-US" sz="1060" dirty="0"/>
          </a:p>
        </p:txBody>
      </p:sp>
      <p:sp>
        <p:nvSpPr>
          <p:cNvPr id="41" name="Text 39"/>
          <p:cNvSpPr/>
          <p:nvPr/>
        </p:nvSpPr>
        <p:spPr>
          <a:xfrm>
            <a:off x="1033272" y="2756916"/>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useEffect(() =&gt; {</a:t>
            </a:r>
            <a:endParaRPr lang="en-US" sz="1280" dirty="0"/>
          </a:p>
        </p:txBody>
      </p:sp>
      <p:sp>
        <p:nvSpPr>
          <p:cNvPr id="42" name="Text 40"/>
          <p:cNvSpPr/>
          <p:nvPr/>
        </p:nvSpPr>
        <p:spPr>
          <a:xfrm>
            <a:off x="640080" y="3012948"/>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05</a:t>
            </a:r>
            <a:endParaRPr lang="en-US" sz="1060" dirty="0"/>
          </a:p>
        </p:txBody>
      </p:sp>
      <p:sp>
        <p:nvSpPr>
          <p:cNvPr id="43" name="Text 41"/>
          <p:cNvSpPr/>
          <p:nvPr/>
        </p:nvSpPr>
        <p:spPr>
          <a:xfrm>
            <a:off x="1033272" y="2999232"/>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setOpenTickets(tickets.filter(t =&gt; t.status === 'open'));</a:t>
            </a:r>
            <a:endParaRPr lang="en-US" sz="1280" dirty="0"/>
          </a:p>
        </p:txBody>
      </p:sp>
      <p:sp>
        <p:nvSpPr>
          <p:cNvPr id="44" name="Text 42"/>
          <p:cNvSpPr/>
          <p:nvPr/>
        </p:nvSpPr>
        <p:spPr>
          <a:xfrm>
            <a:off x="640080" y="325526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06</a:t>
            </a:r>
            <a:endParaRPr lang="en-US" sz="1060" dirty="0"/>
          </a:p>
        </p:txBody>
      </p:sp>
      <p:sp>
        <p:nvSpPr>
          <p:cNvPr id="45" name="Text 43"/>
          <p:cNvSpPr/>
          <p:nvPr/>
        </p:nvSpPr>
        <p:spPr>
          <a:xfrm>
            <a:off x="1033272" y="324154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[tickets]);</a:t>
            </a:r>
            <a:endParaRPr lang="en-US" sz="1280" dirty="0"/>
          </a:p>
        </p:txBody>
      </p:sp>
      <p:sp>
        <p:nvSpPr>
          <p:cNvPr id="46" name="Text 44"/>
          <p:cNvSpPr/>
          <p:nvPr/>
        </p:nvSpPr>
        <p:spPr>
          <a:xfrm>
            <a:off x="640080" y="349758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07</a:t>
            </a:r>
            <a:endParaRPr lang="en-US" sz="1060" dirty="0"/>
          </a:p>
        </p:txBody>
      </p:sp>
      <p:sp>
        <p:nvSpPr>
          <p:cNvPr id="47" name="Text 45"/>
          <p:cNvSpPr/>
          <p:nvPr/>
        </p:nvSpPr>
        <p:spPr>
          <a:xfrm>
            <a:off x="1033272" y="348386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t>
            </a:r>
            <a:endParaRPr lang="en-US" sz="1280" dirty="0"/>
          </a:p>
        </p:txBody>
      </p:sp>
      <p:sp>
        <p:nvSpPr>
          <p:cNvPr id="48" name="Text 46"/>
          <p:cNvSpPr/>
          <p:nvPr/>
        </p:nvSpPr>
        <p:spPr>
          <a:xfrm>
            <a:off x="640080" y="373989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08</a:t>
            </a:r>
            <a:endParaRPr lang="en-US" sz="1060" dirty="0"/>
          </a:p>
        </p:txBody>
      </p:sp>
      <p:sp>
        <p:nvSpPr>
          <p:cNvPr id="49" name="Text 47"/>
          <p:cNvSpPr/>
          <p:nvPr/>
        </p:nvSpPr>
        <p:spPr>
          <a:xfrm>
            <a:off x="1033272" y="3726180"/>
            <a:ext cx="4782312" cy="242316"/>
          </a:xfrm>
          <a:prstGeom prst="rect">
            <a:avLst/>
          </a:prstGeom>
          <a:noFill/>
          <a:ln/>
        </p:spPr>
        <p:txBody>
          <a:bodyPr wrap="square" lIns="0" tIns="0" rIns="0" bIns="0" rtlCol="0" anchor="ctr">
            <a:normAutofit/>
          </a:bodyPr>
          <a:lstStyle/>
          <a:p>
            <a:pPr indent="0" marL="0">
              <a:buNone/>
            </a:pPr>
            <a:r>
              <a:rPr lang="en-US" sz="1280" dirty="0">
                <a:solidFill>
                  <a:srgbClr val="78C9A6"/>
                </a:solidFill>
                <a:latin typeface="Aptos Mono" pitchFamily="34" charset="0"/>
                <a:ea typeface="Aptos Mono" pitchFamily="34" charset="-122"/>
                <a:cs typeface="Aptos Mono" pitchFamily="34" charset="-120"/>
              </a:rPr>
              <a:t>// Due fonti di verità.</a:t>
            </a:r>
            <a:endParaRPr lang="en-US" sz="1280" dirty="0"/>
          </a:p>
        </p:txBody>
      </p:sp>
      <p:sp>
        <p:nvSpPr>
          <p:cNvPr id="50" name="Shape 48"/>
          <p:cNvSpPr/>
          <p:nvPr/>
        </p:nvSpPr>
        <p:spPr>
          <a:xfrm>
            <a:off x="6217920" y="1581912"/>
            <a:ext cx="5440680" cy="4526280"/>
          </a:xfrm>
          <a:prstGeom prst="roundRect">
            <a:avLst>
              <a:gd name="adj" fmla="val 1010"/>
            </a:avLst>
          </a:prstGeom>
          <a:solidFill>
            <a:srgbClr val="0D1A2B"/>
          </a:solidFill>
          <a:ln w="13970">
            <a:solidFill>
              <a:srgbClr val="263A55"/>
            </a:solidFill>
            <a:prstDash val="solid"/>
          </a:ln>
        </p:spPr>
      </p:sp>
      <p:sp>
        <p:nvSpPr>
          <p:cNvPr id="51" name="Shape 49"/>
          <p:cNvSpPr/>
          <p:nvPr/>
        </p:nvSpPr>
        <p:spPr>
          <a:xfrm>
            <a:off x="6217920" y="1581912"/>
            <a:ext cx="5440680" cy="347472"/>
          </a:xfrm>
          <a:prstGeom prst="rect">
            <a:avLst/>
          </a:prstGeom>
          <a:solidFill>
            <a:srgbClr val="122238"/>
          </a:solidFill>
          <a:ln w="12700">
            <a:solidFill>
              <a:srgbClr val="122238"/>
            </a:solidFill>
            <a:prstDash val="solid"/>
          </a:ln>
        </p:spPr>
      </p:sp>
      <p:sp>
        <p:nvSpPr>
          <p:cNvPr id="52" name="Shape 50"/>
          <p:cNvSpPr/>
          <p:nvPr/>
        </p:nvSpPr>
        <p:spPr>
          <a:xfrm>
            <a:off x="6382512" y="1623060"/>
            <a:ext cx="658368" cy="274320"/>
          </a:xfrm>
          <a:prstGeom prst="roundRect">
            <a:avLst>
              <a:gd name="adj" fmla="val 20000"/>
            </a:avLst>
          </a:prstGeom>
          <a:solidFill>
            <a:srgbClr val="6FE3B1">
              <a:alpha val="20000"/>
            </a:srgbClr>
          </a:solidFill>
          <a:ln w="10160">
            <a:solidFill>
              <a:srgbClr val="6FE3B1">
                <a:alpha val="55000"/>
              </a:srgbClr>
            </a:solidFill>
            <a:prstDash val="solid"/>
          </a:ln>
        </p:spPr>
      </p:sp>
      <p:sp>
        <p:nvSpPr>
          <p:cNvPr id="53" name="Text 51"/>
          <p:cNvSpPr/>
          <p:nvPr/>
        </p:nvSpPr>
        <p:spPr>
          <a:xfrm>
            <a:off x="6473952" y="1682496"/>
            <a:ext cx="475488" cy="128016"/>
          </a:xfrm>
          <a:prstGeom prst="rect">
            <a:avLst/>
          </a:prstGeom>
          <a:noFill/>
          <a:ln/>
        </p:spPr>
        <p:txBody>
          <a:bodyPr wrap="square" lIns="0" tIns="0" rIns="0" bIns="0" rtlCol="0" anchor="ctr"/>
          <a:lstStyle/>
          <a:p>
            <a:pPr algn="ctr" indent="0" marL="0">
              <a:buNone/>
            </a:pPr>
            <a:r>
              <a:rPr lang="en-US" sz="820" b="1" dirty="0">
                <a:solidFill>
                  <a:srgbClr val="6FE3B1"/>
                </a:solidFill>
                <a:latin typeface="Aptos Mono" pitchFamily="34" charset="0"/>
                <a:ea typeface="Aptos Mono" pitchFamily="34" charset="-122"/>
                <a:cs typeface="Aptos Mono" pitchFamily="34" charset="-120"/>
              </a:rPr>
              <a:t>TSX</a:t>
            </a:r>
            <a:endParaRPr lang="en-US" sz="820" dirty="0"/>
          </a:p>
        </p:txBody>
      </p:sp>
      <p:sp>
        <p:nvSpPr>
          <p:cNvPr id="54" name="Text 52"/>
          <p:cNvSpPr/>
          <p:nvPr/>
        </p:nvSpPr>
        <p:spPr>
          <a:xfrm>
            <a:off x="7178040" y="1677924"/>
            <a:ext cx="420624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DOPO</a:t>
            </a:r>
            <a:endParaRPr lang="en-US" sz="880" dirty="0"/>
          </a:p>
        </p:txBody>
      </p:sp>
      <p:sp>
        <p:nvSpPr>
          <p:cNvPr id="55" name="Text 53"/>
          <p:cNvSpPr/>
          <p:nvPr/>
        </p:nvSpPr>
        <p:spPr>
          <a:xfrm>
            <a:off x="6327648" y="204368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01</a:t>
            </a:r>
            <a:endParaRPr lang="en-US" sz="1060" dirty="0"/>
          </a:p>
        </p:txBody>
      </p:sp>
      <p:sp>
        <p:nvSpPr>
          <p:cNvPr id="56" name="Text 54"/>
          <p:cNvSpPr/>
          <p:nvPr/>
        </p:nvSpPr>
        <p:spPr>
          <a:xfrm>
            <a:off x="6720840" y="202996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const [tickets, setTickets] = useState&lt;Ticket[]&gt;([]);</a:t>
            </a:r>
            <a:endParaRPr lang="en-US" sz="1280" dirty="0"/>
          </a:p>
        </p:txBody>
      </p:sp>
      <p:sp>
        <p:nvSpPr>
          <p:cNvPr id="57" name="Text 55"/>
          <p:cNvSpPr/>
          <p:nvPr/>
        </p:nvSpPr>
        <p:spPr>
          <a:xfrm>
            <a:off x="6327648" y="228600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02</a:t>
            </a:r>
            <a:endParaRPr lang="en-US" sz="1060" dirty="0"/>
          </a:p>
        </p:txBody>
      </p:sp>
      <p:sp>
        <p:nvSpPr>
          <p:cNvPr id="58" name="Text 56"/>
          <p:cNvSpPr/>
          <p:nvPr/>
        </p:nvSpPr>
        <p:spPr>
          <a:xfrm>
            <a:off x="6720840" y="227228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t>
            </a:r>
            <a:endParaRPr lang="en-US" sz="1280" dirty="0"/>
          </a:p>
        </p:txBody>
      </p:sp>
      <p:sp>
        <p:nvSpPr>
          <p:cNvPr id="59" name="Text 57"/>
          <p:cNvSpPr/>
          <p:nvPr/>
        </p:nvSpPr>
        <p:spPr>
          <a:xfrm>
            <a:off x="6327648" y="252831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03</a:t>
            </a:r>
            <a:endParaRPr lang="en-US" sz="1060" dirty="0"/>
          </a:p>
        </p:txBody>
      </p:sp>
      <p:sp>
        <p:nvSpPr>
          <p:cNvPr id="60" name="Text 58"/>
          <p:cNvSpPr/>
          <p:nvPr/>
        </p:nvSpPr>
        <p:spPr>
          <a:xfrm>
            <a:off x="6720840" y="2514600"/>
            <a:ext cx="4782312" cy="242316"/>
          </a:xfrm>
          <a:prstGeom prst="rect">
            <a:avLst/>
          </a:prstGeom>
          <a:noFill/>
          <a:ln/>
        </p:spPr>
        <p:txBody>
          <a:bodyPr wrap="square" lIns="0" tIns="0" rIns="0" bIns="0" rtlCol="0" anchor="ctr">
            <a:normAutofit/>
          </a:bodyPr>
          <a:lstStyle/>
          <a:p>
            <a:pPr indent="0" marL="0">
              <a:buNone/>
            </a:pPr>
            <a:r>
              <a:rPr lang="en-US" sz="1280" dirty="0">
                <a:solidFill>
                  <a:srgbClr val="78C9A6"/>
                </a:solidFill>
                <a:latin typeface="Aptos Mono" pitchFamily="34" charset="0"/>
                <a:ea typeface="Aptos Mono" pitchFamily="34" charset="-122"/>
                <a:cs typeface="Aptos Mono" pitchFamily="34" charset="-120"/>
              </a:rPr>
              <a:t>// Calcolo puro durante il render.</a:t>
            </a:r>
            <a:endParaRPr lang="en-US" sz="1280" dirty="0"/>
          </a:p>
        </p:txBody>
      </p:sp>
      <p:sp>
        <p:nvSpPr>
          <p:cNvPr id="61" name="Text 59"/>
          <p:cNvSpPr/>
          <p:nvPr/>
        </p:nvSpPr>
        <p:spPr>
          <a:xfrm>
            <a:off x="6327648" y="2770632"/>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04</a:t>
            </a:r>
            <a:endParaRPr lang="en-US" sz="1060" dirty="0"/>
          </a:p>
        </p:txBody>
      </p:sp>
      <p:sp>
        <p:nvSpPr>
          <p:cNvPr id="62" name="Text 60"/>
          <p:cNvSpPr/>
          <p:nvPr/>
        </p:nvSpPr>
        <p:spPr>
          <a:xfrm>
            <a:off x="6720840" y="2756916"/>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const openTickets = tickets.filter(</a:t>
            </a:r>
            <a:endParaRPr lang="en-US" sz="1280" dirty="0"/>
          </a:p>
        </p:txBody>
      </p:sp>
      <p:sp>
        <p:nvSpPr>
          <p:cNvPr id="63" name="Text 61"/>
          <p:cNvSpPr/>
          <p:nvPr/>
        </p:nvSpPr>
        <p:spPr>
          <a:xfrm>
            <a:off x="6327648" y="3012948"/>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05</a:t>
            </a:r>
            <a:endParaRPr lang="en-US" sz="1060" dirty="0"/>
          </a:p>
        </p:txBody>
      </p:sp>
      <p:sp>
        <p:nvSpPr>
          <p:cNvPr id="64" name="Text 62"/>
          <p:cNvSpPr/>
          <p:nvPr/>
        </p:nvSpPr>
        <p:spPr>
          <a:xfrm>
            <a:off x="6720840" y="2999232"/>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ticket =&gt; ticket.status === 'open'</a:t>
            </a:r>
            <a:endParaRPr lang="en-US" sz="1280" dirty="0"/>
          </a:p>
        </p:txBody>
      </p:sp>
      <p:sp>
        <p:nvSpPr>
          <p:cNvPr id="65" name="Text 63"/>
          <p:cNvSpPr/>
          <p:nvPr/>
        </p:nvSpPr>
        <p:spPr>
          <a:xfrm>
            <a:off x="6327648" y="325526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06</a:t>
            </a:r>
            <a:endParaRPr lang="en-US" sz="1060" dirty="0"/>
          </a:p>
        </p:txBody>
      </p:sp>
      <p:sp>
        <p:nvSpPr>
          <p:cNvPr id="66" name="Text 64"/>
          <p:cNvSpPr/>
          <p:nvPr/>
        </p:nvSpPr>
        <p:spPr>
          <a:xfrm>
            <a:off x="6720840" y="324154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a:t>
            </a:r>
            <a:endParaRPr lang="en-US" sz="1280" dirty="0"/>
          </a:p>
        </p:txBody>
      </p:sp>
      <p:sp>
        <p:nvSpPr>
          <p:cNvPr id="67" name="Text 65"/>
          <p:cNvSpPr/>
          <p:nvPr/>
        </p:nvSpPr>
        <p:spPr>
          <a:xfrm>
            <a:off x="6327648" y="349758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07</a:t>
            </a:r>
            <a:endParaRPr lang="en-US" sz="1060" dirty="0"/>
          </a:p>
        </p:txBody>
      </p:sp>
      <p:sp>
        <p:nvSpPr>
          <p:cNvPr id="68" name="Text 66"/>
          <p:cNvSpPr/>
          <p:nvPr/>
        </p:nvSpPr>
        <p:spPr>
          <a:xfrm>
            <a:off x="6720840" y="348386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t>
            </a:r>
            <a:endParaRPr lang="en-US" sz="1280" dirty="0"/>
          </a:p>
        </p:txBody>
      </p:sp>
      <p:sp>
        <p:nvSpPr>
          <p:cNvPr id="69" name="Text 67"/>
          <p:cNvSpPr/>
          <p:nvPr/>
        </p:nvSpPr>
        <p:spPr>
          <a:xfrm>
            <a:off x="6327648" y="373989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08</a:t>
            </a:r>
            <a:endParaRPr lang="en-US" sz="1060" dirty="0"/>
          </a:p>
        </p:txBody>
      </p:sp>
      <p:sp>
        <p:nvSpPr>
          <p:cNvPr id="70" name="Text 68"/>
          <p:cNvSpPr/>
          <p:nvPr/>
        </p:nvSpPr>
        <p:spPr>
          <a:xfrm>
            <a:off x="6720840" y="3726180"/>
            <a:ext cx="4782312" cy="242316"/>
          </a:xfrm>
          <a:prstGeom prst="rect">
            <a:avLst/>
          </a:prstGeom>
          <a:noFill/>
          <a:ln/>
        </p:spPr>
        <p:txBody>
          <a:bodyPr wrap="square" lIns="0" tIns="0" rIns="0" bIns="0" rtlCol="0" anchor="ctr">
            <a:normAutofit/>
          </a:bodyPr>
          <a:lstStyle/>
          <a:p>
            <a:pPr indent="0" marL="0">
              <a:buNone/>
            </a:pPr>
            <a:r>
              <a:rPr lang="en-US" sz="1280" dirty="0">
                <a:solidFill>
                  <a:srgbClr val="78C9A6"/>
                </a:solidFill>
                <a:latin typeface="Aptos Mono" pitchFamily="34" charset="0"/>
                <a:ea typeface="Aptos Mono" pitchFamily="34" charset="-122"/>
                <a:cs typeface="Aptos Mono" pitchFamily="34" charset="-120"/>
              </a:rPr>
              <a:t>// Una sola fonte di verità.</a:t>
            </a:r>
            <a:endParaRPr lang="en-US" sz="1280" dirty="0"/>
          </a:p>
        </p:txBody>
      </p:sp>
      <p:sp>
        <p:nvSpPr>
          <p:cNvPr id="71" name="Shape 69"/>
          <p:cNvSpPr/>
          <p:nvPr/>
        </p:nvSpPr>
        <p:spPr>
          <a:xfrm>
            <a:off x="5870448" y="3310128"/>
            <a:ext cx="274320" cy="475488"/>
          </a:xfrm>
          <a:prstGeom prst="chevron">
            <a:avLst/>
          </a:prstGeom>
          <a:solidFill>
            <a:srgbClr val="4C7DFF"/>
          </a:solidFill>
          <a:ln w="12700">
            <a:solidFill>
              <a:srgbClr val="4C7DFF"/>
            </a:solidFill>
            <a:prstDash val="solid"/>
          </a:ln>
        </p:spPr>
      </p:sp>
      <p:sp>
        <p:nvSpPr>
          <p:cNvPr id="72" name="Text 70"/>
          <p:cNvSpPr/>
          <p:nvPr/>
        </p:nvSpPr>
        <p:spPr>
          <a:xfrm>
            <a:off x="1828800" y="6217920"/>
            <a:ext cx="8503920" cy="210312"/>
          </a:xfrm>
          <a:prstGeom prst="rect">
            <a:avLst/>
          </a:prstGeom>
          <a:noFill/>
          <a:ln/>
        </p:spPr>
        <p:txBody>
          <a:bodyPr wrap="square" lIns="0" tIns="0" rIns="0" bIns="0" rtlCol="0" anchor="ctr"/>
          <a:lstStyle/>
          <a:p>
            <a:pPr algn="ctr" indent="0" marL="0">
              <a:buNone/>
            </a:pPr>
            <a:r>
              <a:rPr lang="en-US" sz="1050" b="1" dirty="0">
                <a:solidFill>
                  <a:srgbClr val="F5C96A"/>
                </a:solidFill>
                <a:latin typeface="Aptos" pitchFamily="34" charset="0"/>
                <a:ea typeface="Aptos" pitchFamily="34" charset="-122"/>
                <a:cs typeface="Aptos" pitchFamily="34" charset="-120"/>
              </a:rPr>
              <a:t>Se un valore dipende solo da props e state, calcolalo durante il render.</a:t>
            </a:r>
            <a:endParaRPr lang="en-US" sz="10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47</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RULES OF HOOKS</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Gli Hook devono mantenere lo stesso ordine</a:t>
            </a:r>
            <a:endParaRPr lang="en-US" sz="2700" dirty="0"/>
          </a:p>
        </p:txBody>
      </p:sp>
      <p:sp>
        <p:nvSpPr>
          <p:cNvPr id="29" name="Shape 27"/>
          <p:cNvSpPr/>
          <p:nvPr/>
        </p:nvSpPr>
        <p:spPr>
          <a:xfrm>
            <a:off x="530352" y="1581912"/>
            <a:ext cx="5440680" cy="4526280"/>
          </a:xfrm>
          <a:prstGeom prst="roundRect">
            <a:avLst>
              <a:gd name="adj" fmla="val 1010"/>
            </a:avLst>
          </a:prstGeom>
          <a:solidFill>
            <a:srgbClr val="0D1A2B"/>
          </a:solidFill>
          <a:ln w="13970">
            <a:solidFill>
              <a:srgbClr val="263A55"/>
            </a:solidFill>
            <a:prstDash val="solid"/>
          </a:ln>
        </p:spPr>
      </p:sp>
      <p:sp>
        <p:nvSpPr>
          <p:cNvPr id="30" name="Shape 28"/>
          <p:cNvSpPr/>
          <p:nvPr/>
        </p:nvSpPr>
        <p:spPr>
          <a:xfrm>
            <a:off x="530352" y="1581912"/>
            <a:ext cx="5440680" cy="347472"/>
          </a:xfrm>
          <a:prstGeom prst="rect">
            <a:avLst/>
          </a:prstGeom>
          <a:solidFill>
            <a:srgbClr val="122238"/>
          </a:solidFill>
          <a:ln w="12700">
            <a:solidFill>
              <a:srgbClr val="122238"/>
            </a:solidFill>
            <a:prstDash val="solid"/>
          </a:ln>
        </p:spPr>
      </p:sp>
      <p:sp>
        <p:nvSpPr>
          <p:cNvPr id="31" name="Shape 29"/>
          <p:cNvSpPr/>
          <p:nvPr/>
        </p:nvSpPr>
        <p:spPr>
          <a:xfrm>
            <a:off x="694944" y="1623060"/>
            <a:ext cx="658368" cy="274320"/>
          </a:xfrm>
          <a:prstGeom prst="roundRect">
            <a:avLst>
              <a:gd name="adj" fmla="val 20000"/>
            </a:avLst>
          </a:prstGeom>
          <a:solidFill>
            <a:srgbClr val="FF7A8A">
              <a:alpha val="20000"/>
            </a:srgbClr>
          </a:solidFill>
          <a:ln w="10160">
            <a:solidFill>
              <a:srgbClr val="FF7A8A">
                <a:alpha val="55000"/>
              </a:srgbClr>
            </a:solidFill>
            <a:prstDash val="solid"/>
          </a:ln>
        </p:spPr>
      </p:sp>
      <p:sp>
        <p:nvSpPr>
          <p:cNvPr id="32" name="Text 30"/>
          <p:cNvSpPr/>
          <p:nvPr/>
        </p:nvSpPr>
        <p:spPr>
          <a:xfrm>
            <a:off x="786384" y="1682496"/>
            <a:ext cx="475488" cy="128016"/>
          </a:xfrm>
          <a:prstGeom prst="rect">
            <a:avLst/>
          </a:prstGeom>
          <a:noFill/>
          <a:ln/>
        </p:spPr>
        <p:txBody>
          <a:bodyPr wrap="square" lIns="0" tIns="0" rIns="0" bIns="0" rtlCol="0" anchor="ctr"/>
          <a:lstStyle/>
          <a:p>
            <a:pPr algn="ctr" indent="0" marL="0">
              <a:buNone/>
            </a:pPr>
            <a:r>
              <a:rPr lang="en-US" sz="820" b="1" dirty="0">
                <a:solidFill>
                  <a:srgbClr val="FF7A8A"/>
                </a:solidFill>
                <a:latin typeface="Aptos Mono" pitchFamily="34" charset="0"/>
                <a:ea typeface="Aptos Mono" pitchFamily="34" charset="-122"/>
                <a:cs typeface="Aptos Mono" pitchFamily="34" charset="-120"/>
              </a:rPr>
              <a:t>TSX</a:t>
            </a:r>
            <a:endParaRPr lang="en-US" sz="820" dirty="0"/>
          </a:p>
        </p:txBody>
      </p:sp>
      <p:sp>
        <p:nvSpPr>
          <p:cNvPr id="33" name="Text 31"/>
          <p:cNvSpPr/>
          <p:nvPr/>
        </p:nvSpPr>
        <p:spPr>
          <a:xfrm>
            <a:off x="1490472" y="1677924"/>
            <a:ext cx="420624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PRIMA</a:t>
            </a:r>
            <a:endParaRPr lang="en-US" sz="880" dirty="0"/>
          </a:p>
        </p:txBody>
      </p:sp>
      <p:sp>
        <p:nvSpPr>
          <p:cNvPr id="34" name="Text 32"/>
          <p:cNvSpPr/>
          <p:nvPr/>
        </p:nvSpPr>
        <p:spPr>
          <a:xfrm>
            <a:off x="640080" y="204368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01</a:t>
            </a:r>
            <a:endParaRPr lang="en-US" sz="1060" dirty="0"/>
          </a:p>
        </p:txBody>
      </p:sp>
      <p:sp>
        <p:nvSpPr>
          <p:cNvPr id="35" name="Text 33"/>
          <p:cNvSpPr/>
          <p:nvPr/>
        </p:nvSpPr>
        <p:spPr>
          <a:xfrm>
            <a:off x="1033272" y="202996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function TicketPanel({ ready }) {</a:t>
            </a:r>
            <a:endParaRPr lang="en-US" sz="1280" dirty="0"/>
          </a:p>
        </p:txBody>
      </p:sp>
      <p:sp>
        <p:nvSpPr>
          <p:cNvPr id="36" name="Text 34"/>
          <p:cNvSpPr/>
          <p:nvPr/>
        </p:nvSpPr>
        <p:spPr>
          <a:xfrm>
            <a:off x="640080" y="228600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02</a:t>
            </a:r>
            <a:endParaRPr lang="en-US" sz="1060" dirty="0"/>
          </a:p>
        </p:txBody>
      </p:sp>
      <p:sp>
        <p:nvSpPr>
          <p:cNvPr id="37" name="Text 35"/>
          <p:cNvSpPr/>
          <p:nvPr/>
        </p:nvSpPr>
        <p:spPr>
          <a:xfrm>
            <a:off x="1033272" y="227228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const [query, setQuery] = useState('');</a:t>
            </a:r>
            <a:endParaRPr lang="en-US" sz="1280" dirty="0"/>
          </a:p>
        </p:txBody>
      </p:sp>
      <p:sp>
        <p:nvSpPr>
          <p:cNvPr id="38" name="Text 36"/>
          <p:cNvSpPr/>
          <p:nvPr/>
        </p:nvSpPr>
        <p:spPr>
          <a:xfrm>
            <a:off x="640080" y="252831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03</a:t>
            </a:r>
            <a:endParaRPr lang="en-US" sz="1060" dirty="0"/>
          </a:p>
        </p:txBody>
      </p:sp>
      <p:sp>
        <p:nvSpPr>
          <p:cNvPr id="39" name="Text 37"/>
          <p:cNvSpPr/>
          <p:nvPr/>
        </p:nvSpPr>
        <p:spPr>
          <a:xfrm>
            <a:off x="1033272" y="2514600"/>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t>
            </a:r>
            <a:endParaRPr lang="en-US" sz="1280" dirty="0"/>
          </a:p>
        </p:txBody>
      </p:sp>
      <p:sp>
        <p:nvSpPr>
          <p:cNvPr id="40" name="Text 38"/>
          <p:cNvSpPr/>
          <p:nvPr/>
        </p:nvSpPr>
        <p:spPr>
          <a:xfrm>
            <a:off x="640080" y="2770632"/>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04</a:t>
            </a:r>
            <a:endParaRPr lang="en-US" sz="1060" dirty="0"/>
          </a:p>
        </p:txBody>
      </p:sp>
      <p:sp>
        <p:nvSpPr>
          <p:cNvPr id="41" name="Text 39"/>
          <p:cNvSpPr/>
          <p:nvPr/>
        </p:nvSpPr>
        <p:spPr>
          <a:xfrm>
            <a:off x="1033272" y="2756916"/>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if (ready) {</a:t>
            </a:r>
            <a:endParaRPr lang="en-US" sz="1280" dirty="0"/>
          </a:p>
        </p:txBody>
      </p:sp>
      <p:sp>
        <p:nvSpPr>
          <p:cNvPr id="42" name="Text 40"/>
          <p:cNvSpPr/>
          <p:nvPr/>
        </p:nvSpPr>
        <p:spPr>
          <a:xfrm>
            <a:off x="640080" y="3012948"/>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05</a:t>
            </a:r>
            <a:endParaRPr lang="en-US" sz="1060" dirty="0"/>
          </a:p>
        </p:txBody>
      </p:sp>
      <p:sp>
        <p:nvSpPr>
          <p:cNvPr id="43" name="Text 41"/>
          <p:cNvSpPr/>
          <p:nvPr/>
        </p:nvSpPr>
        <p:spPr>
          <a:xfrm>
            <a:off x="1033272" y="2999232"/>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useEffect(() =&gt; {</a:t>
            </a:r>
            <a:endParaRPr lang="en-US" sz="1280" dirty="0"/>
          </a:p>
        </p:txBody>
      </p:sp>
      <p:sp>
        <p:nvSpPr>
          <p:cNvPr id="44" name="Text 42"/>
          <p:cNvSpPr/>
          <p:nvPr/>
        </p:nvSpPr>
        <p:spPr>
          <a:xfrm>
            <a:off x="640080" y="325526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06</a:t>
            </a:r>
            <a:endParaRPr lang="en-US" sz="1060" dirty="0"/>
          </a:p>
        </p:txBody>
      </p:sp>
      <p:sp>
        <p:nvSpPr>
          <p:cNvPr id="45" name="Text 43"/>
          <p:cNvSpPr/>
          <p:nvPr/>
        </p:nvSpPr>
        <p:spPr>
          <a:xfrm>
            <a:off x="1033272" y="3241548"/>
            <a:ext cx="4782312" cy="242316"/>
          </a:xfrm>
          <a:prstGeom prst="rect">
            <a:avLst/>
          </a:prstGeom>
          <a:noFill/>
          <a:ln/>
        </p:spPr>
        <p:txBody>
          <a:bodyPr wrap="square" lIns="0" tIns="0" rIns="0" bIns="0" rtlCol="0" anchor="ctr">
            <a:normAutofit/>
          </a:bodyPr>
          <a:lstStyle/>
          <a:p>
            <a:pPr indent="0" marL="0">
              <a:buNone/>
            </a:pPr>
            <a:r>
              <a:rPr lang="en-US" sz="1280" dirty="0">
                <a:solidFill>
                  <a:srgbClr val="78C9A6"/>
                </a:solidFill>
                <a:latin typeface="Aptos Mono" pitchFamily="34" charset="0"/>
                <a:ea typeface="Aptos Mono" pitchFamily="34" charset="-122"/>
                <a:cs typeface="Aptos Mono" pitchFamily="34" charset="-120"/>
              </a:rPr>
              <a:t>      // Hook condizionale: ordine instabile.</a:t>
            </a:r>
            <a:endParaRPr lang="en-US" sz="1280" dirty="0"/>
          </a:p>
        </p:txBody>
      </p:sp>
      <p:sp>
        <p:nvSpPr>
          <p:cNvPr id="46" name="Text 44"/>
          <p:cNvSpPr/>
          <p:nvPr/>
        </p:nvSpPr>
        <p:spPr>
          <a:xfrm>
            <a:off x="640080" y="349758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07</a:t>
            </a:r>
            <a:endParaRPr lang="en-US" sz="1060" dirty="0"/>
          </a:p>
        </p:txBody>
      </p:sp>
      <p:sp>
        <p:nvSpPr>
          <p:cNvPr id="47" name="Text 45"/>
          <p:cNvSpPr/>
          <p:nvPr/>
        </p:nvSpPr>
        <p:spPr>
          <a:xfrm>
            <a:off x="1033272" y="348386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 []);</a:t>
            </a:r>
            <a:endParaRPr lang="en-US" sz="1280" dirty="0"/>
          </a:p>
        </p:txBody>
      </p:sp>
      <p:sp>
        <p:nvSpPr>
          <p:cNvPr id="48" name="Text 46"/>
          <p:cNvSpPr/>
          <p:nvPr/>
        </p:nvSpPr>
        <p:spPr>
          <a:xfrm>
            <a:off x="640080" y="373989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08</a:t>
            </a:r>
            <a:endParaRPr lang="en-US" sz="1060" dirty="0"/>
          </a:p>
        </p:txBody>
      </p:sp>
      <p:sp>
        <p:nvSpPr>
          <p:cNvPr id="49" name="Text 47"/>
          <p:cNvSpPr/>
          <p:nvPr/>
        </p:nvSpPr>
        <p:spPr>
          <a:xfrm>
            <a:off x="1033272" y="3726180"/>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t>
            </a:r>
            <a:endParaRPr lang="en-US" sz="1280" dirty="0"/>
          </a:p>
        </p:txBody>
      </p:sp>
      <p:sp>
        <p:nvSpPr>
          <p:cNvPr id="50" name="Text 48"/>
          <p:cNvSpPr/>
          <p:nvPr/>
        </p:nvSpPr>
        <p:spPr>
          <a:xfrm>
            <a:off x="640080" y="3982212"/>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09</a:t>
            </a:r>
            <a:endParaRPr lang="en-US" sz="1060" dirty="0"/>
          </a:p>
        </p:txBody>
      </p:sp>
      <p:sp>
        <p:nvSpPr>
          <p:cNvPr id="51" name="Text 49"/>
          <p:cNvSpPr/>
          <p:nvPr/>
        </p:nvSpPr>
        <p:spPr>
          <a:xfrm>
            <a:off x="1033272" y="3968496"/>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t>
            </a:r>
            <a:endParaRPr lang="en-US" sz="1280" dirty="0"/>
          </a:p>
        </p:txBody>
      </p:sp>
      <p:sp>
        <p:nvSpPr>
          <p:cNvPr id="52" name="Text 50"/>
          <p:cNvSpPr/>
          <p:nvPr/>
        </p:nvSpPr>
        <p:spPr>
          <a:xfrm>
            <a:off x="640080" y="4224528"/>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10</a:t>
            </a:r>
            <a:endParaRPr lang="en-US" sz="1060" dirty="0"/>
          </a:p>
        </p:txBody>
      </p:sp>
      <p:sp>
        <p:nvSpPr>
          <p:cNvPr id="53" name="Text 51"/>
          <p:cNvSpPr/>
          <p:nvPr/>
        </p:nvSpPr>
        <p:spPr>
          <a:xfrm>
            <a:off x="1033272" y="4210812"/>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const [selected, setSelected] = useState(null);</a:t>
            </a:r>
            <a:endParaRPr lang="en-US" sz="1280" dirty="0"/>
          </a:p>
        </p:txBody>
      </p:sp>
      <p:sp>
        <p:nvSpPr>
          <p:cNvPr id="54" name="Text 52"/>
          <p:cNvSpPr/>
          <p:nvPr/>
        </p:nvSpPr>
        <p:spPr>
          <a:xfrm>
            <a:off x="640080" y="446684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11</a:t>
            </a:r>
            <a:endParaRPr lang="en-US" sz="1060" dirty="0"/>
          </a:p>
        </p:txBody>
      </p:sp>
      <p:sp>
        <p:nvSpPr>
          <p:cNvPr id="55" name="Text 53"/>
          <p:cNvSpPr/>
          <p:nvPr/>
        </p:nvSpPr>
        <p:spPr>
          <a:xfrm>
            <a:off x="1033272" y="445312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a:t>
            </a:r>
            <a:endParaRPr lang="en-US" sz="1280" dirty="0"/>
          </a:p>
        </p:txBody>
      </p:sp>
      <p:sp>
        <p:nvSpPr>
          <p:cNvPr id="56" name="Shape 54"/>
          <p:cNvSpPr/>
          <p:nvPr/>
        </p:nvSpPr>
        <p:spPr>
          <a:xfrm>
            <a:off x="6217920" y="1581912"/>
            <a:ext cx="5440680" cy="4526280"/>
          </a:xfrm>
          <a:prstGeom prst="roundRect">
            <a:avLst>
              <a:gd name="adj" fmla="val 1010"/>
            </a:avLst>
          </a:prstGeom>
          <a:solidFill>
            <a:srgbClr val="0D1A2B"/>
          </a:solidFill>
          <a:ln w="13970">
            <a:solidFill>
              <a:srgbClr val="263A55"/>
            </a:solidFill>
            <a:prstDash val="solid"/>
          </a:ln>
        </p:spPr>
      </p:sp>
      <p:sp>
        <p:nvSpPr>
          <p:cNvPr id="57" name="Shape 55"/>
          <p:cNvSpPr/>
          <p:nvPr/>
        </p:nvSpPr>
        <p:spPr>
          <a:xfrm>
            <a:off x="6217920" y="1581912"/>
            <a:ext cx="5440680" cy="347472"/>
          </a:xfrm>
          <a:prstGeom prst="rect">
            <a:avLst/>
          </a:prstGeom>
          <a:solidFill>
            <a:srgbClr val="122238"/>
          </a:solidFill>
          <a:ln w="12700">
            <a:solidFill>
              <a:srgbClr val="122238"/>
            </a:solidFill>
            <a:prstDash val="solid"/>
          </a:ln>
        </p:spPr>
      </p:sp>
      <p:sp>
        <p:nvSpPr>
          <p:cNvPr id="58" name="Shape 56"/>
          <p:cNvSpPr/>
          <p:nvPr/>
        </p:nvSpPr>
        <p:spPr>
          <a:xfrm>
            <a:off x="6382512" y="1623060"/>
            <a:ext cx="658368" cy="274320"/>
          </a:xfrm>
          <a:prstGeom prst="roundRect">
            <a:avLst>
              <a:gd name="adj" fmla="val 20000"/>
            </a:avLst>
          </a:prstGeom>
          <a:solidFill>
            <a:srgbClr val="6FE3B1">
              <a:alpha val="20000"/>
            </a:srgbClr>
          </a:solidFill>
          <a:ln w="10160">
            <a:solidFill>
              <a:srgbClr val="6FE3B1">
                <a:alpha val="55000"/>
              </a:srgbClr>
            </a:solidFill>
            <a:prstDash val="solid"/>
          </a:ln>
        </p:spPr>
      </p:sp>
      <p:sp>
        <p:nvSpPr>
          <p:cNvPr id="59" name="Text 57"/>
          <p:cNvSpPr/>
          <p:nvPr/>
        </p:nvSpPr>
        <p:spPr>
          <a:xfrm>
            <a:off x="6473952" y="1682496"/>
            <a:ext cx="475488" cy="128016"/>
          </a:xfrm>
          <a:prstGeom prst="rect">
            <a:avLst/>
          </a:prstGeom>
          <a:noFill/>
          <a:ln/>
        </p:spPr>
        <p:txBody>
          <a:bodyPr wrap="square" lIns="0" tIns="0" rIns="0" bIns="0" rtlCol="0" anchor="ctr"/>
          <a:lstStyle/>
          <a:p>
            <a:pPr algn="ctr" indent="0" marL="0">
              <a:buNone/>
            </a:pPr>
            <a:r>
              <a:rPr lang="en-US" sz="820" b="1" dirty="0">
                <a:solidFill>
                  <a:srgbClr val="6FE3B1"/>
                </a:solidFill>
                <a:latin typeface="Aptos Mono" pitchFamily="34" charset="0"/>
                <a:ea typeface="Aptos Mono" pitchFamily="34" charset="-122"/>
                <a:cs typeface="Aptos Mono" pitchFamily="34" charset="-120"/>
              </a:rPr>
              <a:t>TSX</a:t>
            </a:r>
            <a:endParaRPr lang="en-US" sz="820" dirty="0"/>
          </a:p>
        </p:txBody>
      </p:sp>
      <p:sp>
        <p:nvSpPr>
          <p:cNvPr id="60" name="Text 58"/>
          <p:cNvSpPr/>
          <p:nvPr/>
        </p:nvSpPr>
        <p:spPr>
          <a:xfrm>
            <a:off x="7178040" y="1677924"/>
            <a:ext cx="420624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DOPO</a:t>
            </a:r>
            <a:endParaRPr lang="en-US" sz="880" dirty="0"/>
          </a:p>
        </p:txBody>
      </p:sp>
      <p:sp>
        <p:nvSpPr>
          <p:cNvPr id="61" name="Text 59"/>
          <p:cNvSpPr/>
          <p:nvPr/>
        </p:nvSpPr>
        <p:spPr>
          <a:xfrm>
            <a:off x="6327648" y="204368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01</a:t>
            </a:r>
            <a:endParaRPr lang="en-US" sz="1060" dirty="0"/>
          </a:p>
        </p:txBody>
      </p:sp>
      <p:sp>
        <p:nvSpPr>
          <p:cNvPr id="62" name="Text 60"/>
          <p:cNvSpPr/>
          <p:nvPr/>
        </p:nvSpPr>
        <p:spPr>
          <a:xfrm>
            <a:off x="6720840" y="202996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function TicketPanel({ ready }) {</a:t>
            </a:r>
            <a:endParaRPr lang="en-US" sz="1280" dirty="0"/>
          </a:p>
        </p:txBody>
      </p:sp>
      <p:sp>
        <p:nvSpPr>
          <p:cNvPr id="63" name="Text 61"/>
          <p:cNvSpPr/>
          <p:nvPr/>
        </p:nvSpPr>
        <p:spPr>
          <a:xfrm>
            <a:off x="6327648" y="228600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02</a:t>
            </a:r>
            <a:endParaRPr lang="en-US" sz="1060" dirty="0"/>
          </a:p>
        </p:txBody>
      </p:sp>
      <p:sp>
        <p:nvSpPr>
          <p:cNvPr id="64" name="Text 62"/>
          <p:cNvSpPr/>
          <p:nvPr/>
        </p:nvSpPr>
        <p:spPr>
          <a:xfrm>
            <a:off x="6720840" y="227228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const [query, setQuery] = useState('');</a:t>
            </a:r>
            <a:endParaRPr lang="en-US" sz="1280" dirty="0"/>
          </a:p>
        </p:txBody>
      </p:sp>
      <p:sp>
        <p:nvSpPr>
          <p:cNvPr id="65" name="Text 63"/>
          <p:cNvSpPr/>
          <p:nvPr/>
        </p:nvSpPr>
        <p:spPr>
          <a:xfrm>
            <a:off x="6327648" y="252831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03</a:t>
            </a:r>
            <a:endParaRPr lang="en-US" sz="1060" dirty="0"/>
          </a:p>
        </p:txBody>
      </p:sp>
      <p:sp>
        <p:nvSpPr>
          <p:cNvPr id="66" name="Text 64"/>
          <p:cNvSpPr/>
          <p:nvPr/>
        </p:nvSpPr>
        <p:spPr>
          <a:xfrm>
            <a:off x="6720840" y="2514600"/>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const [selected, setSelected] = useState(null);</a:t>
            </a:r>
            <a:endParaRPr lang="en-US" sz="1280" dirty="0"/>
          </a:p>
        </p:txBody>
      </p:sp>
      <p:sp>
        <p:nvSpPr>
          <p:cNvPr id="67" name="Text 65"/>
          <p:cNvSpPr/>
          <p:nvPr/>
        </p:nvSpPr>
        <p:spPr>
          <a:xfrm>
            <a:off x="6327648" y="2770632"/>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04</a:t>
            </a:r>
            <a:endParaRPr lang="en-US" sz="1060" dirty="0"/>
          </a:p>
        </p:txBody>
      </p:sp>
      <p:sp>
        <p:nvSpPr>
          <p:cNvPr id="68" name="Text 66"/>
          <p:cNvSpPr/>
          <p:nvPr/>
        </p:nvSpPr>
        <p:spPr>
          <a:xfrm>
            <a:off x="6720840" y="2756916"/>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t>
            </a:r>
            <a:endParaRPr lang="en-US" sz="1280" dirty="0"/>
          </a:p>
        </p:txBody>
      </p:sp>
      <p:sp>
        <p:nvSpPr>
          <p:cNvPr id="69" name="Text 67"/>
          <p:cNvSpPr/>
          <p:nvPr/>
        </p:nvSpPr>
        <p:spPr>
          <a:xfrm>
            <a:off x="6327648" y="3012948"/>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05</a:t>
            </a:r>
            <a:endParaRPr lang="en-US" sz="1060" dirty="0"/>
          </a:p>
        </p:txBody>
      </p:sp>
      <p:sp>
        <p:nvSpPr>
          <p:cNvPr id="70" name="Text 68"/>
          <p:cNvSpPr/>
          <p:nvPr/>
        </p:nvSpPr>
        <p:spPr>
          <a:xfrm>
            <a:off x="6720840" y="2999232"/>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useEffect(() =&gt; {</a:t>
            </a:r>
            <a:endParaRPr lang="en-US" sz="1280" dirty="0"/>
          </a:p>
        </p:txBody>
      </p:sp>
      <p:sp>
        <p:nvSpPr>
          <p:cNvPr id="71" name="Text 69"/>
          <p:cNvSpPr/>
          <p:nvPr/>
        </p:nvSpPr>
        <p:spPr>
          <a:xfrm>
            <a:off x="6327648" y="325526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06</a:t>
            </a:r>
            <a:endParaRPr lang="en-US" sz="1060" dirty="0"/>
          </a:p>
        </p:txBody>
      </p:sp>
      <p:sp>
        <p:nvSpPr>
          <p:cNvPr id="72" name="Text 70"/>
          <p:cNvSpPr/>
          <p:nvPr/>
        </p:nvSpPr>
        <p:spPr>
          <a:xfrm>
            <a:off x="6720840" y="324154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if (!ready) return;</a:t>
            </a:r>
            <a:endParaRPr lang="en-US" sz="1280" dirty="0"/>
          </a:p>
        </p:txBody>
      </p:sp>
      <p:sp>
        <p:nvSpPr>
          <p:cNvPr id="73" name="Text 71"/>
          <p:cNvSpPr/>
          <p:nvPr/>
        </p:nvSpPr>
        <p:spPr>
          <a:xfrm>
            <a:off x="6327648" y="349758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07</a:t>
            </a:r>
            <a:endParaRPr lang="en-US" sz="1060" dirty="0"/>
          </a:p>
        </p:txBody>
      </p:sp>
      <p:sp>
        <p:nvSpPr>
          <p:cNvPr id="74" name="Text 72"/>
          <p:cNvSpPr/>
          <p:nvPr/>
        </p:nvSpPr>
        <p:spPr>
          <a:xfrm>
            <a:off x="6720840" y="3483864"/>
            <a:ext cx="4782312" cy="242316"/>
          </a:xfrm>
          <a:prstGeom prst="rect">
            <a:avLst/>
          </a:prstGeom>
          <a:noFill/>
          <a:ln/>
        </p:spPr>
        <p:txBody>
          <a:bodyPr wrap="square" lIns="0" tIns="0" rIns="0" bIns="0" rtlCol="0" anchor="ctr">
            <a:normAutofit/>
          </a:bodyPr>
          <a:lstStyle/>
          <a:p>
            <a:pPr indent="0" marL="0">
              <a:buNone/>
            </a:pPr>
            <a:r>
              <a:rPr lang="en-US" sz="1280" dirty="0">
                <a:solidFill>
                  <a:srgbClr val="78C9A6"/>
                </a:solidFill>
                <a:latin typeface="Aptos Mono" pitchFamily="34" charset="0"/>
                <a:ea typeface="Aptos Mono" pitchFamily="34" charset="-122"/>
                <a:cs typeface="Aptos Mono" pitchFamily="34" charset="-120"/>
              </a:rPr>
              <a:t>    // La condizione vive dentro l’Effect.</a:t>
            </a:r>
            <a:endParaRPr lang="en-US" sz="1280" dirty="0"/>
          </a:p>
        </p:txBody>
      </p:sp>
      <p:sp>
        <p:nvSpPr>
          <p:cNvPr id="75" name="Text 73"/>
          <p:cNvSpPr/>
          <p:nvPr/>
        </p:nvSpPr>
        <p:spPr>
          <a:xfrm>
            <a:off x="6327648" y="373989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08</a:t>
            </a:r>
            <a:endParaRPr lang="en-US" sz="1060" dirty="0"/>
          </a:p>
        </p:txBody>
      </p:sp>
      <p:sp>
        <p:nvSpPr>
          <p:cNvPr id="76" name="Text 74"/>
          <p:cNvSpPr/>
          <p:nvPr/>
        </p:nvSpPr>
        <p:spPr>
          <a:xfrm>
            <a:off x="6720840" y="3726180"/>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 [ready]);</a:t>
            </a:r>
            <a:endParaRPr lang="en-US" sz="1280" dirty="0"/>
          </a:p>
        </p:txBody>
      </p:sp>
      <p:sp>
        <p:nvSpPr>
          <p:cNvPr id="77" name="Text 75"/>
          <p:cNvSpPr/>
          <p:nvPr/>
        </p:nvSpPr>
        <p:spPr>
          <a:xfrm>
            <a:off x="6327648" y="3982212"/>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09</a:t>
            </a:r>
            <a:endParaRPr lang="en-US" sz="1060" dirty="0"/>
          </a:p>
        </p:txBody>
      </p:sp>
      <p:sp>
        <p:nvSpPr>
          <p:cNvPr id="78" name="Text 76"/>
          <p:cNvSpPr/>
          <p:nvPr/>
        </p:nvSpPr>
        <p:spPr>
          <a:xfrm>
            <a:off x="6720840" y="3968496"/>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a:t>
            </a:r>
            <a:endParaRPr lang="en-US" sz="1280" dirty="0"/>
          </a:p>
        </p:txBody>
      </p:sp>
      <p:sp>
        <p:nvSpPr>
          <p:cNvPr id="79" name="Shape 77"/>
          <p:cNvSpPr/>
          <p:nvPr/>
        </p:nvSpPr>
        <p:spPr>
          <a:xfrm>
            <a:off x="5870448" y="3310128"/>
            <a:ext cx="274320" cy="475488"/>
          </a:xfrm>
          <a:prstGeom prst="chevron">
            <a:avLst/>
          </a:prstGeom>
          <a:solidFill>
            <a:srgbClr val="4C7DFF"/>
          </a:solidFill>
          <a:ln w="12700">
            <a:solidFill>
              <a:srgbClr val="4C7DFF"/>
            </a:solidFill>
            <a:prstDash val="solid"/>
          </a:ln>
        </p:spPr>
      </p:sp>
      <p:sp>
        <p:nvSpPr>
          <p:cNvPr id="80" name="Text 78"/>
          <p:cNvSpPr/>
          <p:nvPr/>
        </p:nvSpPr>
        <p:spPr>
          <a:xfrm>
            <a:off x="1828800" y="6217920"/>
            <a:ext cx="8503920" cy="210312"/>
          </a:xfrm>
          <a:prstGeom prst="rect">
            <a:avLst/>
          </a:prstGeom>
          <a:noFill/>
          <a:ln/>
        </p:spPr>
        <p:txBody>
          <a:bodyPr wrap="square" lIns="0" tIns="0" rIns="0" bIns="0" rtlCol="0" anchor="ctr"/>
          <a:lstStyle/>
          <a:p>
            <a:pPr algn="ctr" indent="0" marL="0">
              <a:buNone/>
            </a:pPr>
            <a:r>
              <a:rPr lang="en-US" sz="1050" b="1" dirty="0">
                <a:solidFill>
                  <a:srgbClr val="F5C96A"/>
                </a:solidFill>
                <a:latin typeface="Aptos" pitchFamily="34" charset="0"/>
                <a:ea typeface="Aptos" pitchFamily="34" charset="-122"/>
                <a:cs typeface="Aptos" pitchFamily="34" charset="-120"/>
              </a:rPr>
              <a:t>Top level: React abbina gli Hook in base all’ordine.</a:t>
            </a:r>
            <a:endParaRPr lang="en-US" sz="10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48</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CODA DEGLI UPDATE</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Il batching evita UI intermedie</a:t>
            </a:r>
            <a:endParaRPr lang="en-US" sz="2700" dirty="0"/>
          </a:p>
        </p:txBody>
      </p:sp>
      <p:sp>
        <p:nvSpPr>
          <p:cNvPr id="29" name="Shape 27"/>
          <p:cNvSpPr/>
          <p:nvPr/>
        </p:nvSpPr>
        <p:spPr>
          <a:xfrm>
            <a:off x="530352" y="1591056"/>
            <a:ext cx="7589520" cy="4553712"/>
          </a:xfrm>
          <a:prstGeom prst="roundRect">
            <a:avLst>
              <a:gd name="adj" fmla="val 1004"/>
            </a:avLst>
          </a:prstGeom>
          <a:solidFill>
            <a:srgbClr val="0D1A2B"/>
          </a:solidFill>
          <a:ln w="13970">
            <a:solidFill>
              <a:srgbClr val="263A55"/>
            </a:solidFill>
            <a:prstDash val="solid"/>
          </a:ln>
        </p:spPr>
      </p:sp>
      <p:sp>
        <p:nvSpPr>
          <p:cNvPr id="30" name="Shape 28"/>
          <p:cNvSpPr/>
          <p:nvPr/>
        </p:nvSpPr>
        <p:spPr>
          <a:xfrm>
            <a:off x="530352" y="1591056"/>
            <a:ext cx="7589520" cy="347472"/>
          </a:xfrm>
          <a:prstGeom prst="rect">
            <a:avLst/>
          </a:prstGeom>
          <a:solidFill>
            <a:srgbClr val="122238"/>
          </a:solidFill>
          <a:ln w="12700">
            <a:solidFill>
              <a:srgbClr val="122238"/>
            </a:solidFill>
            <a:prstDash val="solid"/>
          </a:ln>
        </p:spPr>
      </p:sp>
      <p:sp>
        <p:nvSpPr>
          <p:cNvPr id="31" name="Shape 29"/>
          <p:cNvSpPr/>
          <p:nvPr/>
        </p:nvSpPr>
        <p:spPr>
          <a:xfrm>
            <a:off x="694944" y="1632204"/>
            <a:ext cx="658368" cy="274320"/>
          </a:xfrm>
          <a:prstGeom prst="roundRect">
            <a:avLst>
              <a:gd name="adj" fmla="val 20000"/>
            </a:avLst>
          </a:prstGeom>
          <a:solidFill>
            <a:srgbClr val="7CD4FF">
              <a:alpha val="20000"/>
            </a:srgbClr>
          </a:solidFill>
          <a:ln w="10160">
            <a:solidFill>
              <a:srgbClr val="7CD4FF">
                <a:alpha val="55000"/>
              </a:srgbClr>
            </a:solidFill>
            <a:prstDash val="solid"/>
          </a:ln>
        </p:spPr>
      </p:sp>
      <p:sp>
        <p:nvSpPr>
          <p:cNvPr id="32" name="Text 30"/>
          <p:cNvSpPr/>
          <p:nvPr/>
        </p:nvSpPr>
        <p:spPr>
          <a:xfrm>
            <a:off x="786384" y="1691640"/>
            <a:ext cx="475488" cy="128016"/>
          </a:xfrm>
          <a:prstGeom prst="rect">
            <a:avLst/>
          </a:prstGeom>
          <a:noFill/>
          <a:ln/>
        </p:spPr>
        <p:txBody>
          <a:bodyPr wrap="square" lIns="0" tIns="0" rIns="0" bIns="0" rtlCol="0" anchor="ctr"/>
          <a:lstStyle/>
          <a:p>
            <a:pPr algn="ctr" indent="0" marL="0">
              <a:buNone/>
            </a:pPr>
            <a:r>
              <a:rPr lang="en-US" sz="820" b="1" dirty="0">
                <a:solidFill>
                  <a:srgbClr val="7CD4FF"/>
                </a:solidFill>
                <a:latin typeface="Aptos Mono" pitchFamily="34" charset="0"/>
                <a:ea typeface="Aptos Mono" pitchFamily="34" charset="-122"/>
                <a:cs typeface="Aptos Mono" pitchFamily="34" charset="-120"/>
              </a:rPr>
              <a:t>TSX</a:t>
            </a:r>
            <a:endParaRPr lang="en-US" sz="820" dirty="0"/>
          </a:p>
        </p:txBody>
      </p:sp>
      <p:sp>
        <p:nvSpPr>
          <p:cNvPr id="33" name="Text 31"/>
          <p:cNvSpPr/>
          <p:nvPr/>
        </p:nvSpPr>
        <p:spPr>
          <a:xfrm>
            <a:off x="1490472" y="1687068"/>
            <a:ext cx="635508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Selection.tsx</a:t>
            </a:r>
            <a:endParaRPr lang="en-US" sz="880" dirty="0"/>
          </a:p>
        </p:txBody>
      </p:sp>
      <p:sp>
        <p:nvSpPr>
          <p:cNvPr id="34" name="Text 32"/>
          <p:cNvSpPr/>
          <p:nvPr/>
        </p:nvSpPr>
        <p:spPr>
          <a:xfrm>
            <a:off x="640080" y="205282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01</a:t>
            </a:r>
            <a:endParaRPr lang="en-US" sz="1200" dirty="0"/>
          </a:p>
        </p:txBody>
      </p:sp>
      <p:sp>
        <p:nvSpPr>
          <p:cNvPr id="35" name="Text 33"/>
          <p:cNvSpPr/>
          <p:nvPr/>
        </p:nvSpPr>
        <p:spPr>
          <a:xfrm>
            <a:off x="1033272" y="203911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function handleSelect(ticket: Ticket) {</a:t>
            </a:r>
            <a:endParaRPr lang="en-US" sz="1420" dirty="0"/>
          </a:p>
        </p:txBody>
      </p:sp>
      <p:sp>
        <p:nvSpPr>
          <p:cNvPr id="36" name="Text 34"/>
          <p:cNvSpPr/>
          <p:nvPr/>
        </p:nvSpPr>
        <p:spPr>
          <a:xfrm>
            <a:off x="640080" y="229514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02</a:t>
            </a:r>
            <a:endParaRPr lang="en-US" sz="1200" dirty="0"/>
          </a:p>
        </p:txBody>
      </p:sp>
      <p:sp>
        <p:nvSpPr>
          <p:cNvPr id="37" name="Text 35"/>
          <p:cNvSpPr/>
          <p:nvPr/>
        </p:nvSpPr>
        <p:spPr>
          <a:xfrm>
            <a:off x="1033272" y="2281428"/>
            <a:ext cx="6931152" cy="242316"/>
          </a:xfrm>
          <a:prstGeom prst="rect">
            <a:avLst/>
          </a:prstGeom>
          <a:noFill/>
          <a:ln/>
        </p:spPr>
        <p:txBody>
          <a:bodyPr wrap="square" lIns="0" tIns="0" rIns="0" bIns="0" rtlCol="0" anchor="ctr">
            <a:normAutofit/>
          </a:bodyPr>
          <a:lstStyle/>
          <a:p>
            <a:pPr indent="0" marL="0">
              <a:buNone/>
            </a:pPr>
            <a:r>
              <a:rPr lang="en-US" sz="1420" dirty="0">
                <a:solidFill>
                  <a:srgbClr val="78C9A6"/>
                </a:solidFill>
                <a:latin typeface="Aptos Mono" pitchFamily="34" charset="0"/>
                <a:ea typeface="Aptos Mono" pitchFamily="34" charset="-122"/>
                <a:cs typeface="Aptos Mono" pitchFamily="34" charset="-120"/>
              </a:rPr>
              <a:t>  // Due update nello stesso evento.</a:t>
            </a:r>
            <a:endParaRPr lang="en-US" sz="1420" dirty="0"/>
          </a:p>
        </p:txBody>
      </p:sp>
      <p:sp>
        <p:nvSpPr>
          <p:cNvPr id="38" name="Text 36"/>
          <p:cNvSpPr/>
          <p:nvPr/>
        </p:nvSpPr>
        <p:spPr>
          <a:xfrm>
            <a:off x="640080" y="253746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03</a:t>
            </a:r>
            <a:endParaRPr lang="en-US" sz="1200" dirty="0"/>
          </a:p>
        </p:txBody>
      </p:sp>
      <p:sp>
        <p:nvSpPr>
          <p:cNvPr id="39" name="Text 37"/>
          <p:cNvSpPr/>
          <p:nvPr/>
        </p:nvSpPr>
        <p:spPr>
          <a:xfrm>
            <a:off x="1033272" y="2523744"/>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setSelectedId(ticket.id);</a:t>
            </a:r>
            <a:endParaRPr lang="en-US" sz="1420" dirty="0"/>
          </a:p>
        </p:txBody>
      </p:sp>
      <p:sp>
        <p:nvSpPr>
          <p:cNvPr id="40" name="Text 38"/>
          <p:cNvSpPr/>
          <p:nvPr/>
        </p:nvSpPr>
        <p:spPr>
          <a:xfrm>
            <a:off x="640080" y="277977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04</a:t>
            </a:r>
            <a:endParaRPr lang="en-US" sz="1200" dirty="0"/>
          </a:p>
        </p:txBody>
      </p:sp>
      <p:sp>
        <p:nvSpPr>
          <p:cNvPr id="41" name="Text 39"/>
          <p:cNvSpPr/>
          <p:nvPr/>
        </p:nvSpPr>
        <p:spPr>
          <a:xfrm>
            <a:off x="1033272" y="2766060"/>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setIsDetailsOpen(true);</a:t>
            </a:r>
            <a:endParaRPr lang="en-US" sz="1420" dirty="0"/>
          </a:p>
        </p:txBody>
      </p:sp>
      <p:sp>
        <p:nvSpPr>
          <p:cNvPr id="42" name="Text 40"/>
          <p:cNvSpPr/>
          <p:nvPr/>
        </p:nvSpPr>
        <p:spPr>
          <a:xfrm>
            <a:off x="640080" y="3022092"/>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05</a:t>
            </a:r>
            <a:endParaRPr lang="en-US" sz="1200" dirty="0"/>
          </a:p>
        </p:txBody>
      </p:sp>
      <p:sp>
        <p:nvSpPr>
          <p:cNvPr id="43" name="Text 41"/>
          <p:cNvSpPr/>
          <p:nvPr/>
        </p:nvSpPr>
        <p:spPr>
          <a:xfrm>
            <a:off x="1033272" y="3008376"/>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44" name="Text 42"/>
          <p:cNvSpPr/>
          <p:nvPr/>
        </p:nvSpPr>
        <p:spPr>
          <a:xfrm>
            <a:off x="640080" y="326440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06</a:t>
            </a:r>
            <a:endParaRPr lang="en-US" sz="1200" dirty="0"/>
          </a:p>
        </p:txBody>
      </p:sp>
      <p:sp>
        <p:nvSpPr>
          <p:cNvPr id="45" name="Text 43"/>
          <p:cNvSpPr/>
          <p:nvPr/>
        </p:nvSpPr>
        <p:spPr>
          <a:xfrm>
            <a:off x="1033272" y="3250692"/>
            <a:ext cx="6931152" cy="242316"/>
          </a:xfrm>
          <a:prstGeom prst="rect">
            <a:avLst/>
          </a:prstGeom>
          <a:noFill/>
          <a:ln/>
        </p:spPr>
        <p:txBody>
          <a:bodyPr wrap="square" lIns="0" tIns="0" rIns="0" bIns="0" rtlCol="0" anchor="ctr">
            <a:normAutofit/>
          </a:bodyPr>
          <a:lstStyle/>
          <a:p>
            <a:pPr indent="0" marL="0">
              <a:buNone/>
            </a:pPr>
            <a:r>
              <a:rPr lang="en-US" sz="1420" dirty="0">
                <a:solidFill>
                  <a:srgbClr val="78C9A6"/>
                </a:solidFill>
                <a:latin typeface="Aptos Mono" pitchFamily="34" charset="0"/>
                <a:ea typeface="Aptos Mono" pitchFamily="34" charset="-122"/>
                <a:cs typeface="Aptos Mono" pitchFamily="34" charset="-120"/>
              </a:rPr>
              <a:t>  // React li elabora insieme quando possibile.</a:t>
            </a:r>
            <a:endParaRPr lang="en-US" sz="1420" dirty="0"/>
          </a:p>
        </p:txBody>
      </p:sp>
      <p:sp>
        <p:nvSpPr>
          <p:cNvPr id="46" name="Text 44"/>
          <p:cNvSpPr/>
          <p:nvPr/>
        </p:nvSpPr>
        <p:spPr>
          <a:xfrm>
            <a:off x="640080" y="350672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07</a:t>
            </a:r>
            <a:endParaRPr lang="en-US" sz="1200" dirty="0"/>
          </a:p>
        </p:txBody>
      </p:sp>
      <p:sp>
        <p:nvSpPr>
          <p:cNvPr id="47" name="Text 45"/>
          <p:cNvSpPr/>
          <p:nvPr/>
        </p:nvSpPr>
        <p:spPr>
          <a:xfrm>
            <a:off x="1033272" y="349300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a:t>
            </a:r>
            <a:endParaRPr lang="en-US" sz="1420" dirty="0"/>
          </a:p>
        </p:txBody>
      </p:sp>
      <p:sp>
        <p:nvSpPr>
          <p:cNvPr id="48" name="Text 46"/>
          <p:cNvSpPr/>
          <p:nvPr/>
        </p:nvSpPr>
        <p:spPr>
          <a:xfrm>
            <a:off x="640080" y="374904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08</a:t>
            </a:r>
            <a:endParaRPr lang="en-US" sz="1200" dirty="0"/>
          </a:p>
        </p:txBody>
      </p:sp>
      <p:sp>
        <p:nvSpPr>
          <p:cNvPr id="49" name="Text 47"/>
          <p:cNvSpPr/>
          <p:nvPr/>
        </p:nvSpPr>
        <p:spPr>
          <a:xfrm>
            <a:off x="1033272" y="3735324"/>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50" name="Text 48"/>
          <p:cNvSpPr/>
          <p:nvPr/>
        </p:nvSpPr>
        <p:spPr>
          <a:xfrm>
            <a:off x="640080" y="399135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09</a:t>
            </a:r>
            <a:endParaRPr lang="en-US" sz="1200" dirty="0"/>
          </a:p>
        </p:txBody>
      </p:sp>
      <p:sp>
        <p:nvSpPr>
          <p:cNvPr id="51" name="Text 49"/>
          <p:cNvSpPr/>
          <p:nvPr/>
        </p:nvSpPr>
        <p:spPr>
          <a:xfrm>
            <a:off x="1033272" y="3977640"/>
            <a:ext cx="6931152" cy="242316"/>
          </a:xfrm>
          <a:prstGeom prst="rect">
            <a:avLst/>
          </a:prstGeom>
          <a:noFill/>
          <a:ln/>
        </p:spPr>
        <p:txBody>
          <a:bodyPr wrap="square" lIns="0" tIns="0" rIns="0" bIns="0" rtlCol="0" anchor="ctr">
            <a:normAutofit/>
          </a:bodyPr>
          <a:lstStyle/>
          <a:p>
            <a:pPr indent="0" marL="0">
              <a:buNone/>
            </a:pPr>
            <a:r>
              <a:rPr lang="en-US" sz="1420" dirty="0">
                <a:solidFill>
                  <a:srgbClr val="78C9A6"/>
                </a:solidFill>
                <a:latin typeface="Aptos Mono" pitchFamily="34" charset="0"/>
                <a:ea typeface="Aptos Mono" pitchFamily="34" charset="-122"/>
                <a:cs typeface="Aptos Mono" pitchFamily="34" charset="-120"/>
              </a:rPr>
              <a:t>// Flusso mentale:</a:t>
            </a:r>
            <a:endParaRPr lang="en-US" sz="1420" dirty="0"/>
          </a:p>
        </p:txBody>
      </p:sp>
      <p:sp>
        <p:nvSpPr>
          <p:cNvPr id="52" name="Text 50"/>
          <p:cNvSpPr/>
          <p:nvPr/>
        </p:nvSpPr>
        <p:spPr>
          <a:xfrm>
            <a:off x="640080" y="4233672"/>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10</a:t>
            </a:r>
            <a:endParaRPr lang="en-US" sz="1200" dirty="0"/>
          </a:p>
        </p:txBody>
      </p:sp>
      <p:sp>
        <p:nvSpPr>
          <p:cNvPr id="53" name="Text 51"/>
          <p:cNvSpPr/>
          <p:nvPr/>
        </p:nvSpPr>
        <p:spPr>
          <a:xfrm>
            <a:off x="1033272" y="4219956"/>
            <a:ext cx="6931152" cy="242316"/>
          </a:xfrm>
          <a:prstGeom prst="rect">
            <a:avLst/>
          </a:prstGeom>
          <a:noFill/>
          <a:ln/>
        </p:spPr>
        <p:txBody>
          <a:bodyPr wrap="square" lIns="0" tIns="0" rIns="0" bIns="0" rtlCol="0" anchor="ctr">
            <a:normAutofit/>
          </a:bodyPr>
          <a:lstStyle/>
          <a:p>
            <a:pPr indent="0" marL="0">
              <a:buNone/>
            </a:pPr>
            <a:r>
              <a:rPr lang="en-US" sz="1420" dirty="0">
                <a:solidFill>
                  <a:srgbClr val="78C9A6"/>
                </a:solidFill>
                <a:latin typeface="Aptos Mono" pitchFamily="34" charset="0"/>
                <a:ea typeface="Aptos Mono" pitchFamily="34" charset="-122"/>
                <a:cs typeface="Aptos Mono" pitchFamily="34" charset="-120"/>
              </a:rPr>
              <a:t>// evento → queue → render → commit → paint</a:t>
            </a:r>
            <a:endParaRPr lang="en-US" sz="1420" dirty="0"/>
          </a:p>
        </p:txBody>
      </p:sp>
      <p:sp>
        <p:nvSpPr>
          <p:cNvPr id="54" name="Shape 52"/>
          <p:cNvSpPr/>
          <p:nvPr/>
        </p:nvSpPr>
        <p:spPr>
          <a:xfrm>
            <a:off x="8366760" y="1591056"/>
            <a:ext cx="3310128" cy="4553712"/>
          </a:xfrm>
          <a:prstGeom prst="roundRect">
            <a:avLst>
              <a:gd name="adj" fmla="val 1381"/>
            </a:avLst>
          </a:prstGeom>
          <a:solidFill>
            <a:srgbClr val="122238"/>
          </a:solidFill>
          <a:ln w="12700">
            <a:solidFill>
              <a:srgbClr val="263A55"/>
            </a:solidFill>
            <a:prstDash val="solid"/>
          </a:ln>
        </p:spPr>
      </p:sp>
      <p:sp>
        <p:nvSpPr>
          <p:cNvPr id="55" name="Text 53"/>
          <p:cNvSpPr/>
          <p:nvPr/>
        </p:nvSpPr>
        <p:spPr>
          <a:xfrm>
            <a:off x="8586216" y="1801368"/>
            <a:ext cx="2871216" cy="182880"/>
          </a:xfrm>
          <a:prstGeom prst="rect">
            <a:avLst/>
          </a:prstGeom>
          <a:noFill/>
          <a:ln/>
        </p:spPr>
        <p:txBody>
          <a:bodyPr wrap="square" lIns="0" tIns="0" rIns="0" bIns="0" rtlCol="0" anchor="ctr"/>
          <a:lstStyle/>
          <a:p>
            <a:pPr indent="0" marL="0">
              <a:buNone/>
            </a:pPr>
            <a:r>
              <a:rPr lang="en-US" sz="950" b="1" spc="115" kern="0" dirty="0">
                <a:solidFill>
                  <a:srgbClr val="F5C96A"/>
                </a:solidFill>
                <a:latin typeface="Aptos" pitchFamily="34" charset="0"/>
                <a:ea typeface="Aptos" pitchFamily="34" charset="-122"/>
                <a:cs typeface="Aptos" pitchFamily="34" charset="-120"/>
              </a:rPr>
              <a:t>DA OSSERVARE</a:t>
            </a:r>
            <a:endParaRPr lang="en-US" sz="950" dirty="0"/>
          </a:p>
        </p:txBody>
      </p:sp>
      <p:sp>
        <p:nvSpPr>
          <p:cNvPr id="56" name="Shape 54"/>
          <p:cNvSpPr/>
          <p:nvPr/>
        </p:nvSpPr>
        <p:spPr>
          <a:xfrm>
            <a:off x="8586216" y="2267712"/>
            <a:ext cx="91440" cy="91440"/>
          </a:xfrm>
          <a:prstGeom prst="ellipse">
            <a:avLst/>
          </a:prstGeom>
          <a:solidFill>
            <a:srgbClr val="7CD4FF"/>
          </a:solidFill>
          <a:ln w="12700">
            <a:solidFill>
              <a:srgbClr val="7CD4FF"/>
            </a:solidFill>
            <a:prstDash val="solid"/>
          </a:ln>
        </p:spPr>
      </p:sp>
      <p:sp>
        <p:nvSpPr>
          <p:cNvPr id="57" name="Text 55"/>
          <p:cNvSpPr/>
          <p:nvPr/>
        </p:nvSpPr>
        <p:spPr>
          <a:xfrm>
            <a:off x="8778240" y="2212848"/>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I setter accodano lavoro.</a:t>
            </a:r>
            <a:endParaRPr lang="en-US" sz="1420" dirty="0"/>
          </a:p>
        </p:txBody>
      </p:sp>
      <p:sp>
        <p:nvSpPr>
          <p:cNvPr id="58" name="Shape 56"/>
          <p:cNvSpPr/>
          <p:nvPr/>
        </p:nvSpPr>
        <p:spPr>
          <a:xfrm>
            <a:off x="8586216" y="2980944"/>
            <a:ext cx="91440" cy="91440"/>
          </a:xfrm>
          <a:prstGeom prst="ellipse">
            <a:avLst/>
          </a:prstGeom>
          <a:solidFill>
            <a:srgbClr val="7CD4FF"/>
          </a:solidFill>
          <a:ln w="12700">
            <a:solidFill>
              <a:srgbClr val="7CD4FF"/>
            </a:solidFill>
            <a:prstDash val="solid"/>
          </a:ln>
        </p:spPr>
      </p:sp>
      <p:sp>
        <p:nvSpPr>
          <p:cNvPr id="59" name="Text 57"/>
          <p:cNvSpPr/>
          <p:nvPr/>
        </p:nvSpPr>
        <p:spPr>
          <a:xfrm>
            <a:off x="8778240" y="2926080"/>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React può raggruppare update compatibili.</a:t>
            </a:r>
            <a:endParaRPr lang="en-US" sz="1420" dirty="0"/>
          </a:p>
        </p:txBody>
      </p:sp>
      <p:sp>
        <p:nvSpPr>
          <p:cNvPr id="60" name="Shape 58"/>
          <p:cNvSpPr/>
          <p:nvPr/>
        </p:nvSpPr>
        <p:spPr>
          <a:xfrm>
            <a:off x="8586216" y="3694176"/>
            <a:ext cx="91440" cy="91440"/>
          </a:xfrm>
          <a:prstGeom prst="ellipse">
            <a:avLst/>
          </a:prstGeom>
          <a:solidFill>
            <a:srgbClr val="7CD4FF"/>
          </a:solidFill>
          <a:ln w="12700">
            <a:solidFill>
              <a:srgbClr val="7CD4FF"/>
            </a:solidFill>
            <a:prstDash val="solid"/>
          </a:ln>
        </p:spPr>
      </p:sp>
      <p:sp>
        <p:nvSpPr>
          <p:cNvPr id="61" name="Text 59"/>
          <p:cNvSpPr/>
          <p:nvPr/>
        </p:nvSpPr>
        <p:spPr>
          <a:xfrm>
            <a:off x="8778240" y="3639312"/>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Il DOM cambia nella fase commit.</a:t>
            </a:r>
            <a:endParaRPr lang="en-US" sz="142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49</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STALE CLOSURE</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Una callback asincrona può leggere uno snapshot vecchio</a:t>
            </a:r>
            <a:endParaRPr lang="en-US" sz="2700" dirty="0"/>
          </a:p>
        </p:txBody>
      </p:sp>
      <p:sp>
        <p:nvSpPr>
          <p:cNvPr id="29" name="Shape 27"/>
          <p:cNvSpPr/>
          <p:nvPr/>
        </p:nvSpPr>
        <p:spPr>
          <a:xfrm>
            <a:off x="530352" y="1581912"/>
            <a:ext cx="5440680" cy="4526280"/>
          </a:xfrm>
          <a:prstGeom prst="roundRect">
            <a:avLst>
              <a:gd name="adj" fmla="val 1010"/>
            </a:avLst>
          </a:prstGeom>
          <a:solidFill>
            <a:srgbClr val="0D1A2B"/>
          </a:solidFill>
          <a:ln w="13970">
            <a:solidFill>
              <a:srgbClr val="263A55"/>
            </a:solidFill>
            <a:prstDash val="solid"/>
          </a:ln>
        </p:spPr>
      </p:sp>
      <p:sp>
        <p:nvSpPr>
          <p:cNvPr id="30" name="Shape 28"/>
          <p:cNvSpPr/>
          <p:nvPr/>
        </p:nvSpPr>
        <p:spPr>
          <a:xfrm>
            <a:off x="530352" y="1581912"/>
            <a:ext cx="5440680" cy="347472"/>
          </a:xfrm>
          <a:prstGeom prst="rect">
            <a:avLst/>
          </a:prstGeom>
          <a:solidFill>
            <a:srgbClr val="122238"/>
          </a:solidFill>
          <a:ln w="12700">
            <a:solidFill>
              <a:srgbClr val="122238"/>
            </a:solidFill>
            <a:prstDash val="solid"/>
          </a:ln>
        </p:spPr>
      </p:sp>
      <p:sp>
        <p:nvSpPr>
          <p:cNvPr id="31" name="Shape 29"/>
          <p:cNvSpPr/>
          <p:nvPr/>
        </p:nvSpPr>
        <p:spPr>
          <a:xfrm>
            <a:off x="694944" y="1623060"/>
            <a:ext cx="658368" cy="274320"/>
          </a:xfrm>
          <a:prstGeom prst="roundRect">
            <a:avLst>
              <a:gd name="adj" fmla="val 20000"/>
            </a:avLst>
          </a:prstGeom>
          <a:solidFill>
            <a:srgbClr val="FF7A8A">
              <a:alpha val="20000"/>
            </a:srgbClr>
          </a:solidFill>
          <a:ln w="10160">
            <a:solidFill>
              <a:srgbClr val="FF7A8A">
                <a:alpha val="55000"/>
              </a:srgbClr>
            </a:solidFill>
            <a:prstDash val="solid"/>
          </a:ln>
        </p:spPr>
      </p:sp>
      <p:sp>
        <p:nvSpPr>
          <p:cNvPr id="32" name="Text 30"/>
          <p:cNvSpPr/>
          <p:nvPr/>
        </p:nvSpPr>
        <p:spPr>
          <a:xfrm>
            <a:off x="786384" y="1682496"/>
            <a:ext cx="475488" cy="128016"/>
          </a:xfrm>
          <a:prstGeom prst="rect">
            <a:avLst/>
          </a:prstGeom>
          <a:noFill/>
          <a:ln/>
        </p:spPr>
        <p:txBody>
          <a:bodyPr wrap="square" lIns="0" tIns="0" rIns="0" bIns="0" rtlCol="0" anchor="ctr"/>
          <a:lstStyle/>
          <a:p>
            <a:pPr algn="ctr" indent="0" marL="0">
              <a:buNone/>
            </a:pPr>
            <a:r>
              <a:rPr lang="en-US" sz="820" b="1" dirty="0">
                <a:solidFill>
                  <a:srgbClr val="FF7A8A"/>
                </a:solidFill>
                <a:latin typeface="Aptos Mono" pitchFamily="34" charset="0"/>
                <a:ea typeface="Aptos Mono" pitchFamily="34" charset="-122"/>
                <a:cs typeface="Aptos Mono" pitchFamily="34" charset="-120"/>
              </a:rPr>
              <a:t>TSX</a:t>
            </a:r>
            <a:endParaRPr lang="en-US" sz="820" dirty="0"/>
          </a:p>
        </p:txBody>
      </p:sp>
      <p:sp>
        <p:nvSpPr>
          <p:cNvPr id="33" name="Text 31"/>
          <p:cNvSpPr/>
          <p:nvPr/>
        </p:nvSpPr>
        <p:spPr>
          <a:xfrm>
            <a:off x="1490472" y="1677924"/>
            <a:ext cx="420624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PRIMA</a:t>
            </a:r>
            <a:endParaRPr lang="en-US" sz="880" dirty="0"/>
          </a:p>
        </p:txBody>
      </p:sp>
      <p:sp>
        <p:nvSpPr>
          <p:cNvPr id="34" name="Text 32"/>
          <p:cNvSpPr/>
          <p:nvPr/>
        </p:nvSpPr>
        <p:spPr>
          <a:xfrm>
            <a:off x="640080" y="204368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01</a:t>
            </a:r>
            <a:endParaRPr lang="en-US" sz="1060" dirty="0"/>
          </a:p>
        </p:txBody>
      </p:sp>
      <p:sp>
        <p:nvSpPr>
          <p:cNvPr id="35" name="Text 33"/>
          <p:cNvSpPr/>
          <p:nvPr/>
        </p:nvSpPr>
        <p:spPr>
          <a:xfrm>
            <a:off x="1033272" y="202996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function delayedIncrement() {</a:t>
            </a:r>
            <a:endParaRPr lang="en-US" sz="1280" dirty="0"/>
          </a:p>
        </p:txBody>
      </p:sp>
      <p:sp>
        <p:nvSpPr>
          <p:cNvPr id="36" name="Text 34"/>
          <p:cNvSpPr/>
          <p:nvPr/>
        </p:nvSpPr>
        <p:spPr>
          <a:xfrm>
            <a:off x="640080" y="228600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02</a:t>
            </a:r>
            <a:endParaRPr lang="en-US" sz="1060" dirty="0"/>
          </a:p>
        </p:txBody>
      </p:sp>
      <p:sp>
        <p:nvSpPr>
          <p:cNvPr id="37" name="Text 35"/>
          <p:cNvSpPr/>
          <p:nvPr/>
        </p:nvSpPr>
        <p:spPr>
          <a:xfrm>
            <a:off x="1033272" y="227228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setTimeout(() =&gt; {</a:t>
            </a:r>
            <a:endParaRPr lang="en-US" sz="1280" dirty="0"/>
          </a:p>
        </p:txBody>
      </p:sp>
      <p:sp>
        <p:nvSpPr>
          <p:cNvPr id="38" name="Text 36"/>
          <p:cNvSpPr/>
          <p:nvPr/>
        </p:nvSpPr>
        <p:spPr>
          <a:xfrm>
            <a:off x="640080" y="252831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03</a:t>
            </a:r>
            <a:endParaRPr lang="en-US" sz="1060" dirty="0"/>
          </a:p>
        </p:txBody>
      </p:sp>
      <p:sp>
        <p:nvSpPr>
          <p:cNvPr id="39" name="Text 37"/>
          <p:cNvSpPr/>
          <p:nvPr/>
        </p:nvSpPr>
        <p:spPr>
          <a:xfrm>
            <a:off x="1033272" y="2514600"/>
            <a:ext cx="4782312" cy="242316"/>
          </a:xfrm>
          <a:prstGeom prst="rect">
            <a:avLst/>
          </a:prstGeom>
          <a:noFill/>
          <a:ln/>
        </p:spPr>
        <p:txBody>
          <a:bodyPr wrap="square" lIns="0" tIns="0" rIns="0" bIns="0" rtlCol="0" anchor="ctr">
            <a:normAutofit/>
          </a:bodyPr>
          <a:lstStyle/>
          <a:p>
            <a:pPr indent="0" marL="0">
              <a:buNone/>
            </a:pPr>
            <a:r>
              <a:rPr lang="en-US" sz="1280" dirty="0">
                <a:solidFill>
                  <a:srgbClr val="78C9A6"/>
                </a:solidFill>
                <a:latin typeface="Aptos Mono" pitchFamily="34" charset="0"/>
                <a:ea typeface="Aptos Mono" pitchFamily="34" charset="-122"/>
                <a:cs typeface="Aptos Mono" pitchFamily="34" charset="-120"/>
              </a:rPr>
              <a:t>    // count appartiene al render del click.</a:t>
            </a:r>
            <a:endParaRPr lang="en-US" sz="1280" dirty="0"/>
          </a:p>
        </p:txBody>
      </p:sp>
      <p:sp>
        <p:nvSpPr>
          <p:cNvPr id="40" name="Text 38"/>
          <p:cNvSpPr/>
          <p:nvPr/>
        </p:nvSpPr>
        <p:spPr>
          <a:xfrm>
            <a:off x="640080" y="2770632"/>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04</a:t>
            </a:r>
            <a:endParaRPr lang="en-US" sz="1060" dirty="0"/>
          </a:p>
        </p:txBody>
      </p:sp>
      <p:sp>
        <p:nvSpPr>
          <p:cNvPr id="41" name="Text 39"/>
          <p:cNvSpPr/>
          <p:nvPr/>
        </p:nvSpPr>
        <p:spPr>
          <a:xfrm>
            <a:off x="1033272" y="2756916"/>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setCount(count + 1);</a:t>
            </a:r>
            <a:endParaRPr lang="en-US" sz="1280" dirty="0"/>
          </a:p>
        </p:txBody>
      </p:sp>
      <p:sp>
        <p:nvSpPr>
          <p:cNvPr id="42" name="Text 40"/>
          <p:cNvSpPr/>
          <p:nvPr/>
        </p:nvSpPr>
        <p:spPr>
          <a:xfrm>
            <a:off x="640080" y="3012948"/>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05</a:t>
            </a:r>
            <a:endParaRPr lang="en-US" sz="1060" dirty="0"/>
          </a:p>
        </p:txBody>
      </p:sp>
      <p:sp>
        <p:nvSpPr>
          <p:cNvPr id="43" name="Text 41"/>
          <p:cNvSpPr/>
          <p:nvPr/>
        </p:nvSpPr>
        <p:spPr>
          <a:xfrm>
            <a:off x="1033272" y="2999232"/>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 1000);</a:t>
            </a:r>
            <a:endParaRPr lang="en-US" sz="1280" dirty="0"/>
          </a:p>
        </p:txBody>
      </p:sp>
      <p:sp>
        <p:nvSpPr>
          <p:cNvPr id="44" name="Text 42"/>
          <p:cNvSpPr/>
          <p:nvPr/>
        </p:nvSpPr>
        <p:spPr>
          <a:xfrm>
            <a:off x="640080" y="325526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06</a:t>
            </a:r>
            <a:endParaRPr lang="en-US" sz="1060" dirty="0"/>
          </a:p>
        </p:txBody>
      </p:sp>
      <p:sp>
        <p:nvSpPr>
          <p:cNvPr id="45" name="Text 43"/>
          <p:cNvSpPr/>
          <p:nvPr/>
        </p:nvSpPr>
        <p:spPr>
          <a:xfrm>
            <a:off x="1033272" y="324154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a:t>
            </a:r>
            <a:endParaRPr lang="en-US" sz="1280" dirty="0"/>
          </a:p>
        </p:txBody>
      </p:sp>
      <p:sp>
        <p:nvSpPr>
          <p:cNvPr id="46" name="Text 44"/>
          <p:cNvSpPr/>
          <p:nvPr/>
        </p:nvSpPr>
        <p:spPr>
          <a:xfrm>
            <a:off x="640080" y="349758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07</a:t>
            </a:r>
            <a:endParaRPr lang="en-US" sz="1060" dirty="0"/>
          </a:p>
        </p:txBody>
      </p:sp>
      <p:sp>
        <p:nvSpPr>
          <p:cNvPr id="47" name="Text 45"/>
          <p:cNvSpPr/>
          <p:nvPr/>
        </p:nvSpPr>
        <p:spPr>
          <a:xfrm>
            <a:off x="1033272" y="348386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t>
            </a:r>
            <a:endParaRPr lang="en-US" sz="1280" dirty="0"/>
          </a:p>
        </p:txBody>
      </p:sp>
      <p:sp>
        <p:nvSpPr>
          <p:cNvPr id="48" name="Text 46"/>
          <p:cNvSpPr/>
          <p:nvPr/>
        </p:nvSpPr>
        <p:spPr>
          <a:xfrm>
            <a:off x="640080" y="373989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08</a:t>
            </a:r>
            <a:endParaRPr lang="en-US" sz="1060" dirty="0"/>
          </a:p>
        </p:txBody>
      </p:sp>
      <p:sp>
        <p:nvSpPr>
          <p:cNvPr id="49" name="Text 47"/>
          <p:cNvSpPr/>
          <p:nvPr/>
        </p:nvSpPr>
        <p:spPr>
          <a:xfrm>
            <a:off x="1033272" y="3726180"/>
            <a:ext cx="4782312" cy="242316"/>
          </a:xfrm>
          <a:prstGeom prst="rect">
            <a:avLst/>
          </a:prstGeom>
          <a:noFill/>
          <a:ln/>
        </p:spPr>
        <p:txBody>
          <a:bodyPr wrap="square" lIns="0" tIns="0" rIns="0" bIns="0" rtlCol="0" anchor="ctr">
            <a:normAutofit/>
          </a:bodyPr>
          <a:lstStyle/>
          <a:p>
            <a:pPr indent="0" marL="0">
              <a:buNone/>
            </a:pPr>
            <a:r>
              <a:rPr lang="en-US" sz="1280" dirty="0">
                <a:solidFill>
                  <a:srgbClr val="78C9A6"/>
                </a:solidFill>
                <a:latin typeface="Aptos Mono" pitchFamily="34" charset="0"/>
                <a:ea typeface="Aptos Mono" pitchFamily="34" charset="-122"/>
                <a:cs typeface="Aptos Mono" pitchFamily="34" charset="-120"/>
              </a:rPr>
              <a:t>// Più click possono usare lo stesso valore.</a:t>
            </a:r>
            <a:endParaRPr lang="en-US" sz="1280" dirty="0"/>
          </a:p>
        </p:txBody>
      </p:sp>
      <p:sp>
        <p:nvSpPr>
          <p:cNvPr id="50" name="Shape 48"/>
          <p:cNvSpPr/>
          <p:nvPr/>
        </p:nvSpPr>
        <p:spPr>
          <a:xfrm>
            <a:off x="6217920" y="1581912"/>
            <a:ext cx="5440680" cy="4526280"/>
          </a:xfrm>
          <a:prstGeom prst="roundRect">
            <a:avLst>
              <a:gd name="adj" fmla="val 1010"/>
            </a:avLst>
          </a:prstGeom>
          <a:solidFill>
            <a:srgbClr val="0D1A2B"/>
          </a:solidFill>
          <a:ln w="13970">
            <a:solidFill>
              <a:srgbClr val="263A55"/>
            </a:solidFill>
            <a:prstDash val="solid"/>
          </a:ln>
        </p:spPr>
      </p:sp>
      <p:sp>
        <p:nvSpPr>
          <p:cNvPr id="51" name="Shape 49"/>
          <p:cNvSpPr/>
          <p:nvPr/>
        </p:nvSpPr>
        <p:spPr>
          <a:xfrm>
            <a:off x="6217920" y="1581912"/>
            <a:ext cx="5440680" cy="347472"/>
          </a:xfrm>
          <a:prstGeom prst="rect">
            <a:avLst/>
          </a:prstGeom>
          <a:solidFill>
            <a:srgbClr val="122238"/>
          </a:solidFill>
          <a:ln w="12700">
            <a:solidFill>
              <a:srgbClr val="122238"/>
            </a:solidFill>
            <a:prstDash val="solid"/>
          </a:ln>
        </p:spPr>
      </p:sp>
      <p:sp>
        <p:nvSpPr>
          <p:cNvPr id="52" name="Shape 50"/>
          <p:cNvSpPr/>
          <p:nvPr/>
        </p:nvSpPr>
        <p:spPr>
          <a:xfrm>
            <a:off x="6382512" y="1623060"/>
            <a:ext cx="658368" cy="274320"/>
          </a:xfrm>
          <a:prstGeom prst="roundRect">
            <a:avLst>
              <a:gd name="adj" fmla="val 20000"/>
            </a:avLst>
          </a:prstGeom>
          <a:solidFill>
            <a:srgbClr val="6FE3B1">
              <a:alpha val="20000"/>
            </a:srgbClr>
          </a:solidFill>
          <a:ln w="10160">
            <a:solidFill>
              <a:srgbClr val="6FE3B1">
                <a:alpha val="55000"/>
              </a:srgbClr>
            </a:solidFill>
            <a:prstDash val="solid"/>
          </a:ln>
        </p:spPr>
      </p:sp>
      <p:sp>
        <p:nvSpPr>
          <p:cNvPr id="53" name="Text 51"/>
          <p:cNvSpPr/>
          <p:nvPr/>
        </p:nvSpPr>
        <p:spPr>
          <a:xfrm>
            <a:off x="6473952" y="1682496"/>
            <a:ext cx="475488" cy="128016"/>
          </a:xfrm>
          <a:prstGeom prst="rect">
            <a:avLst/>
          </a:prstGeom>
          <a:noFill/>
          <a:ln/>
        </p:spPr>
        <p:txBody>
          <a:bodyPr wrap="square" lIns="0" tIns="0" rIns="0" bIns="0" rtlCol="0" anchor="ctr"/>
          <a:lstStyle/>
          <a:p>
            <a:pPr algn="ctr" indent="0" marL="0">
              <a:buNone/>
            </a:pPr>
            <a:r>
              <a:rPr lang="en-US" sz="820" b="1" dirty="0">
                <a:solidFill>
                  <a:srgbClr val="6FE3B1"/>
                </a:solidFill>
                <a:latin typeface="Aptos Mono" pitchFamily="34" charset="0"/>
                <a:ea typeface="Aptos Mono" pitchFamily="34" charset="-122"/>
                <a:cs typeface="Aptos Mono" pitchFamily="34" charset="-120"/>
              </a:rPr>
              <a:t>TSX</a:t>
            </a:r>
            <a:endParaRPr lang="en-US" sz="820" dirty="0"/>
          </a:p>
        </p:txBody>
      </p:sp>
      <p:sp>
        <p:nvSpPr>
          <p:cNvPr id="54" name="Text 52"/>
          <p:cNvSpPr/>
          <p:nvPr/>
        </p:nvSpPr>
        <p:spPr>
          <a:xfrm>
            <a:off x="7178040" y="1677924"/>
            <a:ext cx="420624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DOPO</a:t>
            </a:r>
            <a:endParaRPr lang="en-US" sz="880" dirty="0"/>
          </a:p>
        </p:txBody>
      </p:sp>
      <p:sp>
        <p:nvSpPr>
          <p:cNvPr id="55" name="Text 53"/>
          <p:cNvSpPr/>
          <p:nvPr/>
        </p:nvSpPr>
        <p:spPr>
          <a:xfrm>
            <a:off x="6327648" y="204368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01</a:t>
            </a:r>
            <a:endParaRPr lang="en-US" sz="1060" dirty="0"/>
          </a:p>
        </p:txBody>
      </p:sp>
      <p:sp>
        <p:nvSpPr>
          <p:cNvPr id="56" name="Text 54"/>
          <p:cNvSpPr/>
          <p:nvPr/>
        </p:nvSpPr>
        <p:spPr>
          <a:xfrm>
            <a:off x="6720840" y="202996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function delayedIncrement() {</a:t>
            </a:r>
            <a:endParaRPr lang="en-US" sz="1280" dirty="0"/>
          </a:p>
        </p:txBody>
      </p:sp>
      <p:sp>
        <p:nvSpPr>
          <p:cNvPr id="57" name="Text 55"/>
          <p:cNvSpPr/>
          <p:nvPr/>
        </p:nvSpPr>
        <p:spPr>
          <a:xfrm>
            <a:off x="6327648" y="228600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02</a:t>
            </a:r>
            <a:endParaRPr lang="en-US" sz="1060" dirty="0"/>
          </a:p>
        </p:txBody>
      </p:sp>
      <p:sp>
        <p:nvSpPr>
          <p:cNvPr id="58" name="Text 56"/>
          <p:cNvSpPr/>
          <p:nvPr/>
        </p:nvSpPr>
        <p:spPr>
          <a:xfrm>
            <a:off x="6720840" y="227228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setTimeout(() =&gt; {</a:t>
            </a:r>
            <a:endParaRPr lang="en-US" sz="1280" dirty="0"/>
          </a:p>
        </p:txBody>
      </p:sp>
      <p:sp>
        <p:nvSpPr>
          <p:cNvPr id="59" name="Text 57"/>
          <p:cNvSpPr/>
          <p:nvPr/>
        </p:nvSpPr>
        <p:spPr>
          <a:xfrm>
            <a:off x="6327648" y="252831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03</a:t>
            </a:r>
            <a:endParaRPr lang="en-US" sz="1060" dirty="0"/>
          </a:p>
        </p:txBody>
      </p:sp>
      <p:sp>
        <p:nvSpPr>
          <p:cNvPr id="60" name="Text 58"/>
          <p:cNvSpPr/>
          <p:nvPr/>
        </p:nvSpPr>
        <p:spPr>
          <a:xfrm>
            <a:off x="6720840" y="2514600"/>
            <a:ext cx="4782312" cy="242316"/>
          </a:xfrm>
          <a:prstGeom prst="rect">
            <a:avLst/>
          </a:prstGeom>
          <a:noFill/>
          <a:ln/>
        </p:spPr>
        <p:txBody>
          <a:bodyPr wrap="square" lIns="0" tIns="0" rIns="0" bIns="0" rtlCol="0" anchor="ctr">
            <a:normAutofit/>
          </a:bodyPr>
          <a:lstStyle/>
          <a:p>
            <a:pPr indent="0" marL="0">
              <a:buNone/>
            </a:pPr>
            <a:r>
              <a:rPr lang="en-US" sz="1280" dirty="0">
                <a:solidFill>
                  <a:srgbClr val="78C9A6"/>
                </a:solidFill>
                <a:latin typeface="Aptos Mono" pitchFamily="34" charset="0"/>
                <a:ea typeface="Aptos Mono" pitchFamily="34" charset="-122"/>
                <a:cs typeface="Aptos Mono" pitchFamily="34" charset="-120"/>
              </a:rPr>
              <a:t>    // React passa il valore più recente della coda.</a:t>
            </a:r>
            <a:endParaRPr lang="en-US" sz="1280" dirty="0"/>
          </a:p>
        </p:txBody>
      </p:sp>
      <p:sp>
        <p:nvSpPr>
          <p:cNvPr id="61" name="Text 59"/>
          <p:cNvSpPr/>
          <p:nvPr/>
        </p:nvSpPr>
        <p:spPr>
          <a:xfrm>
            <a:off x="6327648" y="2770632"/>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04</a:t>
            </a:r>
            <a:endParaRPr lang="en-US" sz="1060" dirty="0"/>
          </a:p>
        </p:txBody>
      </p:sp>
      <p:sp>
        <p:nvSpPr>
          <p:cNvPr id="62" name="Text 60"/>
          <p:cNvSpPr/>
          <p:nvPr/>
        </p:nvSpPr>
        <p:spPr>
          <a:xfrm>
            <a:off x="6720840" y="2756916"/>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setCount(current =&gt; current + 1);</a:t>
            </a:r>
            <a:endParaRPr lang="en-US" sz="1280" dirty="0"/>
          </a:p>
        </p:txBody>
      </p:sp>
      <p:sp>
        <p:nvSpPr>
          <p:cNvPr id="63" name="Text 61"/>
          <p:cNvSpPr/>
          <p:nvPr/>
        </p:nvSpPr>
        <p:spPr>
          <a:xfrm>
            <a:off x="6327648" y="3012948"/>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05</a:t>
            </a:r>
            <a:endParaRPr lang="en-US" sz="1060" dirty="0"/>
          </a:p>
        </p:txBody>
      </p:sp>
      <p:sp>
        <p:nvSpPr>
          <p:cNvPr id="64" name="Text 62"/>
          <p:cNvSpPr/>
          <p:nvPr/>
        </p:nvSpPr>
        <p:spPr>
          <a:xfrm>
            <a:off x="6720840" y="2999232"/>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 1000);</a:t>
            </a:r>
            <a:endParaRPr lang="en-US" sz="1280" dirty="0"/>
          </a:p>
        </p:txBody>
      </p:sp>
      <p:sp>
        <p:nvSpPr>
          <p:cNvPr id="65" name="Text 63"/>
          <p:cNvSpPr/>
          <p:nvPr/>
        </p:nvSpPr>
        <p:spPr>
          <a:xfrm>
            <a:off x="6327648" y="325526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06</a:t>
            </a:r>
            <a:endParaRPr lang="en-US" sz="1060" dirty="0"/>
          </a:p>
        </p:txBody>
      </p:sp>
      <p:sp>
        <p:nvSpPr>
          <p:cNvPr id="66" name="Text 64"/>
          <p:cNvSpPr/>
          <p:nvPr/>
        </p:nvSpPr>
        <p:spPr>
          <a:xfrm>
            <a:off x="6720840" y="324154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a:t>
            </a:r>
            <a:endParaRPr lang="en-US" sz="1280" dirty="0"/>
          </a:p>
        </p:txBody>
      </p:sp>
      <p:sp>
        <p:nvSpPr>
          <p:cNvPr id="67" name="Text 65"/>
          <p:cNvSpPr/>
          <p:nvPr/>
        </p:nvSpPr>
        <p:spPr>
          <a:xfrm>
            <a:off x="6327648" y="349758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07</a:t>
            </a:r>
            <a:endParaRPr lang="en-US" sz="1060" dirty="0"/>
          </a:p>
        </p:txBody>
      </p:sp>
      <p:sp>
        <p:nvSpPr>
          <p:cNvPr id="68" name="Text 66"/>
          <p:cNvSpPr/>
          <p:nvPr/>
        </p:nvSpPr>
        <p:spPr>
          <a:xfrm>
            <a:off x="6720840" y="348386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t>
            </a:r>
            <a:endParaRPr lang="en-US" sz="1280" dirty="0"/>
          </a:p>
        </p:txBody>
      </p:sp>
      <p:sp>
        <p:nvSpPr>
          <p:cNvPr id="69" name="Text 67"/>
          <p:cNvSpPr/>
          <p:nvPr/>
        </p:nvSpPr>
        <p:spPr>
          <a:xfrm>
            <a:off x="6327648" y="373989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08</a:t>
            </a:r>
            <a:endParaRPr lang="en-US" sz="1060" dirty="0"/>
          </a:p>
        </p:txBody>
      </p:sp>
      <p:sp>
        <p:nvSpPr>
          <p:cNvPr id="70" name="Text 68"/>
          <p:cNvSpPr/>
          <p:nvPr/>
        </p:nvSpPr>
        <p:spPr>
          <a:xfrm>
            <a:off x="6720840" y="3726180"/>
            <a:ext cx="4782312" cy="242316"/>
          </a:xfrm>
          <a:prstGeom prst="rect">
            <a:avLst/>
          </a:prstGeom>
          <a:noFill/>
          <a:ln/>
        </p:spPr>
        <p:txBody>
          <a:bodyPr wrap="square" lIns="0" tIns="0" rIns="0" bIns="0" rtlCol="0" anchor="ctr">
            <a:normAutofit/>
          </a:bodyPr>
          <a:lstStyle/>
          <a:p>
            <a:pPr indent="0" marL="0">
              <a:buNone/>
            </a:pPr>
            <a:r>
              <a:rPr lang="en-US" sz="1280" dirty="0">
                <a:solidFill>
                  <a:srgbClr val="78C9A6"/>
                </a:solidFill>
                <a:latin typeface="Aptos Mono" pitchFamily="34" charset="0"/>
                <a:ea typeface="Aptos Mono" pitchFamily="34" charset="-122"/>
                <a:cs typeface="Aptos Mono" pitchFamily="34" charset="-120"/>
              </a:rPr>
              <a:t>// Ogni callback compone il proprio update.</a:t>
            </a:r>
            <a:endParaRPr lang="en-US" sz="1280" dirty="0"/>
          </a:p>
        </p:txBody>
      </p:sp>
      <p:sp>
        <p:nvSpPr>
          <p:cNvPr id="71" name="Shape 69"/>
          <p:cNvSpPr/>
          <p:nvPr/>
        </p:nvSpPr>
        <p:spPr>
          <a:xfrm>
            <a:off x="5870448" y="3310128"/>
            <a:ext cx="274320" cy="475488"/>
          </a:xfrm>
          <a:prstGeom prst="chevron">
            <a:avLst/>
          </a:prstGeom>
          <a:solidFill>
            <a:srgbClr val="4C7DFF"/>
          </a:solidFill>
          <a:ln w="12700">
            <a:solidFill>
              <a:srgbClr val="4C7DFF"/>
            </a:solidFill>
            <a:prstDash val="solid"/>
          </a:ln>
        </p:spPr>
      </p:sp>
      <p:sp>
        <p:nvSpPr>
          <p:cNvPr id="72" name="Text 70"/>
          <p:cNvSpPr/>
          <p:nvPr/>
        </p:nvSpPr>
        <p:spPr>
          <a:xfrm>
            <a:off x="1828800" y="6217920"/>
            <a:ext cx="8503920" cy="210312"/>
          </a:xfrm>
          <a:prstGeom prst="rect">
            <a:avLst/>
          </a:prstGeom>
          <a:noFill/>
          <a:ln/>
        </p:spPr>
        <p:txBody>
          <a:bodyPr wrap="square" lIns="0" tIns="0" rIns="0" bIns="0" rtlCol="0" anchor="ctr"/>
          <a:lstStyle/>
          <a:p>
            <a:pPr algn="ctr" indent="0" marL="0">
              <a:buNone/>
            </a:pPr>
            <a:r>
              <a:rPr lang="en-US" sz="1050" b="1" dirty="0">
                <a:solidFill>
                  <a:srgbClr val="F5C96A"/>
                </a:solidFill>
                <a:latin typeface="Aptos" pitchFamily="34" charset="0"/>
                <a:ea typeface="Aptos" pitchFamily="34" charset="-122"/>
                <a:cs typeface="Aptos" pitchFamily="34" charset="-120"/>
              </a:rPr>
              <a:t>Quando il prossimo stato dipende dal precedente, usa la forma funzionale.</a:t>
            </a:r>
            <a:endParaRPr lang="en-US" sz="10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0" y="0"/>
            <a:ext cx="3794760" cy="6858000"/>
          </a:xfrm>
          <a:prstGeom prst="rect">
            <a:avLst/>
          </a:prstGeom>
          <a:solidFill>
            <a:srgbClr val="4C7DFF"/>
          </a:solidFill>
          <a:ln w="12700">
            <a:solidFill>
              <a:srgbClr val="4C7DFF"/>
            </a:solidFill>
            <a:prstDash val="solid"/>
          </a:ln>
        </p:spPr>
      </p:sp>
      <p:sp>
        <p:nvSpPr>
          <p:cNvPr id="3" name="Text 1"/>
          <p:cNvSpPr/>
          <p:nvPr/>
        </p:nvSpPr>
        <p:spPr>
          <a:xfrm>
            <a:off x="576072" y="594360"/>
            <a:ext cx="2560320" cy="1097280"/>
          </a:xfrm>
          <a:prstGeom prst="rect">
            <a:avLst/>
          </a:prstGeom>
          <a:noFill/>
          <a:ln/>
        </p:spPr>
        <p:txBody>
          <a:bodyPr wrap="square" lIns="0" tIns="0" rIns="0" bIns="0" rtlCol="0" anchor="ctr"/>
          <a:lstStyle/>
          <a:p>
            <a:pPr indent="0" marL="0">
              <a:buNone/>
            </a:pPr>
            <a:r>
              <a:rPr lang="en-US" sz="7000" b="1" dirty="0">
                <a:solidFill>
                  <a:srgbClr val="FFFFFF">
                    <a:alpha val="98000"/>
                  </a:srgbClr>
                </a:solidFill>
                <a:latin typeface="Aptos Mono" pitchFamily="34" charset="0"/>
                <a:ea typeface="Aptos Mono" pitchFamily="34" charset="-122"/>
                <a:cs typeface="Aptos Mono" pitchFamily="34" charset="-120"/>
              </a:rPr>
              <a:t>05</a:t>
            </a:r>
            <a:endParaRPr lang="en-US" sz="7000" dirty="0"/>
          </a:p>
        </p:txBody>
      </p:sp>
      <p:sp>
        <p:nvSpPr>
          <p:cNvPr id="4" name="Text 2"/>
          <p:cNvSpPr/>
          <p:nvPr/>
        </p:nvSpPr>
        <p:spPr>
          <a:xfrm>
            <a:off x="658368" y="1975104"/>
            <a:ext cx="2560320" cy="274320"/>
          </a:xfrm>
          <a:prstGeom prst="rect">
            <a:avLst/>
          </a:prstGeom>
          <a:noFill/>
          <a:ln/>
        </p:spPr>
        <p:txBody>
          <a:bodyPr wrap="square" lIns="0" tIns="0" rIns="0" bIns="0" rtlCol="0" anchor="ctr"/>
          <a:lstStyle/>
          <a:p>
            <a:pPr indent="0" marL="0">
              <a:buNone/>
            </a:pPr>
            <a:r>
              <a:rPr lang="en-US" sz="1100" b="1" spc="200" kern="0" dirty="0">
                <a:solidFill>
                  <a:srgbClr val="FFFFFF"/>
                </a:solidFill>
                <a:latin typeface="Aptos" pitchFamily="34" charset="0"/>
                <a:ea typeface="Aptos" pitchFamily="34" charset="-122"/>
                <a:cs typeface="Aptos" pitchFamily="34" charset="-120"/>
              </a:rPr>
              <a:t>CODE LAB</a:t>
            </a:r>
            <a:endParaRPr lang="en-US" sz="1100" dirty="0"/>
          </a:p>
        </p:txBody>
      </p:sp>
      <p:sp>
        <p:nvSpPr>
          <p:cNvPr id="5" name="Text 3"/>
          <p:cNvSpPr/>
          <p:nvPr/>
        </p:nvSpPr>
        <p:spPr>
          <a:xfrm>
            <a:off x="4370832" y="1856232"/>
            <a:ext cx="6949440" cy="1051560"/>
          </a:xfrm>
          <a:prstGeom prst="rect">
            <a:avLst/>
          </a:prstGeom>
          <a:noFill/>
          <a:ln/>
        </p:spPr>
        <p:txBody>
          <a:bodyPr wrap="square" lIns="0" tIns="0" rIns="0" bIns="0" rtlCol="0" anchor="ctr">
            <a:normAutofit/>
          </a:bodyPr>
          <a:lstStyle/>
          <a:p>
            <a:pPr indent="0" marL="0">
              <a:buNone/>
            </a:pPr>
            <a:r>
              <a:rPr lang="en-US" sz="3800" b="1" dirty="0">
                <a:solidFill>
                  <a:srgbClr val="F4F7FB"/>
                </a:solidFill>
                <a:latin typeface="Aptos Display" pitchFamily="34" charset="0"/>
                <a:ea typeface="Aptos Display" pitchFamily="34" charset="-122"/>
                <a:cs typeface="Aptos Display" pitchFamily="34" charset="-120"/>
              </a:rPr>
              <a:t>Reconciliation e identità</a:t>
            </a:r>
            <a:endParaRPr lang="en-US" sz="3800" dirty="0"/>
          </a:p>
        </p:txBody>
      </p:sp>
      <p:sp>
        <p:nvSpPr>
          <p:cNvPr id="6" name="Text 4"/>
          <p:cNvSpPr/>
          <p:nvPr/>
        </p:nvSpPr>
        <p:spPr>
          <a:xfrm>
            <a:off x="4407408" y="3136392"/>
            <a:ext cx="6309360" cy="822960"/>
          </a:xfrm>
          <a:prstGeom prst="rect">
            <a:avLst/>
          </a:prstGeom>
          <a:noFill/>
          <a:ln/>
        </p:spPr>
        <p:txBody>
          <a:bodyPr wrap="square" lIns="0" tIns="0" rIns="0" bIns="0" rtlCol="0" anchor="ctr">
            <a:normAutofit/>
          </a:bodyPr>
          <a:lstStyle/>
          <a:p>
            <a:pPr indent="0" marL="0">
              <a:buNone/>
            </a:pPr>
            <a:r>
              <a:rPr lang="en-US" sz="1900" dirty="0">
                <a:solidFill>
                  <a:srgbClr val="9DB0C7"/>
                </a:solidFill>
                <a:latin typeface="Aptos" pitchFamily="34" charset="0"/>
                <a:ea typeface="Aptos" pitchFamily="34" charset="-122"/>
                <a:cs typeface="Aptos" pitchFamily="34" charset="-120"/>
              </a:rPr>
              <a:t>React conserva lo state quando tipo, posizione e key mantengono identità.</a:t>
            </a:r>
            <a:endParaRPr lang="en-US" sz="1900" dirty="0"/>
          </a:p>
        </p:txBody>
      </p:sp>
      <p:sp>
        <p:nvSpPr>
          <p:cNvPr id="7" name="Shape 5"/>
          <p:cNvSpPr/>
          <p:nvPr/>
        </p:nvSpPr>
        <p:spPr>
          <a:xfrm>
            <a:off x="4407408" y="4343400"/>
            <a:ext cx="5669280" cy="0"/>
          </a:xfrm>
          <a:prstGeom prst="line">
            <a:avLst/>
          </a:prstGeom>
          <a:noFill/>
          <a:ln w="19050">
            <a:solidFill>
              <a:srgbClr val="263A55"/>
            </a:solidFill>
            <a:prstDash val="solid"/>
          </a:ln>
        </p:spPr>
      </p:sp>
      <p:sp>
        <p:nvSpPr>
          <p:cNvPr id="8" name="Text 6"/>
          <p:cNvSpPr/>
          <p:nvPr/>
        </p:nvSpPr>
        <p:spPr>
          <a:xfrm>
            <a:off x="10424160" y="6172200"/>
            <a:ext cx="1097280" cy="219456"/>
          </a:xfrm>
          <a:prstGeom prst="rect">
            <a:avLst/>
          </a:prstGeom>
          <a:noFill/>
          <a:ln/>
        </p:spPr>
        <p:txBody>
          <a:bodyPr wrap="square" lIns="0" tIns="0" rIns="0" bIns="0" rtlCol="0" anchor="ctr"/>
          <a:lstStyle/>
          <a:p>
            <a:pPr algn="r" indent="0" marL="0">
              <a:buNone/>
            </a:pPr>
            <a:r>
              <a:rPr lang="en-US" sz="1000" b="1" dirty="0">
                <a:solidFill>
                  <a:srgbClr val="8296AE"/>
                </a:solidFill>
                <a:latin typeface="Aptos Mono" pitchFamily="34" charset="0"/>
                <a:ea typeface="Aptos Mono" pitchFamily="34" charset="-122"/>
                <a:cs typeface="Aptos Mono" pitchFamily="34" charset="-120"/>
              </a:rPr>
              <a:t>SLIDE 50</a:t>
            </a:r>
            <a:endParaRPr lang="en-US" sz="1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51</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LISTE DINAMICHE</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La key per indice segue la posizione, non l’entità</a:t>
            </a:r>
            <a:endParaRPr lang="en-US" sz="2700" dirty="0"/>
          </a:p>
        </p:txBody>
      </p:sp>
      <p:sp>
        <p:nvSpPr>
          <p:cNvPr id="29" name="Shape 27"/>
          <p:cNvSpPr/>
          <p:nvPr/>
        </p:nvSpPr>
        <p:spPr>
          <a:xfrm>
            <a:off x="530352" y="1581912"/>
            <a:ext cx="5440680" cy="4526280"/>
          </a:xfrm>
          <a:prstGeom prst="roundRect">
            <a:avLst>
              <a:gd name="adj" fmla="val 1010"/>
            </a:avLst>
          </a:prstGeom>
          <a:solidFill>
            <a:srgbClr val="0D1A2B"/>
          </a:solidFill>
          <a:ln w="13970">
            <a:solidFill>
              <a:srgbClr val="263A55"/>
            </a:solidFill>
            <a:prstDash val="solid"/>
          </a:ln>
        </p:spPr>
      </p:sp>
      <p:sp>
        <p:nvSpPr>
          <p:cNvPr id="30" name="Shape 28"/>
          <p:cNvSpPr/>
          <p:nvPr/>
        </p:nvSpPr>
        <p:spPr>
          <a:xfrm>
            <a:off x="530352" y="1581912"/>
            <a:ext cx="5440680" cy="347472"/>
          </a:xfrm>
          <a:prstGeom prst="rect">
            <a:avLst/>
          </a:prstGeom>
          <a:solidFill>
            <a:srgbClr val="122238"/>
          </a:solidFill>
          <a:ln w="12700">
            <a:solidFill>
              <a:srgbClr val="122238"/>
            </a:solidFill>
            <a:prstDash val="solid"/>
          </a:ln>
        </p:spPr>
      </p:sp>
      <p:sp>
        <p:nvSpPr>
          <p:cNvPr id="31" name="Shape 29"/>
          <p:cNvSpPr/>
          <p:nvPr/>
        </p:nvSpPr>
        <p:spPr>
          <a:xfrm>
            <a:off x="694944" y="1623060"/>
            <a:ext cx="658368" cy="274320"/>
          </a:xfrm>
          <a:prstGeom prst="roundRect">
            <a:avLst>
              <a:gd name="adj" fmla="val 20000"/>
            </a:avLst>
          </a:prstGeom>
          <a:solidFill>
            <a:srgbClr val="FF7A8A">
              <a:alpha val="20000"/>
            </a:srgbClr>
          </a:solidFill>
          <a:ln w="10160">
            <a:solidFill>
              <a:srgbClr val="FF7A8A">
                <a:alpha val="55000"/>
              </a:srgbClr>
            </a:solidFill>
            <a:prstDash val="solid"/>
          </a:ln>
        </p:spPr>
      </p:sp>
      <p:sp>
        <p:nvSpPr>
          <p:cNvPr id="32" name="Text 30"/>
          <p:cNvSpPr/>
          <p:nvPr/>
        </p:nvSpPr>
        <p:spPr>
          <a:xfrm>
            <a:off x="786384" y="1682496"/>
            <a:ext cx="475488" cy="128016"/>
          </a:xfrm>
          <a:prstGeom prst="rect">
            <a:avLst/>
          </a:prstGeom>
          <a:noFill/>
          <a:ln/>
        </p:spPr>
        <p:txBody>
          <a:bodyPr wrap="square" lIns="0" tIns="0" rIns="0" bIns="0" rtlCol="0" anchor="ctr"/>
          <a:lstStyle/>
          <a:p>
            <a:pPr algn="ctr" indent="0" marL="0">
              <a:buNone/>
            </a:pPr>
            <a:r>
              <a:rPr lang="en-US" sz="820" b="1" dirty="0">
                <a:solidFill>
                  <a:srgbClr val="FF7A8A"/>
                </a:solidFill>
                <a:latin typeface="Aptos Mono" pitchFamily="34" charset="0"/>
                <a:ea typeface="Aptos Mono" pitchFamily="34" charset="-122"/>
                <a:cs typeface="Aptos Mono" pitchFamily="34" charset="-120"/>
              </a:rPr>
              <a:t>TSX</a:t>
            </a:r>
            <a:endParaRPr lang="en-US" sz="820" dirty="0"/>
          </a:p>
        </p:txBody>
      </p:sp>
      <p:sp>
        <p:nvSpPr>
          <p:cNvPr id="33" name="Text 31"/>
          <p:cNvSpPr/>
          <p:nvPr/>
        </p:nvSpPr>
        <p:spPr>
          <a:xfrm>
            <a:off x="1490472" y="1677924"/>
            <a:ext cx="420624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PRIMA</a:t>
            </a:r>
            <a:endParaRPr lang="en-US" sz="880" dirty="0"/>
          </a:p>
        </p:txBody>
      </p:sp>
      <p:sp>
        <p:nvSpPr>
          <p:cNvPr id="34" name="Text 32"/>
          <p:cNvSpPr/>
          <p:nvPr/>
        </p:nvSpPr>
        <p:spPr>
          <a:xfrm>
            <a:off x="640080" y="204368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01</a:t>
            </a:r>
            <a:endParaRPr lang="en-US" sz="1060" dirty="0"/>
          </a:p>
        </p:txBody>
      </p:sp>
      <p:sp>
        <p:nvSpPr>
          <p:cNvPr id="35" name="Text 33"/>
          <p:cNvSpPr/>
          <p:nvPr/>
        </p:nvSpPr>
        <p:spPr>
          <a:xfrm>
            <a:off x="1033272" y="202996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tickets.map((ticket, index) =&gt; (</a:t>
            </a:r>
            <a:endParaRPr lang="en-US" sz="1280" dirty="0"/>
          </a:p>
        </p:txBody>
      </p:sp>
      <p:sp>
        <p:nvSpPr>
          <p:cNvPr id="36" name="Text 34"/>
          <p:cNvSpPr/>
          <p:nvPr/>
        </p:nvSpPr>
        <p:spPr>
          <a:xfrm>
            <a:off x="640080" y="228600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02</a:t>
            </a:r>
            <a:endParaRPr lang="en-US" sz="1060" dirty="0"/>
          </a:p>
        </p:txBody>
      </p:sp>
      <p:sp>
        <p:nvSpPr>
          <p:cNvPr id="37" name="Text 35"/>
          <p:cNvSpPr/>
          <p:nvPr/>
        </p:nvSpPr>
        <p:spPr>
          <a:xfrm>
            <a:off x="1033272" y="227228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&lt;TicketRow</a:t>
            </a:r>
            <a:endParaRPr lang="en-US" sz="1280" dirty="0"/>
          </a:p>
        </p:txBody>
      </p:sp>
      <p:sp>
        <p:nvSpPr>
          <p:cNvPr id="38" name="Text 36"/>
          <p:cNvSpPr/>
          <p:nvPr/>
        </p:nvSpPr>
        <p:spPr>
          <a:xfrm>
            <a:off x="640080" y="252831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03</a:t>
            </a:r>
            <a:endParaRPr lang="en-US" sz="1060" dirty="0"/>
          </a:p>
        </p:txBody>
      </p:sp>
      <p:sp>
        <p:nvSpPr>
          <p:cNvPr id="39" name="Text 37"/>
          <p:cNvSpPr/>
          <p:nvPr/>
        </p:nvSpPr>
        <p:spPr>
          <a:xfrm>
            <a:off x="1033272" y="2514600"/>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key={index} // identità = posizione</a:t>
            </a:r>
            <a:endParaRPr lang="en-US" sz="1280" dirty="0"/>
          </a:p>
        </p:txBody>
      </p:sp>
      <p:sp>
        <p:nvSpPr>
          <p:cNvPr id="40" name="Text 38"/>
          <p:cNvSpPr/>
          <p:nvPr/>
        </p:nvSpPr>
        <p:spPr>
          <a:xfrm>
            <a:off x="640080" y="2770632"/>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04</a:t>
            </a:r>
            <a:endParaRPr lang="en-US" sz="1060" dirty="0"/>
          </a:p>
        </p:txBody>
      </p:sp>
      <p:sp>
        <p:nvSpPr>
          <p:cNvPr id="41" name="Text 39"/>
          <p:cNvSpPr/>
          <p:nvPr/>
        </p:nvSpPr>
        <p:spPr>
          <a:xfrm>
            <a:off x="1033272" y="2756916"/>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ticket={ticket}</a:t>
            </a:r>
            <a:endParaRPr lang="en-US" sz="1280" dirty="0"/>
          </a:p>
        </p:txBody>
      </p:sp>
      <p:sp>
        <p:nvSpPr>
          <p:cNvPr id="42" name="Text 40"/>
          <p:cNvSpPr/>
          <p:nvPr/>
        </p:nvSpPr>
        <p:spPr>
          <a:xfrm>
            <a:off x="640080" y="3012948"/>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05</a:t>
            </a:r>
            <a:endParaRPr lang="en-US" sz="1060" dirty="0"/>
          </a:p>
        </p:txBody>
      </p:sp>
      <p:sp>
        <p:nvSpPr>
          <p:cNvPr id="43" name="Text 41"/>
          <p:cNvSpPr/>
          <p:nvPr/>
        </p:nvSpPr>
        <p:spPr>
          <a:xfrm>
            <a:off x="1033272" y="2999232"/>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/&gt;</a:t>
            </a:r>
            <a:endParaRPr lang="en-US" sz="1280" dirty="0"/>
          </a:p>
        </p:txBody>
      </p:sp>
      <p:sp>
        <p:nvSpPr>
          <p:cNvPr id="44" name="Text 42"/>
          <p:cNvSpPr/>
          <p:nvPr/>
        </p:nvSpPr>
        <p:spPr>
          <a:xfrm>
            <a:off x="640080" y="325526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06</a:t>
            </a:r>
            <a:endParaRPr lang="en-US" sz="1060" dirty="0"/>
          </a:p>
        </p:txBody>
      </p:sp>
      <p:sp>
        <p:nvSpPr>
          <p:cNvPr id="45" name="Text 43"/>
          <p:cNvSpPr/>
          <p:nvPr/>
        </p:nvSpPr>
        <p:spPr>
          <a:xfrm>
            <a:off x="1033272" y="324154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a:t>
            </a:r>
            <a:endParaRPr lang="en-US" sz="1280" dirty="0"/>
          </a:p>
        </p:txBody>
      </p:sp>
      <p:sp>
        <p:nvSpPr>
          <p:cNvPr id="46" name="Text 44"/>
          <p:cNvSpPr/>
          <p:nvPr/>
        </p:nvSpPr>
        <p:spPr>
          <a:xfrm>
            <a:off x="640080" y="349758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07</a:t>
            </a:r>
            <a:endParaRPr lang="en-US" sz="1060" dirty="0"/>
          </a:p>
        </p:txBody>
      </p:sp>
      <p:sp>
        <p:nvSpPr>
          <p:cNvPr id="47" name="Text 45"/>
          <p:cNvSpPr/>
          <p:nvPr/>
        </p:nvSpPr>
        <p:spPr>
          <a:xfrm>
            <a:off x="1033272" y="348386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t>
            </a:r>
            <a:endParaRPr lang="en-US" sz="1280" dirty="0"/>
          </a:p>
        </p:txBody>
      </p:sp>
      <p:sp>
        <p:nvSpPr>
          <p:cNvPr id="48" name="Text 46"/>
          <p:cNvSpPr/>
          <p:nvPr/>
        </p:nvSpPr>
        <p:spPr>
          <a:xfrm>
            <a:off x="640080" y="373989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08</a:t>
            </a:r>
            <a:endParaRPr lang="en-US" sz="1060" dirty="0"/>
          </a:p>
        </p:txBody>
      </p:sp>
      <p:sp>
        <p:nvSpPr>
          <p:cNvPr id="49" name="Text 47"/>
          <p:cNvSpPr/>
          <p:nvPr/>
        </p:nvSpPr>
        <p:spPr>
          <a:xfrm>
            <a:off x="1033272" y="3726180"/>
            <a:ext cx="4782312" cy="242316"/>
          </a:xfrm>
          <a:prstGeom prst="rect">
            <a:avLst/>
          </a:prstGeom>
          <a:noFill/>
          <a:ln/>
        </p:spPr>
        <p:txBody>
          <a:bodyPr wrap="square" lIns="0" tIns="0" rIns="0" bIns="0" rtlCol="0" anchor="ctr">
            <a:normAutofit/>
          </a:bodyPr>
          <a:lstStyle/>
          <a:p>
            <a:pPr indent="0" marL="0">
              <a:buNone/>
            </a:pPr>
            <a:r>
              <a:rPr lang="en-US" sz="1280" dirty="0">
                <a:solidFill>
                  <a:srgbClr val="78C9A6"/>
                </a:solidFill>
                <a:latin typeface="Aptos Mono" pitchFamily="34" charset="0"/>
                <a:ea typeface="Aptos Mono" pitchFamily="34" charset="-122"/>
                <a:cs typeface="Aptos Mono" pitchFamily="34" charset="-120"/>
              </a:rPr>
              <a:t>// Un riordino può spostare lo state locale.</a:t>
            </a:r>
            <a:endParaRPr lang="en-US" sz="1280" dirty="0"/>
          </a:p>
        </p:txBody>
      </p:sp>
      <p:sp>
        <p:nvSpPr>
          <p:cNvPr id="50" name="Shape 48"/>
          <p:cNvSpPr/>
          <p:nvPr/>
        </p:nvSpPr>
        <p:spPr>
          <a:xfrm>
            <a:off x="6217920" y="1581912"/>
            <a:ext cx="5440680" cy="4526280"/>
          </a:xfrm>
          <a:prstGeom prst="roundRect">
            <a:avLst>
              <a:gd name="adj" fmla="val 1010"/>
            </a:avLst>
          </a:prstGeom>
          <a:solidFill>
            <a:srgbClr val="0D1A2B"/>
          </a:solidFill>
          <a:ln w="13970">
            <a:solidFill>
              <a:srgbClr val="263A55"/>
            </a:solidFill>
            <a:prstDash val="solid"/>
          </a:ln>
        </p:spPr>
      </p:sp>
      <p:sp>
        <p:nvSpPr>
          <p:cNvPr id="51" name="Shape 49"/>
          <p:cNvSpPr/>
          <p:nvPr/>
        </p:nvSpPr>
        <p:spPr>
          <a:xfrm>
            <a:off x="6217920" y="1581912"/>
            <a:ext cx="5440680" cy="347472"/>
          </a:xfrm>
          <a:prstGeom prst="rect">
            <a:avLst/>
          </a:prstGeom>
          <a:solidFill>
            <a:srgbClr val="122238"/>
          </a:solidFill>
          <a:ln w="12700">
            <a:solidFill>
              <a:srgbClr val="122238"/>
            </a:solidFill>
            <a:prstDash val="solid"/>
          </a:ln>
        </p:spPr>
      </p:sp>
      <p:sp>
        <p:nvSpPr>
          <p:cNvPr id="52" name="Shape 50"/>
          <p:cNvSpPr/>
          <p:nvPr/>
        </p:nvSpPr>
        <p:spPr>
          <a:xfrm>
            <a:off x="6382512" y="1623060"/>
            <a:ext cx="658368" cy="274320"/>
          </a:xfrm>
          <a:prstGeom prst="roundRect">
            <a:avLst>
              <a:gd name="adj" fmla="val 20000"/>
            </a:avLst>
          </a:prstGeom>
          <a:solidFill>
            <a:srgbClr val="6FE3B1">
              <a:alpha val="20000"/>
            </a:srgbClr>
          </a:solidFill>
          <a:ln w="10160">
            <a:solidFill>
              <a:srgbClr val="6FE3B1">
                <a:alpha val="55000"/>
              </a:srgbClr>
            </a:solidFill>
            <a:prstDash val="solid"/>
          </a:ln>
        </p:spPr>
      </p:sp>
      <p:sp>
        <p:nvSpPr>
          <p:cNvPr id="53" name="Text 51"/>
          <p:cNvSpPr/>
          <p:nvPr/>
        </p:nvSpPr>
        <p:spPr>
          <a:xfrm>
            <a:off x="6473952" y="1682496"/>
            <a:ext cx="475488" cy="128016"/>
          </a:xfrm>
          <a:prstGeom prst="rect">
            <a:avLst/>
          </a:prstGeom>
          <a:noFill/>
          <a:ln/>
        </p:spPr>
        <p:txBody>
          <a:bodyPr wrap="square" lIns="0" tIns="0" rIns="0" bIns="0" rtlCol="0" anchor="ctr"/>
          <a:lstStyle/>
          <a:p>
            <a:pPr algn="ctr" indent="0" marL="0">
              <a:buNone/>
            </a:pPr>
            <a:r>
              <a:rPr lang="en-US" sz="820" b="1" dirty="0">
                <a:solidFill>
                  <a:srgbClr val="6FE3B1"/>
                </a:solidFill>
                <a:latin typeface="Aptos Mono" pitchFamily="34" charset="0"/>
                <a:ea typeface="Aptos Mono" pitchFamily="34" charset="-122"/>
                <a:cs typeface="Aptos Mono" pitchFamily="34" charset="-120"/>
              </a:rPr>
              <a:t>TSX</a:t>
            </a:r>
            <a:endParaRPr lang="en-US" sz="820" dirty="0"/>
          </a:p>
        </p:txBody>
      </p:sp>
      <p:sp>
        <p:nvSpPr>
          <p:cNvPr id="54" name="Text 52"/>
          <p:cNvSpPr/>
          <p:nvPr/>
        </p:nvSpPr>
        <p:spPr>
          <a:xfrm>
            <a:off x="7178040" y="1677924"/>
            <a:ext cx="420624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DOPO</a:t>
            </a:r>
            <a:endParaRPr lang="en-US" sz="880" dirty="0"/>
          </a:p>
        </p:txBody>
      </p:sp>
      <p:sp>
        <p:nvSpPr>
          <p:cNvPr id="55" name="Text 53"/>
          <p:cNvSpPr/>
          <p:nvPr/>
        </p:nvSpPr>
        <p:spPr>
          <a:xfrm>
            <a:off x="6327648" y="204368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01</a:t>
            </a:r>
            <a:endParaRPr lang="en-US" sz="1060" dirty="0"/>
          </a:p>
        </p:txBody>
      </p:sp>
      <p:sp>
        <p:nvSpPr>
          <p:cNvPr id="56" name="Text 54"/>
          <p:cNvSpPr/>
          <p:nvPr/>
        </p:nvSpPr>
        <p:spPr>
          <a:xfrm>
            <a:off x="6720840" y="202996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tickets.map(ticket =&gt; (</a:t>
            </a:r>
            <a:endParaRPr lang="en-US" sz="1280" dirty="0"/>
          </a:p>
        </p:txBody>
      </p:sp>
      <p:sp>
        <p:nvSpPr>
          <p:cNvPr id="57" name="Text 55"/>
          <p:cNvSpPr/>
          <p:nvPr/>
        </p:nvSpPr>
        <p:spPr>
          <a:xfrm>
            <a:off x="6327648" y="228600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02</a:t>
            </a:r>
            <a:endParaRPr lang="en-US" sz="1060" dirty="0"/>
          </a:p>
        </p:txBody>
      </p:sp>
      <p:sp>
        <p:nvSpPr>
          <p:cNvPr id="58" name="Text 56"/>
          <p:cNvSpPr/>
          <p:nvPr/>
        </p:nvSpPr>
        <p:spPr>
          <a:xfrm>
            <a:off x="6720840" y="227228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&lt;TicketRow</a:t>
            </a:r>
            <a:endParaRPr lang="en-US" sz="1280" dirty="0"/>
          </a:p>
        </p:txBody>
      </p:sp>
      <p:sp>
        <p:nvSpPr>
          <p:cNvPr id="59" name="Text 57"/>
          <p:cNvSpPr/>
          <p:nvPr/>
        </p:nvSpPr>
        <p:spPr>
          <a:xfrm>
            <a:off x="6327648" y="252831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03</a:t>
            </a:r>
            <a:endParaRPr lang="en-US" sz="1060" dirty="0"/>
          </a:p>
        </p:txBody>
      </p:sp>
      <p:sp>
        <p:nvSpPr>
          <p:cNvPr id="60" name="Text 58"/>
          <p:cNvSpPr/>
          <p:nvPr/>
        </p:nvSpPr>
        <p:spPr>
          <a:xfrm>
            <a:off x="6720840" y="2514600"/>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key={ticket.id} // identità = ticket</a:t>
            </a:r>
            <a:endParaRPr lang="en-US" sz="1280" dirty="0"/>
          </a:p>
        </p:txBody>
      </p:sp>
      <p:sp>
        <p:nvSpPr>
          <p:cNvPr id="61" name="Text 59"/>
          <p:cNvSpPr/>
          <p:nvPr/>
        </p:nvSpPr>
        <p:spPr>
          <a:xfrm>
            <a:off x="6327648" y="2770632"/>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04</a:t>
            </a:r>
            <a:endParaRPr lang="en-US" sz="1060" dirty="0"/>
          </a:p>
        </p:txBody>
      </p:sp>
      <p:sp>
        <p:nvSpPr>
          <p:cNvPr id="62" name="Text 60"/>
          <p:cNvSpPr/>
          <p:nvPr/>
        </p:nvSpPr>
        <p:spPr>
          <a:xfrm>
            <a:off x="6720840" y="2756916"/>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ticket={ticket}</a:t>
            </a:r>
            <a:endParaRPr lang="en-US" sz="1280" dirty="0"/>
          </a:p>
        </p:txBody>
      </p:sp>
      <p:sp>
        <p:nvSpPr>
          <p:cNvPr id="63" name="Text 61"/>
          <p:cNvSpPr/>
          <p:nvPr/>
        </p:nvSpPr>
        <p:spPr>
          <a:xfrm>
            <a:off x="6327648" y="3012948"/>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05</a:t>
            </a:r>
            <a:endParaRPr lang="en-US" sz="1060" dirty="0"/>
          </a:p>
        </p:txBody>
      </p:sp>
      <p:sp>
        <p:nvSpPr>
          <p:cNvPr id="64" name="Text 62"/>
          <p:cNvSpPr/>
          <p:nvPr/>
        </p:nvSpPr>
        <p:spPr>
          <a:xfrm>
            <a:off x="6720840" y="2999232"/>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/&gt;</a:t>
            </a:r>
            <a:endParaRPr lang="en-US" sz="1280" dirty="0"/>
          </a:p>
        </p:txBody>
      </p:sp>
      <p:sp>
        <p:nvSpPr>
          <p:cNvPr id="65" name="Text 63"/>
          <p:cNvSpPr/>
          <p:nvPr/>
        </p:nvSpPr>
        <p:spPr>
          <a:xfrm>
            <a:off x="6327648" y="325526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06</a:t>
            </a:r>
            <a:endParaRPr lang="en-US" sz="1060" dirty="0"/>
          </a:p>
        </p:txBody>
      </p:sp>
      <p:sp>
        <p:nvSpPr>
          <p:cNvPr id="66" name="Text 64"/>
          <p:cNvSpPr/>
          <p:nvPr/>
        </p:nvSpPr>
        <p:spPr>
          <a:xfrm>
            <a:off x="6720840" y="324154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a:t>
            </a:r>
            <a:endParaRPr lang="en-US" sz="1280" dirty="0"/>
          </a:p>
        </p:txBody>
      </p:sp>
      <p:sp>
        <p:nvSpPr>
          <p:cNvPr id="67" name="Text 65"/>
          <p:cNvSpPr/>
          <p:nvPr/>
        </p:nvSpPr>
        <p:spPr>
          <a:xfrm>
            <a:off x="6327648" y="349758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07</a:t>
            </a:r>
            <a:endParaRPr lang="en-US" sz="1060" dirty="0"/>
          </a:p>
        </p:txBody>
      </p:sp>
      <p:sp>
        <p:nvSpPr>
          <p:cNvPr id="68" name="Text 66"/>
          <p:cNvSpPr/>
          <p:nvPr/>
        </p:nvSpPr>
        <p:spPr>
          <a:xfrm>
            <a:off x="6720840" y="348386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t>
            </a:r>
            <a:endParaRPr lang="en-US" sz="1280" dirty="0"/>
          </a:p>
        </p:txBody>
      </p:sp>
      <p:sp>
        <p:nvSpPr>
          <p:cNvPr id="69" name="Text 67"/>
          <p:cNvSpPr/>
          <p:nvPr/>
        </p:nvSpPr>
        <p:spPr>
          <a:xfrm>
            <a:off x="6327648" y="373989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08</a:t>
            </a:r>
            <a:endParaRPr lang="en-US" sz="1060" dirty="0"/>
          </a:p>
        </p:txBody>
      </p:sp>
      <p:sp>
        <p:nvSpPr>
          <p:cNvPr id="70" name="Text 68"/>
          <p:cNvSpPr/>
          <p:nvPr/>
        </p:nvSpPr>
        <p:spPr>
          <a:xfrm>
            <a:off x="6720840" y="3726180"/>
            <a:ext cx="4782312" cy="242316"/>
          </a:xfrm>
          <a:prstGeom prst="rect">
            <a:avLst/>
          </a:prstGeom>
          <a:noFill/>
          <a:ln/>
        </p:spPr>
        <p:txBody>
          <a:bodyPr wrap="square" lIns="0" tIns="0" rIns="0" bIns="0" rtlCol="0" anchor="ctr">
            <a:normAutofit/>
          </a:bodyPr>
          <a:lstStyle/>
          <a:p>
            <a:pPr indent="0" marL="0">
              <a:buNone/>
            </a:pPr>
            <a:r>
              <a:rPr lang="en-US" sz="1280" dirty="0">
                <a:solidFill>
                  <a:srgbClr val="78C9A6"/>
                </a:solidFill>
                <a:latin typeface="Aptos Mono" pitchFamily="34" charset="0"/>
                <a:ea typeface="Aptos Mono" pitchFamily="34" charset="-122"/>
                <a:cs typeface="Aptos Mono" pitchFamily="34" charset="-120"/>
              </a:rPr>
              <a:t>// Lo state segue l’entità corretta.</a:t>
            </a:r>
            <a:endParaRPr lang="en-US" sz="1280" dirty="0"/>
          </a:p>
        </p:txBody>
      </p:sp>
      <p:sp>
        <p:nvSpPr>
          <p:cNvPr id="71" name="Shape 69"/>
          <p:cNvSpPr/>
          <p:nvPr/>
        </p:nvSpPr>
        <p:spPr>
          <a:xfrm>
            <a:off x="5870448" y="3310128"/>
            <a:ext cx="274320" cy="475488"/>
          </a:xfrm>
          <a:prstGeom prst="chevron">
            <a:avLst/>
          </a:prstGeom>
          <a:solidFill>
            <a:srgbClr val="4C7DFF"/>
          </a:solidFill>
          <a:ln w="12700">
            <a:solidFill>
              <a:srgbClr val="4C7DFF"/>
            </a:solidFill>
            <a:prstDash val="solid"/>
          </a:ln>
        </p:spPr>
      </p:sp>
      <p:sp>
        <p:nvSpPr>
          <p:cNvPr id="72" name="Text 70"/>
          <p:cNvSpPr/>
          <p:nvPr/>
        </p:nvSpPr>
        <p:spPr>
          <a:xfrm>
            <a:off x="1828800" y="6217920"/>
            <a:ext cx="8503920" cy="210312"/>
          </a:xfrm>
          <a:prstGeom prst="rect">
            <a:avLst/>
          </a:prstGeom>
          <a:noFill/>
          <a:ln/>
        </p:spPr>
        <p:txBody>
          <a:bodyPr wrap="square" lIns="0" tIns="0" rIns="0" bIns="0" rtlCol="0" anchor="ctr"/>
          <a:lstStyle/>
          <a:p>
            <a:pPr algn="ctr" indent="0" marL="0">
              <a:buNone/>
            </a:pPr>
            <a:r>
              <a:rPr lang="en-US" sz="1050" b="1" dirty="0">
                <a:solidFill>
                  <a:srgbClr val="F5C96A"/>
                </a:solidFill>
                <a:latin typeface="Aptos" pitchFamily="34" charset="0"/>
                <a:ea typeface="Aptos" pitchFamily="34" charset="-122"/>
                <a:cs typeface="Aptos" pitchFamily="34" charset="-120"/>
              </a:rPr>
              <a:t>Usa un identificatore stabile presente nei dati.</a:t>
            </a:r>
            <a:endParaRPr lang="en-US" sz="10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52</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IDENTITÀ INSTABILE</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Non generare key casuali durante il render</a:t>
            </a:r>
            <a:endParaRPr lang="en-US" sz="2700" dirty="0"/>
          </a:p>
        </p:txBody>
      </p:sp>
      <p:sp>
        <p:nvSpPr>
          <p:cNvPr id="29" name="Shape 27"/>
          <p:cNvSpPr/>
          <p:nvPr/>
        </p:nvSpPr>
        <p:spPr>
          <a:xfrm>
            <a:off x="530352" y="1591056"/>
            <a:ext cx="7589520" cy="4553712"/>
          </a:xfrm>
          <a:prstGeom prst="roundRect">
            <a:avLst>
              <a:gd name="adj" fmla="val 1004"/>
            </a:avLst>
          </a:prstGeom>
          <a:solidFill>
            <a:srgbClr val="0D1A2B"/>
          </a:solidFill>
          <a:ln w="13970">
            <a:solidFill>
              <a:srgbClr val="263A55"/>
            </a:solidFill>
            <a:prstDash val="solid"/>
          </a:ln>
        </p:spPr>
      </p:sp>
      <p:sp>
        <p:nvSpPr>
          <p:cNvPr id="30" name="Shape 28"/>
          <p:cNvSpPr/>
          <p:nvPr/>
        </p:nvSpPr>
        <p:spPr>
          <a:xfrm>
            <a:off x="530352" y="1591056"/>
            <a:ext cx="7589520" cy="347472"/>
          </a:xfrm>
          <a:prstGeom prst="rect">
            <a:avLst/>
          </a:prstGeom>
          <a:solidFill>
            <a:srgbClr val="122238"/>
          </a:solidFill>
          <a:ln w="12700">
            <a:solidFill>
              <a:srgbClr val="122238"/>
            </a:solidFill>
            <a:prstDash val="solid"/>
          </a:ln>
        </p:spPr>
      </p:sp>
      <p:sp>
        <p:nvSpPr>
          <p:cNvPr id="31" name="Shape 29"/>
          <p:cNvSpPr/>
          <p:nvPr/>
        </p:nvSpPr>
        <p:spPr>
          <a:xfrm>
            <a:off x="694944" y="1632204"/>
            <a:ext cx="658368" cy="274320"/>
          </a:xfrm>
          <a:prstGeom prst="roundRect">
            <a:avLst>
              <a:gd name="adj" fmla="val 20000"/>
            </a:avLst>
          </a:prstGeom>
          <a:solidFill>
            <a:srgbClr val="7CD4FF">
              <a:alpha val="20000"/>
            </a:srgbClr>
          </a:solidFill>
          <a:ln w="10160">
            <a:solidFill>
              <a:srgbClr val="7CD4FF">
                <a:alpha val="55000"/>
              </a:srgbClr>
            </a:solidFill>
            <a:prstDash val="solid"/>
          </a:ln>
        </p:spPr>
      </p:sp>
      <p:sp>
        <p:nvSpPr>
          <p:cNvPr id="32" name="Text 30"/>
          <p:cNvSpPr/>
          <p:nvPr/>
        </p:nvSpPr>
        <p:spPr>
          <a:xfrm>
            <a:off x="786384" y="1691640"/>
            <a:ext cx="475488" cy="128016"/>
          </a:xfrm>
          <a:prstGeom prst="rect">
            <a:avLst/>
          </a:prstGeom>
          <a:noFill/>
          <a:ln/>
        </p:spPr>
        <p:txBody>
          <a:bodyPr wrap="square" lIns="0" tIns="0" rIns="0" bIns="0" rtlCol="0" anchor="ctr"/>
          <a:lstStyle/>
          <a:p>
            <a:pPr algn="ctr" indent="0" marL="0">
              <a:buNone/>
            </a:pPr>
            <a:r>
              <a:rPr lang="en-US" sz="820" b="1" dirty="0">
                <a:solidFill>
                  <a:srgbClr val="7CD4FF"/>
                </a:solidFill>
                <a:latin typeface="Aptos Mono" pitchFamily="34" charset="0"/>
                <a:ea typeface="Aptos Mono" pitchFamily="34" charset="-122"/>
                <a:cs typeface="Aptos Mono" pitchFamily="34" charset="-120"/>
              </a:rPr>
              <a:t>TSX</a:t>
            </a:r>
            <a:endParaRPr lang="en-US" sz="820" dirty="0"/>
          </a:p>
        </p:txBody>
      </p:sp>
      <p:sp>
        <p:nvSpPr>
          <p:cNvPr id="33" name="Text 31"/>
          <p:cNvSpPr/>
          <p:nvPr/>
        </p:nvSpPr>
        <p:spPr>
          <a:xfrm>
            <a:off x="1490472" y="1687068"/>
            <a:ext cx="635508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TicketList.tsx</a:t>
            </a:r>
            <a:endParaRPr lang="en-US" sz="880" dirty="0"/>
          </a:p>
        </p:txBody>
      </p:sp>
      <p:sp>
        <p:nvSpPr>
          <p:cNvPr id="34" name="Text 32"/>
          <p:cNvSpPr/>
          <p:nvPr/>
        </p:nvSpPr>
        <p:spPr>
          <a:xfrm>
            <a:off x="640080" y="205282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01</a:t>
            </a:r>
            <a:endParaRPr lang="en-US" sz="1200" dirty="0"/>
          </a:p>
        </p:txBody>
      </p:sp>
      <p:sp>
        <p:nvSpPr>
          <p:cNvPr id="35" name="Text 33"/>
          <p:cNvSpPr/>
          <p:nvPr/>
        </p:nvSpPr>
        <p:spPr>
          <a:xfrm>
            <a:off x="1033272" y="203911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tickets.map(ticket =&gt; (</a:t>
            </a:r>
            <a:endParaRPr lang="en-US" sz="1420" dirty="0"/>
          </a:p>
        </p:txBody>
      </p:sp>
      <p:sp>
        <p:nvSpPr>
          <p:cNvPr id="36" name="Text 34"/>
          <p:cNvSpPr/>
          <p:nvPr/>
        </p:nvSpPr>
        <p:spPr>
          <a:xfrm>
            <a:off x="640080" y="229514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02</a:t>
            </a:r>
            <a:endParaRPr lang="en-US" sz="1200" dirty="0"/>
          </a:p>
        </p:txBody>
      </p:sp>
      <p:sp>
        <p:nvSpPr>
          <p:cNvPr id="37" name="Text 35"/>
          <p:cNvSpPr/>
          <p:nvPr/>
        </p:nvSpPr>
        <p:spPr>
          <a:xfrm>
            <a:off x="1033272" y="228142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&lt;TicketRow</a:t>
            </a:r>
            <a:endParaRPr lang="en-US" sz="1420" dirty="0"/>
          </a:p>
        </p:txBody>
      </p:sp>
      <p:sp>
        <p:nvSpPr>
          <p:cNvPr id="38" name="Text 36"/>
          <p:cNvSpPr/>
          <p:nvPr/>
        </p:nvSpPr>
        <p:spPr>
          <a:xfrm>
            <a:off x="640080" y="253746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03</a:t>
            </a:r>
            <a:endParaRPr lang="en-US" sz="1200" dirty="0"/>
          </a:p>
        </p:txBody>
      </p:sp>
      <p:sp>
        <p:nvSpPr>
          <p:cNvPr id="39" name="Text 37"/>
          <p:cNvSpPr/>
          <p:nvPr/>
        </p:nvSpPr>
        <p:spPr>
          <a:xfrm>
            <a:off x="1033272" y="2523744"/>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key={crypto.randomUUID()} // cambia a ogni render</a:t>
            </a:r>
            <a:endParaRPr lang="en-US" sz="1420" dirty="0"/>
          </a:p>
        </p:txBody>
      </p:sp>
      <p:sp>
        <p:nvSpPr>
          <p:cNvPr id="40" name="Text 38"/>
          <p:cNvSpPr/>
          <p:nvPr/>
        </p:nvSpPr>
        <p:spPr>
          <a:xfrm>
            <a:off x="640080" y="277977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04</a:t>
            </a:r>
            <a:endParaRPr lang="en-US" sz="1200" dirty="0"/>
          </a:p>
        </p:txBody>
      </p:sp>
      <p:sp>
        <p:nvSpPr>
          <p:cNvPr id="41" name="Text 39"/>
          <p:cNvSpPr/>
          <p:nvPr/>
        </p:nvSpPr>
        <p:spPr>
          <a:xfrm>
            <a:off x="1033272" y="2766060"/>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ticket={ticket}</a:t>
            </a:r>
            <a:endParaRPr lang="en-US" sz="1420" dirty="0"/>
          </a:p>
        </p:txBody>
      </p:sp>
      <p:sp>
        <p:nvSpPr>
          <p:cNvPr id="42" name="Text 40"/>
          <p:cNvSpPr/>
          <p:nvPr/>
        </p:nvSpPr>
        <p:spPr>
          <a:xfrm>
            <a:off x="640080" y="3022092"/>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05</a:t>
            </a:r>
            <a:endParaRPr lang="en-US" sz="1200" dirty="0"/>
          </a:p>
        </p:txBody>
      </p:sp>
      <p:sp>
        <p:nvSpPr>
          <p:cNvPr id="43" name="Text 41"/>
          <p:cNvSpPr/>
          <p:nvPr/>
        </p:nvSpPr>
        <p:spPr>
          <a:xfrm>
            <a:off x="1033272" y="3008376"/>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/&gt;</a:t>
            </a:r>
            <a:endParaRPr lang="en-US" sz="1420" dirty="0"/>
          </a:p>
        </p:txBody>
      </p:sp>
      <p:sp>
        <p:nvSpPr>
          <p:cNvPr id="44" name="Text 42"/>
          <p:cNvSpPr/>
          <p:nvPr/>
        </p:nvSpPr>
        <p:spPr>
          <a:xfrm>
            <a:off x="640080" y="326440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06</a:t>
            </a:r>
            <a:endParaRPr lang="en-US" sz="1200" dirty="0"/>
          </a:p>
        </p:txBody>
      </p:sp>
      <p:sp>
        <p:nvSpPr>
          <p:cNvPr id="45" name="Text 43"/>
          <p:cNvSpPr/>
          <p:nvPr/>
        </p:nvSpPr>
        <p:spPr>
          <a:xfrm>
            <a:off x="1033272" y="325069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a:t>
            </a:r>
            <a:endParaRPr lang="en-US" sz="1420" dirty="0"/>
          </a:p>
        </p:txBody>
      </p:sp>
      <p:sp>
        <p:nvSpPr>
          <p:cNvPr id="46" name="Text 44"/>
          <p:cNvSpPr/>
          <p:nvPr/>
        </p:nvSpPr>
        <p:spPr>
          <a:xfrm>
            <a:off x="640080" y="350672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07</a:t>
            </a:r>
            <a:endParaRPr lang="en-US" sz="1200" dirty="0"/>
          </a:p>
        </p:txBody>
      </p:sp>
      <p:sp>
        <p:nvSpPr>
          <p:cNvPr id="47" name="Text 45"/>
          <p:cNvSpPr/>
          <p:nvPr/>
        </p:nvSpPr>
        <p:spPr>
          <a:xfrm>
            <a:off x="1033272" y="349300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48" name="Text 46"/>
          <p:cNvSpPr/>
          <p:nvPr/>
        </p:nvSpPr>
        <p:spPr>
          <a:xfrm>
            <a:off x="640080" y="374904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08</a:t>
            </a:r>
            <a:endParaRPr lang="en-US" sz="1200" dirty="0"/>
          </a:p>
        </p:txBody>
      </p:sp>
      <p:sp>
        <p:nvSpPr>
          <p:cNvPr id="49" name="Text 47"/>
          <p:cNvSpPr/>
          <p:nvPr/>
        </p:nvSpPr>
        <p:spPr>
          <a:xfrm>
            <a:off x="1033272" y="3735324"/>
            <a:ext cx="6931152" cy="242316"/>
          </a:xfrm>
          <a:prstGeom prst="rect">
            <a:avLst/>
          </a:prstGeom>
          <a:noFill/>
          <a:ln/>
        </p:spPr>
        <p:txBody>
          <a:bodyPr wrap="square" lIns="0" tIns="0" rIns="0" bIns="0" rtlCol="0" anchor="ctr">
            <a:normAutofit/>
          </a:bodyPr>
          <a:lstStyle/>
          <a:p>
            <a:pPr indent="0" marL="0">
              <a:buNone/>
            </a:pPr>
            <a:r>
              <a:rPr lang="en-US" sz="1420" dirty="0">
                <a:solidFill>
                  <a:srgbClr val="78C9A6"/>
                </a:solidFill>
                <a:latin typeface="Aptos Mono" pitchFamily="34" charset="0"/>
                <a:ea typeface="Aptos Mono" pitchFamily="34" charset="-122"/>
                <a:cs typeface="Aptos Mono" pitchFamily="34" charset="-120"/>
              </a:rPr>
              <a:t>// React considera ogni riga una nuova istanza.</a:t>
            </a:r>
            <a:endParaRPr lang="en-US" sz="1420" dirty="0"/>
          </a:p>
        </p:txBody>
      </p:sp>
      <p:sp>
        <p:nvSpPr>
          <p:cNvPr id="50" name="Text 48"/>
          <p:cNvSpPr/>
          <p:nvPr/>
        </p:nvSpPr>
        <p:spPr>
          <a:xfrm>
            <a:off x="640080" y="399135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09</a:t>
            </a:r>
            <a:endParaRPr lang="en-US" sz="1200" dirty="0"/>
          </a:p>
        </p:txBody>
      </p:sp>
      <p:sp>
        <p:nvSpPr>
          <p:cNvPr id="51" name="Text 49"/>
          <p:cNvSpPr/>
          <p:nvPr/>
        </p:nvSpPr>
        <p:spPr>
          <a:xfrm>
            <a:off x="1033272" y="3977640"/>
            <a:ext cx="6931152" cy="242316"/>
          </a:xfrm>
          <a:prstGeom prst="rect">
            <a:avLst/>
          </a:prstGeom>
          <a:noFill/>
          <a:ln/>
        </p:spPr>
        <p:txBody>
          <a:bodyPr wrap="square" lIns="0" tIns="0" rIns="0" bIns="0" rtlCol="0" anchor="ctr">
            <a:normAutofit/>
          </a:bodyPr>
          <a:lstStyle/>
          <a:p>
            <a:pPr indent="0" marL="0">
              <a:buNone/>
            </a:pPr>
            <a:r>
              <a:rPr lang="en-US" sz="1420" dirty="0">
                <a:solidFill>
                  <a:srgbClr val="78C9A6"/>
                </a:solidFill>
                <a:latin typeface="Aptos Mono" pitchFamily="34" charset="0"/>
                <a:ea typeface="Aptos Mono" pitchFamily="34" charset="-122"/>
                <a:cs typeface="Aptos Mono" pitchFamily="34" charset="-120"/>
              </a:rPr>
              <a:t>// Conseguenze: remount, focus perso, state resettato.</a:t>
            </a:r>
            <a:endParaRPr lang="en-US" sz="1420" dirty="0"/>
          </a:p>
        </p:txBody>
      </p:sp>
      <p:sp>
        <p:nvSpPr>
          <p:cNvPr id="52" name="Text 50"/>
          <p:cNvSpPr/>
          <p:nvPr/>
        </p:nvSpPr>
        <p:spPr>
          <a:xfrm>
            <a:off x="640080" y="4233672"/>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10</a:t>
            </a:r>
            <a:endParaRPr lang="en-US" sz="1200" dirty="0"/>
          </a:p>
        </p:txBody>
      </p:sp>
      <p:sp>
        <p:nvSpPr>
          <p:cNvPr id="53" name="Text 51"/>
          <p:cNvSpPr/>
          <p:nvPr/>
        </p:nvSpPr>
        <p:spPr>
          <a:xfrm>
            <a:off x="1033272" y="4219956"/>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54" name="Text 52"/>
          <p:cNvSpPr/>
          <p:nvPr/>
        </p:nvSpPr>
        <p:spPr>
          <a:xfrm>
            <a:off x="640080" y="447598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11</a:t>
            </a:r>
            <a:endParaRPr lang="en-US" sz="1200" dirty="0"/>
          </a:p>
        </p:txBody>
      </p:sp>
      <p:sp>
        <p:nvSpPr>
          <p:cNvPr id="55" name="Text 53"/>
          <p:cNvSpPr/>
          <p:nvPr/>
        </p:nvSpPr>
        <p:spPr>
          <a:xfrm>
            <a:off x="1033272" y="4462272"/>
            <a:ext cx="6931152" cy="242316"/>
          </a:xfrm>
          <a:prstGeom prst="rect">
            <a:avLst/>
          </a:prstGeom>
          <a:noFill/>
          <a:ln/>
        </p:spPr>
        <p:txBody>
          <a:bodyPr wrap="square" lIns="0" tIns="0" rIns="0" bIns="0" rtlCol="0" anchor="ctr">
            <a:normAutofit/>
          </a:bodyPr>
          <a:lstStyle/>
          <a:p>
            <a:pPr indent="0" marL="0">
              <a:buNone/>
            </a:pPr>
            <a:r>
              <a:rPr lang="en-US" sz="1420" dirty="0">
                <a:solidFill>
                  <a:srgbClr val="78C9A6"/>
                </a:solidFill>
                <a:latin typeface="Aptos Mono" pitchFamily="34" charset="0"/>
                <a:ea typeface="Aptos Mono" pitchFamily="34" charset="-122"/>
                <a:cs typeface="Aptos Mono" pitchFamily="34" charset="-120"/>
              </a:rPr>
              <a:t>// Corretto:</a:t>
            </a:r>
            <a:endParaRPr lang="en-US" sz="1420" dirty="0"/>
          </a:p>
        </p:txBody>
      </p:sp>
      <p:sp>
        <p:nvSpPr>
          <p:cNvPr id="56" name="Text 54"/>
          <p:cNvSpPr/>
          <p:nvPr/>
        </p:nvSpPr>
        <p:spPr>
          <a:xfrm>
            <a:off x="640080" y="471830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12</a:t>
            </a:r>
            <a:endParaRPr lang="en-US" sz="1200" dirty="0"/>
          </a:p>
        </p:txBody>
      </p:sp>
      <p:sp>
        <p:nvSpPr>
          <p:cNvPr id="57" name="Text 55"/>
          <p:cNvSpPr/>
          <p:nvPr/>
        </p:nvSpPr>
        <p:spPr>
          <a:xfrm>
            <a:off x="1033272" y="470458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&lt;TicketRow key={ticket.id} ticket={ticket} /&gt;</a:t>
            </a:r>
            <a:endParaRPr lang="en-US" sz="1420" dirty="0"/>
          </a:p>
        </p:txBody>
      </p:sp>
      <p:sp>
        <p:nvSpPr>
          <p:cNvPr id="58" name="Shape 56"/>
          <p:cNvSpPr/>
          <p:nvPr/>
        </p:nvSpPr>
        <p:spPr>
          <a:xfrm>
            <a:off x="8366760" y="1591056"/>
            <a:ext cx="3310128" cy="4553712"/>
          </a:xfrm>
          <a:prstGeom prst="roundRect">
            <a:avLst>
              <a:gd name="adj" fmla="val 1381"/>
            </a:avLst>
          </a:prstGeom>
          <a:solidFill>
            <a:srgbClr val="122238"/>
          </a:solidFill>
          <a:ln w="12700">
            <a:solidFill>
              <a:srgbClr val="263A55"/>
            </a:solidFill>
            <a:prstDash val="solid"/>
          </a:ln>
        </p:spPr>
      </p:sp>
      <p:sp>
        <p:nvSpPr>
          <p:cNvPr id="59" name="Text 57"/>
          <p:cNvSpPr/>
          <p:nvPr/>
        </p:nvSpPr>
        <p:spPr>
          <a:xfrm>
            <a:off x="8586216" y="1801368"/>
            <a:ext cx="2871216" cy="182880"/>
          </a:xfrm>
          <a:prstGeom prst="rect">
            <a:avLst/>
          </a:prstGeom>
          <a:noFill/>
          <a:ln/>
        </p:spPr>
        <p:txBody>
          <a:bodyPr wrap="square" lIns="0" tIns="0" rIns="0" bIns="0" rtlCol="0" anchor="ctr"/>
          <a:lstStyle/>
          <a:p>
            <a:pPr indent="0" marL="0">
              <a:buNone/>
            </a:pPr>
            <a:r>
              <a:rPr lang="en-US" sz="950" b="1" spc="115" kern="0" dirty="0">
                <a:solidFill>
                  <a:srgbClr val="F5C96A"/>
                </a:solidFill>
                <a:latin typeface="Aptos" pitchFamily="34" charset="0"/>
                <a:ea typeface="Aptos" pitchFamily="34" charset="-122"/>
                <a:cs typeface="Aptos" pitchFamily="34" charset="-120"/>
              </a:rPr>
              <a:t>DA OSSERVARE</a:t>
            </a:r>
            <a:endParaRPr lang="en-US" sz="950" dirty="0"/>
          </a:p>
        </p:txBody>
      </p:sp>
      <p:sp>
        <p:nvSpPr>
          <p:cNvPr id="60" name="Shape 58"/>
          <p:cNvSpPr/>
          <p:nvPr/>
        </p:nvSpPr>
        <p:spPr>
          <a:xfrm>
            <a:off x="8586216" y="2267712"/>
            <a:ext cx="91440" cy="91440"/>
          </a:xfrm>
          <a:prstGeom prst="ellipse">
            <a:avLst/>
          </a:prstGeom>
          <a:solidFill>
            <a:srgbClr val="7CD4FF"/>
          </a:solidFill>
          <a:ln w="12700">
            <a:solidFill>
              <a:srgbClr val="7CD4FF"/>
            </a:solidFill>
            <a:prstDash val="solid"/>
          </a:ln>
        </p:spPr>
      </p:sp>
      <p:sp>
        <p:nvSpPr>
          <p:cNvPr id="61" name="Text 59"/>
          <p:cNvSpPr/>
          <p:nvPr/>
        </p:nvSpPr>
        <p:spPr>
          <a:xfrm>
            <a:off x="8778240" y="2212848"/>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La key deve essere stabile tra render.</a:t>
            </a:r>
            <a:endParaRPr lang="en-US" sz="1420" dirty="0"/>
          </a:p>
        </p:txBody>
      </p:sp>
      <p:sp>
        <p:nvSpPr>
          <p:cNvPr id="62" name="Shape 60"/>
          <p:cNvSpPr/>
          <p:nvPr/>
        </p:nvSpPr>
        <p:spPr>
          <a:xfrm>
            <a:off x="8586216" y="2980944"/>
            <a:ext cx="91440" cy="91440"/>
          </a:xfrm>
          <a:prstGeom prst="ellipse">
            <a:avLst/>
          </a:prstGeom>
          <a:solidFill>
            <a:srgbClr val="7CD4FF"/>
          </a:solidFill>
          <a:ln w="12700">
            <a:solidFill>
              <a:srgbClr val="7CD4FF"/>
            </a:solidFill>
            <a:prstDash val="solid"/>
          </a:ln>
        </p:spPr>
      </p:sp>
      <p:sp>
        <p:nvSpPr>
          <p:cNvPr id="63" name="Text 61"/>
          <p:cNvSpPr/>
          <p:nvPr/>
        </p:nvSpPr>
        <p:spPr>
          <a:xfrm>
            <a:off x="8778240" y="2926080"/>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Generala quando nasce l’entità, non nel JSX.</a:t>
            </a:r>
            <a:endParaRPr lang="en-US" sz="1420" dirty="0"/>
          </a:p>
        </p:txBody>
      </p:sp>
      <p:sp>
        <p:nvSpPr>
          <p:cNvPr id="64" name="Shape 62"/>
          <p:cNvSpPr/>
          <p:nvPr/>
        </p:nvSpPr>
        <p:spPr>
          <a:xfrm>
            <a:off x="8586216" y="3694176"/>
            <a:ext cx="91440" cy="91440"/>
          </a:xfrm>
          <a:prstGeom prst="ellipse">
            <a:avLst/>
          </a:prstGeom>
          <a:solidFill>
            <a:srgbClr val="7CD4FF"/>
          </a:solidFill>
          <a:ln w="12700">
            <a:solidFill>
              <a:srgbClr val="7CD4FF"/>
            </a:solidFill>
            <a:prstDash val="solid"/>
          </a:ln>
        </p:spPr>
      </p:sp>
      <p:sp>
        <p:nvSpPr>
          <p:cNvPr id="65" name="Text 63"/>
          <p:cNvSpPr/>
          <p:nvPr/>
        </p:nvSpPr>
        <p:spPr>
          <a:xfrm>
            <a:off x="8778240" y="3639312"/>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Una key nuova forza il remount.</a:t>
            </a:r>
            <a:endParaRPr lang="en-US" sz="142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53</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RESET CONTROLLATO</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Una key può resettare intenzionalmente lo state</a:t>
            </a:r>
            <a:endParaRPr lang="en-US" sz="2700" dirty="0"/>
          </a:p>
        </p:txBody>
      </p:sp>
      <p:sp>
        <p:nvSpPr>
          <p:cNvPr id="29" name="Shape 27"/>
          <p:cNvSpPr/>
          <p:nvPr/>
        </p:nvSpPr>
        <p:spPr>
          <a:xfrm>
            <a:off x="530352" y="1591056"/>
            <a:ext cx="7589520" cy="4553712"/>
          </a:xfrm>
          <a:prstGeom prst="roundRect">
            <a:avLst>
              <a:gd name="adj" fmla="val 1004"/>
            </a:avLst>
          </a:prstGeom>
          <a:solidFill>
            <a:srgbClr val="0D1A2B"/>
          </a:solidFill>
          <a:ln w="13970">
            <a:solidFill>
              <a:srgbClr val="263A55"/>
            </a:solidFill>
            <a:prstDash val="solid"/>
          </a:ln>
        </p:spPr>
      </p:sp>
      <p:sp>
        <p:nvSpPr>
          <p:cNvPr id="30" name="Shape 28"/>
          <p:cNvSpPr/>
          <p:nvPr/>
        </p:nvSpPr>
        <p:spPr>
          <a:xfrm>
            <a:off x="530352" y="1591056"/>
            <a:ext cx="7589520" cy="347472"/>
          </a:xfrm>
          <a:prstGeom prst="rect">
            <a:avLst/>
          </a:prstGeom>
          <a:solidFill>
            <a:srgbClr val="122238"/>
          </a:solidFill>
          <a:ln w="12700">
            <a:solidFill>
              <a:srgbClr val="122238"/>
            </a:solidFill>
            <a:prstDash val="solid"/>
          </a:ln>
        </p:spPr>
      </p:sp>
      <p:sp>
        <p:nvSpPr>
          <p:cNvPr id="31" name="Shape 29"/>
          <p:cNvSpPr/>
          <p:nvPr/>
        </p:nvSpPr>
        <p:spPr>
          <a:xfrm>
            <a:off x="694944" y="1632204"/>
            <a:ext cx="658368" cy="274320"/>
          </a:xfrm>
          <a:prstGeom prst="roundRect">
            <a:avLst>
              <a:gd name="adj" fmla="val 20000"/>
            </a:avLst>
          </a:prstGeom>
          <a:solidFill>
            <a:srgbClr val="7CD4FF">
              <a:alpha val="20000"/>
            </a:srgbClr>
          </a:solidFill>
          <a:ln w="10160">
            <a:solidFill>
              <a:srgbClr val="7CD4FF">
                <a:alpha val="55000"/>
              </a:srgbClr>
            </a:solidFill>
            <a:prstDash val="solid"/>
          </a:ln>
        </p:spPr>
      </p:sp>
      <p:sp>
        <p:nvSpPr>
          <p:cNvPr id="32" name="Text 30"/>
          <p:cNvSpPr/>
          <p:nvPr/>
        </p:nvSpPr>
        <p:spPr>
          <a:xfrm>
            <a:off x="786384" y="1691640"/>
            <a:ext cx="475488" cy="128016"/>
          </a:xfrm>
          <a:prstGeom prst="rect">
            <a:avLst/>
          </a:prstGeom>
          <a:noFill/>
          <a:ln/>
        </p:spPr>
        <p:txBody>
          <a:bodyPr wrap="square" lIns="0" tIns="0" rIns="0" bIns="0" rtlCol="0" anchor="ctr"/>
          <a:lstStyle/>
          <a:p>
            <a:pPr algn="ctr" indent="0" marL="0">
              <a:buNone/>
            </a:pPr>
            <a:r>
              <a:rPr lang="en-US" sz="820" b="1" dirty="0">
                <a:solidFill>
                  <a:srgbClr val="7CD4FF"/>
                </a:solidFill>
                <a:latin typeface="Aptos Mono" pitchFamily="34" charset="0"/>
                <a:ea typeface="Aptos Mono" pitchFamily="34" charset="-122"/>
                <a:cs typeface="Aptos Mono" pitchFamily="34" charset="-120"/>
              </a:rPr>
              <a:t>TSX</a:t>
            </a:r>
            <a:endParaRPr lang="en-US" sz="820" dirty="0"/>
          </a:p>
        </p:txBody>
      </p:sp>
      <p:sp>
        <p:nvSpPr>
          <p:cNvPr id="33" name="Text 31"/>
          <p:cNvSpPr/>
          <p:nvPr/>
        </p:nvSpPr>
        <p:spPr>
          <a:xfrm>
            <a:off x="1490472" y="1687068"/>
            <a:ext cx="635508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TicketDetails.tsx</a:t>
            </a:r>
            <a:endParaRPr lang="en-US" sz="880" dirty="0"/>
          </a:p>
        </p:txBody>
      </p:sp>
      <p:sp>
        <p:nvSpPr>
          <p:cNvPr id="34" name="Text 32"/>
          <p:cNvSpPr/>
          <p:nvPr/>
        </p:nvSpPr>
        <p:spPr>
          <a:xfrm>
            <a:off x="640080" y="205282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01</a:t>
            </a:r>
            <a:endParaRPr lang="en-US" sz="1200" dirty="0"/>
          </a:p>
        </p:txBody>
      </p:sp>
      <p:sp>
        <p:nvSpPr>
          <p:cNvPr id="35" name="Text 33"/>
          <p:cNvSpPr/>
          <p:nvPr/>
        </p:nvSpPr>
        <p:spPr>
          <a:xfrm>
            <a:off x="1033272" y="203911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function DetailsPane({ ticketId }: { ticketId: string }) {</a:t>
            </a:r>
            <a:endParaRPr lang="en-US" sz="1420" dirty="0"/>
          </a:p>
        </p:txBody>
      </p:sp>
      <p:sp>
        <p:nvSpPr>
          <p:cNvPr id="36" name="Text 34"/>
          <p:cNvSpPr/>
          <p:nvPr/>
        </p:nvSpPr>
        <p:spPr>
          <a:xfrm>
            <a:off x="640080" y="229514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02</a:t>
            </a:r>
            <a:endParaRPr lang="en-US" sz="1200" dirty="0"/>
          </a:p>
        </p:txBody>
      </p:sp>
      <p:sp>
        <p:nvSpPr>
          <p:cNvPr id="37" name="Text 35"/>
          <p:cNvSpPr/>
          <p:nvPr/>
        </p:nvSpPr>
        <p:spPr>
          <a:xfrm>
            <a:off x="1033272" y="228142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return (</a:t>
            </a:r>
            <a:endParaRPr lang="en-US" sz="1420" dirty="0"/>
          </a:p>
        </p:txBody>
      </p:sp>
      <p:sp>
        <p:nvSpPr>
          <p:cNvPr id="38" name="Text 36"/>
          <p:cNvSpPr/>
          <p:nvPr/>
        </p:nvSpPr>
        <p:spPr>
          <a:xfrm>
            <a:off x="640080" y="253746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03</a:t>
            </a:r>
            <a:endParaRPr lang="en-US" sz="1200" dirty="0"/>
          </a:p>
        </p:txBody>
      </p:sp>
      <p:sp>
        <p:nvSpPr>
          <p:cNvPr id="39" name="Text 37"/>
          <p:cNvSpPr/>
          <p:nvPr/>
        </p:nvSpPr>
        <p:spPr>
          <a:xfrm>
            <a:off x="1033272" y="2523744"/>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&lt;TicketEditor</a:t>
            </a:r>
            <a:endParaRPr lang="en-US" sz="1420" dirty="0"/>
          </a:p>
        </p:txBody>
      </p:sp>
      <p:sp>
        <p:nvSpPr>
          <p:cNvPr id="40" name="Text 38"/>
          <p:cNvSpPr/>
          <p:nvPr/>
        </p:nvSpPr>
        <p:spPr>
          <a:xfrm>
            <a:off x="640080" y="277977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04</a:t>
            </a:r>
            <a:endParaRPr lang="en-US" sz="1200" dirty="0"/>
          </a:p>
        </p:txBody>
      </p:sp>
      <p:sp>
        <p:nvSpPr>
          <p:cNvPr id="41" name="Text 39"/>
          <p:cNvSpPr/>
          <p:nvPr/>
        </p:nvSpPr>
        <p:spPr>
          <a:xfrm>
            <a:off x="1033272" y="2766060"/>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key={ticketId} // nuova entità → nuova istanza</a:t>
            </a:r>
            <a:endParaRPr lang="en-US" sz="1420" dirty="0"/>
          </a:p>
        </p:txBody>
      </p:sp>
      <p:sp>
        <p:nvSpPr>
          <p:cNvPr id="42" name="Text 40"/>
          <p:cNvSpPr/>
          <p:nvPr/>
        </p:nvSpPr>
        <p:spPr>
          <a:xfrm>
            <a:off x="640080" y="3022092"/>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05</a:t>
            </a:r>
            <a:endParaRPr lang="en-US" sz="1200" dirty="0"/>
          </a:p>
        </p:txBody>
      </p:sp>
      <p:sp>
        <p:nvSpPr>
          <p:cNvPr id="43" name="Text 41"/>
          <p:cNvSpPr/>
          <p:nvPr/>
        </p:nvSpPr>
        <p:spPr>
          <a:xfrm>
            <a:off x="1033272" y="3008376"/>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ticketId={ticketId}</a:t>
            </a:r>
            <a:endParaRPr lang="en-US" sz="1420" dirty="0"/>
          </a:p>
        </p:txBody>
      </p:sp>
      <p:sp>
        <p:nvSpPr>
          <p:cNvPr id="44" name="Text 42"/>
          <p:cNvSpPr/>
          <p:nvPr/>
        </p:nvSpPr>
        <p:spPr>
          <a:xfrm>
            <a:off x="640080" y="326440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06</a:t>
            </a:r>
            <a:endParaRPr lang="en-US" sz="1200" dirty="0"/>
          </a:p>
        </p:txBody>
      </p:sp>
      <p:sp>
        <p:nvSpPr>
          <p:cNvPr id="45" name="Text 43"/>
          <p:cNvSpPr/>
          <p:nvPr/>
        </p:nvSpPr>
        <p:spPr>
          <a:xfrm>
            <a:off x="1033272" y="325069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/&gt;</a:t>
            </a:r>
            <a:endParaRPr lang="en-US" sz="1420" dirty="0"/>
          </a:p>
        </p:txBody>
      </p:sp>
      <p:sp>
        <p:nvSpPr>
          <p:cNvPr id="46" name="Text 44"/>
          <p:cNvSpPr/>
          <p:nvPr/>
        </p:nvSpPr>
        <p:spPr>
          <a:xfrm>
            <a:off x="640080" y="350672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07</a:t>
            </a:r>
            <a:endParaRPr lang="en-US" sz="1200" dirty="0"/>
          </a:p>
        </p:txBody>
      </p:sp>
      <p:sp>
        <p:nvSpPr>
          <p:cNvPr id="47" name="Text 45"/>
          <p:cNvSpPr/>
          <p:nvPr/>
        </p:nvSpPr>
        <p:spPr>
          <a:xfrm>
            <a:off x="1033272" y="349300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48" name="Text 46"/>
          <p:cNvSpPr/>
          <p:nvPr/>
        </p:nvSpPr>
        <p:spPr>
          <a:xfrm>
            <a:off x="640080" y="374904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08</a:t>
            </a:r>
            <a:endParaRPr lang="en-US" sz="1200" dirty="0"/>
          </a:p>
        </p:txBody>
      </p:sp>
      <p:sp>
        <p:nvSpPr>
          <p:cNvPr id="49" name="Text 47"/>
          <p:cNvSpPr/>
          <p:nvPr/>
        </p:nvSpPr>
        <p:spPr>
          <a:xfrm>
            <a:off x="1033272" y="3735324"/>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a:t>
            </a:r>
            <a:endParaRPr lang="en-US" sz="1420" dirty="0"/>
          </a:p>
        </p:txBody>
      </p:sp>
      <p:sp>
        <p:nvSpPr>
          <p:cNvPr id="50" name="Text 48"/>
          <p:cNvSpPr/>
          <p:nvPr/>
        </p:nvSpPr>
        <p:spPr>
          <a:xfrm>
            <a:off x="640080" y="399135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09</a:t>
            </a:r>
            <a:endParaRPr lang="en-US" sz="1200" dirty="0"/>
          </a:p>
        </p:txBody>
      </p:sp>
      <p:sp>
        <p:nvSpPr>
          <p:cNvPr id="51" name="Text 49"/>
          <p:cNvSpPr/>
          <p:nvPr/>
        </p:nvSpPr>
        <p:spPr>
          <a:xfrm>
            <a:off x="1033272" y="3977640"/>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52" name="Text 50"/>
          <p:cNvSpPr/>
          <p:nvPr/>
        </p:nvSpPr>
        <p:spPr>
          <a:xfrm>
            <a:off x="640080" y="4233672"/>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10</a:t>
            </a:r>
            <a:endParaRPr lang="en-US" sz="1200" dirty="0"/>
          </a:p>
        </p:txBody>
      </p:sp>
      <p:sp>
        <p:nvSpPr>
          <p:cNvPr id="53" name="Text 51"/>
          <p:cNvSpPr/>
          <p:nvPr/>
        </p:nvSpPr>
        <p:spPr>
          <a:xfrm>
            <a:off x="1033272" y="4219956"/>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function TicketEditor({ ticketId }) {</a:t>
            </a:r>
            <a:endParaRPr lang="en-US" sz="1420" dirty="0"/>
          </a:p>
        </p:txBody>
      </p:sp>
      <p:sp>
        <p:nvSpPr>
          <p:cNvPr id="54" name="Text 52"/>
          <p:cNvSpPr/>
          <p:nvPr/>
        </p:nvSpPr>
        <p:spPr>
          <a:xfrm>
            <a:off x="640080" y="447598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11</a:t>
            </a:r>
            <a:endParaRPr lang="en-US" sz="1200" dirty="0"/>
          </a:p>
        </p:txBody>
      </p:sp>
      <p:sp>
        <p:nvSpPr>
          <p:cNvPr id="55" name="Text 53"/>
          <p:cNvSpPr/>
          <p:nvPr/>
        </p:nvSpPr>
        <p:spPr>
          <a:xfrm>
            <a:off x="1033272" y="446227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const [draft, setDraft] = useState(() =&gt; loadDraft(ticketId));</a:t>
            </a:r>
            <a:endParaRPr lang="en-US" sz="1420" dirty="0"/>
          </a:p>
        </p:txBody>
      </p:sp>
      <p:sp>
        <p:nvSpPr>
          <p:cNvPr id="56" name="Text 54"/>
          <p:cNvSpPr/>
          <p:nvPr/>
        </p:nvSpPr>
        <p:spPr>
          <a:xfrm>
            <a:off x="640080" y="471830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12</a:t>
            </a:r>
            <a:endParaRPr lang="en-US" sz="1200" dirty="0"/>
          </a:p>
        </p:txBody>
      </p:sp>
      <p:sp>
        <p:nvSpPr>
          <p:cNvPr id="57" name="Text 55"/>
          <p:cNvSpPr/>
          <p:nvPr/>
        </p:nvSpPr>
        <p:spPr>
          <a:xfrm>
            <a:off x="1033272" y="4704588"/>
            <a:ext cx="6931152" cy="242316"/>
          </a:xfrm>
          <a:prstGeom prst="rect">
            <a:avLst/>
          </a:prstGeom>
          <a:noFill/>
          <a:ln/>
        </p:spPr>
        <p:txBody>
          <a:bodyPr wrap="square" lIns="0" tIns="0" rIns="0" bIns="0" rtlCol="0" anchor="ctr">
            <a:normAutofit/>
          </a:bodyPr>
          <a:lstStyle/>
          <a:p>
            <a:pPr indent="0" marL="0">
              <a:buNone/>
            </a:pPr>
            <a:r>
              <a:rPr lang="en-US" sz="1420" dirty="0">
                <a:solidFill>
                  <a:srgbClr val="78C9A6"/>
                </a:solidFill>
                <a:latin typeface="Aptos Mono" pitchFamily="34" charset="0"/>
                <a:ea typeface="Aptos Mono" pitchFamily="34" charset="-122"/>
                <a:cs typeface="Aptos Mono" pitchFamily="34" charset="-120"/>
              </a:rPr>
              <a:t>  // Cambiando ticketId, il draft riparte dal nuovo ticket.</a:t>
            </a:r>
            <a:endParaRPr lang="en-US" sz="1420" dirty="0"/>
          </a:p>
        </p:txBody>
      </p:sp>
      <p:sp>
        <p:nvSpPr>
          <p:cNvPr id="58" name="Text 56"/>
          <p:cNvSpPr/>
          <p:nvPr/>
        </p:nvSpPr>
        <p:spPr>
          <a:xfrm>
            <a:off x="640080" y="496062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13</a:t>
            </a:r>
            <a:endParaRPr lang="en-US" sz="1200" dirty="0"/>
          </a:p>
        </p:txBody>
      </p:sp>
      <p:sp>
        <p:nvSpPr>
          <p:cNvPr id="59" name="Text 57"/>
          <p:cNvSpPr/>
          <p:nvPr/>
        </p:nvSpPr>
        <p:spPr>
          <a:xfrm>
            <a:off x="1033272" y="4946904"/>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a:t>
            </a:r>
            <a:endParaRPr lang="en-US" sz="1420" dirty="0"/>
          </a:p>
        </p:txBody>
      </p:sp>
      <p:sp>
        <p:nvSpPr>
          <p:cNvPr id="60" name="Shape 58"/>
          <p:cNvSpPr/>
          <p:nvPr/>
        </p:nvSpPr>
        <p:spPr>
          <a:xfrm>
            <a:off x="8366760" y="1591056"/>
            <a:ext cx="3310128" cy="4553712"/>
          </a:xfrm>
          <a:prstGeom prst="roundRect">
            <a:avLst>
              <a:gd name="adj" fmla="val 1381"/>
            </a:avLst>
          </a:prstGeom>
          <a:solidFill>
            <a:srgbClr val="122238"/>
          </a:solidFill>
          <a:ln w="12700">
            <a:solidFill>
              <a:srgbClr val="263A55"/>
            </a:solidFill>
            <a:prstDash val="solid"/>
          </a:ln>
        </p:spPr>
      </p:sp>
      <p:sp>
        <p:nvSpPr>
          <p:cNvPr id="61" name="Text 59"/>
          <p:cNvSpPr/>
          <p:nvPr/>
        </p:nvSpPr>
        <p:spPr>
          <a:xfrm>
            <a:off x="8586216" y="1801368"/>
            <a:ext cx="2871216" cy="182880"/>
          </a:xfrm>
          <a:prstGeom prst="rect">
            <a:avLst/>
          </a:prstGeom>
          <a:noFill/>
          <a:ln/>
        </p:spPr>
        <p:txBody>
          <a:bodyPr wrap="square" lIns="0" tIns="0" rIns="0" bIns="0" rtlCol="0" anchor="ctr"/>
          <a:lstStyle/>
          <a:p>
            <a:pPr indent="0" marL="0">
              <a:buNone/>
            </a:pPr>
            <a:r>
              <a:rPr lang="en-US" sz="950" b="1" spc="115" kern="0" dirty="0">
                <a:solidFill>
                  <a:srgbClr val="F5C96A"/>
                </a:solidFill>
                <a:latin typeface="Aptos" pitchFamily="34" charset="0"/>
                <a:ea typeface="Aptos" pitchFamily="34" charset="-122"/>
                <a:cs typeface="Aptos" pitchFamily="34" charset="-120"/>
              </a:rPr>
              <a:t>DA OSSERVARE</a:t>
            </a:r>
            <a:endParaRPr lang="en-US" sz="950" dirty="0"/>
          </a:p>
        </p:txBody>
      </p:sp>
      <p:sp>
        <p:nvSpPr>
          <p:cNvPr id="62" name="Shape 60"/>
          <p:cNvSpPr/>
          <p:nvPr/>
        </p:nvSpPr>
        <p:spPr>
          <a:xfrm>
            <a:off x="8586216" y="2267712"/>
            <a:ext cx="91440" cy="91440"/>
          </a:xfrm>
          <a:prstGeom prst="ellipse">
            <a:avLst/>
          </a:prstGeom>
          <a:solidFill>
            <a:srgbClr val="7CD4FF"/>
          </a:solidFill>
          <a:ln w="12700">
            <a:solidFill>
              <a:srgbClr val="7CD4FF"/>
            </a:solidFill>
            <a:prstDash val="solid"/>
          </a:ln>
        </p:spPr>
      </p:sp>
      <p:sp>
        <p:nvSpPr>
          <p:cNvPr id="63" name="Text 61"/>
          <p:cNvSpPr/>
          <p:nvPr/>
        </p:nvSpPr>
        <p:spPr>
          <a:xfrm>
            <a:off x="8778240" y="2212848"/>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Key comunica un cambio di identità.</a:t>
            </a:r>
            <a:endParaRPr lang="en-US" sz="1420" dirty="0"/>
          </a:p>
        </p:txBody>
      </p:sp>
      <p:sp>
        <p:nvSpPr>
          <p:cNvPr id="64" name="Shape 62"/>
          <p:cNvSpPr/>
          <p:nvPr/>
        </p:nvSpPr>
        <p:spPr>
          <a:xfrm>
            <a:off x="8586216" y="2980944"/>
            <a:ext cx="91440" cy="91440"/>
          </a:xfrm>
          <a:prstGeom prst="ellipse">
            <a:avLst/>
          </a:prstGeom>
          <a:solidFill>
            <a:srgbClr val="7CD4FF"/>
          </a:solidFill>
          <a:ln w="12700">
            <a:solidFill>
              <a:srgbClr val="7CD4FF"/>
            </a:solidFill>
            <a:prstDash val="solid"/>
          </a:ln>
        </p:spPr>
      </p:sp>
      <p:sp>
        <p:nvSpPr>
          <p:cNvPr id="65" name="Text 63"/>
          <p:cNvSpPr/>
          <p:nvPr/>
        </p:nvSpPr>
        <p:spPr>
          <a:xfrm>
            <a:off x="8778240" y="2926080"/>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Lo state locale viene ricreato.</a:t>
            </a:r>
            <a:endParaRPr lang="en-US" sz="1420" dirty="0"/>
          </a:p>
        </p:txBody>
      </p:sp>
      <p:sp>
        <p:nvSpPr>
          <p:cNvPr id="66" name="Shape 64"/>
          <p:cNvSpPr/>
          <p:nvPr/>
        </p:nvSpPr>
        <p:spPr>
          <a:xfrm>
            <a:off x="8586216" y="3694176"/>
            <a:ext cx="91440" cy="91440"/>
          </a:xfrm>
          <a:prstGeom prst="ellipse">
            <a:avLst/>
          </a:prstGeom>
          <a:solidFill>
            <a:srgbClr val="7CD4FF"/>
          </a:solidFill>
          <a:ln w="12700">
            <a:solidFill>
              <a:srgbClr val="7CD4FF"/>
            </a:solidFill>
            <a:prstDash val="solid"/>
          </a:ln>
        </p:spPr>
      </p:sp>
      <p:sp>
        <p:nvSpPr>
          <p:cNvPr id="67" name="Text 65"/>
          <p:cNvSpPr/>
          <p:nvPr/>
        </p:nvSpPr>
        <p:spPr>
          <a:xfrm>
            <a:off x="8778240" y="3639312"/>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Usala quando il reset è il comportamento desiderato.</a:t>
            </a:r>
            <a:endParaRPr lang="en-US" sz="142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54</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PRESERVING STATE</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La stessa posizione conserva lo state</a:t>
            </a:r>
            <a:endParaRPr lang="en-US" sz="2700" dirty="0"/>
          </a:p>
        </p:txBody>
      </p:sp>
      <p:sp>
        <p:nvSpPr>
          <p:cNvPr id="29" name="Shape 27"/>
          <p:cNvSpPr/>
          <p:nvPr/>
        </p:nvSpPr>
        <p:spPr>
          <a:xfrm>
            <a:off x="530352" y="1581912"/>
            <a:ext cx="5440680" cy="4526280"/>
          </a:xfrm>
          <a:prstGeom prst="roundRect">
            <a:avLst>
              <a:gd name="adj" fmla="val 1010"/>
            </a:avLst>
          </a:prstGeom>
          <a:solidFill>
            <a:srgbClr val="0D1A2B"/>
          </a:solidFill>
          <a:ln w="13970">
            <a:solidFill>
              <a:srgbClr val="263A55"/>
            </a:solidFill>
            <a:prstDash val="solid"/>
          </a:ln>
        </p:spPr>
      </p:sp>
      <p:sp>
        <p:nvSpPr>
          <p:cNvPr id="30" name="Shape 28"/>
          <p:cNvSpPr/>
          <p:nvPr/>
        </p:nvSpPr>
        <p:spPr>
          <a:xfrm>
            <a:off x="530352" y="1581912"/>
            <a:ext cx="5440680" cy="347472"/>
          </a:xfrm>
          <a:prstGeom prst="rect">
            <a:avLst/>
          </a:prstGeom>
          <a:solidFill>
            <a:srgbClr val="122238"/>
          </a:solidFill>
          <a:ln w="12700">
            <a:solidFill>
              <a:srgbClr val="122238"/>
            </a:solidFill>
            <a:prstDash val="solid"/>
          </a:ln>
        </p:spPr>
      </p:sp>
      <p:sp>
        <p:nvSpPr>
          <p:cNvPr id="31" name="Shape 29"/>
          <p:cNvSpPr/>
          <p:nvPr/>
        </p:nvSpPr>
        <p:spPr>
          <a:xfrm>
            <a:off x="694944" y="1623060"/>
            <a:ext cx="658368" cy="274320"/>
          </a:xfrm>
          <a:prstGeom prst="roundRect">
            <a:avLst>
              <a:gd name="adj" fmla="val 20000"/>
            </a:avLst>
          </a:prstGeom>
          <a:solidFill>
            <a:srgbClr val="FF7A8A">
              <a:alpha val="20000"/>
            </a:srgbClr>
          </a:solidFill>
          <a:ln w="10160">
            <a:solidFill>
              <a:srgbClr val="FF7A8A">
                <a:alpha val="55000"/>
              </a:srgbClr>
            </a:solidFill>
            <a:prstDash val="solid"/>
          </a:ln>
        </p:spPr>
      </p:sp>
      <p:sp>
        <p:nvSpPr>
          <p:cNvPr id="32" name="Text 30"/>
          <p:cNvSpPr/>
          <p:nvPr/>
        </p:nvSpPr>
        <p:spPr>
          <a:xfrm>
            <a:off x="786384" y="1682496"/>
            <a:ext cx="475488" cy="128016"/>
          </a:xfrm>
          <a:prstGeom prst="rect">
            <a:avLst/>
          </a:prstGeom>
          <a:noFill/>
          <a:ln/>
        </p:spPr>
        <p:txBody>
          <a:bodyPr wrap="square" lIns="0" tIns="0" rIns="0" bIns="0" rtlCol="0" anchor="ctr"/>
          <a:lstStyle/>
          <a:p>
            <a:pPr algn="ctr" indent="0" marL="0">
              <a:buNone/>
            </a:pPr>
            <a:r>
              <a:rPr lang="en-US" sz="820" b="1" dirty="0">
                <a:solidFill>
                  <a:srgbClr val="FF7A8A"/>
                </a:solidFill>
                <a:latin typeface="Aptos Mono" pitchFamily="34" charset="0"/>
                <a:ea typeface="Aptos Mono" pitchFamily="34" charset="-122"/>
                <a:cs typeface="Aptos Mono" pitchFamily="34" charset="-120"/>
              </a:rPr>
              <a:t>TSX</a:t>
            </a:r>
            <a:endParaRPr lang="en-US" sz="820" dirty="0"/>
          </a:p>
        </p:txBody>
      </p:sp>
      <p:sp>
        <p:nvSpPr>
          <p:cNvPr id="33" name="Text 31"/>
          <p:cNvSpPr/>
          <p:nvPr/>
        </p:nvSpPr>
        <p:spPr>
          <a:xfrm>
            <a:off x="1490472" y="1677924"/>
            <a:ext cx="420624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PRIMA</a:t>
            </a:r>
            <a:endParaRPr lang="en-US" sz="880" dirty="0"/>
          </a:p>
        </p:txBody>
      </p:sp>
      <p:sp>
        <p:nvSpPr>
          <p:cNvPr id="34" name="Text 32"/>
          <p:cNvSpPr/>
          <p:nvPr/>
        </p:nvSpPr>
        <p:spPr>
          <a:xfrm>
            <a:off x="640080" y="204368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01</a:t>
            </a:r>
            <a:endParaRPr lang="en-US" sz="1060" dirty="0"/>
          </a:p>
        </p:txBody>
      </p:sp>
      <p:sp>
        <p:nvSpPr>
          <p:cNvPr id="35" name="Text 33"/>
          <p:cNvSpPr/>
          <p:nvPr/>
        </p:nvSpPr>
        <p:spPr>
          <a:xfrm>
            <a:off x="1033272" y="202996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return (</a:t>
            </a:r>
            <a:endParaRPr lang="en-US" sz="1280" dirty="0"/>
          </a:p>
        </p:txBody>
      </p:sp>
      <p:sp>
        <p:nvSpPr>
          <p:cNvPr id="36" name="Text 34"/>
          <p:cNvSpPr/>
          <p:nvPr/>
        </p:nvSpPr>
        <p:spPr>
          <a:xfrm>
            <a:off x="640080" y="228600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02</a:t>
            </a:r>
            <a:endParaRPr lang="en-US" sz="1060" dirty="0"/>
          </a:p>
        </p:txBody>
      </p:sp>
      <p:sp>
        <p:nvSpPr>
          <p:cNvPr id="37" name="Text 35"/>
          <p:cNvSpPr/>
          <p:nvPr/>
        </p:nvSpPr>
        <p:spPr>
          <a:xfrm>
            <a:off x="1033272" y="227228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&lt;section&gt;</a:t>
            </a:r>
            <a:endParaRPr lang="en-US" sz="1280" dirty="0"/>
          </a:p>
        </p:txBody>
      </p:sp>
      <p:sp>
        <p:nvSpPr>
          <p:cNvPr id="38" name="Text 36"/>
          <p:cNvSpPr/>
          <p:nvPr/>
        </p:nvSpPr>
        <p:spPr>
          <a:xfrm>
            <a:off x="640080" y="252831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03</a:t>
            </a:r>
            <a:endParaRPr lang="en-US" sz="1060" dirty="0"/>
          </a:p>
        </p:txBody>
      </p:sp>
      <p:sp>
        <p:nvSpPr>
          <p:cNvPr id="39" name="Text 37"/>
          <p:cNvSpPr/>
          <p:nvPr/>
        </p:nvSpPr>
        <p:spPr>
          <a:xfrm>
            <a:off x="1033272" y="2514600"/>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{isCompact</a:t>
            </a:r>
            <a:endParaRPr lang="en-US" sz="1280" dirty="0"/>
          </a:p>
        </p:txBody>
      </p:sp>
      <p:sp>
        <p:nvSpPr>
          <p:cNvPr id="40" name="Text 38"/>
          <p:cNvSpPr/>
          <p:nvPr/>
        </p:nvSpPr>
        <p:spPr>
          <a:xfrm>
            <a:off x="640080" y="2770632"/>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04</a:t>
            </a:r>
            <a:endParaRPr lang="en-US" sz="1060" dirty="0"/>
          </a:p>
        </p:txBody>
      </p:sp>
      <p:sp>
        <p:nvSpPr>
          <p:cNvPr id="41" name="Text 39"/>
          <p:cNvSpPr/>
          <p:nvPr/>
        </p:nvSpPr>
        <p:spPr>
          <a:xfrm>
            <a:off x="1033272" y="2756916"/>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 &lt;Counter compact /&gt;</a:t>
            </a:r>
            <a:endParaRPr lang="en-US" sz="1280" dirty="0"/>
          </a:p>
        </p:txBody>
      </p:sp>
      <p:sp>
        <p:nvSpPr>
          <p:cNvPr id="42" name="Text 40"/>
          <p:cNvSpPr/>
          <p:nvPr/>
        </p:nvSpPr>
        <p:spPr>
          <a:xfrm>
            <a:off x="640080" y="3012948"/>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05</a:t>
            </a:r>
            <a:endParaRPr lang="en-US" sz="1060" dirty="0"/>
          </a:p>
        </p:txBody>
      </p:sp>
      <p:sp>
        <p:nvSpPr>
          <p:cNvPr id="43" name="Text 41"/>
          <p:cNvSpPr/>
          <p:nvPr/>
        </p:nvSpPr>
        <p:spPr>
          <a:xfrm>
            <a:off x="1033272" y="2999232"/>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 &lt;Counter compact={false} /&gt;}</a:t>
            </a:r>
            <a:endParaRPr lang="en-US" sz="1280" dirty="0"/>
          </a:p>
        </p:txBody>
      </p:sp>
      <p:sp>
        <p:nvSpPr>
          <p:cNvPr id="44" name="Text 42"/>
          <p:cNvSpPr/>
          <p:nvPr/>
        </p:nvSpPr>
        <p:spPr>
          <a:xfrm>
            <a:off x="640080" y="325526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06</a:t>
            </a:r>
            <a:endParaRPr lang="en-US" sz="1060" dirty="0"/>
          </a:p>
        </p:txBody>
      </p:sp>
      <p:sp>
        <p:nvSpPr>
          <p:cNvPr id="45" name="Text 43"/>
          <p:cNvSpPr/>
          <p:nvPr/>
        </p:nvSpPr>
        <p:spPr>
          <a:xfrm>
            <a:off x="1033272" y="324154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&lt;/section&gt;</a:t>
            </a:r>
            <a:endParaRPr lang="en-US" sz="1280" dirty="0"/>
          </a:p>
        </p:txBody>
      </p:sp>
      <p:sp>
        <p:nvSpPr>
          <p:cNvPr id="46" name="Text 44"/>
          <p:cNvSpPr/>
          <p:nvPr/>
        </p:nvSpPr>
        <p:spPr>
          <a:xfrm>
            <a:off x="640080" y="349758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07</a:t>
            </a:r>
            <a:endParaRPr lang="en-US" sz="1060" dirty="0"/>
          </a:p>
        </p:txBody>
      </p:sp>
      <p:sp>
        <p:nvSpPr>
          <p:cNvPr id="47" name="Text 45"/>
          <p:cNvSpPr/>
          <p:nvPr/>
        </p:nvSpPr>
        <p:spPr>
          <a:xfrm>
            <a:off x="1033272" y="348386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a:t>
            </a:r>
            <a:endParaRPr lang="en-US" sz="1280" dirty="0"/>
          </a:p>
        </p:txBody>
      </p:sp>
      <p:sp>
        <p:nvSpPr>
          <p:cNvPr id="48" name="Text 46"/>
          <p:cNvSpPr/>
          <p:nvPr/>
        </p:nvSpPr>
        <p:spPr>
          <a:xfrm>
            <a:off x="640080" y="373989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08</a:t>
            </a:r>
            <a:endParaRPr lang="en-US" sz="1060" dirty="0"/>
          </a:p>
        </p:txBody>
      </p:sp>
      <p:sp>
        <p:nvSpPr>
          <p:cNvPr id="49" name="Text 47"/>
          <p:cNvSpPr/>
          <p:nvPr/>
        </p:nvSpPr>
        <p:spPr>
          <a:xfrm>
            <a:off x="1033272" y="3726180"/>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t>
            </a:r>
            <a:endParaRPr lang="en-US" sz="1280" dirty="0"/>
          </a:p>
        </p:txBody>
      </p:sp>
      <p:sp>
        <p:nvSpPr>
          <p:cNvPr id="50" name="Text 48"/>
          <p:cNvSpPr/>
          <p:nvPr/>
        </p:nvSpPr>
        <p:spPr>
          <a:xfrm>
            <a:off x="640080" y="3982212"/>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09</a:t>
            </a:r>
            <a:endParaRPr lang="en-US" sz="1060" dirty="0"/>
          </a:p>
        </p:txBody>
      </p:sp>
      <p:sp>
        <p:nvSpPr>
          <p:cNvPr id="51" name="Text 49"/>
          <p:cNvSpPr/>
          <p:nvPr/>
        </p:nvSpPr>
        <p:spPr>
          <a:xfrm>
            <a:off x="1033272" y="3968496"/>
            <a:ext cx="4782312" cy="242316"/>
          </a:xfrm>
          <a:prstGeom prst="rect">
            <a:avLst/>
          </a:prstGeom>
          <a:noFill/>
          <a:ln/>
        </p:spPr>
        <p:txBody>
          <a:bodyPr wrap="square" lIns="0" tIns="0" rIns="0" bIns="0" rtlCol="0" anchor="ctr">
            <a:normAutofit/>
          </a:bodyPr>
          <a:lstStyle/>
          <a:p>
            <a:pPr indent="0" marL="0">
              <a:buNone/>
            </a:pPr>
            <a:r>
              <a:rPr lang="en-US" sz="1280" dirty="0">
                <a:solidFill>
                  <a:srgbClr val="78C9A6"/>
                </a:solidFill>
                <a:latin typeface="Aptos Mono" pitchFamily="34" charset="0"/>
                <a:ea typeface="Aptos Mono" pitchFamily="34" charset="-122"/>
                <a:cs typeface="Aptos Mono" pitchFamily="34" charset="-120"/>
              </a:rPr>
              <a:t>// Stesso tipo e stessa posizione: state preservato.</a:t>
            </a:r>
            <a:endParaRPr lang="en-US" sz="1280" dirty="0"/>
          </a:p>
        </p:txBody>
      </p:sp>
      <p:sp>
        <p:nvSpPr>
          <p:cNvPr id="52" name="Shape 50"/>
          <p:cNvSpPr/>
          <p:nvPr/>
        </p:nvSpPr>
        <p:spPr>
          <a:xfrm>
            <a:off x="6217920" y="1581912"/>
            <a:ext cx="5440680" cy="4526280"/>
          </a:xfrm>
          <a:prstGeom prst="roundRect">
            <a:avLst>
              <a:gd name="adj" fmla="val 1010"/>
            </a:avLst>
          </a:prstGeom>
          <a:solidFill>
            <a:srgbClr val="0D1A2B"/>
          </a:solidFill>
          <a:ln w="13970">
            <a:solidFill>
              <a:srgbClr val="263A55"/>
            </a:solidFill>
            <a:prstDash val="solid"/>
          </a:ln>
        </p:spPr>
      </p:sp>
      <p:sp>
        <p:nvSpPr>
          <p:cNvPr id="53" name="Shape 51"/>
          <p:cNvSpPr/>
          <p:nvPr/>
        </p:nvSpPr>
        <p:spPr>
          <a:xfrm>
            <a:off x="6217920" y="1581912"/>
            <a:ext cx="5440680" cy="347472"/>
          </a:xfrm>
          <a:prstGeom prst="rect">
            <a:avLst/>
          </a:prstGeom>
          <a:solidFill>
            <a:srgbClr val="122238"/>
          </a:solidFill>
          <a:ln w="12700">
            <a:solidFill>
              <a:srgbClr val="122238"/>
            </a:solidFill>
            <a:prstDash val="solid"/>
          </a:ln>
        </p:spPr>
      </p:sp>
      <p:sp>
        <p:nvSpPr>
          <p:cNvPr id="54" name="Shape 52"/>
          <p:cNvSpPr/>
          <p:nvPr/>
        </p:nvSpPr>
        <p:spPr>
          <a:xfrm>
            <a:off x="6382512" y="1623060"/>
            <a:ext cx="658368" cy="274320"/>
          </a:xfrm>
          <a:prstGeom prst="roundRect">
            <a:avLst>
              <a:gd name="adj" fmla="val 20000"/>
            </a:avLst>
          </a:prstGeom>
          <a:solidFill>
            <a:srgbClr val="6FE3B1">
              <a:alpha val="20000"/>
            </a:srgbClr>
          </a:solidFill>
          <a:ln w="10160">
            <a:solidFill>
              <a:srgbClr val="6FE3B1">
                <a:alpha val="55000"/>
              </a:srgbClr>
            </a:solidFill>
            <a:prstDash val="solid"/>
          </a:ln>
        </p:spPr>
      </p:sp>
      <p:sp>
        <p:nvSpPr>
          <p:cNvPr id="55" name="Text 53"/>
          <p:cNvSpPr/>
          <p:nvPr/>
        </p:nvSpPr>
        <p:spPr>
          <a:xfrm>
            <a:off x="6473952" y="1682496"/>
            <a:ext cx="475488" cy="128016"/>
          </a:xfrm>
          <a:prstGeom prst="rect">
            <a:avLst/>
          </a:prstGeom>
          <a:noFill/>
          <a:ln/>
        </p:spPr>
        <p:txBody>
          <a:bodyPr wrap="square" lIns="0" tIns="0" rIns="0" bIns="0" rtlCol="0" anchor="ctr"/>
          <a:lstStyle/>
          <a:p>
            <a:pPr algn="ctr" indent="0" marL="0">
              <a:buNone/>
            </a:pPr>
            <a:r>
              <a:rPr lang="en-US" sz="820" b="1" dirty="0">
                <a:solidFill>
                  <a:srgbClr val="6FE3B1"/>
                </a:solidFill>
                <a:latin typeface="Aptos Mono" pitchFamily="34" charset="0"/>
                <a:ea typeface="Aptos Mono" pitchFamily="34" charset="-122"/>
                <a:cs typeface="Aptos Mono" pitchFamily="34" charset="-120"/>
              </a:rPr>
              <a:t>TSX</a:t>
            </a:r>
            <a:endParaRPr lang="en-US" sz="820" dirty="0"/>
          </a:p>
        </p:txBody>
      </p:sp>
      <p:sp>
        <p:nvSpPr>
          <p:cNvPr id="56" name="Text 54"/>
          <p:cNvSpPr/>
          <p:nvPr/>
        </p:nvSpPr>
        <p:spPr>
          <a:xfrm>
            <a:off x="7178040" y="1677924"/>
            <a:ext cx="420624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DOPO</a:t>
            </a:r>
            <a:endParaRPr lang="en-US" sz="880" dirty="0"/>
          </a:p>
        </p:txBody>
      </p:sp>
      <p:sp>
        <p:nvSpPr>
          <p:cNvPr id="57" name="Text 55"/>
          <p:cNvSpPr/>
          <p:nvPr/>
        </p:nvSpPr>
        <p:spPr>
          <a:xfrm>
            <a:off x="6327648" y="204368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01</a:t>
            </a:r>
            <a:endParaRPr lang="en-US" sz="1060" dirty="0"/>
          </a:p>
        </p:txBody>
      </p:sp>
      <p:sp>
        <p:nvSpPr>
          <p:cNvPr id="58" name="Text 56"/>
          <p:cNvSpPr/>
          <p:nvPr/>
        </p:nvSpPr>
        <p:spPr>
          <a:xfrm>
            <a:off x="6720840" y="202996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return isCompact</a:t>
            </a:r>
            <a:endParaRPr lang="en-US" sz="1280" dirty="0"/>
          </a:p>
        </p:txBody>
      </p:sp>
      <p:sp>
        <p:nvSpPr>
          <p:cNvPr id="59" name="Text 57"/>
          <p:cNvSpPr/>
          <p:nvPr/>
        </p:nvSpPr>
        <p:spPr>
          <a:xfrm>
            <a:off x="6327648" y="228600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02</a:t>
            </a:r>
            <a:endParaRPr lang="en-US" sz="1060" dirty="0"/>
          </a:p>
        </p:txBody>
      </p:sp>
      <p:sp>
        <p:nvSpPr>
          <p:cNvPr id="60" name="Text 58"/>
          <p:cNvSpPr/>
          <p:nvPr/>
        </p:nvSpPr>
        <p:spPr>
          <a:xfrm>
            <a:off x="6720840" y="227228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 &lt;section&gt;&lt;Counter /&gt;&lt;/section&gt;</a:t>
            </a:r>
            <a:endParaRPr lang="en-US" sz="1280" dirty="0"/>
          </a:p>
        </p:txBody>
      </p:sp>
      <p:sp>
        <p:nvSpPr>
          <p:cNvPr id="61" name="Text 59"/>
          <p:cNvSpPr/>
          <p:nvPr/>
        </p:nvSpPr>
        <p:spPr>
          <a:xfrm>
            <a:off x="6327648" y="252831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03</a:t>
            </a:r>
            <a:endParaRPr lang="en-US" sz="1060" dirty="0"/>
          </a:p>
        </p:txBody>
      </p:sp>
      <p:sp>
        <p:nvSpPr>
          <p:cNvPr id="62" name="Text 60"/>
          <p:cNvSpPr/>
          <p:nvPr/>
        </p:nvSpPr>
        <p:spPr>
          <a:xfrm>
            <a:off x="6720840" y="2514600"/>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 &lt;aside&gt;&lt;Counter /&gt;&lt;/aside&gt;;</a:t>
            </a:r>
            <a:endParaRPr lang="en-US" sz="1280" dirty="0"/>
          </a:p>
        </p:txBody>
      </p:sp>
      <p:sp>
        <p:nvSpPr>
          <p:cNvPr id="63" name="Text 61"/>
          <p:cNvSpPr/>
          <p:nvPr/>
        </p:nvSpPr>
        <p:spPr>
          <a:xfrm>
            <a:off x="6327648" y="2770632"/>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04</a:t>
            </a:r>
            <a:endParaRPr lang="en-US" sz="1060" dirty="0"/>
          </a:p>
        </p:txBody>
      </p:sp>
      <p:sp>
        <p:nvSpPr>
          <p:cNvPr id="64" name="Text 62"/>
          <p:cNvSpPr/>
          <p:nvPr/>
        </p:nvSpPr>
        <p:spPr>
          <a:xfrm>
            <a:off x="6720840" y="2756916"/>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t>
            </a:r>
            <a:endParaRPr lang="en-US" sz="1280" dirty="0"/>
          </a:p>
        </p:txBody>
      </p:sp>
      <p:sp>
        <p:nvSpPr>
          <p:cNvPr id="65" name="Text 63"/>
          <p:cNvSpPr/>
          <p:nvPr/>
        </p:nvSpPr>
        <p:spPr>
          <a:xfrm>
            <a:off x="6327648" y="3012948"/>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05</a:t>
            </a:r>
            <a:endParaRPr lang="en-US" sz="1060" dirty="0"/>
          </a:p>
        </p:txBody>
      </p:sp>
      <p:sp>
        <p:nvSpPr>
          <p:cNvPr id="66" name="Text 64"/>
          <p:cNvSpPr/>
          <p:nvPr/>
        </p:nvSpPr>
        <p:spPr>
          <a:xfrm>
            <a:off x="6720840" y="2999232"/>
            <a:ext cx="4782312" cy="242316"/>
          </a:xfrm>
          <a:prstGeom prst="rect">
            <a:avLst/>
          </a:prstGeom>
          <a:noFill/>
          <a:ln/>
        </p:spPr>
        <p:txBody>
          <a:bodyPr wrap="square" lIns="0" tIns="0" rIns="0" bIns="0" rtlCol="0" anchor="ctr">
            <a:normAutofit/>
          </a:bodyPr>
          <a:lstStyle/>
          <a:p>
            <a:pPr indent="0" marL="0">
              <a:buNone/>
            </a:pPr>
            <a:r>
              <a:rPr lang="en-US" sz="1280" dirty="0">
                <a:solidFill>
                  <a:srgbClr val="78C9A6"/>
                </a:solidFill>
                <a:latin typeface="Aptos Mono" pitchFamily="34" charset="0"/>
                <a:ea typeface="Aptos Mono" pitchFamily="34" charset="-122"/>
                <a:cs typeface="Aptos Mono" pitchFamily="34" charset="-120"/>
              </a:rPr>
              <a:t>// Il Counter occupa rami strutturali diversi.</a:t>
            </a:r>
            <a:endParaRPr lang="en-US" sz="1280" dirty="0"/>
          </a:p>
        </p:txBody>
      </p:sp>
      <p:sp>
        <p:nvSpPr>
          <p:cNvPr id="67" name="Text 65"/>
          <p:cNvSpPr/>
          <p:nvPr/>
        </p:nvSpPr>
        <p:spPr>
          <a:xfrm>
            <a:off x="6327648" y="325526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06</a:t>
            </a:r>
            <a:endParaRPr lang="en-US" sz="1060" dirty="0"/>
          </a:p>
        </p:txBody>
      </p:sp>
      <p:sp>
        <p:nvSpPr>
          <p:cNvPr id="68" name="Text 66"/>
          <p:cNvSpPr/>
          <p:nvPr/>
        </p:nvSpPr>
        <p:spPr>
          <a:xfrm>
            <a:off x="6720840" y="3241548"/>
            <a:ext cx="4782312" cy="242316"/>
          </a:xfrm>
          <a:prstGeom prst="rect">
            <a:avLst/>
          </a:prstGeom>
          <a:noFill/>
          <a:ln/>
        </p:spPr>
        <p:txBody>
          <a:bodyPr wrap="square" lIns="0" tIns="0" rIns="0" bIns="0" rtlCol="0" anchor="ctr">
            <a:normAutofit/>
          </a:bodyPr>
          <a:lstStyle/>
          <a:p>
            <a:pPr indent="0" marL="0">
              <a:buNone/>
            </a:pPr>
            <a:r>
              <a:rPr lang="en-US" sz="1280" dirty="0">
                <a:solidFill>
                  <a:srgbClr val="78C9A6"/>
                </a:solidFill>
                <a:latin typeface="Aptos Mono" pitchFamily="34" charset="0"/>
                <a:ea typeface="Aptos Mono" pitchFamily="34" charset="-122"/>
                <a:cs typeface="Aptos Mono" pitchFamily="34" charset="-120"/>
              </a:rPr>
              <a:t>// React può ricrearne l’identità.</a:t>
            </a:r>
            <a:endParaRPr lang="en-US" sz="1280" dirty="0"/>
          </a:p>
        </p:txBody>
      </p:sp>
      <p:sp>
        <p:nvSpPr>
          <p:cNvPr id="69" name="Shape 67"/>
          <p:cNvSpPr/>
          <p:nvPr/>
        </p:nvSpPr>
        <p:spPr>
          <a:xfrm>
            <a:off x="5870448" y="3310128"/>
            <a:ext cx="274320" cy="475488"/>
          </a:xfrm>
          <a:prstGeom prst="chevron">
            <a:avLst/>
          </a:prstGeom>
          <a:solidFill>
            <a:srgbClr val="4C7DFF"/>
          </a:solidFill>
          <a:ln w="12700">
            <a:solidFill>
              <a:srgbClr val="4C7DFF"/>
            </a:solidFill>
            <a:prstDash val="solid"/>
          </a:ln>
        </p:spPr>
      </p:sp>
      <p:sp>
        <p:nvSpPr>
          <p:cNvPr id="70" name="Text 68"/>
          <p:cNvSpPr/>
          <p:nvPr/>
        </p:nvSpPr>
        <p:spPr>
          <a:xfrm>
            <a:off x="1828800" y="6217920"/>
            <a:ext cx="8503920" cy="210312"/>
          </a:xfrm>
          <a:prstGeom prst="rect">
            <a:avLst/>
          </a:prstGeom>
          <a:noFill/>
          <a:ln/>
        </p:spPr>
        <p:txBody>
          <a:bodyPr wrap="square" lIns="0" tIns="0" rIns="0" bIns="0" rtlCol="0" anchor="ctr"/>
          <a:lstStyle/>
          <a:p>
            <a:pPr algn="ctr" indent="0" marL="0">
              <a:buNone/>
            </a:pPr>
            <a:r>
              <a:rPr lang="en-US" sz="1050" b="1" dirty="0">
                <a:solidFill>
                  <a:srgbClr val="F5C96A"/>
                </a:solidFill>
                <a:latin typeface="Aptos" pitchFamily="34" charset="0"/>
                <a:ea typeface="Aptos" pitchFamily="34" charset="-122"/>
                <a:cs typeface="Aptos" pitchFamily="34" charset="-120"/>
              </a:rPr>
              <a:t>L’identità dipende dall’albero risultante, non dalla riga sorgente.</a:t>
            </a:r>
            <a:endParaRPr lang="en-US" sz="10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55</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NESTED DEFINITIONS</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Definire un componente dentro un altro ne cambia l’identità</a:t>
            </a:r>
            <a:endParaRPr lang="en-US" sz="2700" dirty="0"/>
          </a:p>
        </p:txBody>
      </p:sp>
      <p:sp>
        <p:nvSpPr>
          <p:cNvPr id="29" name="Shape 27"/>
          <p:cNvSpPr/>
          <p:nvPr/>
        </p:nvSpPr>
        <p:spPr>
          <a:xfrm>
            <a:off x="530352" y="1581912"/>
            <a:ext cx="5440680" cy="4526280"/>
          </a:xfrm>
          <a:prstGeom prst="roundRect">
            <a:avLst>
              <a:gd name="adj" fmla="val 1010"/>
            </a:avLst>
          </a:prstGeom>
          <a:solidFill>
            <a:srgbClr val="0D1A2B"/>
          </a:solidFill>
          <a:ln w="13970">
            <a:solidFill>
              <a:srgbClr val="263A55"/>
            </a:solidFill>
            <a:prstDash val="solid"/>
          </a:ln>
        </p:spPr>
      </p:sp>
      <p:sp>
        <p:nvSpPr>
          <p:cNvPr id="30" name="Shape 28"/>
          <p:cNvSpPr/>
          <p:nvPr/>
        </p:nvSpPr>
        <p:spPr>
          <a:xfrm>
            <a:off x="530352" y="1581912"/>
            <a:ext cx="5440680" cy="347472"/>
          </a:xfrm>
          <a:prstGeom prst="rect">
            <a:avLst/>
          </a:prstGeom>
          <a:solidFill>
            <a:srgbClr val="122238"/>
          </a:solidFill>
          <a:ln w="12700">
            <a:solidFill>
              <a:srgbClr val="122238"/>
            </a:solidFill>
            <a:prstDash val="solid"/>
          </a:ln>
        </p:spPr>
      </p:sp>
      <p:sp>
        <p:nvSpPr>
          <p:cNvPr id="31" name="Shape 29"/>
          <p:cNvSpPr/>
          <p:nvPr/>
        </p:nvSpPr>
        <p:spPr>
          <a:xfrm>
            <a:off x="694944" y="1623060"/>
            <a:ext cx="658368" cy="274320"/>
          </a:xfrm>
          <a:prstGeom prst="roundRect">
            <a:avLst>
              <a:gd name="adj" fmla="val 20000"/>
            </a:avLst>
          </a:prstGeom>
          <a:solidFill>
            <a:srgbClr val="FF7A8A">
              <a:alpha val="20000"/>
            </a:srgbClr>
          </a:solidFill>
          <a:ln w="10160">
            <a:solidFill>
              <a:srgbClr val="FF7A8A">
                <a:alpha val="55000"/>
              </a:srgbClr>
            </a:solidFill>
            <a:prstDash val="solid"/>
          </a:ln>
        </p:spPr>
      </p:sp>
      <p:sp>
        <p:nvSpPr>
          <p:cNvPr id="32" name="Text 30"/>
          <p:cNvSpPr/>
          <p:nvPr/>
        </p:nvSpPr>
        <p:spPr>
          <a:xfrm>
            <a:off x="786384" y="1682496"/>
            <a:ext cx="475488" cy="128016"/>
          </a:xfrm>
          <a:prstGeom prst="rect">
            <a:avLst/>
          </a:prstGeom>
          <a:noFill/>
          <a:ln/>
        </p:spPr>
        <p:txBody>
          <a:bodyPr wrap="square" lIns="0" tIns="0" rIns="0" bIns="0" rtlCol="0" anchor="ctr"/>
          <a:lstStyle/>
          <a:p>
            <a:pPr algn="ctr" indent="0" marL="0">
              <a:buNone/>
            </a:pPr>
            <a:r>
              <a:rPr lang="en-US" sz="820" b="1" dirty="0">
                <a:solidFill>
                  <a:srgbClr val="FF7A8A"/>
                </a:solidFill>
                <a:latin typeface="Aptos Mono" pitchFamily="34" charset="0"/>
                <a:ea typeface="Aptos Mono" pitchFamily="34" charset="-122"/>
                <a:cs typeface="Aptos Mono" pitchFamily="34" charset="-120"/>
              </a:rPr>
              <a:t>TSX</a:t>
            </a:r>
            <a:endParaRPr lang="en-US" sz="820" dirty="0"/>
          </a:p>
        </p:txBody>
      </p:sp>
      <p:sp>
        <p:nvSpPr>
          <p:cNvPr id="33" name="Text 31"/>
          <p:cNvSpPr/>
          <p:nvPr/>
        </p:nvSpPr>
        <p:spPr>
          <a:xfrm>
            <a:off x="1490472" y="1677924"/>
            <a:ext cx="420624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PRIMA</a:t>
            </a:r>
            <a:endParaRPr lang="en-US" sz="880" dirty="0"/>
          </a:p>
        </p:txBody>
      </p:sp>
      <p:sp>
        <p:nvSpPr>
          <p:cNvPr id="34" name="Text 32"/>
          <p:cNvSpPr/>
          <p:nvPr/>
        </p:nvSpPr>
        <p:spPr>
          <a:xfrm>
            <a:off x="640080" y="204368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01</a:t>
            </a:r>
            <a:endParaRPr lang="en-US" sz="1060" dirty="0"/>
          </a:p>
        </p:txBody>
      </p:sp>
      <p:sp>
        <p:nvSpPr>
          <p:cNvPr id="35" name="Text 33"/>
          <p:cNvSpPr/>
          <p:nvPr/>
        </p:nvSpPr>
        <p:spPr>
          <a:xfrm>
            <a:off x="1033272" y="202996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function TicketsPage() {</a:t>
            </a:r>
            <a:endParaRPr lang="en-US" sz="1280" dirty="0"/>
          </a:p>
        </p:txBody>
      </p:sp>
      <p:sp>
        <p:nvSpPr>
          <p:cNvPr id="36" name="Text 34"/>
          <p:cNvSpPr/>
          <p:nvPr/>
        </p:nvSpPr>
        <p:spPr>
          <a:xfrm>
            <a:off x="640080" y="228600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02</a:t>
            </a:r>
            <a:endParaRPr lang="en-US" sz="1060" dirty="0"/>
          </a:p>
        </p:txBody>
      </p:sp>
      <p:sp>
        <p:nvSpPr>
          <p:cNvPr id="37" name="Text 35"/>
          <p:cNvSpPr/>
          <p:nvPr/>
        </p:nvSpPr>
        <p:spPr>
          <a:xfrm>
            <a:off x="1033272" y="227228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function EmptyState() {</a:t>
            </a:r>
            <a:endParaRPr lang="en-US" sz="1280" dirty="0"/>
          </a:p>
        </p:txBody>
      </p:sp>
      <p:sp>
        <p:nvSpPr>
          <p:cNvPr id="38" name="Text 36"/>
          <p:cNvSpPr/>
          <p:nvPr/>
        </p:nvSpPr>
        <p:spPr>
          <a:xfrm>
            <a:off x="640080" y="252831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03</a:t>
            </a:r>
            <a:endParaRPr lang="en-US" sz="1060" dirty="0"/>
          </a:p>
        </p:txBody>
      </p:sp>
      <p:sp>
        <p:nvSpPr>
          <p:cNvPr id="39" name="Text 37"/>
          <p:cNvSpPr/>
          <p:nvPr/>
        </p:nvSpPr>
        <p:spPr>
          <a:xfrm>
            <a:off x="1033272" y="2514600"/>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return &lt;p&gt;Nessun ticket&lt;/p&gt;;</a:t>
            </a:r>
            <a:endParaRPr lang="en-US" sz="1280" dirty="0"/>
          </a:p>
        </p:txBody>
      </p:sp>
      <p:sp>
        <p:nvSpPr>
          <p:cNvPr id="40" name="Text 38"/>
          <p:cNvSpPr/>
          <p:nvPr/>
        </p:nvSpPr>
        <p:spPr>
          <a:xfrm>
            <a:off x="640080" y="2770632"/>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04</a:t>
            </a:r>
            <a:endParaRPr lang="en-US" sz="1060" dirty="0"/>
          </a:p>
        </p:txBody>
      </p:sp>
      <p:sp>
        <p:nvSpPr>
          <p:cNvPr id="41" name="Text 39"/>
          <p:cNvSpPr/>
          <p:nvPr/>
        </p:nvSpPr>
        <p:spPr>
          <a:xfrm>
            <a:off x="1033272" y="2756916"/>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t>
            </a:r>
            <a:endParaRPr lang="en-US" sz="1280" dirty="0"/>
          </a:p>
        </p:txBody>
      </p:sp>
      <p:sp>
        <p:nvSpPr>
          <p:cNvPr id="42" name="Text 40"/>
          <p:cNvSpPr/>
          <p:nvPr/>
        </p:nvSpPr>
        <p:spPr>
          <a:xfrm>
            <a:off x="640080" y="3012948"/>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05</a:t>
            </a:r>
            <a:endParaRPr lang="en-US" sz="1060" dirty="0"/>
          </a:p>
        </p:txBody>
      </p:sp>
      <p:sp>
        <p:nvSpPr>
          <p:cNvPr id="43" name="Text 41"/>
          <p:cNvSpPr/>
          <p:nvPr/>
        </p:nvSpPr>
        <p:spPr>
          <a:xfrm>
            <a:off x="1033272" y="2999232"/>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t>
            </a:r>
            <a:endParaRPr lang="en-US" sz="1280" dirty="0"/>
          </a:p>
        </p:txBody>
      </p:sp>
      <p:sp>
        <p:nvSpPr>
          <p:cNvPr id="44" name="Text 42"/>
          <p:cNvSpPr/>
          <p:nvPr/>
        </p:nvSpPr>
        <p:spPr>
          <a:xfrm>
            <a:off x="640080" y="325526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06</a:t>
            </a:r>
            <a:endParaRPr lang="en-US" sz="1060" dirty="0"/>
          </a:p>
        </p:txBody>
      </p:sp>
      <p:sp>
        <p:nvSpPr>
          <p:cNvPr id="45" name="Text 43"/>
          <p:cNvSpPr/>
          <p:nvPr/>
        </p:nvSpPr>
        <p:spPr>
          <a:xfrm>
            <a:off x="1033272" y="324154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return tickets.length === 0</a:t>
            </a:r>
            <a:endParaRPr lang="en-US" sz="1280" dirty="0"/>
          </a:p>
        </p:txBody>
      </p:sp>
      <p:sp>
        <p:nvSpPr>
          <p:cNvPr id="46" name="Text 44"/>
          <p:cNvSpPr/>
          <p:nvPr/>
        </p:nvSpPr>
        <p:spPr>
          <a:xfrm>
            <a:off x="640080" y="349758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07</a:t>
            </a:r>
            <a:endParaRPr lang="en-US" sz="1060" dirty="0"/>
          </a:p>
        </p:txBody>
      </p:sp>
      <p:sp>
        <p:nvSpPr>
          <p:cNvPr id="47" name="Text 45"/>
          <p:cNvSpPr/>
          <p:nvPr/>
        </p:nvSpPr>
        <p:spPr>
          <a:xfrm>
            <a:off x="1033272" y="348386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 &lt;EmptyState /&gt;</a:t>
            </a:r>
            <a:endParaRPr lang="en-US" sz="1280" dirty="0"/>
          </a:p>
        </p:txBody>
      </p:sp>
      <p:sp>
        <p:nvSpPr>
          <p:cNvPr id="48" name="Text 46"/>
          <p:cNvSpPr/>
          <p:nvPr/>
        </p:nvSpPr>
        <p:spPr>
          <a:xfrm>
            <a:off x="640080" y="373989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08</a:t>
            </a:r>
            <a:endParaRPr lang="en-US" sz="1060" dirty="0"/>
          </a:p>
        </p:txBody>
      </p:sp>
      <p:sp>
        <p:nvSpPr>
          <p:cNvPr id="49" name="Text 47"/>
          <p:cNvSpPr/>
          <p:nvPr/>
        </p:nvSpPr>
        <p:spPr>
          <a:xfrm>
            <a:off x="1033272" y="3726180"/>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 &lt;TicketList tickets={tickets} /&gt;;</a:t>
            </a:r>
            <a:endParaRPr lang="en-US" sz="1280" dirty="0"/>
          </a:p>
        </p:txBody>
      </p:sp>
      <p:sp>
        <p:nvSpPr>
          <p:cNvPr id="50" name="Text 48"/>
          <p:cNvSpPr/>
          <p:nvPr/>
        </p:nvSpPr>
        <p:spPr>
          <a:xfrm>
            <a:off x="640080" y="3982212"/>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09</a:t>
            </a:r>
            <a:endParaRPr lang="en-US" sz="1060" dirty="0"/>
          </a:p>
        </p:txBody>
      </p:sp>
      <p:sp>
        <p:nvSpPr>
          <p:cNvPr id="51" name="Text 49"/>
          <p:cNvSpPr/>
          <p:nvPr/>
        </p:nvSpPr>
        <p:spPr>
          <a:xfrm>
            <a:off x="1033272" y="3968496"/>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a:t>
            </a:r>
            <a:endParaRPr lang="en-US" sz="1280" dirty="0"/>
          </a:p>
        </p:txBody>
      </p:sp>
      <p:sp>
        <p:nvSpPr>
          <p:cNvPr id="52" name="Text 50"/>
          <p:cNvSpPr/>
          <p:nvPr/>
        </p:nvSpPr>
        <p:spPr>
          <a:xfrm>
            <a:off x="640080" y="4224528"/>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10</a:t>
            </a:r>
            <a:endParaRPr lang="en-US" sz="1060" dirty="0"/>
          </a:p>
        </p:txBody>
      </p:sp>
      <p:sp>
        <p:nvSpPr>
          <p:cNvPr id="53" name="Text 51"/>
          <p:cNvSpPr/>
          <p:nvPr/>
        </p:nvSpPr>
        <p:spPr>
          <a:xfrm>
            <a:off x="1033272" y="4210812"/>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t>
            </a:r>
            <a:endParaRPr lang="en-US" sz="1280" dirty="0"/>
          </a:p>
        </p:txBody>
      </p:sp>
      <p:sp>
        <p:nvSpPr>
          <p:cNvPr id="54" name="Text 52"/>
          <p:cNvSpPr/>
          <p:nvPr/>
        </p:nvSpPr>
        <p:spPr>
          <a:xfrm>
            <a:off x="640080" y="446684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11</a:t>
            </a:r>
            <a:endParaRPr lang="en-US" sz="1060" dirty="0"/>
          </a:p>
        </p:txBody>
      </p:sp>
      <p:sp>
        <p:nvSpPr>
          <p:cNvPr id="55" name="Text 53"/>
          <p:cNvSpPr/>
          <p:nvPr/>
        </p:nvSpPr>
        <p:spPr>
          <a:xfrm>
            <a:off x="1033272" y="4453128"/>
            <a:ext cx="4782312" cy="242316"/>
          </a:xfrm>
          <a:prstGeom prst="rect">
            <a:avLst/>
          </a:prstGeom>
          <a:noFill/>
          <a:ln/>
        </p:spPr>
        <p:txBody>
          <a:bodyPr wrap="square" lIns="0" tIns="0" rIns="0" bIns="0" rtlCol="0" anchor="ctr">
            <a:normAutofit/>
          </a:bodyPr>
          <a:lstStyle/>
          <a:p>
            <a:pPr indent="0" marL="0">
              <a:buNone/>
            </a:pPr>
            <a:r>
              <a:rPr lang="en-US" sz="1280" dirty="0">
                <a:solidFill>
                  <a:srgbClr val="78C9A6"/>
                </a:solidFill>
                <a:latin typeface="Aptos Mono" pitchFamily="34" charset="0"/>
                <a:ea typeface="Aptos Mono" pitchFamily="34" charset="-122"/>
                <a:cs typeface="Aptos Mono" pitchFamily="34" charset="-120"/>
              </a:rPr>
              <a:t>// Nuova funzione componente a ogni render.</a:t>
            </a:r>
            <a:endParaRPr lang="en-US" sz="1280" dirty="0"/>
          </a:p>
        </p:txBody>
      </p:sp>
      <p:sp>
        <p:nvSpPr>
          <p:cNvPr id="56" name="Shape 54"/>
          <p:cNvSpPr/>
          <p:nvPr/>
        </p:nvSpPr>
        <p:spPr>
          <a:xfrm>
            <a:off x="6217920" y="1581912"/>
            <a:ext cx="5440680" cy="4526280"/>
          </a:xfrm>
          <a:prstGeom prst="roundRect">
            <a:avLst>
              <a:gd name="adj" fmla="val 1010"/>
            </a:avLst>
          </a:prstGeom>
          <a:solidFill>
            <a:srgbClr val="0D1A2B"/>
          </a:solidFill>
          <a:ln w="13970">
            <a:solidFill>
              <a:srgbClr val="263A55"/>
            </a:solidFill>
            <a:prstDash val="solid"/>
          </a:ln>
        </p:spPr>
      </p:sp>
      <p:sp>
        <p:nvSpPr>
          <p:cNvPr id="57" name="Shape 55"/>
          <p:cNvSpPr/>
          <p:nvPr/>
        </p:nvSpPr>
        <p:spPr>
          <a:xfrm>
            <a:off x="6217920" y="1581912"/>
            <a:ext cx="5440680" cy="347472"/>
          </a:xfrm>
          <a:prstGeom prst="rect">
            <a:avLst/>
          </a:prstGeom>
          <a:solidFill>
            <a:srgbClr val="122238"/>
          </a:solidFill>
          <a:ln w="12700">
            <a:solidFill>
              <a:srgbClr val="122238"/>
            </a:solidFill>
            <a:prstDash val="solid"/>
          </a:ln>
        </p:spPr>
      </p:sp>
      <p:sp>
        <p:nvSpPr>
          <p:cNvPr id="58" name="Shape 56"/>
          <p:cNvSpPr/>
          <p:nvPr/>
        </p:nvSpPr>
        <p:spPr>
          <a:xfrm>
            <a:off x="6382512" y="1623060"/>
            <a:ext cx="658368" cy="274320"/>
          </a:xfrm>
          <a:prstGeom prst="roundRect">
            <a:avLst>
              <a:gd name="adj" fmla="val 20000"/>
            </a:avLst>
          </a:prstGeom>
          <a:solidFill>
            <a:srgbClr val="6FE3B1">
              <a:alpha val="20000"/>
            </a:srgbClr>
          </a:solidFill>
          <a:ln w="10160">
            <a:solidFill>
              <a:srgbClr val="6FE3B1">
                <a:alpha val="55000"/>
              </a:srgbClr>
            </a:solidFill>
            <a:prstDash val="solid"/>
          </a:ln>
        </p:spPr>
      </p:sp>
      <p:sp>
        <p:nvSpPr>
          <p:cNvPr id="59" name="Text 57"/>
          <p:cNvSpPr/>
          <p:nvPr/>
        </p:nvSpPr>
        <p:spPr>
          <a:xfrm>
            <a:off x="6473952" y="1682496"/>
            <a:ext cx="475488" cy="128016"/>
          </a:xfrm>
          <a:prstGeom prst="rect">
            <a:avLst/>
          </a:prstGeom>
          <a:noFill/>
          <a:ln/>
        </p:spPr>
        <p:txBody>
          <a:bodyPr wrap="square" lIns="0" tIns="0" rIns="0" bIns="0" rtlCol="0" anchor="ctr"/>
          <a:lstStyle/>
          <a:p>
            <a:pPr algn="ctr" indent="0" marL="0">
              <a:buNone/>
            </a:pPr>
            <a:r>
              <a:rPr lang="en-US" sz="820" b="1" dirty="0">
                <a:solidFill>
                  <a:srgbClr val="6FE3B1"/>
                </a:solidFill>
                <a:latin typeface="Aptos Mono" pitchFamily="34" charset="0"/>
                <a:ea typeface="Aptos Mono" pitchFamily="34" charset="-122"/>
                <a:cs typeface="Aptos Mono" pitchFamily="34" charset="-120"/>
              </a:rPr>
              <a:t>TSX</a:t>
            </a:r>
            <a:endParaRPr lang="en-US" sz="820" dirty="0"/>
          </a:p>
        </p:txBody>
      </p:sp>
      <p:sp>
        <p:nvSpPr>
          <p:cNvPr id="60" name="Text 58"/>
          <p:cNvSpPr/>
          <p:nvPr/>
        </p:nvSpPr>
        <p:spPr>
          <a:xfrm>
            <a:off x="7178040" y="1677924"/>
            <a:ext cx="420624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DOPO</a:t>
            </a:r>
            <a:endParaRPr lang="en-US" sz="880" dirty="0"/>
          </a:p>
        </p:txBody>
      </p:sp>
      <p:sp>
        <p:nvSpPr>
          <p:cNvPr id="61" name="Text 59"/>
          <p:cNvSpPr/>
          <p:nvPr/>
        </p:nvSpPr>
        <p:spPr>
          <a:xfrm>
            <a:off x="6327648" y="204368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01</a:t>
            </a:r>
            <a:endParaRPr lang="en-US" sz="1060" dirty="0"/>
          </a:p>
        </p:txBody>
      </p:sp>
      <p:sp>
        <p:nvSpPr>
          <p:cNvPr id="62" name="Text 60"/>
          <p:cNvSpPr/>
          <p:nvPr/>
        </p:nvSpPr>
        <p:spPr>
          <a:xfrm>
            <a:off x="6720840" y="202996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function EmptyState() {</a:t>
            </a:r>
            <a:endParaRPr lang="en-US" sz="1280" dirty="0"/>
          </a:p>
        </p:txBody>
      </p:sp>
      <p:sp>
        <p:nvSpPr>
          <p:cNvPr id="63" name="Text 61"/>
          <p:cNvSpPr/>
          <p:nvPr/>
        </p:nvSpPr>
        <p:spPr>
          <a:xfrm>
            <a:off x="6327648" y="228600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02</a:t>
            </a:r>
            <a:endParaRPr lang="en-US" sz="1060" dirty="0"/>
          </a:p>
        </p:txBody>
      </p:sp>
      <p:sp>
        <p:nvSpPr>
          <p:cNvPr id="64" name="Text 62"/>
          <p:cNvSpPr/>
          <p:nvPr/>
        </p:nvSpPr>
        <p:spPr>
          <a:xfrm>
            <a:off x="6720840" y="227228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return &lt;p&gt;Nessun ticket&lt;/p&gt;;</a:t>
            </a:r>
            <a:endParaRPr lang="en-US" sz="1280" dirty="0"/>
          </a:p>
        </p:txBody>
      </p:sp>
      <p:sp>
        <p:nvSpPr>
          <p:cNvPr id="65" name="Text 63"/>
          <p:cNvSpPr/>
          <p:nvPr/>
        </p:nvSpPr>
        <p:spPr>
          <a:xfrm>
            <a:off x="6327648" y="252831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03</a:t>
            </a:r>
            <a:endParaRPr lang="en-US" sz="1060" dirty="0"/>
          </a:p>
        </p:txBody>
      </p:sp>
      <p:sp>
        <p:nvSpPr>
          <p:cNvPr id="66" name="Text 64"/>
          <p:cNvSpPr/>
          <p:nvPr/>
        </p:nvSpPr>
        <p:spPr>
          <a:xfrm>
            <a:off x="6720840" y="2514600"/>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a:t>
            </a:r>
            <a:endParaRPr lang="en-US" sz="1280" dirty="0"/>
          </a:p>
        </p:txBody>
      </p:sp>
      <p:sp>
        <p:nvSpPr>
          <p:cNvPr id="67" name="Text 65"/>
          <p:cNvSpPr/>
          <p:nvPr/>
        </p:nvSpPr>
        <p:spPr>
          <a:xfrm>
            <a:off x="6327648" y="2770632"/>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04</a:t>
            </a:r>
            <a:endParaRPr lang="en-US" sz="1060" dirty="0"/>
          </a:p>
        </p:txBody>
      </p:sp>
      <p:sp>
        <p:nvSpPr>
          <p:cNvPr id="68" name="Text 66"/>
          <p:cNvSpPr/>
          <p:nvPr/>
        </p:nvSpPr>
        <p:spPr>
          <a:xfrm>
            <a:off x="6720840" y="2756916"/>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t>
            </a:r>
            <a:endParaRPr lang="en-US" sz="1280" dirty="0"/>
          </a:p>
        </p:txBody>
      </p:sp>
      <p:sp>
        <p:nvSpPr>
          <p:cNvPr id="69" name="Text 67"/>
          <p:cNvSpPr/>
          <p:nvPr/>
        </p:nvSpPr>
        <p:spPr>
          <a:xfrm>
            <a:off x="6327648" y="3012948"/>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05</a:t>
            </a:r>
            <a:endParaRPr lang="en-US" sz="1060" dirty="0"/>
          </a:p>
        </p:txBody>
      </p:sp>
      <p:sp>
        <p:nvSpPr>
          <p:cNvPr id="70" name="Text 68"/>
          <p:cNvSpPr/>
          <p:nvPr/>
        </p:nvSpPr>
        <p:spPr>
          <a:xfrm>
            <a:off x="6720840" y="2999232"/>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function TicketsPage() {</a:t>
            </a:r>
            <a:endParaRPr lang="en-US" sz="1280" dirty="0"/>
          </a:p>
        </p:txBody>
      </p:sp>
      <p:sp>
        <p:nvSpPr>
          <p:cNvPr id="71" name="Text 69"/>
          <p:cNvSpPr/>
          <p:nvPr/>
        </p:nvSpPr>
        <p:spPr>
          <a:xfrm>
            <a:off x="6327648" y="325526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06</a:t>
            </a:r>
            <a:endParaRPr lang="en-US" sz="1060" dirty="0"/>
          </a:p>
        </p:txBody>
      </p:sp>
      <p:sp>
        <p:nvSpPr>
          <p:cNvPr id="72" name="Text 70"/>
          <p:cNvSpPr/>
          <p:nvPr/>
        </p:nvSpPr>
        <p:spPr>
          <a:xfrm>
            <a:off x="6720840" y="324154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return tickets.length === 0</a:t>
            </a:r>
            <a:endParaRPr lang="en-US" sz="1280" dirty="0"/>
          </a:p>
        </p:txBody>
      </p:sp>
      <p:sp>
        <p:nvSpPr>
          <p:cNvPr id="73" name="Text 71"/>
          <p:cNvSpPr/>
          <p:nvPr/>
        </p:nvSpPr>
        <p:spPr>
          <a:xfrm>
            <a:off x="6327648" y="349758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07</a:t>
            </a:r>
            <a:endParaRPr lang="en-US" sz="1060" dirty="0"/>
          </a:p>
        </p:txBody>
      </p:sp>
      <p:sp>
        <p:nvSpPr>
          <p:cNvPr id="74" name="Text 72"/>
          <p:cNvSpPr/>
          <p:nvPr/>
        </p:nvSpPr>
        <p:spPr>
          <a:xfrm>
            <a:off x="6720840" y="348386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 &lt;EmptyState /&gt;</a:t>
            </a:r>
            <a:endParaRPr lang="en-US" sz="1280" dirty="0"/>
          </a:p>
        </p:txBody>
      </p:sp>
      <p:sp>
        <p:nvSpPr>
          <p:cNvPr id="75" name="Text 73"/>
          <p:cNvSpPr/>
          <p:nvPr/>
        </p:nvSpPr>
        <p:spPr>
          <a:xfrm>
            <a:off x="6327648" y="373989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08</a:t>
            </a:r>
            <a:endParaRPr lang="en-US" sz="1060" dirty="0"/>
          </a:p>
        </p:txBody>
      </p:sp>
      <p:sp>
        <p:nvSpPr>
          <p:cNvPr id="76" name="Text 74"/>
          <p:cNvSpPr/>
          <p:nvPr/>
        </p:nvSpPr>
        <p:spPr>
          <a:xfrm>
            <a:off x="6720840" y="3726180"/>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 &lt;TicketList tickets={tickets} /&gt;;</a:t>
            </a:r>
            <a:endParaRPr lang="en-US" sz="1280" dirty="0"/>
          </a:p>
        </p:txBody>
      </p:sp>
      <p:sp>
        <p:nvSpPr>
          <p:cNvPr id="77" name="Text 75"/>
          <p:cNvSpPr/>
          <p:nvPr/>
        </p:nvSpPr>
        <p:spPr>
          <a:xfrm>
            <a:off x="6327648" y="3982212"/>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09</a:t>
            </a:r>
            <a:endParaRPr lang="en-US" sz="1060" dirty="0"/>
          </a:p>
        </p:txBody>
      </p:sp>
      <p:sp>
        <p:nvSpPr>
          <p:cNvPr id="78" name="Text 76"/>
          <p:cNvSpPr/>
          <p:nvPr/>
        </p:nvSpPr>
        <p:spPr>
          <a:xfrm>
            <a:off x="6720840" y="3968496"/>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a:t>
            </a:r>
            <a:endParaRPr lang="en-US" sz="1280" dirty="0"/>
          </a:p>
        </p:txBody>
      </p:sp>
      <p:sp>
        <p:nvSpPr>
          <p:cNvPr id="79" name="Text 77"/>
          <p:cNvSpPr/>
          <p:nvPr/>
        </p:nvSpPr>
        <p:spPr>
          <a:xfrm>
            <a:off x="6327648" y="4224528"/>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10</a:t>
            </a:r>
            <a:endParaRPr lang="en-US" sz="1060" dirty="0"/>
          </a:p>
        </p:txBody>
      </p:sp>
      <p:sp>
        <p:nvSpPr>
          <p:cNvPr id="80" name="Text 78"/>
          <p:cNvSpPr/>
          <p:nvPr/>
        </p:nvSpPr>
        <p:spPr>
          <a:xfrm>
            <a:off x="6720840" y="4210812"/>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t>
            </a:r>
            <a:endParaRPr lang="en-US" sz="1280" dirty="0"/>
          </a:p>
        </p:txBody>
      </p:sp>
      <p:sp>
        <p:nvSpPr>
          <p:cNvPr id="81" name="Text 79"/>
          <p:cNvSpPr/>
          <p:nvPr/>
        </p:nvSpPr>
        <p:spPr>
          <a:xfrm>
            <a:off x="6327648" y="446684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11</a:t>
            </a:r>
            <a:endParaRPr lang="en-US" sz="1060" dirty="0"/>
          </a:p>
        </p:txBody>
      </p:sp>
      <p:sp>
        <p:nvSpPr>
          <p:cNvPr id="82" name="Text 80"/>
          <p:cNvSpPr/>
          <p:nvPr/>
        </p:nvSpPr>
        <p:spPr>
          <a:xfrm>
            <a:off x="6720840" y="4453128"/>
            <a:ext cx="4782312" cy="242316"/>
          </a:xfrm>
          <a:prstGeom prst="rect">
            <a:avLst/>
          </a:prstGeom>
          <a:noFill/>
          <a:ln/>
        </p:spPr>
        <p:txBody>
          <a:bodyPr wrap="square" lIns="0" tIns="0" rIns="0" bIns="0" rtlCol="0" anchor="ctr">
            <a:normAutofit/>
          </a:bodyPr>
          <a:lstStyle/>
          <a:p>
            <a:pPr indent="0" marL="0">
              <a:buNone/>
            </a:pPr>
            <a:r>
              <a:rPr lang="en-US" sz="1280" dirty="0">
                <a:solidFill>
                  <a:srgbClr val="78C9A6"/>
                </a:solidFill>
                <a:latin typeface="Aptos Mono" pitchFamily="34" charset="0"/>
                <a:ea typeface="Aptos Mono" pitchFamily="34" charset="-122"/>
                <a:cs typeface="Aptos Mono" pitchFamily="34" charset="-120"/>
              </a:rPr>
              <a:t>// Il tipo del componente resta stabile.</a:t>
            </a:r>
            <a:endParaRPr lang="en-US" sz="1280" dirty="0"/>
          </a:p>
        </p:txBody>
      </p:sp>
      <p:sp>
        <p:nvSpPr>
          <p:cNvPr id="83" name="Shape 81"/>
          <p:cNvSpPr/>
          <p:nvPr/>
        </p:nvSpPr>
        <p:spPr>
          <a:xfrm>
            <a:off x="5870448" y="3310128"/>
            <a:ext cx="274320" cy="475488"/>
          </a:xfrm>
          <a:prstGeom prst="chevron">
            <a:avLst/>
          </a:prstGeom>
          <a:solidFill>
            <a:srgbClr val="4C7DFF"/>
          </a:solidFill>
          <a:ln w="12700">
            <a:solidFill>
              <a:srgbClr val="4C7DFF"/>
            </a:solidFill>
            <a:prstDash val="solid"/>
          </a:ln>
        </p:spPr>
      </p:sp>
      <p:sp>
        <p:nvSpPr>
          <p:cNvPr id="84" name="Text 82"/>
          <p:cNvSpPr/>
          <p:nvPr/>
        </p:nvSpPr>
        <p:spPr>
          <a:xfrm>
            <a:off x="1828800" y="6217920"/>
            <a:ext cx="8503920" cy="210312"/>
          </a:xfrm>
          <a:prstGeom prst="rect">
            <a:avLst/>
          </a:prstGeom>
          <a:noFill/>
          <a:ln/>
        </p:spPr>
        <p:txBody>
          <a:bodyPr wrap="square" lIns="0" tIns="0" rIns="0" bIns="0" rtlCol="0" anchor="ctr"/>
          <a:lstStyle/>
          <a:p>
            <a:pPr algn="ctr" indent="0" marL="0">
              <a:buNone/>
            </a:pPr>
            <a:r>
              <a:rPr lang="en-US" sz="1050" b="1" dirty="0">
                <a:solidFill>
                  <a:srgbClr val="F5C96A"/>
                </a:solidFill>
                <a:latin typeface="Aptos" pitchFamily="34" charset="0"/>
                <a:ea typeface="Aptos" pitchFamily="34" charset="-122"/>
                <a:cs typeface="Aptos" pitchFamily="34" charset="-120"/>
              </a:rPr>
              <a:t>Definisci i componenti al top level.</a:t>
            </a:r>
            <a:endParaRPr lang="en-US" sz="10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0" y="0"/>
            <a:ext cx="3794760" cy="6858000"/>
          </a:xfrm>
          <a:prstGeom prst="rect">
            <a:avLst/>
          </a:prstGeom>
          <a:solidFill>
            <a:srgbClr val="4C7DFF"/>
          </a:solidFill>
          <a:ln w="12700">
            <a:solidFill>
              <a:srgbClr val="4C7DFF"/>
            </a:solidFill>
            <a:prstDash val="solid"/>
          </a:ln>
        </p:spPr>
      </p:sp>
      <p:sp>
        <p:nvSpPr>
          <p:cNvPr id="3" name="Text 1"/>
          <p:cNvSpPr/>
          <p:nvPr/>
        </p:nvSpPr>
        <p:spPr>
          <a:xfrm>
            <a:off x="576072" y="594360"/>
            <a:ext cx="2560320" cy="1097280"/>
          </a:xfrm>
          <a:prstGeom prst="rect">
            <a:avLst/>
          </a:prstGeom>
          <a:noFill/>
          <a:ln/>
        </p:spPr>
        <p:txBody>
          <a:bodyPr wrap="square" lIns="0" tIns="0" rIns="0" bIns="0" rtlCol="0" anchor="ctr"/>
          <a:lstStyle/>
          <a:p>
            <a:pPr indent="0" marL="0">
              <a:buNone/>
            </a:pPr>
            <a:r>
              <a:rPr lang="en-US" sz="7000" b="1" dirty="0">
                <a:solidFill>
                  <a:srgbClr val="FFFFFF">
                    <a:alpha val="98000"/>
                  </a:srgbClr>
                </a:solidFill>
                <a:latin typeface="Aptos Mono" pitchFamily="34" charset="0"/>
                <a:ea typeface="Aptos Mono" pitchFamily="34" charset="-122"/>
                <a:cs typeface="Aptos Mono" pitchFamily="34" charset="-120"/>
              </a:rPr>
              <a:t>06</a:t>
            </a:r>
            <a:endParaRPr lang="en-US" sz="7000" dirty="0"/>
          </a:p>
        </p:txBody>
      </p:sp>
      <p:sp>
        <p:nvSpPr>
          <p:cNvPr id="4" name="Text 2"/>
          <p:cNvSpPr/>
          <p:nvPr/>
        </p:nvSpPr>
        <p:spPr>
          <a:xfrm>
            <a:off x="658368" y="1975104"/>
            <a:ext cx="2560320" cy="274320"/>
          </a:xfrm>
          <a:prstGeom prst="rect">
            <a:avLst/>
          </a:prstGeom>
          <a:noFill/>
          <a:ln/>
        </p:spPr>
        <p:txBody>
          <a:bodyPr wrap="square" lIns="0" tIns="0" rIns="0" bIns="0" rtlCol="0" anchor="ctr"/>
          <a:lstStyle/>
          <a:p>
            <a:pPr indent="0" marL="0">
              <a:buNone/>
            </a:pPr>
            <a:r>
              <a:rPr lang="en-US" sz="1100" b="1" spc="200" kern="0" dirty="0">
                <a:solidFill>
                  <a:srgbClr val="FFFFFF"/>
                </a:solidFill>
                <a:latin typeface="Aptos" pitchFamily="34" charset="0"/>
                <a:ea typeface="Aptos" pitchFamily="34" charset="-122"/>
                <a:cs typeface="Aptos" pitchFamily="34" charset="-120"/>
              </a:rPr>
              <a:t>CODE LAB</a:t>
            </a:r>
            <a:endParaRPr lang="en-US" sz="1100" dirty="0"/>
          </a:p>
        </p:txBody>
      </p:sp>
      <p:sp>
        <p:nvSpPr>
          <p:cNvPr id="5" name="Text 3"/>
          <p:cNvSpPr/>
          <p:nvPr/>
        </p:nvSpPr>
        <p:spPr>
          <a:xfrm>
            <a:off x="4370832" y="1856232"/>
            <a:ext cx="6949440" cy="1051560"/>
          </a:xfrm>
          <a:prstGeom prst="rect">
            <a:avLst/>
          </a:prstGeom>
          <a:noFill/>
          <a:ln/>
        </p:spPr>
        <p:txBody>
          <a:bodyPr wrap="square" lIns="0" tIns="0" rIns="0" bIns="0" rtlCol="0" anchor="ctr">
            <a:normAutofit/>
          </a:bodyPr>
          <a:lstStyle/>
          <a:p>
            <a:pPr indent="0" marL="0">
              <a:buNone/>
            </a:pPr>
            <a:r>
              <a:rPr lang="en-US" sz="3800" b="1" dirty="0">
                <a:solidFill>
                  <a:srgbClr val="F4F7FB"/>
                </a:solidFill>
                <a:latin typeface="Aptos Display" pitchFamily="34" charset="0"/>
                <a:ea typeface="Aptos Display" pitchFamily="34" charset="-122"/>
                <a:cs typeface="Aptos Display" pitchFamily="34" charset="-120"/>
              </a:rPr>
              <a:t>useEffect e ciclo asincrono</a:t>
            </a:r>
            <a:endParaRPr lang="en-US" sz="3800" dirty="0"/>
          </a:p>
        </p:txBody>
      </p:sp>
      <p:sp>
        <p:nvSpPr>
          <p:cNvPr id="6" name="Text 4"/>
          <p:cNvSpPr/>
          <p:nvPr/>
        </p:nvSpPr>
        <p:spPr>
          <a:xfrm>
            <a:off x="4407408" y="3136392"/>
            <a:ext cx="6309360" cy="822960"/>
          </a:xfrm>
          <a:prstGeom prst="rect">
            <a:avLst/>
          </a:prstGeom>
          <a:noFill/>
          <a:ln/>
        </p:spPr>
        <p:txBody>
          <a:bodyPr wrap="square" lIns="0" tIns="0" rIns="0" bIns="0" rtlCol="0" anchor="ctr">
            <a:normAutofit/>
          </a:bodyPr>
          <a:lstStyle/>
          <a:p>
            <a:pPr indent="0" marL="0">
              <a:buNone/>
            </a:pPr>
            <a:r>
              <a:rPr lang="en-US" sz="1900" dirty="0">
                <a:solidFill>
                  <a:srgbClr val="9DB0C7"/>
                </a:solidFill>
                <a:latin typeface="Aptos" pitchFamily="34" charset="0"/>
                <a:ea typeface="Aptos" pitchFamily="34" charset="-122"/>
                <a:cs typeface="Aptos" pitchFamily="34" charset="-120"/>
              </a:rPr>
              <a:t>Un Effect sincronizza React con un sistema esterno.</a:t>
            </a:r>
            <a:endParaRPr lang="en-US" sz="1900" dirty="0"/>
          </a:p>
        </p:txBody>
      </p:sp>
      <p:sp>
        <p:nvSpPr>
          <p:cNvPr id="7" name="Shape 5"/>
          <p:cNvSpPr/>
          <p:nvPr/>
        </p:nvSpPr>
        <p:spPr>
          <a:xfrm>
            <a:off x="4407408" y="4343400"/>
            <a:ext cx="5669280" cy="0"/>
          </a:xfrm>
          <a:prstGeom prst="line">
            <a:avLst/>
          </a:prstGeom>
          <a:noFill/>
          <a:ln w="19050">
            <a:solidFill>
              <a:srgbClr val="263A55"/>
            </a:solidFill>
            <a:prstDash val="solid"/>
          </a:ln>
        </p:spPr>
      </p:sp>
      <p:sp>
        <p:nvSpPr>
          <p:cNvPr id="8" name="Text 6"/>
          <p:cNvSpPr/>
          <p:nvPr/>
        </p:nvSpPr>
        <p:spPr>
          <a:xfrm>
            <a:off x="10424160" y="6172200"/>
            <a:ext cx="1097280" cy="219456"/>
          </a:xfrm>
          <a:prstGeom prst="rect">
            <a:avLst/>
          </a:prstGeom>
          <a:noFill/>
          <a:ln/>
        </p:spPr>
        <p:txBody>
          <a:bodyPr wrap="square" lIns="0" tIns="0" rIns="0" bIns="0" rtlCol="0" anchor="ctr"/>
          <a:lstStyle/>
          <a:p>
            <a:pPr algn="r" indent="0" marL="0">
              <a:buNone/>
            </a:pPr>
            <a:r>
              <a:rPr lang="en-US" sz="1000" b="1" dirty="0">
                <a:solidFill>
                  <a:srgbClr val="8296AE"/>
                </a:solidFill>
                <a:latin typeface="Aptos Mono" pitchFamily="34" charset="0"/>
                <a:ea typeface="Aptos Mono" pitchFamily="34" charset="-122"/>
                <a:cs typeface="Aptos Mono" pitchFamily="34" charset="-120"/>
              </a:rPr>
              <a:t>SLIDE 56</a:t>
            </a:r>
            <a:endParaRPr lang="en-US" sz="1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57</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SETUP E CLEANUP</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Ogni Effect deve avere un contratto simmetrico</a:t>
            </a:r>
            <a:endParaRPr lang="en-US" sz="2700" dirty="0"/>
          </a:p>
        </p:txBody>
      </p:sp>
      <p:sp>
        <p:nvSpPr>
          <p:cNvPr id="29" name="Shape 27"/>
          <p:cNvSpPr/>
          <p:nvPr/>
        </p:nvSpPr>
        <p:spPr>
          <a:xfrm>
            <a:off x="530352" y="1645920"/>
            <a:ext cx="7040880" cy="4343400"/>
          </a:xfrm>
          <a:prstGeom prst="roundRect">
            <a:avLst>
              <a:gd name="adj" fmla="val 1263"/>
            </a:avLst>
          </a:prstGeom>
          <a:solidFill>
            <a:srgbClr val="0D1A2B"/>
          </a:solidFill>
          <a:ln w="12700">
            <a:solidFill>
              <a:srgbClr val="263A55"/>
            </a:solidFill>
            <a:prstDash val="solid"/>
          </a:ln>
        </p:spPr>
      </p:sp>
      <p:sp>
        <p:nvSpPr>
          <p:cNvPr id="30" name="Text 28"/>
          <p:cNvSpPr/>
          <p:nvPr/>
        </p:nvSpPr>
        <p:spPr>
          <a:xfrm>
            <a:off x="804672" y="1938528"/>
            <a:ext cx="1828800" cy="182880"/>
          </a:xfrm>
          <a:prstGeom prst="rect">
            <a:avLst/>
          </a:prstGeom>
          <a:noFill/>
          <a:ln/>
        </p:spPr>
        <p:txBody>
          <a:bodyPr wrap="square" lIns="0" tIns="0" rIns="0" bIns="0" rtlCol="0" anchor="ctr"/>
          <a:lstStyle/>
          <a:p>
            <a:pPr indent="0" marL="0">
              <a:buNone/>
            </a:pPr>
            <a:r>
              <a:rPr lang="en-US" sz="950" b="1" spc="120" kern="0" dirty="0">
                <a:solidFill>
                  <a:srgbClr val="6FE3B1"/>
                </a:solidFill>
                <a:latin typeface="Aptos" pitchFamily="34" charset="0"/>
                <a:ea typeface="Aptos" pitchFamily="34" charset="-122"/>
                <a:cs typeface="Aptos" pitchFamily="34" charset="-120"/>
              </a:rPr>
              <a:t>DEFINIZIONE</a:t>
            </a:r>
            <a:endParaRPr lang="en-US" sz="950" dirty="0"/>
          </a:p>
        </p:txBody>
      </p:sp>
      <p:sp>
        <p:nvSpPr>
          <p:cNvPr id="31" name="Text 29"/>
          <p:cNvSpPr/>
          <p:nvPr/>
        </p:nvSpPr>
        <p:spPr>
          <a:xfrm>
            <a:off x="804672" y="2331720"/>
            <a:ext cx="6355080" cy="1325880"/>
          </a:xfrm>
          <a:prstGeom prst="rect">
            <a:avLst/>
          </a:prstGeom>
          <a:noFill/>
          <a:ln/>
        </p:spPr>
        <p:txBody>
          <a:bodyPr wrap="square" lIns="0" tIns="0" rIns="0" bIns="0" rtlCol="0" anchor="ctr">
            <a:normAutofit/>
          </a:bodyPr>
          <a:lstStyle/>
          <a:p>
            <a:pPr indent="0" marL="0">
              <a:buNone/>
            </a:pPr>
            <a:r>
              <a:rPr lang="en-US" sz="2300" b="1" dirty="0">
                <a:solidFill>
                  <a:srgbClr val="F4F7FB"/>
                </a:solidFill>
                <a:latin typeface="Aptos Display" pitchFamily="34" charset="0"/>
                <a:ea typeface="Aptos Display" pitchFamily="34" charset="-122"/>
                <a:cs typeface="Aptos Display" pitchFamily="34" charset="-120"/>
              </a:rPr>
              <a:t>Il setup avvia un processo esterno; la cleanup annulla esattamente ciò che il setup ha avviato.</a:t>
            </a:r>
            <a:endParaRPr lang="en-US" sz="2300" dirty="0"/>
          </a:p>
        </p:txBody>
      </p:sp>
      <p:sp>
        <p:nvSpPr>
          <p:cNvPr id="32" name="Shape 30"/>
          <p:cNvSpPr/>
          <p:nvPr/>
        </p:nvSpPr>
        <p:spPr>
          <a:xfrm>
            <a:off x="804672" y="3886200"/>
            <a:ext cx="6309360" cy="0"/>
          </a:xfrm>
          <a:prstGeom prst="line">
            <a:avLst/>
          </a:prstGeom>
          <a:noFill/>
          <a:ln w="12700">
            <a:solidFill>
              <a:srgbClr val="263A55"/>
            </a:solidFill>
            <a:prstDash val="solid"/>
          </a:ln>
        </p:spPr>
      </p:sp>
      <p:sp>
        <p:nvSpPr>
          <p:cNvPr id="33" name="Text 31"/>
          <p:cNvSpPr/>
          <p:nvPr/>
        </p:nvSpPr>
        <p:spPr>
          <a:xfrm>
            <a:off x="804672" y="4160520"/>
            <a:ext cx="1828800" cy="182880"/>
          </a:xfrm>
          <a:prstGeom prst="rect">
            <a:avLst/>
          </a:prstGeom>
          <a:noFill/>
          <a:ln/>
        </p:spPr>
        <p:txBody>
          <a:bodyPr wrap="square" lIns="0" tIns="0" rIns="0" bIns="0" rtlCol="0" anchor="ctr"/>
          <a:lstStyle/>
          <a:p>
            <a:pPr indent="0" marL="0">
              <a:buNone/>
            </a:pPr>
            <a:r>
              <a:rPr lang="en-US" sz="950" b="1" spc="120" kern="0" dirty="0">
                <a:solidFill>
                  <a:srgbClr val="F5C96A"/>
                </a:solidFill>
                <a:latin typeface="Aptos" pitchFamily="34" charset="0"/>
                <a:ea typeface="Aptos" pitchFamily="34" charset="-122"/>
                <a:cs typeface="Aptos" pitchFamily="34" charset="-120"/>
              </a:rPr>
              <a:t>ESEMPIO</a:t>
            </a:r>
            <a:endParaRPr lang="en-US" sz="950" dirty="0"/>
          </a:p>
        </p:txBody>
      </p:sp>
      <p:sp>
        <p:nvSpPr>
          <p:cNvPr id="34" name="Text 32"/>
          <p:cNvSpPr/>
          <p:nvPr/>
        </p:nvSpPr>
        <p:spPr>
          <a:xfrm>
            <a:off x="804672" y="4507992"/>
            <a:ext cx="6355080" cy="868680"/>
          </a:xfrm>
          <a:prstGeom prst="rect">
            <a:avLst/>
          </a:prstGeom>
          <a:noFill/>
          <a:ln/>
        </p:spPr>
        <p:txBody>
          <a:bodyPr wrap="square" lIns="0" tIns="0" rIns="0" bIns="0" rtlCol="0" anchor="ctr">
            <a:normAutofit/>
          </a:bodyPr>
          <a:lstStyle/>
          <a:p>
            <a:pPr indent="0" marL="0">
              <a:buNone/>
            </a:pPr>
            <a:r>
              <a:rPr lang="en-US" sz="1800" b="1" dirty="0">
                <a:solidFill>
                  <a:srgbClr val="7CD4FF"/>
                </a:solidFill>
                <a:latin typeface="Aptos Mono" pitchFamily="34" charset="0"/>
                <a:ea typeface="Aptos Mono" pitchFamily="34" charset="-122"/>
                <a:cs typeface="Aptos Mono" pitchFamily="34" charset="-120"/>
              </a:rPr>
              <a:t>subscribe → unsubscribe · setTimeout → clearTimeout</a:t>
            </a:r>
            <a:endParaRPr lang="en-US" sz="1800" dirty="0"/>
          </a:p>
        </p:txBody>
      </p:sp>
      <p:sp>
        <p:nvSpPr>
          <p:cNvPr id="35" name="Shape 33"/>
          <p:cNvSpPr/>
          <p:nvPr/>
        </p:nvSpPr>
        <p:spPr>
          <a:xfrm>
            <a:off x="7845552" y="1645920"/>
            <a:ext cx="3840480" cy="4343400"/>
          </a:xfrm>
          <a:prstGeom prst="roundRect">
            <a:avLst>
              <a:gd name="adj" fmla="val 1190"/>
            </a:avLst>
          </a:prstGeom>
          <a:solidFill>
            <a:srgbClr val="122238"/>
          </a:solidFill>
          <a:ln w="12700">
            <a:solidFill>
              <a:srgbClr val="263A55"/>
            </a:solidFill>
            <a:prstDash val="solid"/>
          </a:ln>
        </p:spPr>
      </p:sp>
      <p:sp>
        <p:nvSpPr>
          <p:cNvPr id="36" name="Text 34"/>
          <p:cNvSpPr/>
          <p:nvPr/>
        </p:nvSpPr>
        <p:spPr>
          <a:xfrm>
            <a:off x="8065008" y="1856232"/>
            <a:ext cx="3401568" cy="182880"/>
          </a:xfrm>
          <a:prstGeom prst="rect">
            <a:avLst/>
          </a:prstGeom>
          <a:noFill/>
          <a:ln/>
        </p:spPr>
        <p:txBody>
          <a:bodyPr wrap="square" lIns="0" tIns="0" rIns="0" bIns="0" rtlCol="0" anchor="ctr"/>
          <a:lstStyle/>
          <a:p>
            <a:pPr indent="0" marL="0">
              <a:buNone/>
            </a:pPr>
            <a:r>
              <a:rPr lang="en-US" sz="950" b="1" spc="115" kern="0" dirty="0">
                <a:solidFill>
                  <a:srgbClr val="4C7DFF"/>
                </a:solidFill>
                <a:latin typeface="Aptos" pitchFamily="34" charset="0"/>
                <a:ea typeface="Aptos" pitchFamily="34" charset="-122"/>
                <a:cs typeface="Aptos" pitchFamily="34" charset="-120"/>
              </a:rPr>
              <a:t>PERCHÉ CONTA</a:t>
            </a:r>
            <a:endParaRPr lang="en-US" sz="950" dirty="0"/>
          </a:p>
        </p:txBody>
      </p:sp>
      <p:sp>
        <p:nvSpPr>
          <p:cNvPr id="37" name="Shape 35"/>
          <p:cNvSpPr/>
          <p:nvPr/>
        </p:nvSpPr>
        <p:spPr>
          <a:xfrm>
            <a:off x="8065008" y="2322576"/>
            <a:ext cx="91440" cy="91440"/>
          </a:xfrm>
          <a:prstGeom prst="ellipse">
            <a:avLst/>
          </a:prstGeom>
          <a:solidFill>
            <a:srgbClr val="7CD4FF"/>
          </a:solidFill>
          <a:ln w="12700">
            <a:solidFill>
              <a:srgbClr val="7CD4FF"/>
            </a:solidFill>
            <a:prstDash val="solid"/>
          </a:ln>
        </p:spPr>
      </p:sp>
      <p:sp>
        <p:nvSpPr>
          <p:cNvPr id="38" name="Text 36"/>
          <p:cNvSpPr/>
          <p:nvPr/>
        </p:nvSpPr>
        <p:spPr>
          <a:xfrm>
            <a:off x="8257032" y="2267712"/>
            <a:ext cx="3209544"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Dipendenze = valori reattivi letti.</a:t>
            </a:r>
            <a:endParaRPr lang="en-US" sz="1420" dirty="0"/>
          </a:p>
        </p:txBody>
      </p:sp>
      <p:sp>
        <p:nvSpPr>
          <p:cNvPr id="39" name="Shape 37"/>
          <p:cNvSpPr/>
          <p:nvPr/>
        </p:nvSpPr>
        <p:spPr>
          <a:xfrm>
            <a:off x="8065008" y="3035808"/>
            <a:ext cx="91440" cy="91440"/>
          </a:xfrm>
          <a:prstGeom prst="ellipse">
            <a:avLst/>
          </a:prstGeom>
          <a:solidFill>
            <a:srgbClr val="7CD4FF"/>
          </a:solidFill>
          <a:ln w="12700">
            <a:solidFill>
              <a:srgbClr val="7CD4FF"/>
            </a:solidFill>
            <a:prstDash val="solid"/>
          </a:ln>
        </p:spPr>
      </p:sp>
      <p:sp>
        <p:nvSpPr>
          <p:cNvPr id="40" name="Text 38"/>
          <p:cNvSpPr/>
          <p:nvPr/>
        </p:nvSpPr>
        <p:spPr>
          <a:xfrm>
            <a:off x="8257032" y="2980944"/>
            <a:ext cx="3209544"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Cleanup prima del nuovo setup.</a:t>
            </a:r>
            <a:endParaRPr lang="en-US" sz="1420" dirty="0"/>
          </a:p>
        </p:txBody>
      </p:sp>
      <p:sp>
        <p:nvSpPr>
          <p:cNvPr id="41" name="Shape 39"/>
          <p:cNvSpPr/>
          <p:nvPr/>
        </p:nvSpPr>
        <p:spPr>
          <a:xfrm>
            <a:off x="8065008" y="3749040"/>
            <a:ext cx="91440" cy="91440"/>
          </a:xfrm>
          <a:prstGeom prst="ellipse">
            <a:avLst/>
          </a:prstGeom>
          <a:solidFill>
            <a:srgbClr val="7CD4FF"/>
          </a:solidFill>
          <a:ln w="12700">
            <a:solidFill>
              <a:srgbClr val="7CD4FF"/>
            </a:solidFill>
            <a:prstDash val="solid"/>
          </a:ln>
        </p:spPr>
      </p:sp>
      <p:sp>
        <p:nvSpPr>
          <p:cNvPr id="42" name="Text 40"/>
          <p:cNvSpPr/>
          <p:nvPr/>
        </p:nvSpPr>
        <p:spPr>
          <a:xfrm>
            <a:off x="8257032" y="3694176"/>
            <a:ext cx="3209544"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Cleanup anche allo smontaggio.</a:t>
            </a:r>
            <a:endParaRPr lang="en-US" sz="142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58</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DOM EVENT</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Un listener viene registrato e rimosso con la stessa funzione</a:t>
            </a:r>
            <a:endParaRPr lang="en-US" sz="2700" dirty="0"/>
          </a:p>
        </p:txBody>
      </p:sp>
      <p:sp>
        <p:nvSpPr>
          <p:cNvPr id="29" name="Shape 27"/>
          <p:cNvSpPr/>
          <p:nvPr/>
        </p:nvSpPr>
        <p:spPr>
          <a:xfrm>
            <a:off x="530352" y="1591056"/>
            <a:ext cx="7589520" cy="4553712"/>
          </a:xfrm>
          <a:prstGeom prst="roundRect">
            <a:avLst>
              <a:gd name="adj" fmla="val 1004"/>
            </a:avLst>
          </a:prstGeom>
          <a:solidFill>
            <a:srgbClr val="0D1A2B"/>
          </a:solidFill>
          <a:ln w="13970">
            <a:solidFill>
              <a:srgbClr val="263A55"/>
            </a:solidFill>
            <a:prstDash val="solid"/>
          </a:ln>
        </p:spPr>
      </p:sp>
      <p:sp>
        <p:nvSpPr>
          <p:cNvPr id="30" name="Shape 28"/>
          <p:cNvSpPr/>
          <p:nvPr/>
        </p:nvSpPr>
        <p:spPr>
          <a:xfrm>
            <a:off x="530352" y="1591056"/>
            <a:ext cx="7589520" cy="347472"/>
          </a:xfrm>
          <a:prstGeom prst="rect">
            <a:avLst/>
          </a:prstGeom>
          <a:solidFill>
            <a:srgbClr val="122238"/>
          </a:solidFill>
          <a:ln w="12700">
            <a:solidFill>
              <a:srgbClr val="122238"/>
            </a:solidFill>
            <a:prstDash val="solid"/>
          </a:ln>
        </p:spPr>
      </p:sp>
      <p:sp>
        <p:nvSpPr>
          <p:cNvPr id="31" name="Shape 29"/>
          <p:cNvSpPr/>
          <p:nvPr/>
        </p:nvSpPr>
        <p:spPr>
          <a:xfrm>
            <a:off x="694944" y="1632204"/>
            <a:ext cx="658368" cy="274320"/>
          </a:xfrm>
          <a:prstGeom prst="roundRect">
            <a:avLst>
              <a:gd name="adj" fmla="val 20000"/>
            </a:avLst>
          </a:prstGeom>
          <a:solidFill>
            <a:srgbClr val="7CD4FF">
              <a:alpha val="20000"/>
            </a:srgbClr>
          </a:solidFill>
          <a:ln w="10160">
            <a:solidFill>
              <a:srgbClr val="7CD4FF">
                <a:alpha val="55000"/>
              </a:srgbClr>
            </a:solidFill>
            <a:prstDash val="solid"/>
          </a:ln>
        </p:spPr>
      </p:sp>
      <p:sp>
        <p:nvSpPr>
          <p:cNvPr id="32" name="Text 30"/>
          <p:cNvSpPr/>
          <p:nvPr/>
        </p:nvSpPr>
        <p:spPr>
          <a:xfrm>
            <a:off x="786384" y="1691640"/>
            <a:ext cx="475488" cy="128016"/>
          </a:xfrm>
          <a:prstGeom prst="rect">
            <a:avLst/>
          </a:prstGeom>
          <a:noFill/>
          <a:ln/>
        </p:spPr>
        <p:txBody>
          <a:bodyPr wrap="square" lIns="0" tIns="0" rIns="0" bIns="0" rtlCol="0" anchor="ctr"/>
          <a:lstStyle/>
          <a:p>
            <a:pPr algn="ctr" indent="0" marL="0">
              <a:buNone/>
            </a:pPr>
            <a:r>
              <a:rPr lang="en-US" sz="820" b="1" dirty="0">
                <a:solidFill>
                  <a:srgbClr val="7CD4FF"/>
                </a:solidFill>
                <a:latin typeface="Aptos Mono" pitchFamily="34" charset="0"/>
                <a:ea typeface="Aptos Mono" pitchFamily="34" charset="-122"/>
                <a:cs typeface="Aptos Mono" pitchFamily="34" charset="-120"/>
              </a:rPr>
              <a:t>TSX</a:t>
            </a:r>
            <a:endParaRPr lang="en-US" sz="820" dirty="0"/>
          </a:p>
        </p:txBody>
      </p:sp>
      <p:sp>
        <p:nvSpPr>
          <p:cNvPr id="33" name="Text 31"/>
          <p:cNvSpPr/>
          <p:nvPr/>
        </p:nvSpPr>
        <p:spPr>
          <a:xfrm>
            <a:off x="1490472" y="1687068"/>
            <a:ext cx="635508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useEscapeKey.ts</a:t>
            </a:r>
            <a:endParaRPr lang="en-US" sz="880" dirty="0"/>
          </a:p>
        </p:txBody>
      </p:sp>
      <p:sp>
        <p:nvSpPr>
          <p:cNvPr id="34" name="Text 32"/>
          <p:cNvSpPr/>
          <p:nvPr/>
        </p:nvSpPr>
        <p:spPr>
          <a:xfrm>
            <a:off x="640080" y="205282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01</a:t>
            </a:r>
            <a:endParaRPr lang="en-US" sz="1200" dirty="0"/>
          </a:p>
        </p:txBody>
      </p:sp>
      <p:sp>
        <p:nvSpPr>
          <p:cNvPr id="35" name="Text 33"/>
          <p:cNvSpPr/>
          <p:nvPr/>
        </p:nvSpPr>
        <p:spPr>
          <a:xfrm>
            <a:off x="1033272" y="203911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export function useEscapeKey(onEscape: () =&gt; void) {</a:t>
            </a:r>
            <a:endParaRPr lang="en-US" sz="1420" dirty="0"/>
          </a:p>
        </p:txBody>
      </p:sp>
      <p:sp>
        <p:nvSpPr>
          <p:cNvPr id="36" name="Text 34"/>
          <p:cNvSpPr/>
          <p:nvPr/>
        </p:nvSpPr>
        <p:spPr>
          <a:xfrm>
            <a:off x="640080" y="229514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02</a:t>
            </a:r>
            <a:endParaRPr lang="en-US" sz="1200" dirty="0"/>
          </a:p>
        </p:txBody>
      </p:sp>
      <p:sp>
        <p:nvSpPr>
          <p:cNvPr id="37" name="Text 35"/>
          <p:cNvSpPr/>
          <p:nvPr/>
        </p:nvSpPr>
        <p:spPr>
          <a:xfrm>
            <a:off x="1033272" y="228142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useEffect(() =&gt; {</a:t>
            </a:r>
            <a:endParaRPr lang="en-US" sz="1420" dirty="0"/>
          </a:p>
        </p:txBody>
      </p:sp>
      <p:sp>
        <p:nvSpPr>
          <p:cNvPr id="38" name="Text 36"/>
          <p:cNvSpPr/>
          <p:nvPr/>
        </p:nvSpPr>
        <p:spPr>
          <a:xfrm>
            <a:off x="640080" y="253746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03</a:t>
            </a:r>
            <a:endParaRPr lang="en-US" sz="1200" dirty="0"/>
          </a:p>
        </p:txBody>
      </p:sp>
      <p:sp>
        <p:nvSpPr>
          <p:cNvPr id="39" name="Text 37"/>
          <p:cNvSpPr/>
          <p:nvPr/>
        </p:nvSpPr>
        <p:spPr>
          <a:xfrm>
            <a:off x="1033272" y="2523744"/>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function handleKeyDown(event: KeyboardEvent) {</a:t>
            </a:r>
            <a:endParaRPr lang="en-US" sz="1420" dirty="0"/>
          </a:p>
        </p:txBody>
      </p:sp>
      <p:sp>
        <p:nvSpPr>
          <p:cNvPr id="40" name="Text 38"/>
          <p:cNvSpPr/>
          <p:nvPr/>
        </p:nvSpPr>
        <p:spPr>
          <a:xfrm>
            <a:off x="640080" y="277977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04</a:t>
            </a:r>
            <a:endParaRPr lang="en-US" sz="1200" dirty="0"/>
          </a:p>
        </p:txBody>
      </p:sp>
      <p:sp>
        <p:nvSpPr>
          <p:cNvPr id="41" name="Text 39"/>
          <p:cNvSpPr/>
          <p:nvPr/>
        </p:nvSpPr>
        <p:spPr>
          <a:xfrm>
            <a:off x="1033272" y="2766060"/>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if (event.key === 'Escape') onEscape();</a:t>
            </a:r>
            <a:endParaRPr lang="en-US" sz="1420" dirty="0"/>
          </a:p>
        </p:txBody>
      </p:sp>
      <p:sp>
        <p:nvSpPr>
          <p:cNvPr id="42" name="Text 40"/>
          <p:cNvSpPr/>
          <p:nvPr/>
        </p:nvSpPr>
        <p:spPr>
          <a:xfrm>
            <a:off x="640080" y="3022092"/>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05</a:t>
            </a:r>
            <a:endParaRPr lang="en-US" sz="1200" dirty="0"/>
          </a:p>
        </p:txBody>
      </p:sp>
      <p:sp>
        <p:nvSpPr>
          <p:cNvPr id="43" name="Text 41"/>
          <p:cNvSpPr/>
          <p:nvPr/>
        </p:nvSpPr>
        <p:spPr>
          <a:xfrm>
            <a:off x="1033272" y="3008376"/>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44" name="Text 42"/>
          <p:cNvSpPr/>
          <p:nvPr/>
        </p:nvSpPr>
        <p:spPr>
          <a:xfrm>
            <a:off x="640080" y="326440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06</a:t>
            </a:r>
            <a:endParaRPr lang="en-US" sz="1200" dirty="0"/>
          </a:p>
        </p:txBody>
      </p:sp>
      <p:sp>
        <p:nvSpPr>
          <p:cNvPr id="45" name="Text 43"/>
          <p:cNvSpPr/>
          <p:nvPr/>
        </p:nvSpPr>
        <p:spPr>
          <a:xfrm>
            <a:off x="1033272" y="325069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46" name="Text 44"/>
          <p:cNvSpPr/>
          <p:nvPr/>
        </p:nvSpPr>
        <p:spPr>
          <a:xfrm>
            <a:off x="640080" y="350672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07</a:t>
            </a:r>
            <a:endParaRPr lang="en-US" sz="1200" dirty="0"/>
          </a:p>
        </p:txBody>
      </p:sp>
      <p:sp>
        <p:nvSpPr>
          <p:cNvPr id="47" name="Text 45"/>
          <p:cNvSpPr/>
          <p:nvPr/>
        </p:nvSpPr>
        <p:spPr>
          <a:xfrm>
            <a:off x="1033272" y="349300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window.addEventListener('keydown', handleKeyDown);</a:t>
            </a:r>
            <a:endParaRPr lang="en-US" sz="1420" dirty="0"/>
          </a:p>
        </p:txBody>
      </p:sp>
      <p:sp>
        <p:nvSpPr>
          <p:cNvPr id="48" name="Text 46"/>
          <p:cNvSpPr/>
          <p:nvPr/>
        </p:nvSpPr>
        <p:spPr>
          <a:xfrm>
            <a:off x="640080" y="374904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08</a:t>
            </a:r>
            <a:endParaRPr lang="en-US" sz="1200" dirty="0"/>
          </a:p>
        </p:txBody>
      </p:sp>
      <p:sp>
        <p:nvSpPr>
          <p:cNvPr id="49" name="Text 47"/>
          <p:cNvSpPr/>
          <p:nvPr/>
        </p:nvSpPr>
        <p:spPr>
          <a:xfrm>
            <a:off x="1033272" y="3735324"/>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50" name="Text 48"/>
          <p:cNvSpPr/>
          <p:nvPr/>
        </p:nvSpPr>
        <p:spPr>
          <a:xfrm>
            <a:off x="640080" y="399135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09</a:t>
            </a:r>
            <a:endParaRPr lang="en-US" sz="1200" dirty="0"/>
          </a:p>
        </p:txBody>
      </p:sp>
      <p:sp>
        <p:nvSpPr>
          <p:cNvPr id="51" name="Text 49"/>
          <p:cNvSpPr/>
          <p:nvPr/>
        </p:nvSpPr>
        <p:spPr>
          <a:xfrm>
            <a:off x="1033272" y="3977640"/>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return () =&gt; {</a:t>
            </a:r>
            <a:endParaRPr lang="en-US" sz="1420" dirty="0"/>
          </a:p>
        </p:txBody>
      </p:sp>
      <p:sp>
        <p:nvSpPr>
          <p:cNvPr id="52" name="Text 50"/>
          <p:cNvSpPr/>
          <p:nvPr/>
        </p:nvSpPr>
        <p:spPr>
          <a:xfrm>
            <a:off x="640080" y="4233672"/>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10</a:t>
            </a:r>
            <a:endParaRPr lang="en-US" sz="1200" dirty="0"/>
          </a:p>
        </p:txBody>
      </p:sp>
      <p:sp>
        <p:nvSpPr>
          <p:cNvPr id="53" name="Text 51"/>
          <p:cNvSpPr/>
          <p:nvPr/>
        </p:nvSpPr>
        <p:spPr>
          <a:xfrm>
            <a:off x="1033272" y="4219956"/>
            <a:ext cx="6931152" cy="242316"/>
          </a:xfrm>
          <a:prstGeom prst="rect">
            <a:avLst/>
          </a:prstGeom>
          <a:noFill/>
          <a:ln/>
        </p:spPr>
        <p:txBody>
          <a:bodyPr wrap="square" lIns="0" tIns="0" rIns="0" bIns="0" rtlCol="0" anchor="ctr">
            <a:normAutofit/>
          </a:bodyPr>
          <a:lstStyle/>
          <a:p>
            <a:pPr indent="0" marL="0">
              <a:buNone/>
            </a:pPr>
            <a:r>
              <a:rPr lang="en-US" sz="1420" dirty="0">
                <a:solidFill>
                  <a:srgbClr val="78C9A6"/>
                </a:solidFill>
                <a:latin typeface="Aptos Mono" pitchFamily="34" charset="0"/>
                <a:ea typeface="Aptos Mono" pitchFamily="34" charset="-122"/>
                <a:cs typeface="Aptos Mono" pitchFamily="34" charset="-120"/>
              </a:rPr>
              <a:t>      // Stessa reference usata nel setup.</a:t>
            </a:r>
            <a:endParaRPr lang="en-US" sz="1420" dirty="0"/>
          </a:p>
        </p:txBody>
      </p:sp>
      <p:sp>
        <p:nvSpPr>
          <p:cNvPr id="54" name="Text 52"/>
          <p:cNvSpPr/>
          <p:nvPr/>
        </p:nvSpPr>
        <p:spPr>
          <a:xfrm>
            <a:off x="640080" y="447598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11</a:t>
            </a:r>
            <a:endParaRPr lang="en-US" sz="1200" dirty="0"/>
          </a:p>
        </p:txBody>
      </p:sp>
      <p:sp>
        <p:nvSpPr>
          <p:cNvPr id="55" name="Text 53"/>
          <p:cNvSpPr/>
          <p:nvPr/>
        </p:nvSpPr>
        <p:spPr>
          <a:xfrm>
            <a:off x="1033272" y="446227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window.removeEventListener('keydown', handleKeyDown);</a:t>
            </a:r>
            <a:endParaRPr lang="en-US" sz="1420" dirty="0"/>
          </a:p>
        </p:txBody>
      </p:sp>
      <p:sp>
        <p:nvSpPr>
          <p:cNvPr id="56" name="Text 54"/>
          <p:cNvSpPr/>
          <p:nvPr/>
        </p:nvSpPr>
        <p:spPr>
          <a:xfrm>
            <a:off x="640080" y="471830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12</a:t>
            </a:r>
            <a:endParaRPr lang="en-US" sz="1200" dirty="0"/>
          </a:p>
        </p:txBody>
      </p:sp>
      <p:sp>
        <p:nvSpPr>
          <p:cNvPr id="57" name="Text 55"/>
          <p:cNvSpPr/>
          <p:nvPr/>
        </p:nvSpPr>
        <p:spPr>
          <a:xfrm>
            <a:off x="1033272" y="470458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58" name="Text 56"/>
          <p:cNvSpPr/>
          <p:nvPr/>
        </p:nvSpPr>
        <p:spPr>
          <a:xfrm>
            <a:off x="640080" y="496062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13</a:t>
            </a:r>
            <a:endParaRPr lang="en-US" sz="1200" dirty="0"/>
          </a:p>
        </p:txBody>
      </p:sp>
      <p:sp>
        <p:nvSpPr>
          <p:cNvPr id="59" name="Text 57"/>
          <p:cNvSpPr/>
          <p:nvPr/>
        </p:nvSpPr>
        <p:spPr>
          <a:xfrm>
            <a:off x="1033272" y="4946904"/>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 [onEscape]);</a:t>
            </a:r>
            <a:endParaRPr lang="en-US" sz="1420" dirty="0"/>
          </a:p>
        </p:txBody>
      </p:sp>
      <p:sp>
        <p:nvSpPr>
          <p:cNvPr id="60" name="Text 58"/>
          <p:cNvSpPr/>
          <p:nvPr/>
        </p:nvSpPr>
        <p:spPr>
          <a:xfrm>
            <a:off x="640080" y="520293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14</a:t>
            </a:r>
            <a:endParaRPr lang="en-US" sz="1200" dirty="0"/>
          </a:p>
        </p:txBody>
      </p:sp>
      <p:sp>
        <p:nvSpPr>
          <p:cNvPr id="61" name="Text 59"/>
          <p:cNvSpPr/>
          <p:nvPr/>
        </p:nvSpPr>
        <p:spPr>
          <a:xfrm>
            <a:off x="1033272" y="5189220"/>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a:t>
            </a:r>
            <a:endParaRPr lang="en-US" sz="1420" dirty="0"/>
          </a:p>
        </p:txBody>
      </p:sp>
      <p:sp>
        <p:nvSpPr>
          <p:cNvPr id="62" name="Shape 60"/>
          <p:cNvSpPr/>
          <p:nvPr/>
        </p:nvSpPr>
        <p:spPr>
          <a:xfrm>
            <a:off x="8366760" y="1591056"/>
            <a:ext cx="3310128" cy="4553712"/>
          </a:xfrm>
          <a:prstGeom prst="roundRect">
            <a:avLst>
              <a:gd name="adj" fmla="val 1381"/>
            </a:avLst>
          </a:prstGeom>
          <a:solidFill>
            <a:srgbClr val="122238"/>
          </a:solidFill>
          <a:ln w="12700">
            <a:solidFill>
              <a:srgbClr val="263A55"/>
            </a:solidFill>
            <a:prstDash val="solid"/>
          </a:ln>
        </p:spPr>
      </p:sp>
      <p:sp>
        <p:nvSpPr>
          <p:cNvPr id="63" name="Text 61"/>
          <p:cNvSpPr/>
          <p:nvPr/>
        </p:nvSpPr>
        <p:spPr>
          <a:xfrm>
            <a:off x="8586216" y="1801368"/>
            <a:ext cx="2871216" cy="182880"/>
          </a:xfrm>
          <a:prstGeom prst="rect">
            <a:avLst/>
          </a:prstGeom>
          <a:noFill/>
          <a:ln/>
        </p:spPr>
        <p:txBody>
          <a:bodyPr wrap="square" lIns="0" tIns="0" rIns="0" bIns="0" rtlCol="0" anchor="ctr"/>
          <a:lstStyle/>
          <a:p>
            <a:pPr indent="0" marL="0">
              <a:buNone/>
            </a:pPr>
            <a:r>
              <a:rPr lang="en-US" sz="950" b="1" spc="115" kern="0" dirty="0">
                <a:solidFill>
                  <a:srgbClr val="F5C96A"/>
                </a:solidFill>
                <a:latin typeface="Aptos" pitchFamily="34" charset="0"/>
                <a:ea typeface="Aptos" pitchFamily="34" charset="-122"/>
                <a:cs typeface="Aptos" pitchFamily="34" charset="-120"/>
              </a:rPr>
              <a:t>DA OSSERVARE</a:t>
            </a:r>
            <a:endParaRPr lang="en-US" sz="950" dirty="0"/>
          </a:p>
        </p:txBody>
      </p:sp>
      <p:sp>
        <p:nvSpPr>
          <p:cNvPr id="64" name="Shape 62"/>
          <p:cNvSpPr/>
          <p:nvPr/>
        </p:nvSpPr>
        <p:spPr>
          <a:xfrm>
            <a:off x="8586216" y="2267712"/>
            <a:ext cx="91440" cy="91440"/>
          </a:xfrm>
          <a:prstGeom prst="ellipse">
            <a:avLst/>
          </a:prstGeom>
          <a:solidFill>
            <a:srgbClr val="7CD4FF"/>
          </a:solidFill>
          <a:ln w="12700">
            <a:solidFill>
              <a:srgbClr val="7CD4FF"/>
            </a:solidFill>
            <a:prstDash val="solid"/>
          </a:ln>
        </p:spPr>
      </p:sp>
      <p:sp>
        <p:nvSpPr>
          <p:cNvPr id="65" name="Text 63"/>
          <p:cNvSpPr/>
          <p:nvPr/>
        </p:nvSpPr>
        <p:spPr>
          <a:xfrm>
            <a:off x="8778240" y="2212848"/>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La funzione vive dentro l’Effect.</a:t>
            </a:r>
            <a:endParaRPr lang="en-US" sz="1420" dirty="0"/>
          </a:p>
        </p:txBody>
      </p:sp>
      <p:sp>
        <p:nvSpPr>
          <p:cNvPr id="66" name="Shape 64"/>
          <p:cNvSpPr/>
          <p:nvPr/>
        </p:nvSpPr>
        <p:spPr>
          <a:xfrm>
            <a:off x="8586216" y="2980944"/>
            <a:ext cx="91440" cy="91440"/>
          </a:xfrm>
          <a:prstGeom prst="ellipse">
            <a:avLst/>
          </a:prstGeom>
          <a:solidFill>
            <a:srgbClr val="7CD4FF"/>
          </a:solidFill>
          <a:ln w="12700">
            <a:solidFill>
              <a:srgbClr val="7CD4FF"/>
            </a:solidFill>
            <a:prstDash val="solid"/>
          </a:ln>
        </p:spPr>
      </p:sp>
      <p:sp>
        <p:nvSpPr>
          <p:cNvPr id="67" name="Text 65"/>
          <p:cNvSpPr/>
          <p:nvPr/>
        </p:nvSpPr>
        <p:spPr>
          <a:xfrm>
            <a:off x="8778240" y="2926080"/>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Setup e cleanup condividono la reference.</a:t>
            </a:r>
            <a:endParaRPr lang="en-US" sz="1420" dirty="0"/>
          </a:p>
        </p:txBody>
      </p:sp>
      <p:sp>
        <p:nvSpPr>
          <p:cNvPr id="68" name="Shape 66"/>
          <p:cNvSpPr/>
          <p:nvPr/>
        </p:nvSpPr>
        <p:spPr>
          <a:xfrm>
            <a:off x="8586216" y="3694176"/>
            <a:ext cx="91440" cy="91440"/>
          </a:xfrm>
          <a:prstGeom prst="ellipse">
            <a:avLst/>
          </a:prstGeom>
          <a:solidFill>
            <a:srgbClr val="7CD4FF"/>
          </a:solidFill>
          <a:ln w="12700">
            <a:solidFill>
              <a:srgbClr val="7CD4FF"/>
            </a:solidFill>
            <a:prstDash val="solid"/>
          </a:ln>
        </p:spPr>
      </p:sp>
      <p:sp>
        <p:nvSpPr>
          <p:cNvPr id="69" name="Text 67"/>
          <p:cNvSpPr/>
          <p:nvPr/>
        </p:nvSpPr>
        <p:spPr>
          <a:xfrm>
            <a:off x="8778240" y="3639312"/>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onEscape è una dipendenza reale.</a:t>
            </a:r>
            <a:endParaRPr lang="en-US" sz="142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59</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TIMER LIFECYCLE</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Un timer deve essere cancellato quando cambia la dipendenza</a:t>
            </a:r>
            <a:endParaRPr lang="en-US" sz="2700" dirty="0"/>
          </a:p>
        </p:txBody>
      </p:sp>
      <p:sp>
        <p:nvSpPr>
          <p:cNvPr id="29" name="Shape 27"/>
          <p:cNvSpPr/>
          <p:nvPr/>
        </p:nvSpPr>
        <p:spPr>
          <a:xfrm>
            <a:off x="530352" y="1591056"/>
            <a:ext cx="7589520" cy="4553712"/>
          </a:xfrm>
          <a:prstGeom prst="roundRect">
            <a:avLst>
              <a:gd name="adj" fmla="val 1004"/>
            </a:avLst>
          </a:prstGeom>
          <a:solidFill>
            <a:srgbClr val="0D1A2B"/>
          </a:solidFill>
          <a:ln w="13970">
            <a:solidFill>
              <a:srgbClr val="263A55"/>
            </a:solidFill>
            <a:prstDash val="solid"/>
          </a:ln>
        </p:spPr>
      </p:sp>
      <p:sp>
        <p:nvSpPr>
          <p:cNvPr id="30" name="Shape 28"/>
          <p:cNvSpPr/>
          <p:nvPr/>
        </p:nvSpPr>
        <p:spPr>
          <a:xfrm>
            <a:off x="530352" y="1591056"/>
            <a:ext cx="7589520" cy="347472"/>
          </a:xfrm>
          <a:prstGeom prst="rect">
            <a:avLst/>
          </a:prstGeom>
          <a:solidFill>
            <a:srgbClr val="122238"/>
          </a:solidFill>
          <a:ln w="12700">
            <a:solidFill>
              <a:srgbClr val="122238"/>
            </a:solidFill>
            <a:prstDash val="solid"/>
          </a:ln>
        </p:spPr>
      </p:sp>
      <p:sp>
        <p:nvSpPr>
          <p:cNvPr id="31" name="Shape 29"/>
          <p:cNvSpPr/>
          <p:nvPr/>
        </p:nvSpPr>
        <p:spPr>
          <a:xfrm>
            <a:off x="694944" y="1632204"/>
            <a:ext cx="658368" cy="274320"/>
          </a:xfrm>
          <a:prstGeom prst="roundRect">
            <a:avLst>
              <a:gd name="adj" fmla="val 20000"/>
            </a:avLst>
          </a:prstGeom>
          <a:solidFill>
            <a:srgbClr val="7CD4FF">
              <a:alpha val="20000"/>
            </a:srgbClr>
          </a:solidFill>
          <a:ln w="10160">
            <a:solidFill>
              <a:srgbClr val="7CD4FF">
                <a:alpha val="55000"/>
              </a:srgbClr>
            </a:solidFill>
            <a:prstDash val="solid"/>
          </a:ln>
        </p:spPr>
      </p:sp>
      <p:sp>
        <p:nvSpPr>
          <p:cNvPr id="32" name="Text 30"/>
          <p:cNvSpPr/>
          <p:nvPr/>
        </p:nvSpPr>
        <p:spPr>
          <a:xfrm>
            <a:off x="786384" y="1691640"/>
            <a:ext cx="475488" cy="128016"/>
          </a:xfrm>
          <a:prstGeom prst="rect">
            <a:avLst/>
          </a:prstGeom>
          <a:noFill/>
          <a:ln/>
        </p:spPr>
        <p:txBody>
          <a:bodyPr wrap="square" lIns="0" tIns="0" rIns="0" bIns="0" rtlCol="0" anchor="ctr"/>
          <a:lstStyle/>
          <a:p>
            <a:pPr algn="ctr" indent="0" marL="0">
              <a:buNone/>
            </a:pPr>
            <a:r>
              <a:rPr lang="en-US" sz="820" b="1" dirty="0">
                <a:solidFill>
                  <a:srgbClr val="7CD4FF"/>
                </a:solidFill>
                <a:latin typeface="Aptos Mono" pitchFamily="34" charset="0"/>
                <a:ea typeface="Aptos Mono" pitchFamily="34" charset="-122"/>
                <a:cs typeface="Aptos Mono" pitchFamily="34" charset="-120"/>
              </a:rPr>
              <a:t>TSX</a:t>
            </a:r>
            <a:endParaRPr lang="en-US" sz="820" dirty="0"/>
          </a:p>
        </p:txBody>
      </p:sp>
      <p:sp>
        <p:nvSpPr>
          <p:cNvPr id="33" name="Text 31"/>
          <p:cNvSpPr/>
          <p:nvPr/>
        </p:nvSpPr>
        <p:spPr>
          <a:xfrm>
            <a:off x="1490472" y="1687068"/>
            <a:ext cx="635508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AutoSave.tsx</a:t>
            </a:r>
            <a:endParaRPr lang="en-US" sz="880" dirty="0"/>
          </a:p>
        </p:txBody>
      </p:sp>
      <p:sp>
        <p:nvSpPr>
          <p:cNvPr id="34" name="Text 32"/>
          <p:cNvSpPr/>
          <p:nvPr/>
        </p:nvSpPr>
        <p:spPr>
          <a:xfrm>
            <a:off x="640080" y="205282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01</a:t>
            </a:r>
            <a:endParaRPr lang="en-US" sz="1200" dirty="0"/>
          </a:p>
        </p:txBody>
      </p:sp>
      <p:sp>
        <p:nvSpPr>
          <p:cNvPr id="35" name="Text 33"/>
          <p:cNvSpPr/>
          <p:nvPr/>
        </p:nvSpPr>
        <p:spPr>
          <a:xfrm>
            <a:off x="1033272" y="203911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useEffect(() =&gt; {</a:t>
            </a:r>
            <a:endParaRPr lang="en-US" sz="1420" dirty="0"/>
          </a:p>
        </p:txBody>
      </p:sp>
      <p:sp>
        <p:nvSpPr>
          <p:cNvPr id="36" name="Text 34"/>
          <p:cNvSpPr/>
          <p:nvPr/>
        </p:nvSpPr>
        <p:spPr>
          <a:xfrm>
            <a:off x="640080" y="229514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02</a:t>
            </a:r>
            <a:endParaRPr lang="en-US" sz="1200" dirty="0"/>
          </a:p>
        </p:txBody>
      </p:sp>
      <p:sp>
        <p:nvSpPr>
          <p:cNvPr id="37" name="Text 35"/>
          <p:cNvSpPr/>
          <p:nvPr/>
        </p:nvSpPr>
        <p:spPr>
          <a:xfrm>
            <a:off x="1033272" y="228142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if (!draft.isDirty) return;</a:t>
            </a:r>
            <a:endParaRPr lang="en-US" sz="1420" dirty="0"/>
          </a:p>
        </p:txBody>
      </p:sp>
      <p:sp>
        <p:nvSpPr>
          <p:cNvPr id="38" name="Text 36"/>
          <p:cNvSpPr/>
          <p:nvPr/>
        </p:nvSpPr>
        <p:spPr>
          <a:xfrm>
            <a:off x="640080" y="253746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03</a:t>
            </a:r>
            <a:endParaRPr lang="en-US" sz="1200" dirty="0"/>
          </a:p>
        </p:txBody>
      </p:sp>
      <p:sp>
        <p:nvSpPr>
          <p:cNvPr id="39" name="Text 37"/>
          <p:cNvSpPr/>
          <p:nvPr/>
        </p:nvSpPr>
        <p:spPr>
          <a:xfrm>
            <a:off x="1033272" y="2523744"/>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40" name="Text 38"/>
          <p:cNvSpPr/>
          <p:nvPr/>
        </p:nvSpPr>
        <p:spPr>
          <a:xfrm>
            <a:off x="640080" y="277977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04</a:t>
            </a:r>
            <a:endParaRPr lang="en-US" sz="1200" dirty="0"/>
          </a:p>
        </p:txBody>
      </p:sp>
      <p:sp>
        <p:nvSpPr>
          <p:cNvPr id="41" name="Text 39"/>
          <p:cNvSpPr/>
          <p:nvPr/>
        </p:nvSpPr>
        <p:spPr>
          <a:xfrm>
            <a:off x="1033272" y="2766060"/>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const timerId = window.setTimeout(() =&gt; {</a:t>
            </a:r>
            <a:endParaRPr lang="en-US" sz="1420" dirty="0"/>
          </a:p>
        </p:txBody>
      </p:sp>
      <p:sp>
        <p:nvSpPr>
          <p:cNvPr id="42" name="Text 40"/>
          <p:cNvSpPr/>
          <p:nvPr/>
        </p:nvSpPr>
        <p:spPr>
          <a:xfrm>
            <a:off x="640080" y="3022092"/>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05</a:t>
            </a:r>
            <a:endParaRPr lang="en-US" sz="1200" dirty="0"/>
          </a:p>
        </p:txBody>
      </p:sp>
      <p:sp>
        <p:nvSpPr>
          <p:cNvPr id="43" name="Text 41"/>
          <p:cNvSpPr/>
          <p:nvPr/>
        </p:nvSpPr>
        <p:spPr>
          <a:xfrm>
            <a:off x="1033272" y="3008376"/>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saveDraft(draft);</a:t>
            </a:r>
            <a:endParaRPr lang="en-US" sz="1420" dirty="0"/>
          </a:p>
        </p:txBody>
      </p:sp>
      <p:sp>
        <p:nvSpPr>
          <p:cNvPr id="44" name="Text 42"/>
          <p:cNvSpPr/>
          <p:nvPr/>
        </p:nvSpPr>
        <p:spPr>
          <a:xfrm>
            <a:off x="640080" y="326440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06</a:t>
            </a:r>
            <a:endParaRPr lang="en-US" sz="1200" dirty="0"/>
          </a:p>
        </p:txBody>
      </p:sp>
      <p:sp>
        <p:nvSpPr>
          <p:cNvPr id="45" name="Text 43"/>
          <p:cNvSpPr/>
          <p:nvPr/>
        </p:nvSpPr>
        <p:spPr>
          <a:xfrm>
            <a:off x="1033272" y="325069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 1000);</a:t>
            </a:r>
            <a:endParaRPr lang="en-US" sz="1420" dirty="0"/>
          </a:p>
        </p:txBody>
      </p:sp>
      <p:sp>
        <p:nvSpPr>
          <p:cNvPr id="46" name="Text 44"/>
          <p:cNvSpPr/>
          <p:nvPr/>
        </p:nvSpPr>
        <p:spPr>
          <a:xfrm>
            <a:off x="640080" y="350672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07</a:t>
            </a:r>
            <a:endParaRPr lang="en-US" sz="1200" dirty="0"/>
          </a:p>
        </p:txBody>
      </p:sp>
      <p:sp>
        <p:nvSpPr>
          <p:cNvPr id="47" name="Text 45"/>
          <p:cNvSpPr/>
          <p:nvPr/>
        </p:nvSpPr>
        <p:spPr>
          <a:xfrm>
            <a:off x="1033272" y="349300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48" name="Text 46"/>
          <p:cNvSpPr/>
          <p:nvPr/>
        </p:nvSpPr>
        <p:spPr>
          <a:xfrm>
            <a:off x="640080" y="374904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08</a:t>
            </a:r>
            <a:endParaRPr lang="en-US" sz="1200" dirty="0"/>
          </a:p>
        </p:txBody>
      </p:sp>
      <p:sp>
        <p:nvSpPr>
          <p:cNvPr id="49" name="Text 47"/>
          <p:cNvSpPr/>
          <p:nvPr/>
        </p:nvSpPr>
        <p:spPr>
          <a:xfrm>
            <a:off x="1033272" y="3735324"/>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return () =&gt; {</a:t>
            </a:r>
            <a:endParaRPr lang="en-US" sz="1420" dirty="0"/>
          </a:p>
        </p:txBody>
      </p:sp>
      <p:sp>
        <p:nvSpPr>
          <p:cNvPr id="50" name="Text 48"/>
          <p:cNvSpPr/>
          <p:nvPr/>
        </p:nvSpPr>
        <p:spPr>
          <a:xfrm>
            <a:off x="640080" y="399135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09</a:t>
            </a:r>
            <a:endParaRPr lang="en-US" sz="1200" dirty="0"/>
          </a:p>
        </p:txBody>
      </p:sp>
      <p:sp>
        <p:nvSpPr>
          <p:cNvPr id="51" name="Text 49"/>
          <p:cNvSpPr/>
          <p:nvPr/>
        </p:nvSpPr>
        <p:spPr>
          <a:xfrm>
            <a:off x="1033272" y="3977640"/>
            <a:ext cx="6931152" cy="242316"/>
          </a:xfrm>
          <a:prstGeom prst="rect">
            <a:avLst/>
          </a:prstGeom>
          <a:noFill/>
          <a:ln/>
        </p:spPr>
        <p:txBody>
          <a:bodyPr wrap="square" lIns="0" tIns="0" rIns="0" bIns="0" rtlCol="0" anchor="ctr">
            <a:normAutofit/>
          </a:bodyPr>
          <a:lstStyle/>
          <a:p>
            <a:pPr indent="0" marL="0">
              <a:buNone/>
            </a:pPr>
            <a:r>
              <a:rPr lang="en-US" sz="1420" dirty="0">
                <a:solidFill>
                  <a:srgbClr val="78C9A6"/>
                </a:solidFill>
                <a:latin typeface="Aptos Mono" pitchFamily="34" charset="0"/>
                <a:ea typeface="Aptos Mono" pitchFamily="34" charset="-122"/>
                <a:cs typeface="Aptos Mono" pitchFamily="34" charset="-120"/>
              </a:rPr>
              <a:t>    // Un nuovo draft sostituisce il timer precedente.</a:t>
            </a:r>
            <a:endParaRPr lang="en-US" sz="1420" dirty="0"/>
          </a:p>
        </p:txBody>
      </p:sp>
      <p:sp>
        <p:nvSpPr>
          <p:cNvPr id="52" name="Text 50"/>
          <p:cNvSpPr/>
          <p:nvPr/>
        </p:nvSpPr>
        <p:spPr>
          <a:xfrm>
            <a:off x="640080" y="4233672"/>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10</a:t>
            </a:r>
            <a:endParaRPr lang="en-US" sz="1200" dirty="0"/>
          </a:p>
        </p:txBody>
      </p:sp>
      <p:sp>
        <p:nvSpPr>
          <p:cNvPr id="53" name="Text 51"/>
          <p:cNvSpPr/>
          <p:nvPr/>
        </p:nvSpPr>
        <p:spPr>
          <a:xfrm>
            <a:off x="1033272" y="4219956"/>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window.clearTimeout(timerId);</a:t>
            </a:r>
            <a:endParaRPr lang="en-US" sz="1420" dirty="0"/>
          </a:p>
        </p:txBody>
      </p:sp>
      <p:sp>
        <p:nvSpPr>
          <p:cNvPr id="54" name="Text 52"/>
          <p:cNvSpPr/>
          <p:nvPr/>
        </p:nvSpPr>
        <p:spPr>
          <a:xfrm>
            <a:off x="640080" y="447598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11</a:t>
            </a:r>
            <a:endParaRPr lang="en-US" sz="1200" dirty="0"/>
          </a:p>
        </p:txBody>
      </p:sp>
      <p:sp>
        <p:nvSpPr>
          <p:cNvPr id="55" name="Text 53"/>
          <p:cNvSpPr/>
          <p:nvPr/>
        </p:nvSpPr>
        <p:spPr>
          <a:xfrm>
            <a:off x="1033272" y="446227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56" name="Text 54"/>
          <p:cNvSpPr/>
          <p:nvPr/>
        </p:nvSpPr>
        <p:spPr>
          <a:xfrm>
            <a:off x="640080" y="471830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12</a:t>
            </a:r>
            <a:endParaRPr lang="en-US" sz="1200" dirty="0"/>
          </a:p>
        </p:txBody>
      </p:sp>
      <p:sp>
        <p:nvSpPr>
          <p:cNvPr id="57" name="Text 55"/>
          <p:cNvSpPr/>
          <p:nvPr/>
        </p:nvSpPr>
        <p:spPr>
          <a:xfrm>
            <a:off x="1033272" y="470458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[draft]);</a:t>
            </a:r>
            <a:endParaRPr lang="en-US" sz="1420" dirty="0"/>
          </a:p>
        </p:txBody>
      </p:sp>
      <p:sp>
        <p:nvSpPr>
          <p:cNvPr id="58" name="Text 56"/>
          <p:cNvSpPr/>
          <p:nvPr/>
        </p:nvSpPr>
        <p:spPr>
          <a:xfrm>
            <a:off x="640080" y="496062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13</a:t>
            </a:r>
            <a:endParaRPr lang="en-US" sz="1200" dirty="0"/>
          </a:p>
        </p:txBody>
      </p:sp>
      <p:sp>
        <p:nvSpPr>
          <p:cNvPr id="59" name="Text 57"/>
          <p:cNvSpPr/>
          <p:nvPr/>
        </p:nvSpPr>
        <p:spPr>
          <a:xfrm>
            <a:off x="1033272" y="4946904"/>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60" name="Text 58"/>
          <p:cNvSpPr/>
          <p:nvPr/>
        </p:nvSpPr>
        <p:spPr>
          <a:xfrm>
            <a:off x="640080" y="520293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14</a:t>
            </a:r>
            <a:endParaRPr lang="en-US" sz="1200" dirty="0"/>
          </a:p>
        </p:txBody>
      </p:sp>
      <p:sp>
        <p:nvSpPr>
          <p:cNvPr id="61" name="Text 59"/>
          <p:cNvSpPr/>
          <p:nvPr/>
        </p:nvSpPr>
        <p:spPr>
          <a:xfrm>
            <a:off x="1033272" y="5189220"/>
            <a:ext cx="6931152" cy="242316"/>
          </a:xfrm>
          <a:prstGeom prst="rect">
            <a:avLst/>
          </a:prstGeom>
          <a:noFill/>
          <a:ln/>
        </p:spPr>
        <p:txBody>
          <a:bodyPr wrap="square" lIns="0" tIns="0" rIns="0" bIns="0" rtlCol="0" anchor="ctr">
            <a:normAutofit/>
          </a:bodyPr>
          <a:lstStyle/>
          <a:p>
            <a:pPr indent="0" marL="0">
              <a:buNone/>
            </a:pPr>
            <a:r>
              <a:rPr lang="en-US" sz="1420" dirty="0">
                <a:solidFill>
                  <a:srgbClr val="78C9A6"/>
                </a:solidFill>
                <a:latin typeface="Aptos Mono" pitchFamily="34" charset="0"/>
                <a:ea typeface="Aptos Mono" pitchFamily="34" charset="-122"/>
                <a:cs typeface="Aptos Mono" pitchFamily="34" charset="-120"/>
              </a:rPr>
              <a:t>// Solo l’ultima versione resta programmata.</a:t>
            </a:r>
            <a:endParaRPr lang="en-US" sz="1420" dirty="0"/>
          </a:p>
        </p:txBody>
      </p:sp>
      <p:sp>
        <p:nvSpPr>
          <p:cNvPr id="62" name="Shape 60"/>
          <p:cNvSpPr/>
          <p:nvPr/>
        </p:nvSpPr>
        <p:spPr>
          <a:xfrm>
            <a:off x="8366760" y="1591056"/>
            <a:ext cx="3310128" cy="4553712"/>
          </a:xfrm>
          <a:prstGeom prst="roundRect">
            <a:avLst>
              <a:gd name="adj" fmla="val 1381"/>
            </a:avLst>
          </a:prstGeom>
          <a:solidFill>
            <a:srgbClr val="122238"/>
          </a:solidFill>
          <a:ln w="12700">
            <a:solidFill>
              <a:srgbClr val="263A55"/>
            </a:solidFill>
            <a:prstDash val="solid"/>
          </a:ln>
        </p:spPr>
      </p:sp>
      <p:sp>
        <p:nvSpPr>
          <p:cNvPr id="63" name="Text 61"/>
          <p:cNvSpPr/>
          <p:nvPr/>
        </p:nvSpPr>
        <p:spPr>
          <a:xfrm>
            <a:off x="8586216" y="1801368"/>
            <a:ext cx="2871216" cy="182880"/>
          </a:xfrm>
          <a:prstGeom prst="rect">
            <a:avLst/>
          </a:prstGeom>
          <a:noFill/>
          <a:ln/>
        </p:spPr>
        <p:txBody>
          <a:bodyPr wrap="square" lIns="0" tIns="0" rIns="0" bIns="0" rtlCol="0" anchor="ctr"/>
          <a:lstStyle/>
          <a:p>
            <a:pPr indent="0" marL="0">
              <a:buNone/>
            </a:pPr>
            <a:r>
              <a:rPr lang="en-US" sz="950" b="1" spc="115" kern="0" dirty="0">
                <a:solidFill>
                  <a:srgbClr val="F5C96A"/>
                </a:solidFill>
                <a:latin typeface="Aptos" pitchFamily="34" charset="0"/>
                <a:ea typeface="Aptos" pitchFamily="34" charset="-122"/>
                <a:cs typeface="Aptos" pitchFamily="34" charset="-120"/>
              </a:rPr>
              <a:t>DA OSSERVARE</a:t>
            </a:r>
            <a:endParaRPr lang="en-US" sz="950" dirty="0"/>
          </a:p>
        </p:txBody>
      </p:sp>
      <p:sp>
        <p:nvSpPr>
          <p:cNvPr id="64" name="Shape 62"/>
          <p:cNvSpPr/>
          <p:nvPr/>
        </p:nvSpPr>
        <p:spPr>
          <a:xfrm>
            <a:off x="8586216" y="2267712"/>
            <a:ext cx="91440" cy="91440"/>
          </a:xfrm>
          <a:prstGeom prst="ellipse">
            <a:avLst/>
          </a:prstGeom>
          <a:solidFill>
            <a:srgbClr val="7CD4FF"/>
          </a:solidFill>
          <a:ln w="12700">
            <a:solidFill>
              <a:srgbClr val="7CD4FF"/>
            </a:solidFill>
            <a:prstDash val="solid"/>
          </a:ln>
        </p:spPr>
      </p:sp>
      <p:sp>
        <p:nvSpPr>
          <p:cNvPr id="65" name="Text 63"/>
          <p:cNvSpPr/>
          <p:nvPr/>
        </p:nvSpPr>
        <p:spPr>
          <a:xfrm>
            <a:off x="8778240" y="2212848"/>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Ogni draft crea un timer.</a:t>
            </a:r>
            <a:endParaRPr lang="en-US" sz="1420" dirty="0"/>
          </a:p>
        </p:txBody>
      </p:sp>
      <p:sp>
        <p:nvSpPr>
          <p:cNvPr id="66" name="Shape 64"/>
          <p:cNvSpPr/>
          <p:nvPr/>
        </p:nvSpPr>
        <p:spPr>
          <a:xfrm>
            <a:off x="8586216" y="2980944"/>
            <a:ext cx="91440" cy="91440"/>
          </a:xfrm>
          <a:prstGeom prst="ellipse">
            <a:avLst/>
          </a:prstGeom>
          <a:solidFill>
            <a:srgbClr val="7CD4FF"/>
          </a:solidFill>
          <a:ln w="12700">
            <a:solidFill>
              <a:srgbClr val="7CD4FF"/>
            </a:solidFill>
            <a:prstDash val="solid"/>
          </a:ln>
        </p:spPr>
      </p:sp>
      <p:sp>
        <p:nvSpPr>
          <p:cNvPr id="67" name="Text 65"/>
          <p:cNvSpPr/>
          <p:nvPr/>
        </p:nvSpPr>
        <p:spPr>
          <a:xfrm>
            <a:off x="8778240" y="2926080"/>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La cleanup cancella il precedente.</a:t>
            </a:r>
            <a:endParaRPr lang="en-US" sz="1420" dirty="0"/>
          </a:p>
        </p:txBody>
      </p:sp>
      <p:sp>
        <p:nvSpPr>
          <p:cNvPr id="68" name="Shape 66"/>
          <p:cNvSpPr/>
          <p:nvPr/>
        </p:nvSpPr>
        <p:spPr>
          <a:xfrm>
            <a:off x="8586216" y="3694176"/>
            <a:ext cx="91440" cy="91440"/>
          </a:xfrm>
          <a:prstGeom prst="ellipse">
            <a:avLst/>
          </a:prstGeom>
          <a:solidFill>
            <a:srgbClr val="7CD4FF"/>
          </a:solidFill>
          <a:ln w="12700">
            <a:solidFill>
              <a:srgbClr val="7CD4FF"/>
            </a:solidFill>
            <a:prstDash val="solid"/>
          </a:ln>
        </p:spPr>
      </p:sp>
      <p:sp>
        <p:nvSpPr>
          <p:cNvPr id="69" name="Text 67"/>
          <p:cNvSpPr/>
          <p:nvPr/>
        </p:nvSpPr>
        <p:spPr>
          <a:xfrm>
            <a:off x="8778240" y="3639312"/>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Lo smontaggio evita un salvataggio tardivo.</a:t>
            </a:r>
            <a:endParaRPr lang="en-US" sz="142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60</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WEBSOCKET / SUBSCRIPTION</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Una connessione segue l’identità della stanza</a:t>
            </a:r>
            <a:endParaRPr lang="en-US" sz="2700" dirty="0"/>
          </a:p>
        </p:txBody>
      </p:sp>
      <p:sp>
        <p:nvSpPr>
          <p:cNvPr id="29" name="Shape 27"/>
          <p:cNvSpPr/>
          <p:nvPr/>
        </p:nvSpPr>
        <p:spPr>
          <a:xfrm>
            <a:off x="530352" y="1591056"/>
            <a:ext cx="7589520" cy="4553712"/>
          </a:xfrm>
          <a:prstGeom prst="roundRect">
            <a:avLst>
              <a:gd name="adj" fmla="val 1004"/>
            </a:avLst>
          </a:prstGeom>
          <a:solidFill>
            <a:srgbClr val="0D1A2B"/>
          </a:solidFill>
          <a:ln w="13970">
            <a:solidFill>
              <a:srgbClr val="263A55"/>
            </a:solidFill>
            <a:prstDash val="solid"/>
          </a:ln>
        </p:spPr>
      </p:sp>
      <p:sp>
        <p:nvSpPr>
          <p:cNvPr id="30" name="Shape 28"/>
          <p:cNvSpPr/>
          <p:nvPr/>
        </p:nvSpPr>
        <p:spPr>
          <a:xfrm>
            <a:off x="530352" y="1591056"/>
            <a:ext cx="7589520" cy="347472"/>
          </a:xfrm>
          <a:prstGeom prst="rect">
            <a:avLst/>
          </a:prstGeom>
          <a:solidFill>
            <a:srgbClr val="122238"/>
          </a:solidFill>
          <a:ln w="12700">
            <a:solidFill>
              <a:srgbClr val="122238"/>
            </a:solidFill>
            <a:prstDash val="solid"/>
          </a:ln>
        </p:spPr>
      </p:sp>
      <p:sp>
        <p:nvSpPr>
          <p:cNvPr id="31" name="Shape 29"/>
          <p:cNvSpPr/>
          <p:nvPr/>
        </p:nvSpPr>
        <p:spPr>
          <a:xfrm>
            <a:off x="694944" y="1632204"/>
            <a:ext cx="658368" cy="274320"/>
          </a:xfrm>
          <a:prstGeom prst="roundRect">
            <a:avLst>
              <a:gd name="adj" fmla="val 20000"/>
            </a:avLst>
          </a:prstGeom>
          <a:solidFill>
            <a:srgbClr val="7CD4FF">
              <a:alpha val="20000"/>
            </a:srgbClr>
          </a:solidFill>
          <a:ln w="10160">
            <a:solidFill>
              <a:srgbClr val="7CD4FF">
                <a:alpha val="55000"/>
              </a:srgbClr>
            </a:solidFill>
            <a:prstDash val="solid"/>
          </a:ln>
        </p:spPr>
      </p:sp>
      <p:sp>
        <p:nvSpPr>
          <p:cNvPr id="32" name="Text 30"/>
          <p:cNvSpPr/>
          <p:nvPr/>
        </p:nvSpPr>
        <p:spPr>
          <a:xfrm>
            <a:off x="786384" y="1691640"/>
            <a:ext cx="475488" cy="128016"/>
          </a:xfrm>
          <a:prstGeom prst="rect">
            <a:avLst/>
          </a:prstGeom>
          <a:noFill/>
          <a:ln/>
        </p:spPr>
        <p:txBody>
          <a:bodyPr wrap="square" lIns="0" tIns="0" rIns="0" bIns="0" rtlCol="0" anchor="ctr"/>
          <a:lstStyle/>
          <a:p>
            <a:pPr algn="ctr" indent="0" marL="0">
              <a:buNone/>
            </a:pPr>
            <a:r>
              <a:rPr lang="en-US" sz="820" b="1" dirty="0">
                <a:solidFill>
                  <a:srgbClr val="7CD4FF"/>
                </a:solidFill>
                <a:latin typeface="Aptos Mono" pitchFamily="34" charset="0"/>
                <a:ea typeface="Aptos Mono" pitchFamily="34" charset="-122"/>
                <a:cs typeface="Aptos Mono" pitchFamily="34" charset="-120"/>
              </a:rPr>
              <a:t>TSX</a:t>
            </a:r>
            <a:endParaRPr lang="en-US" sz="820" dirty="0"/>
          </a:p>
        </p:txBody>
      </p:sp>
      <p:sp>
        <p:nvSpPr>
          <p:cNvPr id="33" name="Text 31"/>
          <p:cNvSpPr/>
          <p:nvPr/>
        </p:nvSpPr>
        <p:spPr>
          <a:xfrm>
            <a:off x="1490472" y="1687068"/>
            <a:ext cx="635508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TicketChannel.tsx</a:t>
            </a:r>
            <a:endParaRPr lang="en-US" sz="880" dirty="0"/>
          </a:p>
        </p:txBody>
      </p:sp>
      <p:sp>
        <p:nvSpPr>
          <p:cNvPr id="34" name="Text 32"/>
          <p:cNvSpPr/>
          <p:nvPr/>
        </p:nvSpPr>
        <p:spPr>
          <a:xfrm>
            <a:off x="640080" y="205282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01</a:t>
            </a:r>
            <a:endParaRPr lang="en-US" sz="1200" dirty="0"/>
          </a:p>
        </p:txBody>
      </p:sp>
      <p:sp>
        <p:nvSpPr>
          <p:cNvPr id="35" name="Text 33"/>
          <p:cNvSpPr/>
          <p:nvPr/>
        </p:nvSpPr>
        <p:spPr>
          <a:xfrm>
            <a:off x="1033272" y="203911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useEffect(() =&gt; {</a:t>
            </a:r>
            <a:endParaRPr lang="en-US" sz="1420" dirty="0"/>
          </a:p>
        </p:txBody>
      </p:sp>
      <p:sp>
        <p:nvSpPr>
          <p:cNvPr id="36" name="Text 34"/>
          <p:cNvSpPr/>
          <p:nvPr/>
        </p:nvSpPr>
        <p:spPr>
          <a:xfrm>
            <a:off x="640080" y="229514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02</a:t>
            </a:r>
            <a:endParaRPr lang="en-US" sz="1200" dirty="0"/>
          </a:p>
        </p:txBody>
      </p:sp>
      <p:sp>
        <p:nvSpPr>
          <p:cNvPr id="37" name="Text 35"/>
          <p:cNvSpPr/>
          <p:nvPr/>
        </p:nvSpPr>
        <p:spPr>
          <a:xfrm>
            <a:off x="1033272" y="228142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const connection = createConnection({</a:t>
            </a:r>
            <a:endParaRPr lang="en-US" sz="1420" dirty="0"/>
          </a:p>
        </p:txBody>
      </p:sp>
      <p:sp>
        <p:nvSpPr>
          <p:cNvPr id="38" name="Text 36"/>
          <p:cNvSpPr/>
          <p:nvPr/>
        </p:nvSpPr>
        <p:spPr>
          <a:xfrm>
            <a:off x="640080" y="253746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03</a:t>
            </a:r>
            <a:endParaRPr lang="en-US" sz="1200" dirty="0"/>
          </a:p>
        </p:txBody>
      </p:sp>
      <p:sp>
        <p:nvSpPr>
          <p:cNvPr id="39" name="Text 37"/>
          <p:cNvSpPr/>
          <p:nvPr/>
        </p:nvSpPr>
        <p:spPr>
          <a:xfrm>
            <a:off x="1033272" y="2523744"/>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roomId: ticketId</a:t>
            </a:r>
            <a:endParaRPr lang="en-US" sz="1420" dirty="0"/>
          </a:p>
        </p:txBody>
      </p:sp>
      <p:sp>
        <p:nvSpPr>
          <p:cNvPr id="40" name="Text 38"/>
          <p:cNvSpPr/>
          <p:nvPr/>
        </p:nvSpPr>
        <p:spPr>
          <a:xfrm>
            <a:off x="640080" y="277977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04</a:t>
            </a:r>
            <a:endParaRPr lang="en-US" sz="1200" dirty="0"/>
          </a:p>
        </p:txBody>
      </p:sp>
      <p:sp>
        <p:nvSpPr>
          <p:cNvPr id="41" name="Text 39"/>
          <p:cNvSpPr/>
          <p:nvPr/>
        </p:nvSpPr>
        <p:spPr>
          <a:xfrm>
            <a:off x="1033272" y="2766060"/>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42" name="Text 40"/>
          <p:cNvSpPr/>
          <p:nvPr/>
        </p:nvSpPr>
        <p:spPr>
          <a:xfrm>
            <a:off x="640080" y="3022092"/>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05</a:t>
            </a:r>
            <a:endParaRPr lang="en-US" sz="1200" dirty="0"/>
          </a:p>
        </p:txBody>
      </p:sp>
      <p:sp>
        <p:nvSpPr>
          <p:cNvPr id="43" name="Text 41"/>
          <p:cNvSpPr/>
          <p:nvPr/>
        </p:nvSpPr>
        <p:spPr>
          <a:xfrm>
            <a:off x="1033272" y="3008376"/>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44" name="Text 42"/>
          <p:cNvSpPr/>
          <p:nvPr/>
        </p:nvSpPr>
        <p:spPr>
          <a:xfrm>
            <a:off x="640080" y="326440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06</a:t>
            </a:r>
            <a:endParaRPr lang="en-US" sz="1200" dirty="0"/>
          </a:p>
        </p:txBody>
      </p:sp>
      <p:sp>
        <p:nvSpPr>
          <p:cNvPr id="45" name="Text 43"/>
          <p:cNvSpPr/>
          <p:nvPr/>
        </p:nvSpPr>
        <p:spPr>
          <a:xfrm>
            <a:off x="1033272" y="325069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connection.connect();</a:t>
            </a:r>
            <a:endParaRPr lang="en-US" sz="1420" dirty="0"/>
          </a:p>
        </p:txBody>
      </p:sp>
      <p:sp>
        <p:nvSpPr>
          <p:cNvPr id="46" name="Text 44"/>
          <p:cNvSpPr/>
          <p:nvPr/>
        </p:nvSpPr>
        <p:spPr>
          <a:xfrm>
            <a:off x="640080" y="350672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07</a:t>
            </a:r>
            <a:endParaRPr lang="en-US" sz="1200" dirty="0"/>
          </a:p>
        </p:txBody>
      </p:sp>
      <p:sp>
        <p:nvSpPr>
          <p:cNvPr id="47" name="Text 45"/>
          <p:cNvSpPr/>
          <p:nvPr/>
        </p:nvSpPr>
        <p:spPr>
          <a:xfrm>
            <a:off x="1033272" y="349300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48" name="Text 46"/>
          <p:cNvSpPr/>
          <p:nvPr/>
        </p:nvSpPr>
        <p:spPr>
          <a:xfrm>
            <a:off x="640080" y="374904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08</a:t>
            </a:r>
            <a:endParaRPr lang="en-US" sz="1200" dirty="0"/>
          </a:p>
        </p:txBody>
      </p:sp>
      <p:sp>
        <p:nvSpPr>
          <p:cNvPr id="49" name="Text 47"/>
          <p:cNvSpPr/>
          <p:nvPr/>
        </p:nvSpPr>
        <p:spPr>
          <a:xfrm>
            <a:off x="1033272" y="3735324"/>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return () =&gt; {</a:t>
            </a:r>
            <a:endParaRPr lang="en-US" sz="1420" dirty="0"/>
          </a:p>
        </p:txBody>
      </p:sp>
      <p:sp>
        <p:nvSpPr>
          <p:cNvPr id="50" name="Text 48"/>
          <p:cNvSpPr/>
          <p:nvPr/>
        </p:nvSpPr>
        <p:spPr>
          <a:xfrm>
            <a:off x="640080" y="399135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09</a:t>
            </a:r>
            <a:endParaRPr lang="en-US" sz="1200" dirty="0"/>
          </a:p>
        </p:txBody>
      </p:sp>
      <p:sp>
        <p:nvSpPr>
          <p:cNvPr id="51" name="Text 49"/>
          <p:cNvSpPr/>
          <p:nvPr/>
        </p:nvSpPr>
        <p:spPr>
          <a:xfrm>
            <a:off x="1033272" y="3977640"/>
            <a:ext cx="6931152" cy="242316"/>
          </a:xfrm>
          <a:prstGeom prst="rect">
            <a:avLst/>
          </a:prstGeom>
          <a:noFill/>
          <a:ln/>
        </p:spPr>
        <p:txBody>
          <a:bodyPr wrap="square" lIns="0" tIns="0" rIns="0" bIns="0" rtlCol="0" anchor="ctr">
            <a:normAutofit/>
          </a:bodyPr>
          <a:lstStyle/>
          <a:p>
            <a:pPr indent="0" marL="0">
              <a:buNone/>
            </a:pPr>
            <a:r>
              <a:rPr lang="en-US" sz="1420" dirty="0">
                <a:solidFill>
                  <a:srgbClr val="78C9A6"/>
                </a:solidFill>
                <a:latin typeface="Aptos Mono" pitchFamily="34" charset="0"/>
                <a:ea typeface="Aptos Mono" pitchFamily="34" charset="-122"/>
                <a:cs typeface="Aptos Mono" pitchFamily="34" charset="-120"/>
              </a:rPr>
              <a:t>    // Chiude la connessione del vecchio ticket.</a:t>
            </a:r>
            <a:endParaRPr lang="en-US" sz="1420" dirty="0"/>
          </a:p>
        </p:txBody>
      </p:sp>
      <p:sp>
        <p:nvSpPr>
          <p:cNvPr id="52" name="Text 50"/>
          <p:cNvSpPr/>
          <p:nvPr/>
        </p:nvSpPr>
        <p:spPr>
          <a:xfrm>
            <a:off x="640080" y="4233672"/>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10</a:t>
            </a:r>
            <a:endParaRPr lang="en-US" sz="1200" dirty="0"/>
          </a:p>
        </p:txBody>
      </p:sp>
      <p:sp>
        <p:nvSpPr>
          <p:cNvPr id="53" name="Text 51"/>
          <p:cNvSpPr/>
          <p:nvPr/>
        </p:nvSpPr>
        <p:spPr>
          <a:xfrm>
            <a:off x="1033272" y="4219956"/>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connection.disconnect();</a:t>
            </a:r>
            <a:endParaRPr lang="en-US" sz="1420" dirty="0"/>
          </a:p>
        </p:txBody>
      </p:sp>
      <p:sp>
        <p:nvSpPr>
          <p:cNvPr id="54" name="Text 52"/>
          <p:cNvSpPr/>
          <p:nvPr/>
        </p:nvSpPr>
        <p:spPr>
          <a:xfrm>
            <a:off x="640080" y="447598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11</a:t>
            </a:r>
            <a:endParaRPr lang="en-US" sz="1200" dirty="0"/>
          </a:p>
        </p:txBody>
      </p:sp>
      <p:sp>
        <p:nvSpPr>
          <p:cNvPr id="55" name="Text 53"/>
          <p:cNvSpPr/>
          <p:nvPr/>
        </p:nvSpPr>
        <p:spPr>
          <a:xfrm>
            <a:off x="1033272" y="446227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56" name="Text 54"/>
          <p:cNvSpPr/>
          <p:nvPr/>
        </p:nvSpPr>
        <p:spPr>
          <a:xfrm>
            <a:off x="640080" y="471830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12</a:t>
            </a:r>
            <a:endParaRPr lang="en-US" sz="1200" dirty="0"/>
          </a:p>
        </p:txBody>
      </p:sp>
      <p:sp>
        <p:nvSpPr>
          <p:cNvPr id="57" name="Text 55"/>
          <p:cNvSpPr/>
          <p:nvPr/>
        </p:nvSpPr>
        <p:spPr>
          <a:xfrm>
            <a:off x="1033272" y="470458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[ticketId]);</a:t>
            </a:r>
            <a:endParaRPr lang="en-US" sz="1420" dirty="0"/>
          </a:p>
        </p:txBody>
      </p:sp>
      <p:sp>
        <p:nvSpPr>
          <p:cNvPr id="58" name="Text 56"/>
          <p:cNvSpPr/>
          <p:nvPr/>
        </p:nvSpPr>
        <p:spPr>
          <a:xfrm>
            <a:off x="640080" y="496062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13</a:t>
            </a:r>
            <a:endParaRPr lang="en-US" sz="1200" dirty="0"/>
          </a:p>
        </p:txBody>
      </p:sp>
      <p:sp>
        <p:nvSpPr>
          <p:cNvPr id="59" name="Text 57"/>
          <p:cNvSpPr/>
          <p:nvPr/>
        </p:nvSpPr>
        <p:spPr>
          <a:xfrm>
            <a:off x="1033272" y="4946904"/>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60" name="Text 58"/>
          <p:cNvSpPr/>
          <p:nvPr/>
        </p:nvSpPr>
        <p:spPr>
          <a:xfrm>
            <a:off x="640080" y="520293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14</a:t>
            </a:r>
            <a:endParaRPr lang="en-US" sz="1200" dirty="0"/>
          </a:p>
        </p:txBody>
      </p:sp>
      <p:sp>
        <p:nvSpPr>
          <p:cNvPr id="61" name="Text 59"/>
          <p:cNvSpPr/>
          <p:nvPr/>
        </p:nvSpPr>
        <p:spPr>
          <a:xfrm>
            <a:off x="1033272" y="5189220"/>
            <a:ext cx="6931152" cy="242316"/>
          </a:xfrm>
          <a:prstGeom prst="rect">
            <a:avLst/>
          </a:prstGeom>
          <a:noFill/>
          <a:ln/>
        </p:spPr>
        <p:txBody>
          <a:bodyPr wrap="square" lIns="0" tIns="0" rIns="0" bIns="0" rtlCol="0" anchor="ctr">
            <a:normAutofit/>
          </a:bodyPr>
          <a:lstStyle/>
          <a:p>
            <a:pPr indent="0" marL="0">
              <a:buNone/>
            </a:pPr>
            <a:r>
              <a:rPr lang="en-US" sz="1420" dirty="0">
                <a:solidFill>
                  <a:srgbClr val="78C9A6"/>
                </a:solidFill>
                <a:latin typeface="Aptos Mono" pitchFamily="34" charset="0"/>
                <a:ea typeface="Aptos Mono" pitchFamily="34" charset="-122"/>
                <a:cs typeface="Aptos Mono" pitchFamily="34" charset="-120"/>
              </a:rPr>
              <a:t>// ticketId A: setup A → cleanup A → setup B</a:t>
            </a:r>
            <a:endParaRPr lang="en-US" sz="1420" dirty="0"/>
          </a:p>
        </p:txBody>
      </p:sp>
      <p:sp>
        <p:nvSpPr>
          <p:cNvPr id="62" name="Shape 60"/>
          <p:cNvSpPr/>
          <p:nvPr/>
        </p:nvSpPr>
        <p:spPr>
          <a:xfrm>
            <a:off x="8366760" y="1591056"/>
            <a:ext cx="3310128" cy="4553712"/>
          </a:xfrm>
          <a:prstGeom prst="roundRect">
            <a:avLst>
              <a:gd name="adj" fmla="val 1381"/>
            </a:avLst>
          </a:prstGeom>
          <a:solidFill>
            <a:srgbClr val="122238"/>
          </a:solidFill>
          <a:ln w="12700">
            <a:solidFill>
              <a:srgbClr val="263A55"/>
            </a:solidFill>
            <a:prstDash val="solid"/>
          </a:ln>
        </p:spPr>
      </p:sp>
      <p:sp>
        <p:nvSpPr>
          <p:cNvPr id="63" name="Text 61"/>
          <p:cNvSpPr/>
          <p:nvPr/>
        </p:nvSpPr>
        <p:spPr>
          <a:xfrm>
            <a:off x="8586216" y="1801368"/>
            <a:ext cx="2871216" cy="182880"/>
          </a:xfrm>
          <a:prstGeom prst="rect">
            <a:avLst/>
          </a:prstGeom>
          <a:noFill/>
          <a:ln/>
        </p:spPr>
        <p:txBody>
          <a:bodyPr wrap="square" lIns="0" tIns="0" rIns="0" bIns="0" rtlCol="0" anchor="ctr"/>
          <a:lstStyle/>
          <a:p>
            <a:pPr indent="0" marL="0">
              <a:buNone/>
            </a:pPr>
            <a:r>
              <a:rPr lang="en-US" sz="950" b="1" spc="115" kern="0" dirty="0">
                <a:solidFill>
                  <a:srgbClr val="F5C96A"/>
                </a:solidFill>
                <a:latin typeface="Aptos" pitchFamily="34" charset="0"/>
                <a:ea typeface="Aptos" pitchFamily="34" charset="-122"/>
                <a:cs typeface="Aptos" pitchFamily="34" charset="-120"/>
              </a:rPr>
              <a:t>DA OSSERVARE</a:t>
            </a:r>
            <a:endParaRPr lang="en-US" sz="950" dirty="0"/>
          </a:p>
        </p:txBody>
      </p:sp>
      <p:sp>
        <p:nvSpPr>
          <p:cNvPr id="64" name="Shape 62"/>
          <p:cNvSpPr/>
          <p:nvPr/>
        </p:nvSpPr>
        <p:spPr>
          <a:xfrm>
            <a:off x="8586216" y="2267712"/>
            <a:ext cx="91440" cy="91440"/>
          </a:xfrm>
          <a:prstGeom prst="ellipse">
            <a:avLst/>
          </a:prstGeom>
          <a:solidFill>
            <a:srgbClr val="7CD4FF"/>
          </a:solidFill>
          <a:ln w="12700">
            <a:solidFill>
              <a:srgbClr val="7CD4FF"/>
            </a:solidFill>
            <a:prstDash val="solid"/>
          </a:ln>
        </p:spPr>
      </p:sp>
      <p:sp>
        <p:nvSpPr>
          <p:cNvPr id="65" name="Text 63"/>
          <p:cNvSpPr/>
          <p:nvPr/>
        </p:nvSpPr>
        <p:spPr>
          <a:xfrm>
            <a:off x="8778240" y="2212848"/>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Il processo esterno segue ticketId.</a:t>
            </a:r>
            <a:endParaRPr lang="en-US" sz="1420" dirty="0"/>
          </a:p>
        </p:txBody>
      </p:sp>
      <p:sp>
        <p:nvSpPr>
          <p:cNvPr id="66" name="Shape 64"/>
          <p:cNvSpPr/>
          <p:nvPr/>
        </p:nvSpPr>
        <p:spPr>
          <a:xfrm>
            <a:off x="8586216" y="2980944"/>
            <a:ext cx="91440" cy="91440"/>
          </a:xfrm>
          <a:prstGeom prst="ellipse">
            <a:avLst/>
          </a:prstGeom>
          <a:solidFill>
            <a:srgbClr val="7CD4FF"/>
          </a:solidFill>
          <a:ln w="12700">
            <a:solidFill>
              <a:srgbClr val="7CD4FF"/>
            </a:solidFill>
            <a:prstDash val="solid"/>
          </a:ln>
        </p:spPr>
      </p:sp>
      <p:sp>
        <p:nvSpPr>
          <p:cNvPr id="67" name="Text 65"/>
          <p:cNvSpPr/>
          <p:nvPr/>
        </p:nvSpPr>
        <p:spPr>
          <a:xfrm>
            <a:off x="8778240" y="2926080"/>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La cleanup usa i valori del vecchio setup.</a:t>
            </a:r>
            <a:endParaRPr lang="en-US" sz="1420" dirty="0"/>
          </a:p>
        </p:txBody>
      </p:sp>
      <p:sp>
        <p:nvSpPr>
          <p:cNvPr id="68" name="Shape 66"/>
          <p:cNvSpPr/>
          <p:nvPr/>
        </p:nvSpPr>
        <p:spPr>
          <a:xfrm>
            <a:off x="8586216" y="3694176"/>
            <a:ext cx="91440" cy="91440"/>
          </a:xfrm>
          <a:prstGeom prst="ellipse">
            <a:avLst/>
          </a:prstGeom>
          <a:solidFill>
            <a:srgbClr val="7CD4FF"/>
          </a:solidFill>
          <a:ln w="12700">
            <a:solidFill>
              <a:srgbClr val="7CD4FF"/>
            </a:solidFill>
            <a:prstDash val="solid"/>
          </a:ln>
        </p:spPr>
      </p:sp>
      <p:sp>
        <p:nvSpPr>
          <p:cNvPr id="69" name="Text 67"/>
          <p:cNvSpPr/>
          <p:nvPr/>
        </p:nvSpPr>
        <p:spPr>
          <a:xfrm>
            <a:off x="8778240" y="3639312"/>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Nessuna connessione orfana.</a:t>
            </a:r>
            <a:endParaRPr lang="en-US" sz="142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61</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RISPOSTE FUORI ORDINE</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Una fetch ingenua può produrre una race condition</a:t>
            </a:r>
            <a:endParaRPr lang="en-US" sz="2700" dirty="0"/>
          </a:p>
        </p:txBody>
      </p:sp>
      <p:sp>
        <p:nvSpPr>
          <p:cNvPr id="29" name="Shape 27"/>
          <p:cNvSpPr/>
          <p:nvPr/>
        </p:nvSpPr>
        <p:spPr>
          <a:xfrm>
            <a:off x="530352" y="1581912"/>
            <a:ext cx="5440680" cy="4526280"/>
          </a:xfrm>
          <a:prstGeom prst="roundRect">
            <a:avLst>
              <a:gd name="adj" fmla="val 1010"/>
            </a:avLst>
          </a:prstGeom>
          <a:solidFill>
            <a:srgbClr val="0D1A2B"/>
          </a:solidFill>
          <a:ln w="13970">
            <a:solidFill>
              <a:srgbClr val="263A55"/>
            </a:solidFill>
            <a:prstDash val="solid"/>
          </a:ln>
        </p:spPr>
      </p:sp>
      <p:sp>
        <p:nvSpPr>
          <p:cNvPr id="30" name="Shape 28"/>
          <p:cNvSpPr/>
          <p:nvPr/>
        </p:nvSpPr>
        <p:spPr>
          <a:xfrm>
            <a:off x="530352" y="1581912"/>
            <a:ext cx="5440680" cy="347472"/>
          </a:xfrm>
          <a:prstGeom prst="rect">
            <a:avLst/>
          </a:prstGeom>
          <a:solidFill>
            <a:srgbClr val="122238"/>
          </a:solidFill>
          <a:ln w="12700">
            <a:solidFill>
              <a:srgbClr val="122238"/>
            </a:solidFill>
            <a:prstDash val="solid"/>
          </a:ln>
        </p:spPr>
      </p:sp>
      <p:sp>
        <p:nvSpPr>
          <p:cNvPr id="31" name="Shape 29"/>
          <p:cNvSpPr/>
          <p:nvPr/>
        </p:nvSpPr>
        <p:spPr>
          <a:xfrm>
            <a:off x="694944" y="1623060"/>
            <a:ext cx="658368" cy="274320"/>
          </a:xfrm>
          <a:prstGeom prst="roundRect">
            <a:avLst>
              <a:gd name="adj" fmla="val 20000"/>
            </a:avLst>
          </a:prstGeom>
          <a:solidFill>
            <a:srgbClr val="FF7A8A">
              <a:alpha val="20000"/>
            </a:srgbClr>
          </a:solidFill>
          <a:ln w="10160">
            <a:solidFill>
              <a:srgbClr val="FF7A8A">
                <a:alpha val="55000"/>
              </a:srgbClr>
            </a:solidFill>
            <a:prstDash val="solid"/>
          </a:ln>
        </p:spPr>
      </p:sp>
      <p:sp>
        <p:nvSpPr>
          <p:cNvPr id="32" name="Text 30"/>
          <p:cNvSpPr/>
          <p:nvPr/>
        </p:nvSpPr>
        <p:spPr>
          <a:xfrm>
            <a:off x="786384" y="1682496"/>
            <a:ext cx="475488" cy="128016"/>
          </a:xfrm>
          <a:prstGeom prst="rect">
            <a:avLst/>
          </a:prstGeom>
          <a:noFill/>
          <a:ln/>
        </p:spPr>
        <p:txBody>
          <a:bodyPr wrap="square" lIns="0" tIns="0" rIns="0" bIns="0" rtlCol="0" anchor="ctr"/>
          <a:lstStyle/>
          <a:p>
            <a:pPr algn="ctr" indent="0" marL="0">
              <a:buNone/>
            </a:pPr>
            <a:r>
              <a:rPr lang="en-US" sz="820" b="1" dirty="0">
                <a:solidFill>
                  <a:srgbClr val="FF7A8A"/>
                </a:solidFill>
                <a:latin typeface="Aptos Mono" pitchFamily="34" charset="0"/>
                <a:ea typeface="Aptos Mono" pitchFamily="34" charset="-122"/>
                <a:cs typeface="Aptos Mono" pitchFamily="34" charset="-120"/>
              </a:rPr>
              <a:t>TSX</a:t>
            </a:r>
            <a:endParaRPr lang="en-US" sz="820" dirty="0"/>
          </a:p>
        </p:txBody>
      </p:sp>
      <p:sp>
        <p:nvSpPr>
          <p:cNvPr id="33" name="Text 31"/>
          <p:cNvSpPr/>
          <p:nvPr/>
        </p:nvSpPr>
        <p:spPr>
          <a:xfrm>
            <a:off x="1490472" y="1677924"/>
            <a:ext cx="420624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PRIMA</a:t>
            </a:r>
            <a:endParaRPr lang="en-US" sz="880" dirty="0"/>
          </a:p>
        </p:txBody>
      </p:sp>
      <p:sp>
        <p:nvSpPr>
          <p:cNvPr id="34" name="Text 32"/>
          <p:cNvSpPr/>
          <p:nvPr/>
        </p:nvSpPr>
        <p:spPr>
          <a:xfrm>
            <a:off x="640080" y="204368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01</a:t>
            </a:r>
            <a:endParaRPr lang="en-US" sz="1060" dirty="0"/>
          </a:p>
        </p:txBody>
      </p:sp>
      <p:sp>
        <p:nvSpPr>
          <p:cNvPr id="35" name="Text 33"/>
          <p:cNvSpPr/>
          <p:nvPr/>
        </p:nvSpPr>
        <p:spPr>
          <a:xfrm>
            <a:off x="1033272" y="202996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useEffect(() =&gt; {</a:t>
            </a:r>
            <a:endParaRPr lang="en-US" sz="1280" dirty="0"/>
          </a:p>
        </p:txBody>
      </p:sp>
      <p:sp>
        <p:nvSpPr>
          <p:cNvPr id="36" name="Text 34"/>
          <p:cNvSpPr/>
          <p:nvPr/>
        </p:nvSpPr>
        <p:spPr>
          <a:xfrm>
            <a:off x="640080" y="228600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02</a:t>
            </a:r>
            <a:endParaRPr lang="en-US" sz="1060" dirty="0"/>
          </a:p>
        </p:txBody>
      </p:sp>
      <p:sp>
        <p:nvSpPr>
          <p:cNvPr id="37" name="Text 35"/>
          <p:cNvSpPr/>
          <p:nvPr/>
        </p:nvSpPr>
        <p:spPr>
          <a:xfrm>
            <a:off x="1033272" y="227228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setLoading(true);</a:t>
            </a:r>
            <a:endParaRPr lang="en-US" sz="1280" dirty="0"/>
          </a:p>
        </p:txBody>
      </p:sp>
      <p:sp>
        <p:nvSpPr>
          <p:cNvPr id="38" name="Text 36"/>
          <p:cNvSpPr/>
          <p:nvPr/>
        </p:nvSpPr>
        <p:spPr>
          <a:xfrm>
            <a:off x="640080" y="252831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03</a:t>
            </a:r>
            <a:endParaRPr lang="en-US" sz="1060" dirty="0"/>
          </a:p>
        </p:txBody>
      </p:sp>
      <p:sp>
        <p:nvSpPr>
          <p:cNvPr id="39" name="Text 37"/>
          <p:cNvSpPr/>
          <p:nvPr/>
        </p:nvSpPr>
        <p:spPr>
          <a:xfrm>
            <a:off x="1033272" y="2514600"/>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t>
            </a:r>
            <a:endParaRPr lang="en-US" sz="1280" dirty="0"/>
          </a:p>
        </p:txBody>
      </p:sp>
      <p:sp>
        <p:nvSpPr>
          <p:cNvPr id="40" name="Text 38"/>
          <p:cNvSpPr/>
          <p:nvPr/>
        </p:nvSpPr>
        <p:spPr>
          <a:xfrm>
            <a:off x="640080" y="2770632"/>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04</a:t>
            </a:r>
            <a:endParaRPr lang="en-US" sz="1060" dirty="0"/>
          </a:p>
        </p:txBody>
      </p:sp>
      <p:sp>
        <p:nvSpPr>
          <p:cNvPr id="41" name="Text 39"/>
          <p:cNvSpPr/>
          <p:nvPr/>
        </p:nvSpPr>
        <p:spPr>
          <a:xfrm>
            <a:off x="1033272" y="2756916"/>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fetchTickets(query).then(data =&gt; {</a:t>
            </a:r>
            <a:endParaRPr lang="en-US" sz="1280" dirty="0"/>
          </a:p>
        </p:txBody>
      </p:sp>
      <p:sp>
        <p:nvSpPr>
          <p:cNvPr id="42" name="Text 40"/>
          <p:cNvSpPr/>
          <p:nvPr/>
        </p:nvSpPr>
        <p:spPr>
          <a:xfrm>
            <a:off x="640080" y="3012948"/>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05</a:t>
            </a:r>
            <a:endParaRPr lang="en-US" sz="1060" dirty="0"/>
          </a:p>
        </p:txBody>
      </p:sp>
      <p:sp>
        <p:nvSpPr>
          <p:cNvPr id="43" name="Text 41"/>
          <p:cNvSpPr/>
          <p:nvPr/>
        </p:nvSpPr>
        <p:spPr>
          <a:xfrm>
            <a:off x="1033272" y="2999232"/>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setTickets(data);</a:t>
            </a:r>
            <a:endParaRPr lang="en-US" sz="1280" dirty="0"/>
          </a:p>
        </p:txBody>
      </p:sp>
      <p:sp>
        <p:nvSpPr>
          <p:cNvPr id="44" name="Text 42"/>
          <p:cNvSpPr/>
          <p:nvPr/>
        </p:nvSpPr>
        <p:spPr>
          <a:xfrm>
            <a:off x="640080" y="325526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06</a:t>
            </a:r>
            <a:endParaRPr lang="en-US" sz="1060" dirty="0"/>
          </a:p>
        </p:txBody>
      </p:sp>
      <p:sp>
        <p:nvSpPr>
          <p:cNvPr id="45" name="Text 43"/>
          <p:cNvSpPr/>
          <p:nvPr/>
        </p:nvSpPr>
        <p:spPr>
          <a:xfrm>
            <a:off x="1033272" y="324154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setLoading(false);</a:t>
            </a:r>
            <a:endParaRPr lang="en-US" sz="1280" dirty="0"/>
          </a:p>
        </p:txBody>
      </p:sp>
      <p:sp>
        <p:nvSpPr>
          <p:cNvPr id="46" name="Text 44"/>
          <p:cNvSpPr/>
          <p:nvPr/>
        </p:nvSpPr>
        <p:spPr>
          <a:xfrm>
            <a:off x="640080" y="349758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07</a:t>
            </a:r>
            <a:endParaRPr lang="en-US" sz="1060" dirty="0"/>
          </a:p>
        </p:txBody>
      </p:sp>
      <p:sp>
        <p:nvSpPr>
          <p:cNvPr id="47" name="Text 45"/>
          <p:cNvSpPr/>
          <p:nvPr/>
        </p:nvSpPr>
        <p:spPr>
          <a:xfrm>
            <a:off x="1033272" y="348386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t>
            </a:r>
            <a:endParaRPr lang="en-US" sz="1280" dirty="0"/>
          </a:p>
        </p:txBody>
      </p:sp>
      <p:sp>
        <p:nvSpPr>
          <p:cNvPr id="48" name="Text 46"/>
          <p:cNvSpPr/>
          <p:nvPr/>
        </p:nvSpPr>
        <p:spPr>
          <a:xfrm>
            <a:off x="640080" y="373989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08</a:t>
            </a:r>
            <a:endParaRPr lang="en-US" sz="1060" dirty="0"/>
          </a:p>
        </p:txBody>
      </p:sp>
      <p:sp>
        <p:nvSpPr>
          <p:cNvPr id="49" name="Text 47"/>
          <p:cNvSpPr/>
          <p:nvPr/>
        </p:nvSpPr>
        <p:spPr>
          <a:xfrm>
            <a:off x="1033272" y="3726180"/>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[query]);</a:t>
            </a:r>
            <a:endParaRPr lang="en-US" sz="1280" dirty="0"/>
          </a:p>
        </p:txBody>
      </p:sp>
      <p:sp>
        <p:nvSpPr>
          <p:cNvPr id="50" name="Text 48"/>
          <p:cNvSpPr/>
          <p:nvPr/>
        </p:nvSpPr>
        <p:spPr>
          <a:xfrm>
            <a:off x="640080" y="3982212"/>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09</a:t>
            </a:r>
            <a:endParaRPr lang="en-US" sz="1060" dirty="0"/>
          </a:p>
        </p:txBody>
      </p:sp>
      <p:sp>
        <p:nvSpPr>
          <p:cNvPr id="51" name="Text 49"/>
          <p:cNvSpPr/>
          <p:nvPr/>
        </p:nvSpPr>
        <p:spPr>
          <a:xfrm>
            <a:off x="1033272" y="3968496"/>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t>
            </a:r>
            <a:endParaRPr lang="en-US" sz="1280" dirty="0"/>
          </a:p>
        </p:txBody>
      </p:sp>
      <p:sp>
        <p:nvSpPr>
          <p:cNvPr id="52" name="Text 50"/>
          <p:cNvSpPr/>
          <p:nvPr/>
        </p:nvSpPr>
        <p:spPr>
          <a:xfrm>
            <a:off x="640080" y="4224528"/>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10</a:t>
            </a:r>
            <a:endParaRPr lang="en-US" sz="1060" dirty="0"/>
          </a:p>
        </p:txBody>
      </p:sp>
      <p:sp>
        <p:nvSpPr>
          <p:cNvPr id="53" name="Text 51"/>
          <p:cNvSpPr/>
          <p:nvPr/>
        </p:nvSpPr>
        <p:spPr>
          <a:xfrm>
            <a:off x="1033272" y="4210812"/>
            <a:ext cx="4782312" cy="242316"/>
          </a:xfrm>
          <a:prstGeom prst="rect">
            <a:avLst/>
          </a:prstGeom>
          <a:noFill/>
          <a:ln/>
        </p:spPr>
        <p:txBody>
          <a:bodyPr wrap="square" lIns="0" tIns="0" rIns="0" bIns="0" rtlCol="0" anchor="ctr">
            <a:normAutofit/>
          </a:bodyPr>
          <a:lstStyle/>
          <a:p>
            <a:pPr indent="0" marL="0">
              <a:buNone/>
            </a:pPr>
            <a:r>
              <a:rPr lang="en-US" sz="1280" dirty="0">
                <a:solidFill>
                  <a:srgbClr val="78C9A6"/>
                </a:solidFill>
                <a:latin typeface="Aptos Mono" pitchFamily="34" charset="0"/>
                <a:ea typeface="Aptos Mono" pitchFamily="34" charset="-122"/>
                <a:cs typeface="Aptos Mono" pitchFamily="34" charset="-120"/>
              </a:rPr>
              <a:t>// La risposta di "rea" può arrivare dopo "react".</a:t>
            </a:r>
            <a:endParaRPr lang="en-US" sz="1280" dirty="0"/>
          </a:p>
        </p:txBody>
      </p:sp>
      <p:sp>
        <p:nvSpPr>
          <p:cNvPr id="54" name="Shape 52"/>
          <p:cNvSpPr/>
          <p:nvPr/>
        </p:nvSpPr>
        <p:spPr>
          <a:xfrm>
            <a:off x="6217920" y="1581912"/>
            <a:ext cx="5440680" cy="4526280"/>
          </a:xfrm>
          <a:prstGeom prst="roundRect">
            <a:avLst>
              <a:gd name="adj" fmla="val 1010"/>
            </a:avLst>
          </a:prstGeom>
          <a:solidFill>
            <a:srgbClr val="0D1A2B"/>
          </a:solidFill>
          <a:ln w="13970">
            <a:solidFill>
              <a:srgbClr val="263A55"/>
            </a:solidFill>
            <a:prstDash val="solid"/>
          </a:ln>
        </p:spPr>
      </p:sp>
      <p:sp>
        <p:nvSpPr>
          <p:cNvPr id="55" name="Shape 53"/>
          <p:cNvSpPr/>
          <p:nvPr/>
        </p:nvSpPr>
        <p:spPr>
          <a:xfrm>
            <a:off x="6217920" y="1581912"/>
            <a:ext cx="5440680" cy="347472"/>
          </a:xfrm>
          <a:prstGeom prst="rect">
            <a:avLst/>
          </a:prstGeom>
          <a:solidFill>
            <a:srgbClr val="122238"/>
          </a:solidFill>
          <a:ln w="12700">
            <a:solidFill>
              <a:srgbClr val="122238"/>
            </a:solidFill>
            <a:prstDash val="solid"/>
          </a:ln>
        </p:spPr>
      </p:sp>
      <p:sp>
        <p:nvSpPr>
          <p:cNvPr id="56" name="Shape 54"/>
          <p:cNvSpPr/>
          <p:nvPr/>
        </p:nvSpPr>
        <p:spPr>
          <a:xfrm>
            <a:off x="6382512" y="1623060"/>
            <a:ext cx="658368" cy="274320"/>
          </a:xfrm>
          <a:prstGeom prst="roundRect">
            <a:avLst>
              <a:gd name="adj" fmla="val 20000"/>
            </a:avLst>
          </a:prstGeom>
          <a:solidFill>
            <a:srgbClr val="6FE3B1">
              <a:alpha val="20000"/>
            </a:srgbClr>
          </a:solidFill>
          <a:ln w="10160">
            <a:solidFill>
              <a:srgbClr val="6FE3B1">
                <a:alpha val="55000"/>
              </a:srgbClr>
            </a:solidFill>
            <a:prstDash val="solid"/>
          </a:ln>
        </p:spPr>
      </p:sp>
      <p:sp>
        <p:nvSpPr>
          <p:cNvPr id="57" name="Text 55"/>
          <p:cNvSpPr/>
          <p:nvPr/>
        </p:nvSpPr>
        <p:spPr>
          <a:xfrm>
            <a:off x="6473952" y="1682496"/>
            <a:ext cx="475488" cy="128016"/>
          </a:xfrm>
          <a:prstGeom prst="rect">
            <a:avLst/>
          </a:prstGeom>
          <a:noFill/>
          <a:ln/>
        </p:spPr>
        <p:txBody>
          <a:bodyPr wrap="square" lIns="0" tIns="0" rIns="0" bIns="0" rtlCol="0" anchor="ctr"/>
          <a:lstStyle/>
          <a:p>
            <a:pPr algn="ctr" indent="0" marL="0">
              <a:buNone/>
            </a:pPr>
            <a:r>
              <a:rPr lang="en-US" sz="820" b="1" dirty="0">
                <a:solidFill>
                  <a:srgbClr val="6FE3B1"/>
                </a:solidFill>
                <a:latin typeface="Aptos Mono" pitchFamily="34" charset="0"/>
                <a:ea typeface="Aptos Mono" pitchFamily="34" charset="-122"/>
                <a:cs typeface="Aptos Mono" pitchFamily="34" charset="-120"/>
              </a:rPr>
              <a:t>TSX</a:t>
            </a:r>
            <a:endParaRPr lang="en-US" sz="820" dirty="0"/>
          </a:p>
        </p:txBody>
      </p:sp>
      <p:sp>
        <p:nvSpPr>
          <p:cNvPr id="58" name="Text 56"/>
          <p:cNvSpPr/>
          <p:nvPr/>
        </p:nvSpPr>
        <p:spPr>
          <a:xfrm>
            <a:off x="7178040" y="1677924"/>
            <a:ext cx="420624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DOPO</a:t>
            </a:r>
            <a:endParaRPr lang="en-US" sz="880" dirty="0"/>
          </a:p>
        </p:txBody>
      </p:sp>
      <p:sp>
        <p:nvSpPr>
          <p:cNvPr id="59" name="Text 57"/>
          <p:cNvSpPr/>
          <p:nvPr/>
        </p:nvSpPr>
        <p:spPr>
          <a:xfrm>
            <a:off x="6327648" y="204368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01</a:t>
            </a:r>
            <a:endParaRPr lang="en-US" sz="1060" dirty="0"/>
          </a:p>
        </p:txBody>
      </p:sp>
      <p:sp>
        <p:nvSpPr>
          <p:cNvPr id="60" name="Text 58"/>
          <p:cNvSpPr/>
          <p:nvPr/>
        </p:nvSpPr>
        <p:spPr>
          <a:xfrm>
            <a:off x="6720840" y="202996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useEffect(() =&gt; {</a:t>
            </a:r>
            <a:endParaRPr lang="en-US" sz="1280" dirty="0"/>
          </a:p>
        </p:txBody>
      </p:sp>
      <p:sp>
        <p:nvSpPr>
          <p:cNvPr id="61" name="Text 59"/>
          <p:cNvSpPr/>
          <p:nvPr/>
        </p:nvSpPr>
        <p:spPr>
          <a:xfrm>
            <a:off x="6327648" y="228600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02</a:t>
            </a:r>
            <a:endParaRPr lang="en-US" sz="1060" dirty="0"/>
          </a:p>
        </p:txBody>
      </p:sp>
      <p:sp>
        <p:nvSpPr>
          <p:cNvPr id="62" name="Text 60"/>
          <p:cNvSpPr/>
          <p:nvPr/>
        </p:nvSpPr>
        <p:spPr>
          <a:xfrm>
            <a:off x="6720840" y="227228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const controller = new AbortController();</a:t>
            </a:r>
            <a:endParaRPr lang="en-US" sz="1280" dirty="0"/>
          </a:p>
        </p:txBody>
      </p:sp>
      <p:sp>
        <p:nvSpPr>
          <p:cNvPr id="63" name="Text 61"/>
          <p:cNvSpPr/>
          <p:nvPr/>
        </p:nvSpPr>
        <p:spPr>
          <a:xfrm>
            <a:off x="6327648" y="252831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03</a:t>
            </a:r>
            <a:endParaRPr lang="en-US" sz="1060" dirty="0"/>
          </a:p>
        </p:txBody>
      </p:sp>
      <p:sp>
        <p:nvSpPr>
          <p:cNvPr id="64" name="Text 62"/>
          <p:cNvSpPr/>
          <p:nvPr/>
        </p:nvSpPr>
        <p:spPr>
          <a:xfrm>
            <a:off x="6720840" y="2514600"/>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setLoading(true);</a:t>
            </a:r>
            <a:endParaRPr lang="en-US" sz="1280" dirty="0"/>
          </a:p>
        </p:txBody>
      </p:sp>
      <p:sp>
        <p:nvSpPr>
          <p:cNvPr id="65" name="Text 63"/>
          <p:cNvSpPr/>
          <p:nvPr/>
        </p:nvSpPr>
        <p:spPr>
          <a:xfrm>
            <a:off x="6327648" y="2770632"/>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04</a:t>
            </a:r>
            <a:endParaRPr lang="en-US" sz="1060" dirty="0"/>
          </a:p>
        </p:txBody>
      </p:sp>
      <p:sp>
        <p:nvSpPr>
          <p:cNvPr id="66" name="Text 64"/>
          <p:cNvSpPr/>
          <p:nvPr/>
        </p:nvSpPr>
        <p:spPr>
          <a:xfrm>
            <a:off x="6720840" y="2756916"/>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t>
            </a:r>
            <a:endParaRPr lang="en-US" sz="1280" dirty="0"/>
          </a:p>
        </p:txBody>
      </p:sp>
      <p:sp>
        <p:nvSpPr>
          <p:cNvPr id="67" name="Text 65"/>
          <p:cNvSpPr/>
          <p:nvPr/>
        </p:nvSpPr>
        <p:spPr>
          <a:xfrm>
            <a:off x="6327648" y="3012948"/>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05</a:t>
            </a:r>
            <a:endParaRPr lang="en-US" sz="1060" dirty="0"/>
          </a:p>
        </p:txBody>
      </p:sp>
      <p:sp>
        <p:nvSpPr>
          <p:cNvPr id="68" name="Text 66"/>
          <p:cNvSpPr/>
          <p:nvPr/>
        </p:nvSpPr>
        <p:spPr>
          <a:xfrm>
            <a:off x="6720840" y="2999232"/>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fetchTickets(query, controller.signal)</a:t>
            </a:r>
            <a:endParaRPr lang="en-US" sz="1280" dirty="0"/>
          </a:p>
        </p:txBody>
      </p:sp>
      <p:sp>
        <p:nvSpPr>
          <p:cNvPr id="69" name="Text 67"/>
          <p:cNvSpPr/>
          <p:nvPr/>
        </p:nvSpPr>
        <p:spPr>
          <a:xfrm>
            <a:off x="6327648" y="325526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06</a:t>
            </a:r>
            <a:endParaRPr lang="en-US" sz="1060" dirty="0"/>
          </a:p>
        </p:txBody>
      </p:sp>
      <p:sp>
        <p:nvSpPr>
          <p:cNvPr id="70" name="Text 68"/>
          <p:cNvSpPr/>
          <p:nvPr/>
        </p:nvSpPr>
        <p:spPr>
          <a:xfrm>
            <a:off x="6720840" y="324154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.then(setTickets)</a:t>
            </a:r>
            <a:endParaRPr lang="en-US" sz="1280" dirty="0"/>
          </a:p>
        </p:txBody>
      </p:sp>
      <p:sp>
        <p:nvSpPr>
          <p:cNvPr id="71" name="Text 69"/>
          <p:cNvSpPr/>
          <p:nvPr/>
        </p:nvSpPr>
        <p:spPr>
          <a:xfrm>
            <a:off x="6327648" y="349758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07</a:t>
            </a:r>
            <a:endParaRPr lang="en-US" sz="1060" dirty="0"/>
          </a:p>
        </p:txBody>
      </p:sp>
      <p:sp>
        <p:nvSpPr>
          <p:cNvPr id="72" name="Text 70"/>
          <p:cNvSpPr/>
          <p:nvPr/>
        </p:nvSpPr>
        <p:spPr>
          <a:xfrm>
            <a:off x="6720840" y="348386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.finally(() =&gt; setLoading(false));</a:t>
            </a:r>
            <a:endParaRPr lang="en-US" sz="1280" dirty="0"/>
          </a:p>
        </p:txBody>
      </p:sp>
      <p:sp>
        <p:nvSpPr>
          <p:cNvPr id="73" name="Text 71"/>
          <p:cNvSpPr/>
          <p:nvPr/>
        </p:nvSpPr>
        <p:spPr>
          <a:xfrm>
            <a:off x="6327648" y="373989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08</a:t>
            </a:r>
            <a:endParaRPr lang="en-US" sz="1060" dirty="0"/>
          </a:p>
        </p:txBody>
      </p:sp>
      <p:sp>
        <p:nvSpPr>
          <p:cNvPr id="74" name="Text 72"/>
          <p:cNvSpPr/>
          <p:nvPr/>
        </p:nvSpPr>
        <p:spPr>
          <a:xfrm>
            <a:off x="6720840" y="3726180"/>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t>
            </a:r>
            <a:endParaRPr lang="en-US" sz="1280" dirty="0"/>
          </a:p>
        </p:txBody>
      </p:sp>
      <p:sp>
        <p:nvSpPr>
          <p:cNvPr id="75" name="Text 73"/>
          <p:cNvSpPr/>
          <p:nvPr/>
        </p:nvSpPr>
        <p:spPr>
          <a:xfrm>
            <a:off x="6327648" y="3982212"/>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09</a:t>
            </a:r>
            <a:endParaRPr lang="en-US" sz="1060" dirty="0"/>
          </a:p>
        </p:txBody>
      </p:sp>
      <p:sp>
        <p:nvSpPr>
          <p:cNvPr id="76" name="Text 74"/>
          <p:cNvSpPr/>
          <p:nvPr/>
        </p:nvSpPr>
        <p:spPr>
          <a:xfrm>
            <a:off x="6720840" y="3968496"/>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return () =&gt; controller.abort();</a:t>
            </a:r>
            <a:endParaRPr lang="en-US" sz="1280" dirty="0"/>
          </a:p>
        </p:txBody>
      </p:sp>
      <p:sp>
        <p:nvSpPr>
          <p:cNvPr id="77" name="Text 75"/>
          <p:cNvSpPr/>
          <p:nvPr/>
        </p:nvSpPr>
        <p:spPr>
          <a:xfrm>
            <a:off x="6327648" y="4224528"/>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10</a:t>
            </a:r>
            <a:endParaRPr lang="en-US" sz="1060" dirty="0"/>
          </a:p>
        </p:txBody>
      </p:sp>
      <p:sp>
        <p:nvSpPr>
          <p:cNvPr id="78" name="Text 76"/>
          <p:cNvSpPr/>
          <p:nvPr/>
        </p:nvSpPr>
        <p:spPr>
          <a:xfrm>
            <a:off x="6720840" y="4210812"/>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[query]);</a:t>
            </a:r>
            <a:endParaRPr lang="en-US" sz="1280" dirty="0"/>
          </a:p>
        </p:txBody>
      </p:sp>
      <p:sp>
        <p:nvSpPr>
          <p:cNvPr id="79" name="Shape 77"/>
          <p:cNvSpPr/>
          <p:nvPr/>
        </p:nvSpPr>
        <p:spPr>
          <a:xfrm>
            <a:off x="5870448" y="3310128"/>
            <a:ext cx="274320" cy="475488"/>
          </a:xfrm>
          <a:prstGeom prst="chevron">
            <a:avLst/>
          </a:prstGeom>
          <a:solidFill>
            <a:srgbClr val="4C7DFF"/>
          </a:solidFill>
          <a:ln w="12700">
            <a:solidFill>
              <a:srgbClr val="4C7DFF"/>
            </a:solidFill>
            <a:prstDash val="solid"/>
          </a:ln>
        </p:spPr>
      </p:sp>
      <p:sp>
        <p:nvSpPr>
          <p:cNvPr id="80" name="Text 78"/>
          <p:cNvSpPr/>
          <p:nvPr/>
        </p:nvSpPr>
        <p:spPr>
          <a:xfrm>
            <a:off x="1828800" y="6217920"/>
            <a:ext cx="8503920" cy="210312"/>
          </a:xfrm>
          <a:prstGeom prst="rect">
            <a:avLst/>
          </a:prstGeom>
          <a:noFill/>
          <a:ln/>
        </p:spPr>
        <p:txBody>
          <a:bodyPr wrap="square" lIns="0" tIns="0" rIns="0" bIns="0" rtlCol="0" anchor="ctr"/>
          <a:lstStyle/>
          <a:p>
            <a:pPr algn="ctr" indent="0" marL="0">
              <a:buNone/>
            </a:pPr>
            <a:r>
              <a:rPr lang="en-US" sz="1050" b="1" dirty="0">
                <a:solidFill>
                  <a:srgbClr val="F5C96A"/>
                </a:solidFill>
                <a:latin typeface="Aptos" pitchFamily="34" charset="0"/>
                <a:ea typeface="Aptos" pitchFamily="34" charset="-122"/>
                <a:cs typeface="Aptos" pitchFamily="34" charset="-120"/>
              </a:rPr>
              <a:t>La cleanup rende obsoleta la richiesta precedente.</a:t>
            </a:r>
            <a:endParaRPr lang="en-US" sz="10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62</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FETCH ROBUSTA</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AbortController annulla la richiesta obsoleta</a:t>
            </a:r>
            <a:endParaRPr lang="en-US" sz="2700" dirty="0"/>
          </a:p>
        </p:txBody>
      </p:sp>
      <p:sp>
        <p:nvSpPr>
          <p:cNvPr id="29" name="Shape 27"/>
          <p:cNvSpPr/>
          <p:nvPr/>
        </p:nvSpPr>
        <p:spPr>
          <a:xfrm>
            <a:off x="530352" y="1591056"/>
            <a:ext cx="7589520" cy="4553712"/>
          </a:xfrm>
          <a:prstGeom prst="roundRect">
            <a:avLst>
              <a:gd name="adj" fmla="val 1004"/>
            </a:avLst>
          </a:prstGeom>
          <a:solidFill>
            <a:srgbClr val="0D1A2B"/>
          </a:solidFill>
          <a:ln w="13970">
            <a:solidFill>
              <a:srgbClr val="263A55"/>
            </a:solidFill>
            <a:prstDash val="solid"/>
          </a:ln>
        </p:spPr>
      </p:sp>
      <p:sp>
        <p:nvSpPr>
          <p:cNvPr id="30" name="Shape 28"/>
          <p:cNvSpPr/>
          <p:nvPr/>
        </p:nvSpPr>
        <p:spPr>
          <a:xfrm>
            <a:off x="530352" y="1591056"/>
            <a:ext cx="7589520" cy="347472"/>
          </a:xfrm>
          <a:prstGeom prst="rect">
            <a:avLst/>
          </a:prstGeom>
          <a:solidFill>
            <a:srgbClr val="122238"/>
          </a:solidFill>
          <a:ln w="12700">
            <a:solidFill>
              <a:srgbClr val="122238"/>
            </a:solidFill>
            <a:prstDash val="solid"/>
          </a:ln>
        </p:spPr>
      </p:sp>
      <p:sp>
        <p:nvSpPr>
          <p:cNvPr id="31" name="Shape 29"/>
          <p:cNvSpPr/>
          <p:nvPr/>
        </p:nvSpPr>
        <p:spPr>
          <a:xfrm>
            <a:off x="694944" y="1632204"/>
            <a:ext cx="658368" cy="274320"/>
          </a:xfrm>
          <a:prstGeom prst="roundRect">
            <a:avLst>
              <a:gd name="adj" fmla="val 20000"/>
            </a:avLst>
          </a:prstGeom>
          <a:solidFill>
            <a:srgbClr val="7CD4FF">
              <a:alpha val="20000"/>
            </a:srgbClr>
          </a:solidFill>
          <a:ln w="10160">
            <a:solidFill>
              <a:srgbClr val="7CD4FF">
                <a:alpha val="55000"/>
              </a:srgbClr>
            </a:solidFill>
            <a:prstDash val="solid"/>
          </a:ln>
        </p:spPr>
      </p:sp>
      <p:sp>
        <p:nvSpPr>
          <p:cNvPr id="32" name="Text 30"/>
          <p:cNvSpPr/>
          <p:nvPr/>
        </p:nvSpPr>
        <p:spPr>
          <a:xfrm>
            <a:off x="786384" y="1691640"/>
            <a:ext cx="475488" cy="128016"/>
          </a:xfrm>
          <a:prstGeom prst="rect">
            <a:avLst/>
          </a:prstGeom>
          <a:noFill/>
          <a:ln/>
        </p:spPr>
        <p:txBody>
          <a:bodyPr wrap="square" lIns="0" tIns="0" rIns="0" bIns="0" rtlCol="0" anchor="ctr"/>
          <a:lstStyle/>
          <a:p>
            <a:pPr algn="ctr" indent="0" marL="0">
              <a:buNone/>
            </a:pPr>
            <a:r>
              <a:rPr lang="en-US" sz="820" b="1" dirty="0">
                <a:solidFill>
                  <a:srgbClr val="7CD4FF"/>
                </a:solidFill>
                <a:latin typeface="Aptos Mono" pitchFamily="34" charset="0"/>
                <a:ea typeface="Aptos Mono" pitchFamily="34" charset="-122"/>
                <a:cs typeface="Aptos Mono" pitchFamily="34" charset="-120"/>
              </a:rPr>
              <a:t>TSX</a:t>
            </a:r>
            <a:endParaRPr lang="en-US" sz="820" dirty="0"/>
          </a:p>
        </p:txBody>
      </p:sp>
      <p:sp>
        <p:nvSpPr>
          <p:cNvPr id="33" name="Text 31"/>
          <p:cNvSpPr/>
          <p:nvPr/>
        </p:nvSpPr>
        <p:spPr>
          <a:xfrm>
            <a:off x="1490472" y="1687068"/>
            <a:ext cx="635508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useTickets.ts</a:t>
            </a:r>
            <a:endParaRPr lang="en-US" sz="880" dirty="0"/>
          </a:p>
        </p:txBody>
      </p:sp>
      <p:sp>
        <p:nvSpPr>
          <p:cNvPr id="34" name="Text 32"/>
          <p:cNvSpPr/>
          <p:nvPr/>
        </p:nvSpPr>
        <p:spPr>
          <a:xfrm>
            <a:off x="640080" y="2052828"/>
            <a:ext cx="320040" cy="224536"/>
          </a:xfrm>
          <a:prstGeom prst="rect">
            <a:avLst/>
          </a:prstGeom>
          <a:noFill/>
          <a:ln/>
        </p:spPr>
        <p:txBody>
          <a:bodyPr wrap="square" lIns="0" tIns="0" rIns="0" bIns="0" rtlCol="0" anchor="ctr"/>
          <a:lstStyle/>
          <a:p>
            <a:pPr algn="r" indent="0" marL="0">
              <a:buNone/>
            </a:pPr>
            <a:r>
              <a:rPr lang="en-US" sz="1155" dirty="0">
                <a:solidFill>
                  <a:srgbClr val="8296AE"/>
                </a:solidFill>
                <a:latin typeface="Aptos Mono" pitchFamily="34" charset="0"/>
                <a:ea typeface="Aptos Mono" pitchFamily="34" charset="-122"/>
                <a:cs typeface="Aptos Mono" pitchFamily="34" charset="-120"/>
              </a:rPr>
              <a:t>01</a:t>
            </a:r>
            <a:endParaRPr lang="en-US" sz="1155" dirty="0"/>
          </a:p>
        </p:txBody>
      </p:sp>
      <p:sp>
        <p:nvSpPr>
          <p:cNvPr id="35" name="Text 33"/>
          <p:cNvSpPr/>
          <p:nvPr/>
        </p:nvSpPr>
        <p:spPr>
          <a:xfrm>
            <a:off x="1033272" y="2039112"/>
            <a:ext cx="6931152" cy="224536"/>
          </a:xfrm>
          <a:prstGeom prst="rect">
            <a:avLst/>
          </a:prstGeom>
          <a:noFill/>
          <a:ln/>
        </p:spPr>
        <p:txBody>
          <a:bodyPr wrap="square" lIns="0" tIns="0" rIns="0" bIns="0" rtlCol="0" anchor="ctr">
            <a:normAutofit/>
          </a:bodyPr>
          <a:lstStyle/>
          <a:p>
            <a:pPr indent="0" marL="0">
              <a:buNone/>
            </a:pPr>
            <a:r>
              <a:rPr lang="en-US" sz="1375" dirty="0">
                <a:solidFill>
                  <a:srgbClr val="D9E4F2"/>
                </a:solidFill>
                <a:latin typeface="Aptos Mono" pitchFamily="34" charset="0"/>
                <a:ea typeface="Aptos Mono" pitchFamily="34" charset="-122"/>
                <a:cs typeface="Aptos Mono" pitchFamily="34" charset="-120"/>
              </a:rPr>
              <a:t>useEffect(() =&gt; {</a:t>
            </a:r>
            <a:endParaRPr lang="en-US" sz="1375" dirty="0"/>
          </a:p>
        </p:txBody>
      </p:sp>
      <p:sp>
        <p:nvSpPr>
          <p:cNvPr id="36" name="Text 34"/>
          <p:cNvSpPr/>
          <p:nvPr/>
        </p:nvSpPr>
        <p:spPr>
          <a:xfrm>
            <a:off x="640080" y="2277364"/>
            <a:ext cx="320040" cy="224536"/>
          </a:xfrm>
          <a:prstGeom prst="rect">
            <a:avLst/>
          </a:prstGeom>
          <a:noFill/>
          <a:ln/>
        </p:spPr>
        <p:txBody>
          <a:bodyPr wrap="square" lIns="0" tIns="0" rIns="0" bIns="0" rtlCol="0" anchor="ctr"/>
          <a:lstStyle/>
          <a:p>
            <a:pPr algn="r" indent="0" marL="0">
              <a:buNone/>
            </a:pPr>
            <a:r>
              <a:rPr lang="en-US" sz="1155" dirty="0">
                <a:solidFill>
                  <a:srgbClr val="8296AE"/>
                </a:solidFill>
                <a:latin typeface="Aptos Mono" pitchFamily="34" charset="0"/>
                <a:ea typeface="Aptos Mono" pitchFamily="34" charset="-122"/>
                <a:cs typeface="Aptos Mono" pitchFamily="34" charset="-120"/>
              </a:rPr>
              <a:t>02</a:t>
            </a:r>
            <a:endParaRPr lang="en-US" sz="1155" dirty="0"/>
          </a:p>
        </p:txBody>
      </p:sp>
      <p:sp>
        <p:nvSpPr>
          <p:cNvPr id="37" name="Text 35"/>
          <p:cNvSpPr/>
          <p:nvPr/>
        </p:nvSpPr>
        <p:spPr>
          <a:xfrm>
            <a:off x="1033272" y="2263648"/>
            <a:ext cx="6931152" cy="224536"/>
          </a:xfrm>
          <a:prstGeom prst="rect">
            <a:avLst/>
          </a:prstGeom>
          <a:noFill/>
          <a:ln/>
        </p:spPr>
        <p:txBody>
          <a:bodyPr wrap="square" lIns="0" tIns="0" rIns="0" bIns="0" rtlCol="0" anchor="ctr">
            <a:normAutofit/>
          </a:bodyPr>
          <a:lstStyle/>
          <a:p>
            <a:pPr indent="0" marL="0">
              <a:buNone/>
            </a:pPr>
            <a:r>
              <a:rPr lang="en-US" sz="1375" dirty="0">
                <a:solidFill>
                  <a:srgbClr val="D9E4F2"/>
                </a:solidFill>
                <a:latin typeface="Aptos Mono" pitchFamily="34" charset="0"/>
                <a:ea typeface="Aptos Mono" pitchFamily="34" charset="-122"/>
                <a:cs typeface="Aptos Mono" pitchFamily="34" charset="-120"/>
              </a:rPr>
              <a:t>  const controller = new AbortController();</a:t>
            </a:r>
            <a:endParaRPr lang="en-US" sz="1375" dirty="0"/>
          </a:p>
        </p:txBody>
      </p:sp>
      <p:sp>
        <p:nvSpPr>
          <p:cNvPr id="38" name="Text 36"/>
          <p:cNvSpPr/>
          <p:nvPr/>
        </p:nvSpPr>
        <p:spPr>
          <a:xfrm>
            <a:off x="640080" y="2501900"/>
            <a:ext cx="320040" cy="224536"/>
          </a:xfrm>
          <a:prstGeom prst="rect">
            <a:avLst/>
          </a:prstGeom>
          <a:noFill/>
          <a:ln/>
        </p:spPr>
        <p:txBody>
          <a:bodyPr wrap="square" lIns="0" tIns="0" rIns="0" bIns="0" rtlCol="0" anchor="ctr"/>
          <a:lstStyle/>
          <a:p>
            <a:pPr algn="r" indent="0" marL="0">
              <a:buNone/>
            </a:pPr>
            <a:r>
              <a:rPr lang="en-US" sz="1155" dirty="0">
                <a:solidFill>
                  <a:srgbClr val="8296AE"/>
                </a:solidFill>
                <a:latin typeface="Aptos Mono" pitchFamily="34" charset="0"/>
                <a:ea typeface="Aptos Mono" pitchFamily="34" charset="-122"/>
                <a:cs typeface="Aptos Mono" pitchFamily="34" charset="-120"/>
              </a:rPr>
              <a:t>03</a:t>
            </a:r>
            <a:endParaRPr lang="en-US" sz="1155" dirty="0"/>
          </a:p>
        </p:txBody>
      </p:sp>
      <p:sp>
        <p:nvSpPr>
          <p:cNvPr id="39" name="Text 37"/>
          <p:cNvSpPr/>
          <p:nvPr/>
        </p:nvSpPr>
        <p:spPr>
          <a:xfrm>
            <a:off x="1033272" y="2488184"/>
            <a:ext cx="6931152" cy="224536"/>
          </a:xfrm>
          <a:prstGeom prst="rect">
            <a:avLst/>
          </a:prstGeom>
          <a:noFill/>
          <a:ln/>
        </p:spPr>
        <p:txBody>
          <a:bodyPr wrap="square" lIns="0" tIns="0" rIns="0" bIns="0" rtlCol="0" anchor="ctr">
            <a:normAutofit/>
          </a:bodyPr>
          <a:lstStyle/>
          <a:p>
            <a:pPr indent="0" marL="0">
              <a:buNone/>
            </a:pPr>
            <a:r>
              <a:rPr lang="en-US" sz="1375" dirty="0">
                <a:solidFill>
                  <a:srgbClr val="D9E4F2"/>
                </a:solidFill>
                <a:latin typeface="Aptos Mono" pitchFamily="34" charset="0"/>
                <a:ea typeface="Aptos Mono" pitchFamily="34" charset="-122"/>
                <a:cs typeface="Aptos Mono" pitchFamily="34" charset="-120"/>
              </a:rPr>
              <a:t>  setStatus('loading');</a:t>
            </a:r>
            <a:endParaRPr lang="en-US" sz="1375" dirty="0"/>
          </a:p>
        </p:txBody>
      </p:sp>
      <p:sp>
        <p:nvSpPr>
          <p:cNvPr id="40" name="Text 38"/>
          <p:cNvSpPr/>
          <p:nvPr/>
        </p:nvSpPr>
        <p:spPr>
          <a:xfrm>
            <a:off x="640080" y="2726436"/>
            <a:ext cx="320040" cy="224536"/>
          </a:xfrm>
          <a:prstGeom prst="rect">
            <a:avLst/>
          </a:prstGeom>
          <a:noFill/>
          <a:ln/>
        </p:spPr>
        <p:txBody>
          <a:bodyPr wrap="square" lIns="0" tIns="0" rIns="0" bIns="0" rtlCol="0" anchor="ctr"/>
          <a:lstStyle/>
          <a:p>
            <a:pPr algn="r" indent="0" marL="0">
              <a:buNone/>
            </a:pPr>
            <a:r>
              <a:rPr lang="en-US" sz="1155" dirty="0">
                <a:solidFill>
                  <a:srgbClr val="8296AE"/>
                </a:solidFill>
                <a:latin typeface="Aptos Mono" pitchFamily="34" charset="0"/>
                <a:ea typeface="Aptos Mono" pitchFamily="34" charset="-122"/>
                <a:cs typeface="Aptos Mono" pitchFamily="34" charset="-120"/>
              </a:rPr>
              <a:t>04</a:t>
            </a:r>
            <a:endParaRPr lang="en-US" sz="1155" dirty="0"/>
          </a:p>
        </p:txBody>
      </p:sp>
      <p:sp>
        <p:nvSpPr>
          <p:cNvPr id="41" name="Text 39"/>
          <p:cNvSpPr/>
          <p:nvPr/>
        </p:nvSpPr>
        <p:spPr>
          <a:xfrm>
            <a:off x="1033272" y="2712720"/>
            <a:ext cx="6931152" cy="224536"/>
          </a:xfrm>
          <a:prstGeom prst="rect">
            <a:avLst/>
          </a:prstGeom>
          <a:noFill/>
          <a:ln/>
        </p:spPr>
        <p:txBody>
          <a:bodyPr wrap="square" lIns="0" tIns="0" rIns="0" bIns="0" rtlCol="0" anchor="ctr">
            <a:normAutofit/>
          </a:bodyPr>
          <a:lstStyle/>
          <a:p>
            <a:pPr indent="0" marL="0">
              <a:buNone/>
            </a:pPr>
            <a:r>
              <a:rPr lang="en-US" sz="1375" dirty="0">
                <a:solidFill>
                  <a:srgbClr val="D9E4F2"/>
                </a:solidFill>
                <a:latin typeface="Aptos Mono" pitchFamily="34" charset="0"/>
                <a:ea typeface="Aptos Mono" pitchFamily="34" charset="-122"/>
                <a:cs typeface="Aptos Mono" pitchFamily="34" charset="-120"/>
              </a:rPr>
              <a:t>  setError(null);</a:t>
            </a:r>
            <a:endParaRPr lang="en-US" sz="1375" dirty="0"/>
          </a:p>
        </p:txBody>
      </p:sp>
      <p:sp>
        <p:nvSpPr>
          <p:cNvPr id="42" name="Text 40"/>
          <p:cNvSpPr/>
          <p:nvPr/>
        </p:nvSpPr>
        <p:spPr>
          <a:xfrm>
            <a:off x="640080" y="2950972"/>
            <a:ext cx="320040" cy="224536"/>
          </a:xfrm>
          <a:prstGeom prst="rect">
            <a:avLst/>
          </a:prstGeom>
          <a:noFill/>
          <a:ln/>
        </p:spPr>
        <p:txBody>
          <a:bodyPr wrap="square" lIns="0" tIns="0" rIns="0" bIns="0" rtlCol="0" anchor="ctr"/>
          <a:lstStyle/>
          <a:p>
            <a:pPr algn="r" indent="0" marL="0">
              <a:buNone/>
            </a:pPr>
            <a:r>
              <a:rPr lang="en-US" sz="1155" dirty="0">
                <a:solidFill>
                  <a:srgbClr val="8296AE"/>
                </a:solidFill>
                <a:latin typeface="Aptos Mono" pitchFamily="34" charset="0"/>
                <a:ea typeface="Aptos Mono" pitchFamily="34" charset="-122"/>
                <a:cs typeface="Aptos Mono" pitchFamily="34" charset="-120"/>
              </a:rPr>
              <a:t>05</a:t>
            </a:r>
            <a:endParaRPr lang="en-US" sz="1155" dirty="0"/>
          </a:p>
        </p:txBody>
      </p:sp>
      <p:sp>
        <p:nvSpPr>
          <p:cNvPr id="43" name="Text 41"/>
          <p:cNvSpPr/>
          <p:nvPr/>
        </p:nvSpPr>
        <p:spPr>
          <a:xfrm>
            <a:off x="1033272" y="2937256"/>
            <a:ext cx="6931152" cy="224536"/>
          </a:xfrm>
          <a:prstGeom prst="rect">
            <a:avLst/>
          </a:prstGeom>
          <a:noFill/>
          <a:ln/>
        </p:spPr>
        <p:txBody>
          <a:bodyPr wrap="square" lIns="0" tIns="0" rIns="0" bIns="0" rtlCol="0" anchor="ctr">
            <a:normAutofit/>
          </a:bodyPr>
          <a:lstStyle/>
          <a:p>
            <a:pPr indent="0" marL="0">
              <a:buNone/>
            </a:pPr>
            <a:r>
              <a:rPr lang="en-US" sz="1375" dirty="0">
                <a:solidFill>
                  <a:srgbClr val="D9E4F2"/>
                </a:solidFill>
                <a:latin typeface="Aptos Mono" pitchFamily="34" charset="0"/>
                <a:ea typeface="Aptos Mono" pitchFamily="34" charset="-122"/>
                <a:cs typeface="Aptos Mono" pitchFamily="34" charset="-120"/>
              </a:rPr>
              <a:t> </a:t>
            </a:r>
            <a:endParaRPr lang="en-US" sz="1375" dirty="0"/>
          </a:p>
        </p:txBody>
      </p:sp>
      <p:sp>
        <p:nvSpPr>
          <p:cNvPr id="44" name="Text 42"/>
          <p:cNvSpPr/>
          <p:nvPr/>
        </p:nvSpPr>
        <p:spPr>
          <a:xfrm>
            <a:off x="640080" y="3175508"/>
            <a:ext cx="320040" cy="224536"/>
          </a:xfrm>
          <a:prstGeom prst="rect">
            <a:avLst/>
          </a:prstGeom>
          <a:noFill/>
          <a:ln/>
        </p:spPr>
        <p:txBody>
          <a:bodyPr wrap="square" lIns="0" tIns="0" rIns="0" bIns="0" rtlCol="0" anchor="ctr"/>
          <a:lstStyle/>
          <a:p>
            <a:pPr algn="r" indent="0" marL="0">
              <a:buNone/>
            </a:pPr>
            <a:r>
              <a:rPr lang="en-US" sz="1155" dirty="0">
                <a:solidFill>
                  <a:srgbClr val="8296AE"/>
                </a:solidFill>
                <a:latin typeface="Aptos Mono" pitchFamily="34" charset="0"/>
                <a:ea typeface="Aptos Mono" pitchFamily="34" charset="-122"/>
                <a:cs typeface="Aptos Mono" pitchFamily="34" charset="-120"/>
              </a:rPr>
              <a:t>06</a:t>
            </a:r>
            <a:endParaRPr lang="en-US" sz="1155" dirty="0"/>
          </a:p>
        </p:txBody>
      </p:sp>
      <p:sp>
        <p:nvSpPr>
          <p:cNvPr id="45" name="Text 43"/>
          <p:cNvSpPr/>
          <p:nvPr/>
        </p:nvSpPr>
        <p:spPr>
          <a:xfrm>
            <a:off x="1033272" y="3161792"/>
            <a:ext cx="6931152" cy="224536"/>
          </a:xfrm>
          <a:prstGeom prst="rect">
            <a:avLst/>
          </a:prstGeom>
          <a:noFill/>
          <a:ln/>
        </p:spPr>
        <p:txBody>
          <a:bodyPr wrap="square" lIns="0" tIns="0" rIns="0" bIns="0" rtlCol="0" anchor="ctr">
            <a:normAutofit/>
          </a:bodyPr>
          <a:lstStyle/>
          <a:p>
            <a:pPr indent="0" marL="0">
              <a:buNone/>
            </a:pPr>
            <a:r>
              <a:rPr lang="en-US" sz="1375" dirty="0">
                <a:solidFill>
                  <a:srgbClr val="D9E4F2"/>
                </a:solidFill>
                <a:latin typeface="Aptos Mono" pitchFamily="34" charset="0"/>
                <a:ea typeface="Aptos Mono" pitchFamily="34" charset="-122"/>
                <a:cs typeface="Aptos Mono" pitchFamily="34" charset="-120"/>
              </a:rPr>
              <a:t>  fetchTickets(query, controller.signal)</a:t>
            </a:r>
            <a:endParaRPr lang="en-US" sz="1375" dirty="0"/>
          </a:p>
        </p:txBody>
      </p:sp>
      <p:sp>
        <p:nvSpPr>
          <p:cNvPr id="46" name="Text 44"/>
          <p:cNvSpPr/>
          <p:nvPr/>
        </p:nvSpPr>
        <p:spPr>
          <a:xfrm>
            <a:off x="640080" y="3400044"/>
            <a:ext cx="320040" cy="224536"/>
          </a:xfrm>
          <a:prstGeom prst="rect">
            <a:avLst/>
          </a:prstGeom>
          <a:noFill/>
          <a:ln/>
        </p:spPr>
        <p:txBody>
          <a:bodyPr wrap="square" lIns="0" tIns="0" rIns="0" bIns="0" rtlCol="0" anchor="ctr"/>
          <a:lstStyle/>
          <a:p>
            <a:pPr algn="r" indent="0" marL="0">
              <a:buNone/>
            </a:pPr>
            <a:r>
              <a:rPr lang="en-US" sz="1155" dirty="0">
                <a:solidFill>
                  <a:srgbClr val="8296AE"/>
                </a:solidFill>
                <a:latin typeface="Aptos Mono" pitchFamily="34" charset="0"/>
                <a:ea typeface="Aptos Mono" pitchFamily="34" charset="-122"/>
                <a:cs typeface="Aptos Mono" pitchFamily="34" charset="-120"/>
              </a:rPr>
              <a:t>07</a:t>
            </a:r>
            <a:endParaRPr lang="en-US" sz="1155" dirty="0"/>
          </a:p>
        </p:txBody>
      </p:sp>
      <p:sp>
        <p:nvSpPr>
          <p:cNvPr id="47" name="Text 45"/>
          <p:cNvSpPr/>
          <p:nvPr/>
        </p:nvSpPr>
        <p:spPr>
          <a:xfrm>
            <a:off x="1033272" y="3386328"/>
            <a:ext cx="6931152" cy="224536"/>
          </a:xfrm>
          <a:prstGeom prst="rect">
            <a:avLst/>
          </a:prstGeom>
          <a:noFill/>
          <a:ln/>
        </p:spPr>
        <p:txBody>
          <a:bodyPr wrap="square" lIns="0" tIns="0" rIns="0" bIns="0" rtlCol="0" anchor="ctr">
            <a:normAutofit/>
          </a:bodyPr>
          <a:lstStyle/>
          <a:p>
            <a:pPr indent="0" marL="0">
              <a:buNone/>
            </a:pPr>
            <a:r>
              <a:rPr lang="en-US" sz="1375" dirty="0">
                <a:solidFill>
                  <a:srgbClr val="D9E4F2"/>
                </a:solidFill>
                <a:latin typeface="Aptos Mono" pitchFamily="34" charset="0"/>
                <a:ea typeface="Aptos Mono" pitchFamily="34" charset="-122"/>
                <a:cs typeface="Aptos Mono" pitchFamily="34" charset="-120"/>
              </a:rPr>
              <a:t>    .then(data =&gt; {</a:t>
            </a:r>
            <a:endParaRPr lang="en-US" sz="1375" dirty="0"/>
          </a:p>
        </p:txBody>
      </p:sp>
      <p:sp>
        <p:nvSpPr>
          <p:cNvPr id="48" name="Text 46"/>
          <p:cNvSpPr/>
          <p:nvPr/>
        </p:nvSpPr>
        <p:spPr>
          <a:xfrm>
            <a:off x="640080" y="3624580"/>
            <a:ext cx="320040" cy="224536"/>
          </a:xfrm>
          <a:prstGeom prst="rect">
            <a:avLst/>
          </a:prstGeom>
          <a:noFill/>
          <a:ln/>
        </p:spPr>
        <p:txBody>
          <a:bodyPr wrap="square" lIns="0" tIns="0" rIns="0" bIns="0" rtlCol="0" anchor="ctr"/>
          <a:lstStyle/>
          <a:p>
            <a:pPr algn="r" indent="0" marL="0">
              <a:buNone/>
            </a:pPr>
            <a:r>
              <a:rPr lang="en-US" sz="1155" dirty="0">
                <a:solidFill>
                  <a:srgbClr val="8296AE"/>
                </a:solidFill>
                <a:latin typeface="Aptos Mono" pitchFamily="34" charset="0"/>
                <a:ea typeface="Aptos Mono" pitchFamily="34" charset="-122"/>
                <a:cs typeface="Aptos Mono" pitchFamily="34" charset="-120"/>
              </a:rPr>
              <a:t>08</a:t>
            </a:r>
            <a:endParaRPr lang="en-US" sz="1155" dirty="0"/>
          </a:p>
        </p:txBody>
      </p:sp>
      <p:sp>
        <p:nvSpPr>
          <p:cNvPr id="49" name="Text 47"/>
          <p:cNvSpPr/>
          <p:nvPr/>
        </p:nvSpPr>
        <p:spPr>
          <a:xfrm>
            <a:off x="1033272" y="3610864"/>
            <a:ext cx="6931152" cy="224536"/>
          </a:xfrm>
          <a:prstGeom prst="rect">
            <a:avLst/>
          </a:prstGeom>
          <a:noFill/>
          <a:ln/>
        </p:spPr>
        <p:txBody>
          <a:bodyPr wrap="square" lIns="0" tIns="0" rIns="0" bIns="0" rtlCol="0" anchor="ctr">
            <a:normAutofit/>
          </a:bodyPr>
          <a:lstStyle/>
          <a:p>
            <a:pPr indent="0" marL="0">
              <a:buNone/>
            </a:pPr>
            <a:r>
              <a:rPr lang="en-US" sz="1375" dirty="0">
                <a:solidFill>
                  <a:srgbClr val="D9E4F2"/>
                </a:solidFill>
                <a:latin typeface="Aptos Mono" pitchFamily="34" charset="0"/>
                <a:ea typeface="Aptos Mono" pitchFamily="34" charset="-122"/>
                <a:cs typeface="Aptos Mono" pitchFamily="34" charset="-120"/>
              </a:rPr>
              <a:t>      setTickets(data);</a:t>
            </a:r>
            <a:endParaRPr lang="en-US" sz="1375" dirty="0"/>
          </a:p>
        </p:txBody>
      </p:sp>
      <p:sp>
        <p:nvSpPr>
          <p:cNvPr id="50" name="Text 48"/>
          <p:cNvSpPr/>
          <p:nvPr/>
        </p:nvSpPr>
        <p:spPr>
          <a:xfrm>
            <a:off x="640080" y="3849116"/>
            <a:ext cx="320040" cy="224536"/>
          </a:xfrm>
          <a:prstGeom prst="rect">
            <a:avLst/>
          </a:prstGeom>
          <a:noFill/>
          <a:ln/>
        </p:spPr>
        <p:txBody>
          <a:bodyPr wrap="square" lIns="0" tIns="0" rIns="0" bIns="0" rtlCol="0" anchor="ctr"/>
          <a:lstStyle/>
          <a:p>
            <a:pPr algn="r" indent="0" marL="0">
              <a:buNone/>
            </a:pPr>
            <a:r>
              <a:rPr lang="en-US" sz="1155" dirty="0">
                <a:solidFill>
                  <a:srgbClr val="8296AE"/>
                </a:solidFill>
                <a:latin typeface="Aptos Mono" pitchFamily="34" charset="0"/>
                <a:ea typeface="Aptos Mono" pitchFamily="34" charset="-122"/>
                <a:cs typeface="Aptos Mono" pitchFamily="34" charset="-120"/>
              </a:rPr>
              <a:t>09</a:t>
            </a:r>
            <a:endParaRPr lang="en-US" sz="1155" dirty="0"/>
          </a:p>
        </p:txBody>
      </p:sp>
      <p:sp>
        <p:nvSpPr>
          <p:cNvPr id="51" name="Text 49"/>
          <p:cNvSpPr/>
          <p:nvPr/>
        </p:nvSpPr>
        <p:spPr>
          <a:xfrm>
            <a:off x="1033272" y="3835400"/>
            <a:ext cx="6931152" cy="224536"/>
          </a:xfrm>
          <a:prstGeom prst="rect">
            <a:avLst/>
          </a:prstGeom>
          <a:noFill/>
          <a:ln/>
        </p:spPr>
        <p:txBody>
          <a:bodyPr wrap="square" lIns="0" tIns="0" rIns="0" bIns="0" rtlCol="0" anchor="ctr">
            <a:normAutofit/>
          </a:bodyPr>
          <a:lstStyle/>
          <a:p>
            <a:pPr indent="0" marL="0">
              <a:buNone/>
            </a:pPr>
            <a:r>
              <a:rPr lang="en-US" sz="1375" dirty="0">
                <a:solidFill>
                  <a:srgbClr val="D9E4F2"/>
                </a:solidFill>
                <a:latin typeface="Aptos Mono" pitchFamily="34" charset="0"/>
                <a:ea typeface="Aptos Mono" pitchFamily="34" charset="-122"/>
                <a:cs typeface="Aptos Mono" pitchFamily="34" charset="-120"/>
              </a:rPr>
              <a:t>      setStatus('success');</a:t>
            </a:r>
            <a:endParaRPr lang="en-US" sz="1375" dirty="0"/>
          </a:p>
        </p:txBody>
      </p:sp>
      <p:sp>
        <p:nvSpPr>
          <p:cNvPr id="52" name="Text 50"/>
          <p:cNvSpPr/>
          <p:nvPr/>
        </p:nvSpPr>
        <p:spPr>
          <a:xfrm>
            <a:off x="640080" y="4073652"/>
            <a:ext cx="320040" cy="224536"/>
          </a:xfrm>
          <a:prstGeom prst="rect">
            <a:avLst/>
          </a:prstGeom>
          <a:noFill/>
          <a:ln/>
        </p:spPr>
        <p:txBody>
          <a:bodyPr wrap="square" lIns="0" tIns="0" rIns="0" bIns="0" rtlCol="0" anchor="ctr"/>
          <a:lstStyle/>
          <a:p>
            <a:pPr algn="r" indent="0" marL="0">
              <a:buNone/>
            </a:pPr>
            <a:r>
              <a:rPr lang="en-US" sz="1155" dirty="0">
                <a:solidFill>
                  <a:srgbClr val="8296AE"/>
                </a:solidFill>
                <a:latin typeface="Aptos Mono" pitchFamily="34" charset="0"/>
                <a:ea typeface="Aptos Mono" pitchFamily="34" charset="-122"/>
                <a:cs typeface="Aptos Mono" pitchFamily="34" charset="-120"/>
              </a:rPr>
              <a:t>10</a:t>
            </a:r>
            <a:endParaRPr lang="en-US" sz="1155" dirty="0"/>
          </a:p>
        </p:txBody>
      </p:sp>
      <p:sp>
        <p:nvSpPr>
          <p:cNvPr id="53" name="Text 51"/>
          <p:cNvSpPr/>
          <p:nvPr/>
        </p:nvSpPr>
        <p:spPr>
          <a:xfrm>
            <a:off x="1033272" y="4059936"/>
            <a:ext cx="6931152" cy="224536"/>
          </a:xfrm>
          <a:prstGeom prst="rect">
            <a:avLst/>
          </a:prstGeom>
          <a:noFill/>
          <a:ln/>
        </p:spPr>
        <p:txBody>
          <a:bodyPr wrap="square" lIns="0" tIns="0" rIns="0" bIns="0" rtlCol="0" anchor="ctr">
            <a:normAutofit/>
          </a:bodyPr>
          <a:lstStyle/>
          <a:p>
            <a:pPr indent="0" marL="0">
              <a:buNone/>
            </a:pPr>
            <a:r>
              <a:rPr lang="en-US" sz="1375" dirty="0">
                <a:solidFill>
                  <a:srgbClr val="D9E4F2"/>
                </a:solidFill>
                <a:latin typeface="Aptos Mono" pitchFamily="34" charset="0"/>
                <a:ea typeface="Aptos Mono" pitchFamily="34" charset="-122"/>
                <a:cs typeface="Aptos Mono" pitchFamily="34" charset="-120"/>
              </a:rPr>
              <a:t>    })</a:t>
            </a:r>
            <a:endParaRPr lang="en-US" sz="1375" dirty="0"/>
          </a:p>
        </p:txBody>
      </p:sp>
      <p:sp>
        <p:nvSpPr>
          <p:cNvPr id="54" name="Text 52"/>
          <p:cNvSpPr/>
          <p:nvPr/>
        </p:nvSpPr>
        <p:spPr>
          <a:xfrm>
            <a:off x="640080" y="4298188"/>
            <a:ext cx="320040" cy="224536"/>
          </a:xfrm>
          <a:prstGeom prst="rect">
            <a:avLst/>
          </a:prstGeom>
          <a:noFill/>
          <a:ln/>
        </p:spPr>
        <p:txBody>
          <a:bodyPr wrap="square" lIns="0" tIns="0" rIns="0" bIns="0" rtlCol="0" anchor="ctr"/>
          <a:lstStyle/>
          <a:p>
            <a:pPr algn="r" indent="0" marL="0">
              <a:buNone/>
            </a:pPr>
            <a:r>
              <a:rPr lang="en-US" sz="1155" dirty="0">
                <a:solidFill>
                  <a:srgbClr val="8296AE"/>
                </a:solidFill>
                <a:latin typeface="Aptos Mono" pitchFamily="34" charset="0"/>
                <a:ea typeface="Aptos Mono" pitchFamily="34" charset="-122"/>
                <a:cs typeface="Aptos Mono" pitchFamily="34" charset="-120"/>
              </a:rPr>
              <a:t>11</a:t>
            </a:r>
            <a:endParaRPr lang="en-US" sz="1155" dirty="0"/>
          </a:p>
        </p:txBody>
      </p:sp>
      <p:sp>
        <p:nvSpPr>
          <p:cNvPr id="55" name="Text 53"/>
          <p:cNvSpPr/>
          <p:nvPr/>
        </p:nvSpPr>
        <p:spPr>
          <a:xfrm>
            <a:off x="1033272" y="4284472"/>
            <a:ext cx="6931152" cy="224536"/>
          </a:xfrm>
          <a:prstGeom prst="rect">
            <a:avLst/>
          </a:prstGeom>
          <a:noFill/>
          <a:ln/>
        </p:spPr>
        <p:txBody>
          <a:bodyPr wrap="square" lIns="0" tIns="0" rIns="0" bIns="0" rtlCol="0" anchor="ctr">
            <a:normAutofit/>
          </a:bodyPr>
          <a:lstStyle/>
          <a:p>
            <a:pPr indent="0" marL="0">
              <a:buNone/>
            </a:pPr>
            <a:r>
              <a:rPr lang="en-US" sz="1375" dirty="0">
                <a:solidFill>
                  <a:srgbClr val="D9E4F2"/>
                </a:solidFill>
                <a:latin typeface="Aptos Mono" pitchFamily="34" charset="0"/>
                <a:ea typeface="Aptos Mono" pitchFamily="34" charset="-122"/>
                <a:cs typeface="Aptos Mono" pitchFamily="34" charset="-120"/>
              </a:rPr>
              <a:t>    .catch(error =&gt; {</a:t>
            </a:r>
            <a:endParaRPr lang="en-US" sz="1375" dirty="0"/>
          </a:p>
        </p:txBody>
      </p:sp>
      <p:sp>
        <p:nvSpPr>
          <p:cNvPr id="56" name="Text 54"/>
          <p:cNvSpPr/>
          <p:nvPr/>
        </p:nvSpPr>
        <p:spPr>
          <a:xfrm>
            <a:off x="640080" y="4522724"/>
            <a:ext cx="320040" cy="224536"/>
          </a:xfrm>
          <a:prstGeom prst="rect">
            <a:avLst/>
          </a:prstGeom>
          <a:noFill/>
          <a:ln/>
        </p:spPr>
        <p:txBody>
          <a:bodyPr wrap="square" lIns="0" tIns="0" rIns="0" bIns="0" rtlCol="0" anchor="ctr"/>
          <a:lstStyle/>
          <a:p>
            <a:pPr algn="r" indent="0" marL="0">
              <a:buNone/>
            </a:pPr>
            <a:r>
              <a:rPr lang="en-US" sz="1155" dirty="0">
                <a:solidFill>
                  <a:srgbClr val="8296AE"/>
                </a:solidFill>
                <a:latin typeface="Aptos Mono" pitchFamily="34" charset="0"/>
                <a:ea typeface="Aptos Mono" pitchFamily="34" charset="-122"/>
                <a:cs typeface="Aptos Mono" pitchFamily="34" charset="-120"/>
              </a:rPr>
              <a:t>12</a:t>
            </a:r>
            <a:endParaRPr lang="en-US" sz="1155" dirty="0"/>
          </a:p>
        </p:txBody>
      </p:sp>
      <p:sp>
        <p:nvSpPr>
          <p:cNvPr id="57" name="Text 55"/>
          <p:cNvSpPr/>
          <p:nvPr/>
        </p:nvSpPr>
        <p:spPr>
          <a:xfrm>
            <a:off x="1033272" y="4509008"/>
            <a:ext cx="6931152" cy="224536"/>
          </a:xfrm>
          <a:prstGeom prst="rect">
            <a:avLst/>
          </a:prstGeom>
          <a:noFill/>
          <a:ln/>
        </p:spPr>
        <p:txBody>
          <a:bodyPr wrap="square" lIns="0" tIns="0" rIns="0" bIns="0" rtlCol="0" anchor="ctr">
            <a:normAutofit/>
          </a:bodyPr>
          <a:lstStyle/>
          <a:p>
            <a:pPr indent="0" marL="0">
              <a:buNone/>
            </a:pPr>
            <a:r>
              <a:rPr lang="en-US" sz="1375" dirty="0">
                <a:solidFill>
                  <a:srgbClr val="D9E4F2"/>
                </a:solidFill>
                <a:latin typeface="Aptos Mono" pitchFamily="34" charset="0"/>
                <a:ea typeface="Aptos Mono" pitchFamily="34" charset="-122"/>
                <a:cs typeface="Aptos Mono" pitchFamily="34" charset="-120"/>
              </a:rPr>
              <a:t>      if (error.name === 'AbortError') return;</a:t>
            </a:r>
            <a:endParaRPr lang="en-US" sz="1375" dirty="0"/>
          </a:p>
        </p:txBody>
      </p:sp>
      <p:sp>
        <p:nvSpPr>
          <p:cNvPr id="58" name="Text 56"/>
          <p:cNvSpPr/>
          <p:nvPr/>
        </p:nvSpPr>
        <p:spPr>
          <a:xfrm>
            <a:off x="640080" y="4747260"/>
            <a:ext cx="320040" cy="224536"/>
          </a:xfrm>
          <a:prstGeom prst="rect">
            <a:avLst/>
          </a:prstGeom>
          <a:noFill/>
          <a:ln/>
        </p:spPr>
        <p:txBody>
          <a:bodyPr wrap="square" lIns="0" tIns="0" rIns="0" bIns="0" rtlCol="0" anchor="ctr"/>
          <a:lstStyle/>
          <a:p>
            <a:pPr algn="r" indent="0" marL="0">
              <a:buNone/>
            </a:pPr>
            <a:r>
              <a:rPr lang="en-US" sz="1155" dirty="0">
                <a:solidFill>
                  <a:srgbClr val="8296AE"/>
                </a:solidFill>
                <a:latin typeface="Aptos Mono" pitchFamily="34" charset="0"/>
                <a:ea typeface="Aptos Mono" pitchFamily="34" charset="-122"/>
                <a:cs typeface="Aptos Mono" pitchFamily="34" charset="-120"/>
              </a:rPr>
              <a:t>13</a:t>
            </a:r>
            <a:endParaRPr lang="en-US" sz="1155" dirty="0"/>
          </a:p>
        </p:txBody>
      </p:sp>
      <p:sp>
        <p:nvSpPr>
          <p:cNvPr id="59" name="Text 57"/>
          <p:cNvSpPr/>
          <p:nvPr/>
        </p:nvSpPr>
        <p:spPr>
          <a:xfrm>
            <a:off x="1033272" y="4733544"/>
            <a:ext cx="6931152" cy="224536"/>
          </a:xfrm>
          <a:prstGeom prst="rect">
            <a:avLst/>
          </a:prstGeom>
          <a:noFill/>
          <a:ln/>
        </p:spPr>
        <p:txBody>
          <a:bodyPr wrap="square" lIns="0" tIns="0" rIns="0" bIns="0" rtlCol="0" anchor="ctr">
            <a:normAutofit/>
          </a:bodyPr>
          <a:lstStyle/>
          <a:p>
            <a:pPr indent="0" marL="0">
              <a:buNone/>
            </a:pPr>
            <a:r>
              <a:rPr lang="en-US" sz="1375" dirty="0">
                <a:solidFill>
                  <a:srgbClr val="D9E4F2"/>
                </a:solidFill>
                <a:latin typeface="Aptos Mono" pitchFamily="34" charset="0"/>
                <a:ea typeface="Aptos Mono" pitchFamily="34" charset="-122"/>
                <a:cs typeface="Aptos Mono" pitchFamily="34" charset="-120"/>
              </a:rPr>
              <a:t>      setError(error);</a:t>
            </a:r>
            <a:endParaRPr lang="en-US" sz="1375" dirty="0"/>
          </a:p>
        </p:txBody>
      </p:sp>
      <p:sp>
        <p:nvSpPr>
          <p:cNvPr id="60" name="Text 58"/>
          <p:cNvSpPr/>
          <p:nvPr/>
        </p:nvSpPr>
        <p:spPr>
          <a:xfrm>
            <a:off x="640080" y="4971796"/>
            <a:ext cx="320040" cy="224536"/>
          </a:xfrm>
          <a:prstGeom prst="rect">
            <a:avLst/>
          </a:prstGeom>
          <a:noFill/>
          <a:ln/>
        </p:spPr>
        <p:txBody>
          <a:bodyPr wrap="square" lIns="0" tIns="0" rIns="0" bIns="0" rtlCol="0" anchor="ctr"/>
          <a:lstStyle/>
          <a:p>
            <a:pPr algn="r" indent="0" marL="0">
              <a:buNone/>
            </a:pPr>
            <a:r>
              <a:rPr lang="en-US" sz="1155" dirty="0">
                <a:solidFill>
                  <a:srgbClr val="8296AE"/>
                </a:solidFill>
                <a:latin typeface="Aptos Mono" pitchFamily="34" charset="0"/>
                <a:ea typeface="Aptos Mono" pitchFamily="34" charset="-122"/>
                <a:cs typeface="Aptos Mono" pitchFamily="34" charset="-120"/>
              </a:rPr>
              <a:t>14</a:t>
            </a:r>
            <a:endParaRPr lang="en-US" sz="1155" dirty="0"/>
          </a:p>
        </p:txBody>
      </p:sp>
      <p:sp>
        <p:nvSpPr>
          <p:cNvPr id="61" name="Text 59"/>
          <p:cNvSpPr/>
          <p:nvPr/>
        </p:nvSpPr>
        <p:spPr>
          <a:xfrm>
            <a:off x="1033272" y="4958080"/>
            <a:ext cx="6931152" cy="224536"/>
          </a:xfrm>
          <a:prstGeom prst="rect">
            <a:avLst/>
          </a:prstGeom>
          <a:noFill/>
          <a:ln/>
        </p:spPr>
        <p:txBody>
          <a:bodyPr wrap="square" lIns="0" tIns="0" rIns="0" bIns="0" rtlCol="0" anchor="ctr">
            <a:normAutofit/>
          </a:bodyPr>
          <a:lstStyle/>
          <a:p>
            <a:pPr indent="0" marL="0">
              <a:buNone/>
            </a:pPr>
            <a:r>
              <a:rPr lang="en-US" sz="1375" dirty="0">
                <a:solidFill>
                  <a:srgbClr val="D9E4F2"/>
                </a:solidFill>
                <a:latin typeface="Aptos Mono" pitchFamily="34" charset="0"/>
                <a:ea typeface="Aptos Mono" pitchFamily="34" charset="-122"/>
                <a:cs typeface="Aptos Mono" pitchFamily="34" charset="-120"/>
              </a:rPr>
              <a:t>      setStatus('error');</a:t>
            </a:r>
            <a:endParaRPr lang="en-US" sz="1375" dirty="0"/>
          </a:p>
        </p:txBody>
      </p:sp>
      <p:sp>
        <p:nvSpPr>
          <p:cNvPr id="62" name="Text 60"/>
          <p:cNvSpPr/>
          <p:nvPr/>
        </p:nvSpPr>
        <p:spPr>
          <a:xfrm>
            <a:off x="640080" y="5196332"/>
            <a:ext cx="320040" cy="224536"/>
          </a:xfrm>
          <a:prstGeom prst="rect">
            <a:avLst/>
          </a:prstGeom>
          <a:noFill/>
          <a:ln/>
        </p:spPr>
        <p:txBody>
          <a:bodyPr wrap="square" lIns="0" tIns="0" rIns="0" bIns="0" rtlCol="0" anchor="ctr"/>
          <a:lstStyle/>
          <a:p>
            <a:pPr algn="r" indent="0" marL="0">
              <a:buNone/>
            </a:pPr>
            <a:r>
              <a:rPr lang="en-US" sz="1155" dirty="0">
                <a:solidFill>
                  <a:srgbClr val="8296AE"/>
                </a:solidFill>
                <a:latin typeface="Aptos Mono" pitchFamily="34" charset="0"/>
                <a:ea typeface="Aptos Mono" pitchFamily="34" charset="-122"/>
                <a:cs typeface="Aptos Mono" pitchFamily="34" charset="-120"/>
              </a:rPr>
              <a:t>15</a:t>
            </a:r>
            <a:endParaRPr lang="en-US" sz="1155" dirty="0"/>
          </a:p>
        </p:txBody>
      </p:sp>
      <p:sp>
        <p:nvSpPr>
          <p:cNvPr id="63" name="Text 61"/>
          <p:cNvSpPr/>
          <p:nvPr/>
        </p:nvSpPr>
        <p:spPr>
          <a:xfrm>
            <a:off x="1033272" y="5182616"/>
            <a:ext cx="6931152" cy="224536"/>
          </a:xfrm>
          <a:prstGeom prst="rect">
            <a:avLst/>
          </a:prstGeom>
          <a:noFill/>
          <a:ln/>
        </p:spPr>
        <p:txBody>
          <a:bodyPr wrap="square" lIns="0" tIns="0" rIns="0" bIns="0" rtlCol="0" anchor="ctr">
            <a:normAutofit/>
          </a:bodyPr>
          <a:lstStyle/>
          <a:p>
            <a:pPr indent="0" marL="0">
              <a:buNone/>
            </a:pPr>
            <a:r>
              <a:rPr lang="en-US" sz="1375" dirty="0">
                <a:solidFill>
                  <a:srgbClr val="D9E4F2"/>
                </a:solidFill>
                <a:latin typeface="Aptos Mono" pitchFamily="34" charset="0"/>
                <a:ea typeface="Aptos Mono" pitchFamily="34" charset="-122"/>
                <a:cs typeface="Aptos Mono" pitchFamily="34" charset="-120"/>
              </a:rPr>
              <a:t>    });</a:t>
            </a:r>
            <a:endParaRPr lang="en-US" sz="1375" dirty="0"/>
          </a:p>
        </p:txBody>
      </p:sp>
      <p:sp>
        <p:nvSpPr>
          <p:cNvPr id="64" name="Text 62"/>
          <p:cNvSpPr/>
          <p:nvPr/>
        </p:nvSpPr>
        <p:spPr>
          <a:xfrm>
            <a:off x="640080" y="5420868"/>
            <a:ext cx="320040" cy="224536"/>
          </a:xfrm>
          <a:prstGeom prst="rect">
            <a:avLst/>
          </a:prstGeom>
          <a:noFill/>
          <a:ln/>
        </p:spPr>
        <p:txBody>
          <a:bodyPr wrap="square" lIns="0" tIns="0" rIns="0" bIns="0" rtlCol="0" anchor="ctr"/>
          <a:lstStyle/>
          <a:p>
            <a:pPr algn="r" indent="0" marL="0">
              <a:buNone/>
            </a:pPr>
            <a:r>
              <a:rPr lang="en-US" sz="1155" dirty="0">
                <a:solidFill>
                  <a:srgbClr val="8296AE"/>
                </a:solidFill>
                <a:latin typeface="Aptos Mono" pitchFamily="34" charset="0"/>
                <a:ea typeface="Aptos Mono" pitchFamily="34" charset="-122"/>
                <a:cs typeface="Aptos Mono" pitchFamily="34" charset="-120"/>
              </a:rPr>
              <a:t>16</a:t>
            </a:r>
            <a:endParaRPr lang="en-US" sz="1155" dirty="0"/>
          </a:p>
        </p:txBody>
      </p:sp>
      <p:sp>
        <p:nvSpPr>
          <p:cNvPr id="65" name="Text 63"/>
          <p:cNvSpPr/>
          <p:nvPr/>
        </p:nvSpPr>
        <p:spPr>
          <a:xfrm>
            <a:off x="1033272" y="5407152"/>
            <a:ext cx="6931152" cy="224536"/>
          </a:xfrm>
          <a:prstGeom prst="rect">
            <a:avLst/>
          </a:prstGeom>
          <a:noFill/>
          <a:ln/>
        </p:spPr>
        <p:txBody>
          <a:bodyPr wrap="square" lIns="0" tIns="0" rIns="0" bIns="0" rtlCol="0" anchor="ctr">
            <a:normAutofit/>
          </a:bodyPr>
          <a:lstStyle/>
          <a:p>
            <a:pPr indent="0" marL="0">
              <a:buNone/>
            </a:pPr>
            <a:r>
              <a:rPr lang="en-US" sz="1375" dirty="0">
                <a:solidFill>
                  <a:srgbClr val="D9E4F2"/>
                </a:solidFill>
                <a:latin typeface="Aptos Mono" pitchFamily="34" charset="0"/>
                <a:ea typeface="Aptos Mono" pitchFamily="34" charset="-122"/>
                <a:cs typeface="Aptos Mono" pitchFamily="34" charset="-120"/>
              </a:rPr>
              <a:t> </a:t>
            </a:r>
            <a:endParaRPr lang="en-US" sz="1375" dirty="0"/>
          </a:p>
        </p:txBody>
      </p:sp>
      <p:sp>
        <p:nvSpPr>
          <p:cNvPr id="66" name="Text 64"/>
          <p:cNvSpPr/>
          <p:nvPr/>
        </p:nvSpPr>
        <p:spPr>
          <a:xfrm>
            <a:off x="640080" y="5645404"/>
            <a:ext cx="320040" cy="224536"/>
          </a:xfrm>
          <a:prstGeom prst="rect">
            <a:avLst/>
          </a:prstGeom>
          <a:noFill/>
          <a:ln/>
        </p:spPr>
        <p:txBody>
          <a:bodyPr wrap="square" lIns="0" tIns="0" rIns="0" bIns="0" rtlCol="0" anchor="ctr"/>
          <a:lstStyle/>
          <a:p>
            <a:pPr algn="r" indent="0" marL="0">
              <a:buNone/>
            </a:pPr>
            <a:r>
              <a:rPr lang="en-US" sz="1155" dirty="0">
                <a:solidFill>
                  <a:srgbClr val="8296AE"/>
                </a:solidFill>
                <a:latin typeface="Aptos Mono" pitchFamily="34" charset="0"/>
                <a:ea typeface="Aptos Mono" pitchFamily="34" charset="-122"/>
                <a:cs typeface="Aptos Mono" pitchFamily="34" charset="-120"/>
              </a:rPr>
              <a:t>17</a:t>
            </a:r>
            <a:endParaRPr lang="en-US" sz="1155" dirty="0"/>
          </a:p>
        </p:txBody>
      </p:sp>
      <p:sp>
        <p:nvSpPr>
          <p:cNvPr id="67" name="Text 65"/>
          <p:cNvSpPr/>
          <p:nvPr/>
        </p:nvSpPr>
        <p:spPr>
          <a:xfrm>
            <a:off x="1033272" y="5631688"/>
            <a:ext cx="6931152" cy="224536"/>
          </a:xfrm>
          <a:prstGeom prst="rect">
            <a:avLst/>
          </a:prstGeom>
          <a:noFill/>
          <a:ln/>
        </p:spPr>
        <p:txBody>
          <a:bodyPr wrap="square" lIns="0" tIns="0" rIns="0" bIns="0" rtlCol="0" anchor="ctr">
            <a:normAutofit/>
          </a:bodyPr>
          <a:lstStyle/>
          <a:p>
            <a:pPr indent="0" marL="0">
              <a:buNone/>
            </a:pPr>
            <a:r>
              <a:rPr lang="en-US" sz="1375" dirty="0">
                <a:solidFill>
                  <a:srgbClr val="D9E4F2"/>
                </a:solidFill>
                <a:latin typeface="Aptos Mono" pitchFamily="34" charset="0"/>
                <a:ea typeface="Aptos Mono" pitchFamily="34" charset="-122"/>
                <a:cs typeface="Aptos Mono" pitchFamily="34" charset="-120"/>
              </a:rPr>
              <a:t>  return () =&gt; controller.abort();</a:t>
            </a:r>
            <a:endParaRPr lang="en-US" sz="1375" dirty="0"/>
          </a:p>
        </p:txBody>
      </p:sp>
      <p:sp>
        <p:nvSpPr>
          <p:cNvPr id="68" name="Text 66"/>
          <p:cNvSpPr/>
          <p:nvPr/>
        </p:nvSpPr>
        <p:spPr>
          <a:xfrm>
            <a:off x="640080" y="5869940"/>
            <a:ext cx="320040" cy="224536"/>
          </a:xfrm>
          <a:prstGeom prst="rect">
            <a:avLst/>
          </a:prstGeom>
          <a:noFill/>
          <a:ln/>
        </p:spPr>
        <p:txBody>
          <a:bodyPr wrap="square" lIns="0" tIns="0" rIns="0" bIns="0" rtlCol="0" anchor="ctr"/>
          <a:lstStyle/>
          <a:p>
            <a:pPr algn="r" indent="0" marL="0">
              <a:buNone/>
            </a:pPr>
            <a:r>
              <a:rPr lang="en-US" sz="1155" dirty="0">
                <a:solidFill>
                  <a:srgbClr val="8296AE"/>
                </a:solidFill>
                <a:latin typeface="Aptos Mono" pitchFamily="34" charset="0"/>
                <a:ea typeface="Aptos Mono" pitchFamily="34" charset="-122"/>
                <a:cs typeface="Aptos Mono" pitchFamily="34" charset="-120"/>
              </a:rPr>
              <a:t>18</a:t>
            </a:r>
            <a:endParaRPr lang="en-US" sz="1155" dirty="0"/>
          </a:p>
        </p:txBody>
      </p:sp>
      <p:sp>
        <p:nvSpPr>
          <p:cNvPr id="69" name="Text 67"/>
          <p:cNvSpPr/>
          <p:nvPr/>
        </p:nvSpPr>
        <p:spPr>
          <a:xfrm>
            <a:off x="1033272" y="5856224"/>
            <a:ext cx="6931152" cy="224536"/>
          </a:xfrm>
          <a:prstGeom prst="rect">
            <a:avLst/>
          </a:prstGeom>
          <a:noFill/>
          <a:ln/>
        </p:spPr>
        <p:txBody>
          <a:bodyPr wrap="square" lIns="0" tIns="0" rIns="0" bIns="0" rtlCol="0" anchor="ctr">
            <a:normAutofit/>
          </a:bodyPr>
          <a:lstStyle/>
          <a:p>
            <a:pPr indent="0" marL="0">
              <a:buNone/>
            </a:pPr>
            <a:r>
              <a:rPr lang="en-US" sz="1375" dirty="0">
                <a:solidFill>
                  <a:srgbClr val="D9E4F2"/>
                </a:solidFill>
                <a:latin typeface="Aptos Mono" pitchFamily="34" charset="0"/>
                <a:ea typeface="Aptos Mono" pitchFamily="34" charset="-122"/>
                <a:cs typeface="Aptos Mono" pitchFamily="34" charset="-120"/>
              </a:rPr>
              <a:t>}, [query]);</a:t>
            </a:r>
            <a:endParaRPr lang="en-US" sz="1375" dirty="0"/>
          </a:p>
        </p:txBody>
      </p:sp>
      <p:sp>
        <p:nvSpPr>
          <p:cNvPr id="70" name="Shape 68"/>
          <p:cNvSpPr/>
          <p:nvPr/>
        </p:nvSpPr>
        <p:spPr>
          <a:xfrm>
            <a:off x="8366760" y="1591056"/>
            <a:ext cx="3310128" cy="4553712"/>
          </a:xfrm>
          <a:prstGeom prst="roundRect">
            <a:avLst>
              <a:gd name="adj" fmla="val 1381"/>
            </a:avLst>
          </a:prstGeom>
          <a:solidFill>
            <a:srgbClr val="122238"/>
          </a:solidFill>
          <a:ln w="12700">
            <a:solidFill>
              <a:srgbClr val="263A55"/>
            </a:solidFill>
            <a:prstDash val="solid"/>
          </a:ln>
        </p:spPr>
      </p:sp>
      <p:sp>
        <p:nvSpPr>
          <p:cNvPr id="71" name="Text 69"/>
          <p:cNvSpPr/>
          <p:nvPr/>
        </p:nvSpPr>
        <p:spPr>
          <a:xfrm>
            <a:off x="8586216" y="1801368"/>
            <a:ext cx="2871216" cy="182880"/>
          </a:xfrm>
          <a:prstGeom prst="rect">
            <a:avLst/>
          </a:prstGeom>
          <a:noFill/>
          <a:ln/>
        </p:spPr>
        <p:txBody>
          <a:bodyPr wrap="square" lIns="0" tIns="0" rIns="0" bIns="0" rtlCol="0" anchor="ctr"/>
          <a:lstStyle/>
          <a:p>
            <a:pPr indent="0" marL="0">
              <a:buNone/>
            </a:pPr>
            <a:r>
              <a:rPr lang="en-US" sz="950" b="1" spc="115" kern="0" dirty="0">
                <a:solidFill>
                  <a:srgbClr val="F5C96A"/>
                </a:solidFill>
                <a:latin typeface="Aptos" pitchFamily="34" charset="0"/>
                <a:ea typeface="Aptos" pitchFamily="34" charset="-122"/>
                <a:cs typeface="Aptos" pitchFamily="34" charset="-120"/>
              </a:rPr>
              <a:t>DA OSSERVARE</a:t>
            </a:r>
            <a:endParaRPr lang="en-US" sz="950" dirty="0"/>
          </a:p>
        </p:txBody>
      </p:sp>
      <p:sp>
        <p:nvSpPr>
          <p:cNvPr id="72" name="Shape 70"/>
          <p:cNvSpPr/>
          <p:nvPr/>
        </p:nvSpPr>
        <p:spPr>
          <a:xfrm>
            <a:off x="8586216" y="2267712"/>
            <a:ext cx="91440" cy="91440"/>
          </a:xfrm>
          <a:prstGeom prst="ellipse">
            <a:avLst/>
          </a:prstGeom>
          <a:solidFill>
            <a:srgbClr val="7CD4FF"/>
          </a:solidFill>
          <a:ln w="12700">
            <a:solidFill>
              <a:srgbClr val="7CD4FF"/>
            </a:solidFill>
            <a:prstDash val="solid"/>
          </a:ln>
        </p:spPr>
      </p:sp>
      <p:sp>
        <p:nvSpPr>
          <p:cNvPr id="73" name="Text 71"/>
          <p:cNvSpPr/>
          <p:nvPr/>
        </p:nvSpPr>
        <p:spPr>
          <a:xfrm>
            <a:off x="8778240" y="2212848"/>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Abort non è un errore per l’utente.</a:t>
            </a:r>
            <a:endParaRPr lang="en-US" sz="1420" dirty="0"/>
          </a:p>
        </p:txBody>
      </p:sp>
      <p:sp>
        <p:nvSpPr>
          <p:cNvPr id="74" name="Shape 72"/>
          <p:cNvSpPr/>
          <p:nvPr/>
        </p:nvSpPr>
        <p:spPr>
          <a:xfrm>
            <a:off x="8586216" y="2980944"/>
            <a:ext cx="91440" cy="91440"/>
          </a:xfrm>
          <a:prstGeom prst="ellipse">
            <a:avLst/>
          </a:prstGeom>
          <a:solidFill>
            <a:srgbClr val="7CD4FF"/>
          </a:solidFill>
          <a:ln w="12700">
            <a:solidFill>
              <a:srgbClr val="7CD4FF"/>
            </a:solidFill>
            <a:prstDash val="solid"/>
          </a:ln>
        </p:spPr>
      </p:sp>
      <p:sp>
        <p:nvSpPr>
          <p:cNvPr id="75" name="Text 73"/>
          <p:cNvSpPr/>
          <p:nvPr/>
        </p:nvSpPr>
        <p:spPr>
          <a:xfrm>
            <a:off x="8778240" y="2926080"/>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La cleanup ferma il lavoro obsoleto.</a:t>
            </a:r>
            <a:endParaRPr lang="en-US" sz="1420" dirty="0"/>
          </a:p>
        </p:txBody>
      </p:sp>
      <p:sp>
        <p:nvSpPr>
          <p:cNvPr id="76" name="Shape 74"/>
          <p:cNvSpPr/>
          <p:nvPr/>
        </p:nvSpPr>
        <p:spPr>
          <a:xfrm>
            <a:off x="8586216" y="3694176"/>
            <a:ext cx="91440" cy="91440"/>
          </a:xfrm>
          <a:prstGeom prst="ellipse">
            <a:avLst/>
          </a:prstGeom>
          <a:solidFill>
            <a:srgbClr val="7CD4FF"/>
          </a:solidFill>
          <a:ln w="12700">
            <a:solidFill>
              <a:srgbClr val="7CD4FF"/>
            </a:solidFill>
            <a:prstDash val="solid"/>
          </a:ln>
        </p:spPr>
      </p:sp>
      <p:sp>
        <p:nvSpPr>
          <p:cNvPr id="77" name="Text 75"/>
          <p:cNvSpPr/>
          <p:nvPr/>
        </p:nvSpPr>
        <p:spPr>
          <a:xfrm>
            <a:off x="8778240" y="3639312"/>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Il service accetta AbortSignal.</a:t>
            </a:r>
            <a:endParaRPr lang="en-US" sz="142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63</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ALTERNATIVA QUANDO ABORT NON È DISPONIBILE</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Un flag locale può ignorare risultati obsoleti</a:t>
            </a:r>
            <a:endParaRPr lang="en-US" sz="2700" dirty="0"/>
          </a:p>
        </p:txBody>
      </p:sp>
      <p:sp>
        <p:nvSpPr>
          <p:cNvPr id="29" name="Shape 27"/>
          <p:cNvSpPr/>
          <p:nvPr/>
        </p:nvSpPr>
        <p:spPr>
          <a:xfrm>
            <a:off x="530352" y="1591056"/>
            <a:ext cx="7589520" cy="4553712"/>
          </a:xfrm>
          <a:prstGeom prst="roundRect">
            <a:avLst>
              <a:gd name="adj" fmla="val 1004"/>
            </a:avLst>
          </a:prstGeom>
          <a:solidFill>
            <a:srgbClr val="0D1A2B"/>
          </a:solidFill>
          <a:ln w="13970">
            <a:solidFill>
              <a:srgbClr val="263A55"/>
            </a:solidFill>
            <a:prstDash val="solid"/>
          </a:ln>
        </p:spPr>
      </p:sp>
      <p:sp>
        <p:nvSpPr>
          <p:cNvPr id="30" name="Shape 28"/>
          <p:cNvSpPr/>
          <p:nvPr/>
        </p:nvSpPr>
        <p:spPr>
          <a:xfrm>
            <a:off x="530352" y="1591056"/>
            <a:ext cx="7589520" cy="347472"/>
          </a:xfrm>
          <a:prstGeom prst="rect">
            <a:avLst/>
          </a:prstGeom>
          <a:solidFill>
            <a:srgbClr val="122238"/>
          </a:solidFill>
          <a:ln w="12700">
            <a:solidFill>
              <a:srgbClr val="122238"/>
            </a:solidFill>
            <a:prstDash val="solid"/>
          </a:ln>
        </p:spPr>
      </p:sp>
      <p:sp>
        <p:nvSpPr>
          <p:cNvPr id="31" name="Shape 29"/>
          <p:cNvSpPr/>
          <p:nvPr/>
        </p:nvSpPr>
        <p:spPr>
          <a:xfrm>
            <a:off x="694944" y="1632204"/>
            <a:ext cx="658368" cy="274320"/>
          </a:xfrm>
          <a:prstGeom prst="roundRect">
            <a:avLst>
              <a:gd name="adj" fmla="val 20000"/>
            </a:avLst>
          </a:prstGeom>
          <a:solidFill>
            <a:srgbClr val="7CD4FF">
              <a:alpha val="20000"/>
            </a:srgbClr>
          </a:solidFill>
          <a:ln w="10160">
            <a:solidFill>
              <a:srgbClr val="7CD4FF">
                <a:alpha val="55000"/>
              </a:srgbClr>
            </a:solidFill>
            <a:prstDash val="solid"/>
          </a:ln>
        </p:spPr>
      </p:sp>
      <p:sp>
        <p:nvSpPr>
          <p:cNvPr id="32" name="Text 30"/>
          <p:cNvSpPr/>
          <p:nvPr/>
        </p:nvSpPr>
        <p:spPr>
          <a:xfrm>
            <a:off x="786384" y="1691640"/>
            <a:ext cx="475488" cy="128016"/>
          </a:xfrm>
          <a:prstGeom prst="rect">
            <a:avLst/>
          </a:prstGeom>
          <a:noFill/>
          <a:ln/>
        </p:spPr>
        <p:txBody>
          <a:bodyPr wrap="square" lIns="0" tIns="0" rIns="0" bIns="0" rtlCol="0" anchor="ctr"/>
          <a:lstStyle/>
          <a:p>
            <a:pPr algn="ctr" indent="0" marL="0">
              <a:buNone/>
            </a:pPr>
            <a:r>
              <a:rPr lang="en-US" sz="820" b="1" dirty="0">
                <a:solidFill>
                  <a:srgbClr val="7CD4FF"/>
                </a:solidFill>
                <a:latin typeface="Aptos Mono" pitchFamily="34" charset="0"/>
                <a:ea typeface="Aptos Mono" pitchFamily="34" charset="-122"/>
                <a:cs typeface="Aptos Mono" pitchFamily="34" charset="-120"/>
              </a:rPr>
              <a:t>TSX</a:t>
            </a:r>
            <a:endParaRPr lang="en-US" sz="820" dirty="0"/>
          </a:p>
        </p:txBody>
      </p:sp>
      <p:sp>
        <p:nvSpPr>
          <p:cNvPr id="33" name="Text 31"/>
          <p:cNvSpPr/>
          <p:nvPr/>
        </p:nvSpPr>
        <p:spPr>
          <a:xfrm>
            <a:off x="1490472" y="1687068"/>
            <a:ext cx="635508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useTicketDetails.ts</a:t>
            </a:r>
            <a:endParaRPr lang="en-US" sz="880" dirty="0"/>
          </a:p>
        </p:txBody>
      </p:sp>
      <p:sp>
        <p:nvSpPr>
          <p:cNvPr id="34" name="Text 32"/>
          <p:cNvSpPr/>
          <p:nvPr/>
        </p:nvSpPr>
        <p:spPr>
          <a:xfrm>
            <a:off x="640080" y="205282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01</a:t>
            </a:r>
            <a:endParaRPr lang="en-US" sz="1200" dirty="0"/>
          </a:p>
        </p:txBody>
      </p:sp>
      <p:sp>
        <p:nvSpPr>
          <p:cNvPr id="35" name="Text 33"/>
          <p:cNvSpPr/>
          <p:nvPr/>
        </p:nvSpPr>
        <p:spPr>
          <a:xfrm>
            <a:off x="1033272" y="203911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useEffect(() =&gt; {</a:t>
            </a:r>
            <a:endParaRPr lang="en-US" sz="1420" dirty="0"/>
          </a:p>
        </p:txBody>
      </p:sp>
      <p:sp>
        <p:nvSpPr>
          <p:cNvPr id="36" name="Text 34"/>
          <p:cNvSpPr/>
          <p:nvPr/>
        </p:nvSpPr>
        <p:spPr>
          <a:xfrm>
            <a:off x="640080" y="229514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02</a:t>
            </a:r>
            <a:endParaRPr lang="en-US" sz="1200" dirty="0"/>
          </a:p>
        </p:txBody>
      </p:sp>
      <p:sp>
        <p:nvSpPr>
          <p:cNvPr id="37" name="Text 35"/>
          <p:cNvSpPr/>
          <p:nvPr/>
        </p:nvSpPr>
        <p:spPr>
          <a:xfrm>
            <a:off x="1033272" y="228142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let ignore = false;</a:t>
            </a:r>
            <a:endParaRPr lang="en-US" sz="1420" dirty="0"/>
          </a:p>
        </p:txBody>
      </p:sp>
      <p:sp>
        <p:nvSpPr>
          <p:cNvPr id="38" name="Text 36"/>
          <p:cNvSpPr/>
          <p:nvPr/>
        </p:nvSpPr>
        <p:spPr>
          <a:xfrm>
            <a:off x="640080" y="253746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03</a:t>
            </a:r>
            <a:endParaRPr lang="en-US" sz="1200" dirty="0"/>
          </a:p>
        </p:txBody>
      </p:sp>
      <p:sp>
        <p:nvSpPr>
          <p:cNvPr id="39" name="Text 37"/>
          <p:cNvSpPr/>
          <p:nvPr/>
        </p:nvSpPr>
        <p:spPr>
          <a:xfrm>
            <a:off x="1033272" y="2523744"/>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40" name="Text 38"/>
          <p:cNvSpPr/>
          <p:nvPr/>
        </p:nvSpPr>
        <p:spPr>
          <a:xfrm>
            <a:off x="640080" y="277977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04</a:t>
            </a:r>
            <a:endParaRPr lang="en-US" sz="1200" dirty="0"/>
          </a:p>
        </p:txBody>
      </p:sp>
      <p:sp>
        <p:nvSpPr>
          <p:cNvPr id="41" name="Text 39"/>
          <p:cNvSpPr/>
          <p:nvPr/>
        </p:nvSpPr>
        <p:spPr>
          <a:xfrm>
            <a:off x="1033272" y="2766060"/>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fetchTicketDetails(ticketId).then(data =&gt; {</a:t>
            </a:r>
            <a:endParaRPr lang="en-US" sz="1420" dirty="0"/>
          </a:p>
        </p:txBody>
      </p:sp>
      <p:sp>
        <p:nvSpPr>
          <p:cNvPr id="42" name="Text 40"/>
          <p:cNvSpPr/>
          <p:nvPr/>
        </p:nvSpPr>
        <p:spPr>
          <a:xfrm>
            <a:off x="640080" y="3022092"/>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05</a:t>
            </a:r>
            <a:endParaRPr lang="en-US" sz="1200" dirty="0"/>
          </a:p>
        </p:txBody>
      </p:sp>
      <p:sp>
        <p:nvSpPr>
          <p:cNvPr id="43" name="Text 41"/>
          <p:cNvSpPr/>
          <p:nvPr/>
        </p:nvSpPr>
        <p:spPr>
          <a:xfrm>
            <a:off x="1033272" y="3008376"/>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if (!ignore) setDetails(data);</a:t>
            </a:r>
            <a:endParaRPr lang="en-US" sz="1420" dirty="0"/>
          </a:p>
        </p:txBody>
      </p:sp>
      <p:sp>
        <p:nvSpPr>
          <p:cNvPr id="44" name="Text 42"/>
          <p:cNvSpPr/>
          <p:nvPr/>
        </p:nvSpPr>
        <p:spPr>
          <a:xfrm>
            <a:off x="640080" y="326440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06</a:t>
            </a:r>
            <a:endParaRPr lang="en-US" sz="1200" dirty="0"/>
          </a:p>
        </p:txBody>
      </p:sp>
      <p:sp>
        <p:nvSpPr>
          <p:cNvPr id="45" name="Text 43"/>
          <p:cNvSpPr/>
          <p:nvPr/>
        </p:nvSpPr>
        <p:spPr>
          <a:xfrm>
            <a:off x="1033272" y="325069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46" name="Text 44"/>
          <p:cNvSpPr/>
          <p:nvPr/>
        </p:nvSpPr>
        <p:spPr>
          <a:xfrm>
            <a:off x="640080" y="350672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07</a:t>
            </a:r>
            <a:endParaRPr lang="en-US" sz="1200" dirty="0"/>
          </a:p>
        </p:txBody>
      </p:sp>
      <p:sp>
        <p:nvSpPr>
          <p:cNvPr id="47" name="Text 45"/>
          <p:cNvSpPr/>
          <p:nvPr/>
        </p:nvSpPr>
        <p:spPr>
          <a:xfrm>
            <a:off x="1033272" y="349300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48" name="Text 46"/>
          <p:cNvSpPr/>
          <p:nvPr/>
        </p:nvSpPr>
        <p:spPr>
          <a:xfrm>
            <a:off x="640080" y="374904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08</a:t>
            </a:r>
            <a:endParaRPr lang="en-US" sz="1200" dirty="0"/>
          </a:p>
        </p:txBody>
      </p:sp>
      <p:sp>
        <p:nvSpPr>
          <p:cNvPr id="49" name="Text 47"/>
          <p:cNvSpPr/>
          <p:nvPr/>
        </p:nvSpPr>
        <p:spPr>
          <a:xfrm>
            <a:off x="1033272" y="3735324"/>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return () =&gt; {</a:t>
            </a:r>
            <a:endParaRPr lang="en-US" sz="1420" dirty="0"/>
          </a:p>
        </p:txBody>
      </p:sp>
      <p:sp>
        <p:nvSpPr>
          <p:cNvPr id="50" name="Text 48"/>
          <p:cNvSpPr/>
          <p:nvPr/>
        </p:nvSpPr>
        <p:spPr>
          <a:xfrm>
            <a:off x="640080" y="399135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09</a:t>
            </a:r>
            <a:endParaRPr lang="en-US" sz="1200" dirty="0"/>
          </a:p>
        </p:txBody>
      </p:sp>
      <p:sp>
        <p:nvSpPr>
          <p:cNvPr id="51" name="Text 49"/>
          <p:cNvSpPr/>
          <p:nvPr/>
        </p:nvSpPr>
        <p:spPr>
          <a:xfrm>
            <a:off x="1033272" y="3977640"/>
            <a:ext cx="6931152" cy="242316"/>
          </a:xfrm>
          <a:prstGeom prst="rect">
            <a:avLst/>
          </a:prstGeom>
          <a:noFill/>
          <a:ln/>
        </p:spPr>
        <p:txBody>
          <a:bodyPr wrap="square" lIns="0" tIns="0" rIns="0" bIns="0" rtlCol="0" anchor="ctr">
            <a:normAutofit/>
          </a:bodyPr>
          <a:lstStyle/>
          <a:p>
            <a:pPr indent="0" marL="0">
              <a:buNone/>
            </a:pPr>
            <a:r>
              <a:rPr lang="en-US" sz="1420" dirty="0">
                <a:solidFill>
                  <a:srgbClr val="78C9A6"/>
                </a:solidFill>
                <a:latin typeface="Aptos Mono" pitchFamily="34" charset="0"/>
                <a:ea typeface="Aptos Mono" pitchFamily="34" charset="-122"/>
                <a:cs typeface="Aptos Mono" pitchFamily="34" charset="-120"/>
              </a:rPr>
              <a:t>    // La promessa continua, ma il risultato non aggiorna la UI.</a:t>
            </a:r>
            <a:endParaRPr lang="en-US" sz="1420" dirty="0"/>
          </a:p>
        </p:txBody>
      </p:sp>
      <p:sp>
        <p:nvSpPr>
          <p:cNvPr id="52" name="Text 50"/>
          <p:cNvSpPr/>
          <p:nvPr/>
        </p:nvSpPr>
        <p:spPr>
          <a:xfrm>
            <a:off x="640080" y="4233672"/>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10</a:t>
            </a:r>
            <a:endParaRPr lang="en-US" sz="1200" dirty="0"/>
          </a:p>
        </p:txBody>
      </p:sp>
      <p:sp>
        <p:nvSpPr>
          <p:cNvPr id="53" name="Text 51"/>
          <p:cNvSpPr/>
          <p:nvPr/>
        </p:nvSpPr>
        <p:spPr>
          <a:xfrm>
            <a:off x="1033272" y="4219956"/>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ignore = true;</a:t>
            </a:r>
            <a:endParaRPr lang="en-US" sz="1420" dirty="0"/>
          </a:p>
        </p:txBody>
      </p:sp>
      <p:sp>
        <p:nvSpPr>
          <p:cNvPr id="54" name="Text 52"/>
          <p:cNvSpPr/>
          <p:nvPr/>
        </p:nvSpPr>
        <p:spPr>
          <a:xfrm>
            <a:off x="640080" y="447598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11</a:t>
            </a:r>
            <a:endParaRPr lang="en-US" sz="1200" dirty="0"/>
          </a:p>
        </p:txBody>
      </p:sp>
      <p:sp>
        <p:nvSpPr>
          <p:cNvPr id="55" name="Text 53"/>
          <p:cNvSpPr/>
          <p:nvPr/>
        </p:nvSpPr>
        <p:spPr>
          <a:xfrm>
            <a:off x="1033272" y="446227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56" name="Text 54"/>
          <p:cNvSpPr/>
          <p:nvPr/>
        </p:nvSpPr>
        <p:spPr>
          <a:xfrm>
            <a:off x="640080" y="471830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12</a:t>
            </a:r>
            <a:endParaRPr lang="en-US" sz="1200" dirty="0"/>
          </a:p>
        </p:txBody>
      </p:sp>
      <p:sp>
        <p:nvSpPr>
          <p:cNvPr id="57" name="Text 55"/>
          <p:cNvSpPr/>
          <p:nvPr/>
        </p:nvSpPr>
        <p:spPr>
          <a:xfrm>
            <a:off x="1033272" y="470458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[ticketId]);</a:t>
            </a:r>
            <a:endParaRPr lang="en-US" sz="1420" dirty="0"/>
          </a:p>
        </p:txBody>
      </p:sp>
      <p:sp>
        <p:nvSpPr>
          <p:cNvPr id="58" name="Text 56"/>
          <p:cNvSpPr/>
          <p:nvPr/>
        </p:nvSpPr>
        <p:spPr>
          <a:xfrm>
            <a:off x="640080" y="496062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13</a:t>
            </a:r>
            <a:endParaRPr lang="en-US" sz="1200" dirty="0"/>
          </a:p>
        </p:txBody>
      </p:sp>
      <p:sp>
        <p:nvSpPr>
          <p:cNvPr id="59" name="Text 57"/>
          <p:cNvSpPr/>
          <p:nvPr/>
        </p:nvSpPr>
        <p:spPr>
          <a:xfrm>
            <a:off x="1033272" y="4946904"/>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60" name="Text 58"/>
          <p:cNvSpPr/>
          <p:nvPr/>
        </p:nvSpPr>
        <p:spPr>
          <a:xfrm>
            <a:off x="640080" y="520293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14</a:t>
            </a:r>
            <a:endParaRPr lang="en-US" sz="1200" dirty="0"/>
          </a:p>
        </p:txBody>
      </p:sp>
      <p:sp>
        <p:nvSpPr>
          <p:cNvPr id="61" name="Text 59"/>
          <p:cNvSpPr/>
          <p:nvPr/>
        </p:nvSpPr>
        <p:spPr>
          <a:xfrm>
            <a:off x="1033272" y="5189220"/>
            <a:ext cx="6931152" cy="242316"/>
          </a:xfrm>
          <a:prstGeom prst="rect">
            <a:avLst/>
          </a:prstGeom>
          <a:noFill/>
          <a:ln/>
        </p:spPr>
        <p:txBody>
          <a:bodyPr wrap="square" lIns="0" tIns="0" rIns="0" bIns="0" rtlCol="0" anchor="ctr">
            <a:normAutofit/>
          </a:bodyPr>
          <a:lstStyle/>
          <a:p>
            <a:pPr indent="0" marL="0">
              <a:buNone/>
            </a:pPr>
            <a:r>
              <a:rPr lang="en-US" sz="1420" dirty="0">
                <a:solidFill>
                  <a:srgbClr val="78C9A6"/>
                </a:solidFill>
                <a:latin typeface="Aptos Mono" pitchFamily="34" charset="0"/>
                <a:ea typeface="Aptos Mono" pitchFamily="34" charset="-122"/>
                <a:cs typeface="Aptos Mono" pitchFamily="34" charset="-120"/>
              </a:rPr>
              <a:t>// Preferisci AbortController quando il client lo supporta.</a:t>
            </a:r>
            <a:endParaRPr lang="en-US" sz="1420" dirty="0"/>
          </a:p>
        </p:txBody>
      </p:sp>
      <p:sp>
        <p:nvSpPr>
          <p:cNvPr id="62" name="Shape 60"/>
          <p:cNvSpPr/>
          <p:nvPr/>
        </p:nvSpPr>
        <p:spPr>
          <a:xfrm>
            <a:off x="8366760" y="1591056"/>
            <a:ext cx="3310128" cy="4553712"/>
          </a:xfrm>
          <a:prstGeom prst="roundRect">
            <a:avLst>
              <a:gd name="adj" fmla="val 1381"/>
            </a:avLst>
          </a:prstGeom>
          <a:solidFill>
            <a:srgbClr val="122238"/>
          </a:solidFill>
          <a:ln w="12700">
            <a:solidFill>
              <a:srgbClr val="263A55"/>
            </a:solidFill>
            <a:prstDash val="solid"/>
          </a:ln>
        </p:spPr>
      </p:sp>
      <p:sp>
        <p:nvSpPr>
          <p:cNvPr id="63" name="Text 61"/>
          <p:cNvSpPr/>
          <p:nvPr/>
        </p:nvSpPr>
        <p:spPr>
          <a:xfrm>
            <a:off x="8586216" y="1801368"/>
            <a:ext cx="2871216" cy="182880"/>
          </a:xfrm>
          <a:prstGeom prst="rect">
            <a:avLst/>
          </a:prstGeom>
          <a:noFill/>
          <a:ln/>
        </p:spPr>
        <p:txBody>
          <a:bodyPr wrap="square" lIns="0" tIns="0" rIns="0" bIns="0" rtlCol="0" anchor="ctr"/>
          <a:lstStyle/>
          <a:p>
            <a:pPr indent="0" marL="0">
              <a:buNone/>
            </a:pPr>
            <a:r>
              <a:rPr lang="en-US" sz="950" b="1" spc="115" kern="0" dirty="0">
                <a:solidFill>
                  <a:srgbClr val="F5C96A"/>
                </a:solidFill>
                <a:latin typeface="Aptos" pitchFamily="34" charset="0"/>
                <a:ea typeface="Aptos" pitchFamily="34" charset="-122"/>
                <a:cs typeface="Aptos" pitchFamily="34" charset="-120"/>
              </a:rPr>
              <a:t>DA OSSERVARE</a:t>
            </a:r>
            <a:endParaRPr lang="en-US" sz="950" dirty="0"/>
          </a:p>
        </p:txBody>
      </p:sp>
      <p:sp>
        <p:nvSpPr>
          <p:cNvPr id="64" name="Shape 62"/>
          <p:cNvSpPr/>
          <p:nvPr/>
        </p:nvSpPr>
        <p:spPr>
          <a:xfrm>
            <a:off x="8586216" y="2267712"/>
            <a:ext cx="91440" cy="91440"/>
          </a:xfrm>
          <a:prstGeom prst="ellipse">
            <a:avLst/>
          </a:prstGeom>
          <a:solidFill>
            <a:srgbClr val="7CD4FF"/>
          </a:solidFill>
          <a:ln w="12700">
            <a:solidFill>
              <a:srgbClr val="7CD4FF"/>
            </a:solidFill>
            <a:prstDash val="solid"/>
          </a:ln>
        </p:spPr>
      </p:sp>
      <p:sp>
        <p:nvSpPr>
          <p:cNvPr id="65" name="Text 63"/>
          <p:cNvSpPr/>
          <p:nvPr/>
        </p:nvSpPr>
        <p:spPr>
          <a:xfrm>
            <a:off x="8778240" y="2212848"/>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Ogni Effect possiede il proprio flag.</a:t>
            </a:r>
            <a:endParaRPr lang="en-US" sz="1420" dirty="0"/>
          </a:p>
        </p:txBody>
      </p:sp>
      <p:sp>
        <p:nvSpPr>
          <p:cNvPr id="66" name="Shape 64"/>
          <p:cNvSpPr/>
          <p:nvPr/>
        </p:nvSpPr>
        <p:spPr>
          <a:xfrm>
            <a:off x="8586216" y="2980944"/>
            <a:ext cx="91440" cy="91440"/>
          </a:xfrm>
          <a:prstGeom prst="ellipse">
            <a:avLst/>
          </a:prstGeom>
          <a:solidFill>
            <a:srgbClr val="7CD4FF"/>
          </a:solidFill>
          <a:ln w="12700">
            <a:solidFill>
              <a:srgbClr val="7CD4FF"/>
            </a:solidFill>
            <a:prstDash val="solid"/>
          </a:ln>
        </p:spPr>
      </p:sp>
      <p:sp>
        <p:nvSpPr>
          <p:cNvPr id="67" name="Text 65"/>
          <p:cNvSpPr/>
          <p:nvPr/>
        </p:nvSpPr>
        <p:spPr>
          <a:xfrm>
            <a:off x="8778240" y="2926080"/>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La cleanup rende il risultato inutilizzabile.</a:t>
            </a:r>
            <a:endParaRPr lang="en-US" sz="1420" dirty="0"/>
          </a:p>
        </p:txBody>
      </p:sp>
      <p:sp>
        <p:nvSpPr>
          <p:cNvPr id="68" name="Shape 66"/>
          <p:cNvSpPr/>
          <p:nvPr/>
        </p:nvSpPr>
        <p:spPr>
          <a:xfrm>
            <a:off x="8586216" y="3694176"/>
            <a:ext cx="91440" cy="91440"/>
          </a:xfrm>
          <a:prstGeom prst="ellipse">
            <a:avLst/>
          </a:prstGeom>
          <a:solidFill>
            <a:srgbClr val="7CD4FF"/>
          </a:solidFill>
          <a:ln w="12700">
            <a:solidFill>
              <a:srgbClr val="7CD4FF"/>
            </a:solidFill>
            <a:prstDash val="solid"/>
          </a:ln>
        </p:spPr>
      </p:sp>
      <p:sp>
        <p:nvSpPr>
          <p:cNvPr id="69" name="Text 67"/>
          <p:cNvSpPr/>
          <p:nvPr/>
        </p:nvSpPr>
        <p:spPr>
          <a:xfrm>
            <a:off x="8778240" y="3639312"/>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Il lavoro di rete non viene realmente fermato.</a:t>
            </a:r>
            <a:endParaRPr lang="en-US" sz="142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64</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EXHAUSTIVE DEPS</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Le dipendenze mancanti congelano valori vecchi</a:t>
            </a:r>
            <a:endParaRPr lang="en-US" sz="2700" dirty="0"/>
          </a:p>
        </p:txBody>
      </p:sp>
      <p:sp>
        <p:nvSpPr>
          <p:cNvPr id="29" name="Shape 27"/>
          <p:cNvSpPr/>
          <p:nvPr/>
        </p:nvSpPr>
        <p:spPr>
          <a:xfrm>
            <a:off x="530352" y="1581912"/>
            <a:ext cx="5440680" cy="4526280"/>
          </a:xfrm>
          <a:prstGeom prst="roundRect">
            <a:avLst>
              <a:gd name="adj" fmla="val 1010"/>
            </a:avLst>
          </a:prstGeom>
          <a:solidFill>
            <a:srgbClr val="0D1A2B"/>
          </a:solidFill>
          <a:ln w="13970">
            <a:solidFill>
              <a:srgbClr val="263A55"/>
            </a:solidFill>
            <a:prstDash val="solid"/>
          </a:ln>
        </p:spPr>
      </p:sp>
      <p:sp>
        <p:nvSpPr>
          <p:cNvPr id="30" name="Shape 28"/>
          <p:cNvSpPr/>
          <p:nvPr/>
        </p:nvSpPr>
        <p:spPr>
          <a:xfrm>
            <a:off x="530352" y="1581912"/>
            <a:ext cx="5440680" cy="347472"/>
          </a:xfrm>
          <a:prstGeom prst="rect">
            <a:avLst/>
          </a:prstGeom>
          <a:solidFill>
            <a:srgbClr val="122238"/>
          </a:solidFill>
          <a:ln w="12700">
            <a:solidFill>
              <a:srgbClr val="122238"/>
            </a:solidFill>
            <a:prstDash val="solid"/>
          </a:ln>
        </p:spPr>
      </p:sp>
      <p:sp>
        <p:nvSpPr>
          <p:cNvPr id="31" name="Shape 29"/>
          <p:cNvSpPr/>
          <p:nvPr/>
        </p:nvSpPr>
        <p:spPr>
          <a:xfrm>
            <a:off x="694944" y="1623060"/>
            <a:ext cx="658368" cy="274320"/>
          </a:xfrm>
          <a:prstGeom prst="roundRect">
            <a:avLst>
              <a:gd name="adj" fmla="val 20000"/>
            </a:avLst>
          </a:prstGeom>
          <a:solidFill>
            <a:srgbClr val="FF7A8A">
              <a:alpha val="20000"/>
            </a:srgbClr>
          </a:solidFill>
          <a:ln w="10160">
            <a:solidFill>
              <a:srgbClr val="FF7A8A">
                <a:alpha val="55000"/>
              </a:srgbClr>
            </a:solidFill>
            <a:prstDash val="solid"/>
          </a:ln>
        </p:spPr>
      </p:sp>
      <p:sp>
        <p:nvSpPr>
          <p:cNvPr id="32" name="Text 30"/>
          <p:cNvSpPr/>
          <p:nvPr/>
        </p:nvSpPr>
        <p:spPr>
          <a:xfrm>
            <a:off x="786384" y="1682496"/>
            <a:ext cx="475488" cy="128016"/>
          </a:xfrm>
          <a:prstGeom prst="rect">
            <a:avLst/>
          </a:prstGeom>
          <a:noFill/>
          <a:ln/>
        </p:spPr>
        <p:txBody>
          <a:bodyPr wrap="square" lIns="0" tIns="0" rIns="0" bIns="0" rtlCol="0" anchor="ctr"/>
          <a:lstStyle/>
          <a:p>
            <a:pPr algn="ctr" indent="0" marL="0">
              <a:buNone/>
            </a:pPr>
            <a:r>
              <a:rPr lang="en-US" sz="820" b="1" dirty="0">
                <a:solidFill>
                  <a:srgbClr val="FF7A8A"/>
                </a:solidFill>
                <a:latin typeface="Aptos Mono" pitchFamily="34" charset="0"/>
                <a:ea typeface="Aptos Mono" pitchFamily="34" charset="-122"/>
                <a:cs typeface="Aptos Mono" pitchFamily="34" charset="-120"/>
              </a:rPr>
              <a:t>TSX</a:t>
            </a:r>
            <a:endParaRPr lang="en-US" sz="820" dirty="0"/>
          </a:p>
        </p:txBody>
      </p:sp>
      <p:sp>
        <p:nvSpPr>
          <p:cNvPr id="33" name="Text 31"/>
          <p:cNvSpPr/>
          <p:nvPr/>
        </p:nvSpPr>
        <p:spPr>
          <a:xfrm>
            <a:off x="1490472" y="1677924"/>
            <a:ext cx="420624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PRIMA</a:t>
            </a:r>
            <a:endParaRPr lang="en-US" sz="880" dirty="0"/>
          </a:p>
        </p:txBody>
      </p:sp>
      <p:sp>
        <p:nvSpPr>
          <p:cNvPr id="34" name="Text 32"/>
          <p:cNvSpPr/>
          <p:nvPr/>
        </p:nvSpPr>
        <p:spPr>
          <a:xfrm>
            <a:off x="640080" y="204368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01</a:t>
            </a:r>
            <a:endParaRPr lang="en-US" sz="1060" dirty="0"/>
          </a:p>
        </p:txBody>
      </p:sp>
      <p:sp>
        <p:nvSpPr>
          <p:cNvPr id="35" name="Text 33"/>
          <p:cNvSpPr/>
          <p:nvPr/>
        </p:nvSpPr>
        <p:spPr>
          <a:xfrm>
            <a:off x="1033272" y="202996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useEffect(() =&gt; {</a:t>
            </a:r>
            <a:endParaRPr lang="en-US" sz="1280" dirty="0"/>
          </a:p>
        </p:txBody>
      </p:sp>
      <p:sp>
        <p:nvSpPr>
          <p:cNvPr id="36" name="Text 34"/>
          <p:cNvSpPr/>
          <p:nvPr/>
        </p:nvSpPr>
        <p:spPr>
          <a:xfrm>
            <a:off x="640080" y="228600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02</a:t>
            </a:r>
            <a:endParaRPr lang="en-US" sz="1060" dirty="0"/>
          </a:p>
        </p:txBody>
      </p:sp>
      <p:sp>
        <p:nvSpPr>
          <p:cNvPr id="37" name="Text 35"/>
          <p:cNvSpPr/>
          <p:nvPr/>
        </p:nvSpPr>
        <p:spPr>
          <a:xfrm>
            <a:off x="1033272" y="227228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const connection = createConnection(ticketId);</a:t>
            </a:r>
            <a:endParaRPr lang="en-US" sz="1280" dirty="0"/>
          </a:p>
        </p:txBody>
      </p:sp>
      <p:sp>
        <p:nvSpPr>
          <p:cNvPr id="38" name="Text 36"/>
          <p:cNvSpPr/>
          <p:nvPr/>
        </p:nvSpPr>
        <p:spPr>
          <a:xfrm>
            <a:off x="640080" y="252831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03</a:t>
            </a:r>
            <a:endParaRPr lang="en-US" sz="1060" dirty="0"/>
          </a:p>
        </p:txBody>
      </p:sp>
      <p:sp>
        <p:nvSpPr>
          <p:cNvPr id="39" name="Text 37"/>
          <p:cNvSpPr/>
          <p:nvPr/>
        </p:nvSpPr>
        <p:spPr>
          <a:xfrm>
            <a:off x="1033272" y="2514600"/>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connection.connect();</a:t>
            </a:r>
            <a:endParaRPr lang="en-US" sz="1280" dirty="0"/>
          </a:p>
        </p:txBody>
      </p:sp>
      <p:sp>
        <p:nvSpPr>
          <p:cNvPr id="40" name="Text 38"/>
          <p:cNvSpPr/>
          <p:nvPr/>
        </p:nvSpPr>
        <p:spPr>
          <a:xfrm>
            <a:off x="640080" y="2770632"/>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04</a:t>
            </a:r>
            <a:endParaRPr lang="en-US" sz="1060" dirty="0"/>
          </a:p>
        </p:txBody>
      </p:sp>
      <p:sp>
        <p:nvSpPr>
          <p:cNvPr id="41" name="Text 39"/>
          <p:cNvSpPr/>
          <p:nvPr/>
        </p:nvSpPr>
        <p:spPr>
          <a:xfrm>
            <a:off x="1033272" y="2756916"/>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return () =&gt; connection.disconnect();</a:t>
            </a:r>
            <a:endParaRPr lang="en-US" sz="1280" dirty="0"/>
          </a:p>
        </p:txBody>
      </p:sp>
      <p:sp>
        <p:nvSpPr>
          <p:cNvPr id="42" name="Text 40"/>
          <p:cNvSpPr/>
          <p:nvPr/>
        </p:nvSpPr>
        <p:spPr>
          <a:xfrm>
            <a:off x="640080" y="3012948"/>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05</a:t>
            </a:r>
            <a:endParaRPr lang="en-US" sz="1060" dirty="0"/>
          </a:p>
        </p:txBody>
      </p:sp>
      <p:sp>
        <p:nvSpPr>
          <p:cNvPr id="43" name="Text 41"/>
          <p:cNvSpPr/>
          <p:nvPr/>
        </p:nvSpPr>
        <p:spPr>
          <a:xfrm>
            <a:off x="1033272" y="2999232"/>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 // ticketId letto ma non dichiarato</a:t>
            </a:r>
            <a:endParaRPr lang="en-US" sz="1280" dirty="0"/>
          </a:p>
        </p:txBody>
      </p:sp>
      <p:sp>
        <p:nvSpPr>
          <p:cNvPr id="44" name="Text 42"/>
          <p:cNvSpPr/>
          <p:nvPr/>
        </p:nvSpPr>
        <p:spPr>
          <a:xfrm>
            <a:off x="640080" y="325526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06</a:t>
            </a:r>
            <a:endParaRPr lang="en-US" sz="1060" dirty="0"/>
          </a:p>
        </p:txBody>
      </p:sp>
      <p:sp>
        <p:nvSpPr>
          <p:cNvPr id="45" name="Text 43"/>
          <p:cNvSpPr/>
          <p:nvPr/>
        </p:nvSpPr>
        <p:spPr>
          <a:xfrm>
            <a:off x="1033272" y="324154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t>
            </a:r>
            <a:endParaRPr lang="en-US" sz="1280" dirty="0"/>
          </a:p>
        </p:txBody>
      </p:sp>
      <p:sp>
        <p:nvSpPr>
          <p:cNvPr id="46" name="Text 44"/>
          <p:cNvSpPr/>
          <p:nvPr/>
        </p:nvSpPr>
        <p:spPr>
          <a:xfrm>
            <a:off x="640080" y="349758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07</a:t>
            </a:r>
            <a:endParaRPr lang="en-US" sz="1060" dirty="0"/>
          </a:p>
        </p:txBody>
      </p:sp>
      <p:sp>
        <p:nvSpPr>
          <p:cNvPr id="47" name="Text 45"/>
          <p:cNvSpPr/>
          <p:nvPr/>
        </p:nvSpPr>
        <p:spPr>
          <a:xfrm>
            <a:off x="1033272" y="3483864"/>
            <a:ext cx="4782312" cy="242316"/>
          </a:xfrm>
          <a:prstGeom prst="rect">
            <a:avLst/>
          </a:prstGeom>
          <a:noFill/>
          <a:ln/>
        </p:spPr>
        <p:txBody>
          <a:bodyPr wrap="square" lIns="0" tIns="0" rIns="0" bIns="0" rtlCol="0" anchor="ctr">
            <a:normAutofit/>
          </a:bodyPr>
          <a:lstStyle/>
          <a:p>
            <a:pPr indent="0" marL="0">
              <a:buNone/>
            </a:pPr>
            <a:r>
              <a:rPr lang="en-US" sz="1280" dirty="0">
                <a:solidFill>
                  <a:srgbClr val="78C9A6"/>
                </a:solidFill>
                <a:latin typeface="Aptos Mono" pitchFamily="34" charset="0"/>
                <a:ea typeface="Aptos Mono" pitchFamily="34" charset="-122"/>
                <a:cs typeface="Aptos Mono" pitchFamily="34" charset="-120"/>
              </a:rPr>
              <a:t>// La connessione resta sul ticket iniziale.</a:t>
            </a:r>
            <a:endParaRPr lang="en-US" sz="1280" dirty="0"/>
          </a:p>
        </p:txBody>
      </p:sp>
      <p:sp>
        <p:nvSpPr>
          <p:cNvPr id="48" name="Shape 46"/>
          <p:cNvSpPr/>
          <p:nvPr/>
        </p:nvSpPr>
        <p:spPr>
          <a:xfrm>
            <a:off x="6217920" y="1581912"/>
            <a:ext cx="5440680" cy="4526280"/>
          </a:xfrm>
          <a:prstGeom prst="roundRect">
            <a:avLst>
              <a:gd name="adj" fmla="val 1010"/>
            </a:avLst>
          </a:prstGeom>
          <a:solidFill>
            <a:srgbClr val="0D1A2B"/>
          </a:solidFill>
          <a:ln w="13970">
            <a:solidFill>
              <a:srgbClr val="263A55"/>
            </a:solidFill>
            <a:prstDash val="solid"/>
          </a:ln>
        </p:spPr>
      </p:sp>
      <p:sp>
        <p:nvSpPr>
          <p:cNvPr id="49" name="Shape 47"/>
          <p:cNvSpPr/>
          <p:nvPr/>
        </p:nvSpPr>
        <p:spPr>
          <a:xfrm>
            <a:off x="6217920" y="1581912"/>
            <a:ext cx="5440680" cy="347472"/>
          </a:xfrm>
          <a:prstGeom prst="rect">
            <a:avLst/>
          </a:prstGeom>
          <a:solidFill>
            <a:srgbClr val="122238"/>
          </a:solidFill>
          <a:ln w="12700">
            <a:solidFill>
              <a:srgbClr val="122238"/>
            </a:solidFill>
            <a:prstDash val="solid"/>
          </a:ln>
        </p:spPr>
      </p:sp>
      <p:sp>
        <p:nvSpPr>
          <p:cNvPr id="50" name="Shape 48"/>
          <p:cNvSpPr/>
          <p:nvPr/>
        </p:nvSpPr>
        <p:spPr>
          <a:xfrm>
            <a:off x="6382512" y="1623060"/>
            <a:ext cx="658368" cy="274320"/>
          </a:xfrm>
          <a:prstGeom prst="roundRect">
            <a:avLst>
              <a:gd name="adj" fmla="val 20000"/>
            </a:avLst>
          </a:prstGeom>
          <a:solidFill>
            <a:srgbClr val="6FE3B1">
              <a:alpha val="20000"/>
            </a:srgbClr>
          </a:solidFill>
          <a:ln w="10160">
            <a:solidFill>
              <a:srgbClr val="6FE3B1">
                <a:alpha val="55000"/>
              </a:srgbClr>
            </a:solidFill>
            <a:prstDash val="solid"/>
          </a:ln>
        </p:spPr>
      </p:sp>
      <p:sp>
        <p:nvSpPr>
          <p:cNvPr id="51" name="Text 49"/>
          <p:cNvSpPr/>
          <p:nvPr/>
        </p:nvSpPr>
        <p:spPr>
          <a:xfrm>
            <a:off x="6473952" y="1682496"/>
            <a:ext cx="475488" cy="128016"/>
          </a:xfrm>
          <a:prstGeom prst="rect">
            <a:avLst/>
          </a:prstGeom>
          <a:noFill/>
          <a:ln/>
        </p:spPr>
        <p:txBody>
          <a:bodyPr wrap="square" lIns="0" tIns="0" rIns="0" bIns="0" rtlCol="0" anchor="ctr"/>
          <a:lstStyle/>
          <a:p>
            <a:pPr algn="ctr" indent="0" marL="0">
              <a:buNone/>
            </a:pPr>
            <a:r>
              <a:rPr lang="en-US" sz="820" b="1" dirty="0">
                <a:solidFill>
                  <a:srgbClr val="6FE3B1"/>
                </a:solidFill>
                <a:latin typeface="Aptos Mono" pitchFamily="34" charset="0"/>
                <a:ea typeface="Aptos Mono" pitchFamily="34" charset="-122"/>
                <a:cs typeface="Aptos Mono" pitchFamily="34" charset="-120"/>
              </a:rPr>
              <a:t>TSX</a:t>
            </a:r>
            <a:endParaRPr lang="en-US" sz="820" dirty="0"/>
          </a:p>
        </p:txBody>
      </p:sp>
      <p:sp>
        <p:nvSpPr>
          <p:cNvPr id="52" name="Text 50"/>
          <p:cNvSpPr/>
          <p:nvPr/>
        </p:nvSpPr>
        <p:spPr>
          <a:xfrm>
            <a:off x="7178040" y="1677924"/>
            <a:ext cx="420624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DOPO</a:t>
            </a:r>
            <a:endParaRPr lang="en-US" sz="880" dirty="0"/>
          </a:p>
        </p:txBody>
      </p:sp>
      <p:sp>
        <p:nvSpPr>
          <p:cNvPr id="53" name="Text 51"/>
          <p:cNvSpPr/>
          <p:nvPr/>
        </p:nvSpPr>
        <p:spPr>
          <a:xfrm>
            <a:off x="6327648" y="204368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01</a:t>
            </a:r>
            <a:endParaRPr lang="en-US" sz="1060" dirty="0"/>
          </a:p>
        </p:txBody>
      </p:sp>
      <p:sp>
        <p:nvSpPr>
          <p:cNvPr id="54" name="Text 52"/>
          <p:cNvSpPr/>
          <p:nvPr/>
        </p:nvSpPr>
        <p:spPr>
          <a:xfrm>
            <a:off x="6720840" y="202996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useEffect(() =&gt; {</a:t>
            </a:r>
            <a:endParaRPr lang="en-US" sz="1280" dirty="0"/>
          </a:p>
        </p:txBody>
      </p:sp>
      <p:sp>
        <p:nvSpPr>
          <p:cNvPr id="55" name="Text 53"/>
          <p:cNvSpPr/>
          <p:nvPr/>
        </p:nvSpPr>
        <p:spPr>
          <a:xfrm>
            <a:off x="6327648" y="228600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02</a:t>
            </a:r>
            <a:endParaRPr lang="en-US" sz="1060" dirty="0"/>
          </a:p>
        </p:txBody>
      </p:sp>
      <p:sp>
        <p:nvSpPr>
          <p:cNvPr id="56" name="Text 54"/>
          <p:cNvSpPr/>
          <p:nvPr/>
        </p:nvSpPr>
        <p:spPr>
          <a:xfrm>
            <a:off x="6720840" y="227228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const connection = createConnection(ticketId);</a:t>
            </a:r>
            <a:endParaRPr lang="en-US" sz="1280" dirty="0"/>
          </a:p>
        </p:txBody>
      </p:sp>
      <p:sp>
        <p:nvSpPr>
          <p:cNvPr id="57" name="Text 55"/>
          <p:cNvSpPr/>
          <p:nvPr/>
        </p:nvSpPr>
        <p:spPr>
          <a:xfrm>
            <a:off x="6327648" y="252831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03</a:t>
            </a:r>
            <a:endParaRPr lang="en-US" sz="1060" dirty="0"/>
          </a:p>
        </p:txBody>
      </p:sp>
      <p:sp>
        <p:nvSpPr>
          <p:cNvPr id="58" name="Text 56"/>
          <p:cNvSpPr/>
          <p:nvPr/>
        </p:nvSpPr>
        <p:spPr>
          <a:xfrm>
            <a:off x="6720840" y="2514600"/>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connection.connect();</a:t>
            </a:r>
            <a:endParaRPr lang="en-US" sz="1280" dirty="0"/>
          </a:p>
        </p:txBody>
      </p:sp>
      <p:sp>
        <p:nvSpPr>
          <p:cNvPr id="59" name="Text 57"/>
          <p:cNvSpPr/>
          <p:nvPr/>
        </p:nvSpPr>
        <p:spPr>
          <a:xfrm>
            <a:off x="6327648" y="2770632"/>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04</a:t>
            </a:r>
            <a:endParaRPr lang="en-US" sz="1060" dirty="0"/>
          </a:p>
        </p:txBody>
      </p:sp>
      <p:sp>
        <p:nvSpPr>
          <p:cNvPr id="60" name="Text 58"/>
          <p:cNvSpPr/>
          <p:nvPr/>
        </p:nvSpPr>
        <p:spPr>
          <a:xfrm>
            <a:off x="6720840" y="2756916"/>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return () =&gt; connection.disconnect();</a:t>
            </a:r>
            <a:endParaRPr lang="en-US" sz="1280" dirty="0"/>
          </a:p>
        </p:txBody>
      </p:sp>
      <p:sp>
        <p:nvSpPr>
          <p:cNvPr id="61" name="Text 59"/>
          <p:cNvSpPr/>
          <p:nvPr/>
        </p:nvSpPr>
        <p:spPr>
          <a:xfrm>
            <a:off x="6327648" y="3012948"/>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05</a:t>
            </a:r>
            <a:endParaRPr lang="en-US" sz="1060" dirty="0"/>
          </a:p>
        </p:txBody>
      </p:sp>
      <p:sp>
        <p:nvSpPr>
          <p:cNvPr id="62" name="Text 60"/>
          <p:cNvSpPr/>
          <p:nvPr/>
        </p:nvSpPr>
        <p:spPr>
          <a:xfrm>
            <a:off x="6720840" y="2999232"/>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[ticketId]);</a:t>
            </a:r>
            <a:endParaRPr lang="en-US" sz="1280" dirty="0"/>
          </a:p>
        </p:txBody>
      </p:sp>
      <p:sp>
        <p:nvSpPr>
          <p:cNvPr id="63" name="Text 61"/>
          <p:cNvSpPr/>
          <p:nvPr/>
        </p:nvSpPr>
        <p:spPr>
          <a:xfrm>
            <a:off x="6327648" y="325526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06</a:t>
            </a:r>
            <a:endParaRPr lang="en-US" sz="1060" dirty="0"/>
          </a:p>
        </p:txBody>
      </p:sp>
      <p:sp>
        <p:nvSpPr>
          <p:cNvPr id="64" name="Text 62"/>
          <p:cNvSpPr/>
          <p:nvPr/>
        </p:nvSpPr>
        <p:spPr>
          <a:xfrm>
            <a:off x="6720840" y="324154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t>
            </a:r>
            <a:endParaRPr lang="en-US" sz="1280" dirty="0"/>
          </a:p>
        </p:txBody>
      </p:sp>
      <p:sp>
        <p:nvSpPr>
          <p:cNvPr id="65" name="Text 63"/>
          <p:cNvSpPr/>
          <p:nvPr/>
        </p:nvSpPr>
        <p:spPr>
          <a:xfrm>
            <a:off x="6327648" y="349758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07</a:t>
            </a:r>
            <a:endParaRPr lang="en-US" sz="1060" dirty="0"/>
          </a:p>
        </p:txBody>
      </p:sp>
      <p:sp>
        <p:nvSpPr>
          <p:cNvPr id="66" name="Text 64"/>
          <p:cNvSpPr/>
          <p:nvPr/>
        </p:nvSpPr>
        <p:spPr>
          <a:xfrm>
            <a:off x="6720840" y="3483864"/>
            <a:ext cx="4782312" cy="242316"/>
          </a:xfrm>
          <a:prstGeom prst="rect">
            <a:avLst/>
          </a:prstGeom>
          <a:noFill/>
          <a:ln/>
        </p:spPr>
        <p:txBody>
          <a:bodyPr wrap="square" lIns="0" tIns="0" rIns="0" bIns="0" rtlCol="0" anchor="ctr">
            <a:normAutofit/>
          </a:bodyPr>
          <a:lstStyle/>
          <a:p>
            <a:pPr indent="0" marL="0">
              <a:buNone/>
            </a:pPr>
            <a:r>
              <a:rPr lang="en-US" sz="1280" dirty="0">
                <a:solidFill>
                  <a:srgbClr val="78C9A6"/>
                </a:solidFill>
                <a:latin typeface="Aptos Mono" pitchFamily="34" charset="0"/>
                <a:ea typeface="Aptos Mono" pitchFamily="34" charset="-122"/>
                <a:cs typeface="Aptos Mono" pitchFamily="34" charset="-120"/>
              </a:rPr>
              <a:t>// Il processo segue il valore reattivo.</a:t>
            </a:r>
            <a:endParaRPr lang="en-US" sz="1280" dirty="0"/>
          </a:p>
        </p:txBody>
      </p:sp>
      <p:sp>
        <p:nvSpPr>
          <p:cNvPr id="67" name="Shape 65"/>
          <p:cNvSpPr/>
          <p:nvPr/>
        </p:nvSpPr>
        <p:spPr>
          <a:xfrm>
            <a:off x="5870448" y="3310128"/>
            <a:ext cx="274320" cy="475488"/>
          </a:xfrm>
          <a:prstGeom prst="chevron">
            <a:avLst/>
          </a:prstGeom>
          <a:solidFill>
            <a:srgbClr val="4C7DFF"/>
          </a:solidFill>
          <a:ln w="12700">
            <a:solidFill>
              <a:srgbClr val="4C7DFF"/>
            </a:solidFill>
            <a:prstDash val="solid"/>
          </a:ln>
        </p:spPr>
      </p:sp>
      <p:sp>
        <p:nvSpPr>
          <p:cNvPr id="68" name="Text 66"/>
          <p:cNvSpPr/>
          <p:nvPr/>
        </p:nvSpPr>
        <p:spPr>
          <a:xfrm>
            <a:off x="1828800" y="6217920"/>
            <a:ext cx="8503920" cy="210312"/>
          </a:xfrm>
          <a:prstGeom prst="rect">
            <a:avLst/>
          </a:prstGeom>
          <a:noFill/>
          <a:ln/>
        </p:spPr>
        <p:txBody>
          <a:bodyPr wrap="square" lIns="0" tIns="0" rIns="0" bIns="0" rtlCol="0" anchor="ctr"/>
          <a:lstStyle/>
          <a:p>
            <a:pPr algn="ctr" indent="0" marL="0">
              <a:buNone/>
            </a:pPr>
            <a:r>
              <a:rPr lang="en-US" sz="1050" b="1" dirty="0">
                <a:solidFill>
                  <a:srgbClr val="F5C96A"/>
                </a:solidFill>
                <a:latin typeface="Aptos" pitchFamily="34" charset="0"/>
                <a:ea typeface="Aptos" pitchFamily="34" charset="-122"/>
                <a:cs typeface="Aptos" pitchFamily="34" charset="-120"/>
              </a:rPr>
              <a:t>Non scegliere le dipendenze: descrivi i valori letti dall’Effect.</a:t>
            </a:r>
            <a:endParaRPr lang="en-US" sz="10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65</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YOU MIGHT NOT NEED AN EFFECT</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Un calcolo derivato non richiede un Effect</a:t>
            </a:r>
            <a:endParaRPr lang="en-US" sz="2700" dirty="0"/>
          </a:p>
        </p:txBody>
      </p:sp>
      <p:sp>
        <p:nvSpPr>
          <p:cNvPr id="29" name="Shape 27"/>
          <p:cNvSpPr/>
          <p:nvPr/>
        </p:nvSpPr>
        <p:spPr>
          <a:xfrm>
            <a:off x="530352" y="1581912"/>
            <a:ext cx="5440680" cy="4526280"/>
          </a:xfrm>
          <a:prstGeom prst="roundRect">
            <a:avLst>
              <a:gd name="adj" fmla="val 1010"/>
            </a:avLst>
          </a:prstGeom>
          <a:solidFill>
            <a:srgbClr val="0D1A2B"/>
          </a:solidFill>
          <a:ln w="13970">
            <a:solidFill>
              <a:srgbClr val="263A55"/>
            </a:solidFill>
            <a:prstDash val="solid"/>
          </a:ln>
        </p:spPr>
      </p:sp>
      <p:sp>
        <p:nvSpPr>
          <p:cNvPr id="30" name="Shape 28"/>
          <p:cNvSpPr/>
          <p:nvPr/>
        </p:nvSpPr>
        <p:spPr>
          <a:xfrm>
            <a:off x="530352" y="1581912"/>
            <a:ext cx="5440680" cy="347472"/>
          </a:xfrm>
          <a:prstGeom prst="rect">
            <a:avLst/>
          </a:prstGeom>
          <a:solidFill>
            <a:srgbClr val="122238"/>
          </a:solidFill>
          <a:ln w="12700">
            <a:solidFill>
              <a:srgbClr val="122238"/>
            </a:solidFill>
            <a:prstDash val="solid"/>
          </a:ln>
        </p:spPr>
      </p:sp>
      <p:sp>
        <p:nvSpPr>
          <p:cNvPr id="31" name="Shape 29"/>
          <p:cNvSpPr/>
          <p:nvPr/>
        </p:nvSpPr>
        <p:spPr>
          <a:xfrm>
            <a:off x="694944" y="1623060"/>
            <a:ext cx="658368" cy="274320"/>
          </a:xfrm>
          <a:prstGeom prst="roundRect">
            <a:avLst>
              <a:gd name="adj" fmla="val 20000"/>
            </a:avLst>
          </a:prstGeom>
          <a:solidFill>
            <a:srgbClr val="FF7A8A">
              <a:alpha val="20000"/>
            </a:srgbClr>
          </a:solidFill>
          <a:ln w="10160">
            <a:solidFill>
              <a:srgbClr val="FF7A8A">
                <a:alpha val="55000"/>
              </a:srgbClr>
            </a:solidFill>
            <a:prstDash val="solid"/>
          </a:ln>
        </p:spPr>
      </p:sp>
      <p:sp>
        <p:nvSpPr>
          <p:cNvPr id="32" name="Text 30"/>
          <p:cNvSpPr/>
          <p:nvPr/>
        </p:nvSpPr>
        <p:spPr>
          <a:xfrm>
            <a:off x="786384" y="1682496"/>
            <a:ext cx="475488" cy="128016"/>
          </a:xfrm>
          <a:prstGeom prst="rect">
            <a:avLst/>
          </a:prstGeom>
          <a:noFill/>
          <a:ln/>
        </p:spPr>
        <p:txBody>
          <a:bodyPr wrap="square" lIns="0" tIns="0" rIns="0" bIns="0" rtlCol="0" anchor="ctr"/>
          <a:lstStyle/>
          <a:p>
            <a:pPr algn="ctr" indent="0" marL="0">
              <a:buNone/>
            </a:pPr>
            <a:r>
              <a:rPr lang="en-US" sz="820" b="1" dirty="0">
                <a:solidFill>
                  <a:srgbClr val="FF7A8A"/>
                </a:solidFill>
                <a:latin typeface="Aptos Mono" pitchFamily="34" charset="0"/>
                <a:ea typeface="Aptos Mono" pitchFamily="34" charset="-122"/>
                <a:cs typeface="Aptos Mono" pitchFamily="34" charset="-120"/>
              </a:rPr>
              <a:t>TSX</a:t>
            </a:r>
            <a:endParaRPr lang="en-US" sz="820" dirty="0"/>
          </a:p>
        </p:txBody>
      </p:sp>
      <p:sp>
        <p:nvSpPr>
          <p:cNvPr id="33" name="Text 31"/>
          <p:cNvSpPr/>
          <p:nvPr/>
        </p:nvSpPr>
        <p:spPr>
          <a:xfrm>
            <a:off x="1490472" y="1677924"/>
            <a:ext cx="420624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PRIMA</a:t>
            </a:r>
            <a:endParaRPr lang="en-US" sz="880" dirty="0"/>
          </a:p>
        </p:txBody>
      </p:sp>
      <p:sp>
        <p:nvSpPr>
          <p:cNvPr id="34" name="Text 32"/>
          <p:cNvSpPr/>
          <p:nvPr/>
        </p:nvSpPr>
        <p:spPr>
          <a:xfrm>
            <a:off x="640080" y="204368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01</a:t>
            </a:r>
            <a:endParaRPr lang="en-US" sz="1060" dirty="0"/>
          </a:p>
        </p:txBody>
      </p:sp>
      <p:sp>
        <p:nvSpPr>
          <p:cNvPr id="35" name="Text 33"/>
          <p:cNvSpPr/>
          <p:nvPr/>
        </p:nvSpPr>
        <p:spPr>
          <a:xfrm>
            <a:off x="1033272" y="202996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const [fullName, setFullName] = useState('');</a:t>
            </a:r>
            <a:endParaRPr lang="en-US" sz="1280" dirty="0"/>
          </a:p>
        </p:txBody>
      </p:sp>
      <p:sp>
        <p:nvSpPr>
          <p:cNvPr id="36" name="Text 34"/>
          <p:cNvSpPr/>
          <p:nvPr/>
        </p:nvSpPr>
        <p:spPr>
          <a:xfrm>
            <a:off x="640080" y="228600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02</a:t>
            </a:r>
            <a:endParaRPr lang="en-US" sz="1060" dirty="0"/>
          </a:p>
        </p:txBody>
      </p:sp>
      <p:sp>
        <p:nvSpPr>
          <p:cNvPr id="37" name="Text 35"/>
          <p:cNvSpPr/>
          <p:nvPr/>
        </p:nvSpPr>
        <p:spPr>
          <a:xfrm>
            <a:off x="1033272" y="227228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t>
            </a:r>
            <a:endParaRPr lang="en-US" sz="1280" dirty="0"/>
          </a:p>
        </p:txBody>
      </p:sp>
      <p:sp>
        <p:nvSpPr>
          <p:cNvPr id="38" name="Text 36"/>
          <p:cNvSpPr/>
          <p:nvPr/>
        </p:nvSpPr>
        <p:spPr>
          <a:xfrm>
            <a:off x="640080" y="252831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03</a:t>
            </a:r>
            <a:endParaRPr lang="en-US" sz="1060" dirty="0"/>
          </a:p>
        </p:txBody>
      </p:sp>
      <p:sp>
        <p:nvSpPr>
          <p:cNvPr id="39" name="Text 37"/>
          <p:cNvSpPr/>
          <p:nvPr/>
        </p:nvSpPr>
        <p:spPr>
          <a:xfrm>
            <a:off x="1033272" y="2514600"/>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useEffect(() =&gt; {</a:t>
            </a:r>
            <a:endParaRPr lang="en-US" sz="1280" dirty="0"/>
          </a:p>
        </p:txBody>
      </p:sp>
      <p:sp>
        <p:nvSpPr>
          <p:cNvPr id="40" name="Text 38"/>
          <p:cNvSpPr/>
          <p:nvPr/>
        </p:nvSpPr>
        <p:spPr>
          <a:xfrm>
            <a:off x="640080" y="2770632"/>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04</a:t>
            </a:r>
            <a:endParaRPr lang="en-US" sz="1060" dirty="0"/>
          </a:p>
        </p:txBody>
      </p:sp>
      <p:sp>
        <p:nvSpPr>
          <p:cNvPr id="41" name="Text 39"/>
          <p:cNvSpPr/>
          <p:nvPr/>
        </p:nvSpPr>
        <p:spPr>
          <a:xfrm>
            <a:off x="1033272" y="2756916"/>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setFullName(firstName + ' ' + lastName);</a:t>
            </a:r>
            <a:endParaRPr lang="en-US" sz="1280" dirty="0"/>
          </a:p>
        </p:txBody>
      </p:sp>
      <p:sp>
        <p:nvSpPr>
          <p:cNvPr id="42" name="Text 40"/>
          <p:cNvSpPr/>
          <p:nvPr/>
        </p:nvSpPr>
        <p:spPr>
          <a:xfrm>
            <a:off x="640080" y="3012948"/>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05</a:t>
            </a:r>
            <a:endParaRPr lang="en-US" sz="1060" dirty="0"/>
          </a:p>
        </p:txBody>
      </p:sp>
      <p:sp>
        <p:nvSpPr>
          <p:cNvPr id="43" name="Text 41"/>
          <p:cNvSpPr/>
          <p:nvPr/>
        </p:nvSpPr>
        <p:spPr>
          <a:xfrm>
            <a:off x="1033272" y="2999232"/>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[firstName, lastName]);</a:t>
            </a:r>
            <a:endParaRPr lang="en-US" sz="1280" dirty="0"/>
          </a:p>
        </p:txBody>
      </p:sp>
      <p:sp>
        <p:nvSpPr>
          <p:cNvPr id="44" name="Text 42"/>
          <p:cNvSpPr/>
          <p:nvPr/>
        </p:nvSpPr>
        <p:spPr>
          <a:xfrm>
            <a:off x="640080" y="325526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06</a:t>
            </a:r>
            <a:endParaRPr lang="en-US" sz="1060" dirty="0"/>
          </a:p>
        </p:txBody>
      </p:sp>
      <p:sp>
        <p:nvSpPr>
          <p:cNvPr id="45" name="Text 43"/>
          <p:cNvSpPr/>
          <p:nvPr/>
        </p:nvSpPr>
        <p:spPr>
          <a:xfrm>
            <a:off x="1033272" y="324154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t>
            </a:r>
            <a:endParaRPr lang="en-US" sz="1280" dirty="0"/>
          </a:p>
        </p:txBody>
      </p:sp>
      <p:sp>
        <p:nvSpPr>
          <p:cNvPr id="46" name="Text 44"/>
          <p:cNvSpPr/>
          <p:nvPr/>
        </p:nvSpPr>
        <p:spPr>
          <a:xfrm>
            <a:off x="640080" y="349758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07</a:t>
            </a:r>
            <a:endParaRPr lang="en-US" sz="1060" dirty="0"/>
          </a:p>
        </p:txBody>
      </p:sp>
      <p:sp>
        <p:nvSpPr>
          <p:cNvPr id="47" name="Text 45"/>
          <p:cNvSpPr/>
          <p:nvPr/>
        </p:nvSpPr>
        <p:spPr>
          <a:xfrm>
            <a:off x="1033272" y="348386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return &lt;h2&gt;{fullName}&lt;/h2&gt;;</a:t>
            </a:r>
            <a:endParaRPr lang="en-US" sz="1280" dirty="0"/>
          </a:p>
        </p:txBody>
      </p:sp>
      <p:sp>
        <p:nvSpPr>
          <p:cNvPr id="48" name="Text 46"/>
          <p:cNvSpPr/>
          <p:nvPr/>
        </p:nvSpPr>
        <p:spPr>
          <a:xfrm>
            <a:off x="640080" y="373989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08</a:t>
            </a:r>
            <a:endParaRPr lang="en-US" sz="1060" dirty="0"/>
          </a:p>
        </p:txBody>
      </p:sp>
      <p:sp>
        <p:nvSpPr>
          <p:cNvPr id="49" name="Text 47"/>
          <p:cNvSpPr/>
          <p:nvPr/>
        </p:nvSpPr>
        <p:spPr>
          <a:xfrm>
            <a:off x="1033272" y="3726180"/>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t>
            </a:r>
            <a:endParaRPr lang="en-US" sz="1280" dirty="0"/>
          </a:p>
        </p:txBody>
      </p:sp>
      <p:sp>
        <p:nvSpPr>
          <p:cNvPr id="50" name="Text 48"/>
          <p:cNvSpPr/>
          <p:nvPr/>
        </p:nvSpPr>
        <p:spPr>
          <a:xfrm>
            <a:off x="640080" y="3982212"/>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09</a:t>
            </a:r>
            <a:endParaRPr lang="en-US" sz="1060" dirty="0"/>
          </a:p>
        </p:txBody>
      </p:sp>
      <p:sp>
        <p:nvSpPr>
          <p:cNvPr id="51" name="Text 49"/>
          <p:cNvSpPr/>
          <p:nvPr/>
        </p:nvSpPr>
        <p:spPr>
          <a:xfrm>
            <a:off x="1033272" y="3968496"/>
            <a:ext cx="4782312" cy="242316"/>
          </a:xfrm>
          <a:prstGeom prst="rect">
            <a:avLst/>
          </a:prstGeom>
          <a:noFill/>
          <a:ln/>
        </p:spPr>
        <p:txBody>
          <a:bodyPr wrap="square" lIns="0" tIns="0" rIns="0" bIns="0" rtlCol="0" anchor="ctr">
            <a:normAutofit/>
          </a:bodyPr>
          <a:lstStyle/>
          <a:p>
            <a:pPr indent="0" marL="0">
              <a:buNone/>
            </a:pPr>
            <a:r>
              <a:rPr lang="en-US" sz="1280" dirty="0">
                <a:solidFill>
                  <a:srgbClr val="78C9A6"/>
                </a:solidFill>
                <a:latin typeface="Aptos Mono" pitchFamily="34" charset="0"/>
                <a:ea typeface="Aptos Mono" pitchFamily="34" charset="-122"/>
                <a:cs typeface="Aptos Mono" pitchFamily="34" charset="-120"/>
              </a:rPr>
              <a:t>// State duplicato e render aggiuntivo.</a:t>
            </a:r>
            <a:endParaRPr lang="en-US" sz="1280" dirty="0"/>
          </a:p>
        </p:txBody>
      </p:sp>
      <p:sp>
        <p:nvSpPr>
          <p:cNvPr id="52" name="Shape 50"/>
          <p:cNvSpPr/>
          <p:nvPr/>
        </p:nvSpPr>
        <p:spPr>
          <a:xfrm>
            <a:off x="6217920" y="1581912"/>
            <a:ext cx="5440680" cy="4526280"/>
          </a:xfrm>
          <a:prstGeom prst="roundRect">
            <a:avLst>
              <a:gd name="adj" fmla="val 1010"/>
            </a:avLst>
          </a:prstGeom>
          <a:solidFill>
            <a:srgbClr val="0D1A2B"/>
          </a:solidFill>
          <a:ln w="13970">
            <a:solidFill>
              <a:srgbClr val="263A55"/>
            </a:solidFill>
            <a:prstDash val="solid"/>
          </a:ln>
        </p:spPr>
      </p:sp>
      <p:sp>
        <p:nvSpPr>
          <p:cNvPr id="53" name="Shape 51"/>
          <p:cNvSpPr/>
          <p:nvPr/>
        </p:nvSpPr>
        <p:spPr>
          <a:xfrm>
            <a:off x="6217920" y="1581912"/>
            <a:ext cx="5440680" cy="347472"/>
          </a:xfrm>
          <a:prstGeom prst="rect">
            <a:avLst/>
          </a:prstGeom>
          <a:solidFill>
            <a:srgbClr val="122238"/>
          </a:solidFill>
          <a:ln w="12700">
            <a:solidFill>
              <a:srgbClr val="122238"/>
            </a:solidFill>
            <a:prstDash val="solid"/>
          </a:ln>
        </p:spPr>
      </p:sp>
      <p:sp>
        <p:nvSpPr>
          <p:cNvPr id="54" name="Shape 52"/>
          <p:cNvSpPr/>
          <p:nvPr/>
        </p:nvSpPr>
        <p:spPr>
          <a:xfrm>
            <a:off x="6382512" y="1623060"/>
            <a:ext cx="658368" cy="274320"/>
          </a:xfrm>
          <a:prstGeom prst="roundRect">
            <a:avLst>
              <a:gd name="adj" fmla="val 20000"/>
            </a:avLst>
          </a:prstGeom>
          <a:solidFill>
            <a:srgbClr val="6FE3B1">
              <a:alpha val="20000"/>
            </a:srgbClr>
          </a:solidFill>
          <a:ln w="10160">
            <a:solidFill>
              <a:srgbClr val="6FE3B1">
                <a:alpha val="55000"/>
              </a:srgbClr>
            </a:solidFill>
            <a:prstDash val="solid"/>
          </a:ln>
        </p:spPr>
      </p:sp>
      <p:sp>
        <p:nvSpPr>
          <p:cNvPr id="55" name="Text 53"/>
          <p:cNvSpPr/>
          <p:nvPr/>
        </p:nvSpPr>
        <p:spPr>
          <a:xfrm>
            <a:off x="6473952" y="1682496"/>
            <a:ext cx="475488" cy="128016"/>
          </a:xfrm>
          <a:prstGeom prst="rect">
            <a:avLst/>
          </a:prstGeom>
          <a:noFill/>
          <a:ln/>
        </p:spPr>
        <p:txBody>
          <a:bodyPr wrap="square" lIns="0" tIns="0" rIns="0" bIns="0" rtlCol="0" anchor="ctr"/>
          <a:lstStyle/>
          <a:p>
            <a:pPr algn="ctr" indent="0" marL="0">
              <a:buNone/>
            </a:pPr>
            <a:r>
              <a:rPr lang="en-US" sz="820" b="1" dirty="0">
                <a:solidFill>
                  <a:srgbClr val="6FE3B1"/>
                </a:solidFill>
                <a:latin typeface="Aptos Mono" pitchFamily="34" charset="0"/>
                <a:ea typeface="Aptos Mono" pitchFamily="34" charset="-122"/>
                <a:cs typeface="Aptos Mono" pitchFamily="34" charset="-120"/>
              </a:rPr>
              <a:t>TSX</a:t>
            </a:r>
            <a:endParaRPr lang="en-US" sz="820" dirty="0"/>
          </a:p>
        </p:txBody>
      </p:sp>
      <p:sp>
        <p:nvSpPr>
          <p:cNvPr id="56" name="Text 54"/>
          <p:cNvSpPr/>
          <p:nvPr/>
        </p:nvSpPr>
        <p:spPr>
          <a:xfrm>
            <a:off x="7178040" y="1677924"/>
            <a:ext cx="420624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DOPO</a:t>
            </a:r>
            <a:endParaRPr lang="en-US" sz="880" dirty="0"/>
          </a:p>
        </p:txBody>
      </p:sp>
      <p:sp>
        <p:nvSpPr>
          <p:cNvPr id="57" name="Text 55"/>
          <p:cNvSpPr/>
          <p:nvPr/>
        </p:nvSpPr>
        <p:spPr>
          <a:xfrm>
            <a:off x="6327648" y="204368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01</a:t>
            </a:r>
            <a:endParaRPr lang="en-US" sz="1060" dirty="0"/>
          </a:p>
        </p:txBody>
      </p:sp>
      <p:sp>
        <p:nvSpPr>
          <p:cNvPr id="58" name="Text 56"/>
          <p:cNvSpPr/>
          <p:nvPr/>
        </p:nvSpPr>
        <p:spPr>
          <a:xfrm>
            <a:off x="6720840" y="2029968"/>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const fullName = firstName + ' ' + lastName;</a:t>
            </a:r>
            <a:endParaRPr lang="en-US" sz="1280" dirty="0"/>
          </a:p>
        </p:txBody>
      </p:sp>
      <p:sp>
        <p:nvSpPr>
          <p:cNvPr id="59" name="Text 57"/>
          <p:cNvSpPr/>
          <p:nvPr/>
        </p:nvSpPr>
        <p:spPr>
          <a:xfrm>
            <a:off x="6327648" y="2286000"/>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02</a:t>
            </a:r>
            <a:endParaRPr lang="en-US" sz="1060" dirty="0"/>
          </a:p>
        </p:txBody>
      </p:sp>
      <p:sp>
        <p:nvSpPr>
          <p:cNvPr id="60" name="Text 58"/>
          <p:cNvSpPr/>
          <p:nvPr/>
        </p:nvSpPr>
        <p:spPr>
          <a:xfrm>
            <a:off x="6720840" y="2272284"/>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t>
            </a:r>
            <a:endParaRPr lang="en-US" sz="1280" dirty="0"/>
          </a:p>
        </p:txBody>
      </p:sp>
      <p:sp>
        <p:nvSpPr>
          <p:cNvPr id="61" name="Text 59"/>
          <p:cNvSpPr/>
          <p:nvPr/>
        </p:nvSpPr>
        <p:spPr>
          <a:xfrm>
            <a:off x="6327648" y="2528316"/>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03</a:t>
            </a:r>
            <a:endParaRPr lang="en-US" sz="1060" dirty="0"/>
          </a:p>
        </p:txBody>
      </p:sp>
      <p:sp>
        <p:nvSpPr>
          <p:cNvPr id="62" name="Text 60"/>
          <p:cNvSpPr/>
          <p:nvPr/>
        </p:nvSpPr>
        <p:spPr>
          <a:xfrm>
            <a:off x="6720840" y="2514600"/>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return &lt;h2&gt;{fullName}&lt;/h2&gt;;</a:t>
            </a:r>
            <a:endParaRPr lang="en-US" sz="1280" dirty="0"/>
          </a:p>
        </p:txBody>
      </p:sp>
      <p:sp>
        <p:nvSpPr>
          <p:cNvPr id="63" name="Text 61"/>
          <p:cNvSpPr/>
          <p:nvPr/>
        </p:nvSpPr>
        <p:spPr>
          <a:xfrm>
            <a:off x="6327648" y="2770632"/>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04</a:t>
            </a:r>
            <a:endParaRPr lang="en-US" sz="1060" dirty="0"/>
          </a:p>
        </p:txBody>
      </p:sp>
      <p:sp>
        <p:nvSpPr>
          <p:cNvPr id="64" name="Text 62"/>
          <p:cNvSpPr/>
          <p:nvPr/>
        </p:nvSpPr>
        <p:spPr>
          <a:xfrm>
            <a:off x="6720840" y="2756916"/>
            <a:ext cx="4782312" cy="242316"/>
          </a:xfrm>
          <a:prstGeom prst="rect">
            <a:avLst/>
          </a:prstGeom>
          <a:noFill/>
          <a:ln/>
        </p:spPr>
        <p:txBody>
          <a:bodyPr wrap="square" lIns="0" tIns="0" rIns="0" bIns="0" rtlCol="0" anchor="ctr">
            <a:normAutofit/>
          </a:bodyPr>
          <a:lstStyle/>
          <a:p>
            <a:pPr indent="0" marL="0">
              <a:buNone/>
            </a:pPr>
            <a:r>
              <a:rPr lang="en-US" sz="1280" dirty="0">
                <a:solidFill>
                  <a:srgbClr val="D9E4F2"/>
                </a:solidFill>
                <a:latin typeface="Aptos Mono" pitchFamily="34" charset="0"/>
                <a:ea typeface="Aptos Mono" pitchFamily="34" charset="-122"/>
                <a:cs typeface="Aptos Mono" pitchFamily="34" charset="-120"/>
              </a:rPr>
              <a:t> </a:t>
            </a:r>
            <a:endParaRPr lang="en-US" sz="1280" dirty="0"/>
          </a:p>
        </p:txBody>
      </p:sp>
      <p:sp>
        <p:nvSpPr>
          <p:cNvPr id="65" name="Text 63"/>
          <p:cNvSpPr/>
          <p:nvPr/>
        </p:nvSpPr>
        <p:spPr>
          <a:xfrm>
            <a:off x="6327648" y="3012948"/>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05</a:t>
            </a:r>
            <a:endParaRPr lang="en-US" sz="1060" dirty="0"/>
          </a:p>
        </p:txBody>
      </p:sp>
      <p:sp>
        <p:nvSpPr>
          <p:cNvPr id="66" name="Text 64"/>
          <p:cNvSpPr/>
          <p:nvPr/>
        </p:nvSpPr>
        <p:spPr>
          <a:xfrm>
            <a:off x="6720840" y="2999232"/>
            <a:ext cx="4782312" cy="242316"/>
          </a:xfrm>
          <a:prstGeom prst="rect">
            <a:avLst/>
          </a:prstGeom>
          <a:noFill/>
          <a:ln/>
        </p:spPr>
        <p:txBody>
          <a:bodyPr wrap="square" lIns="0" tIns="0" rIns="0" bIns="0" rtlCol="0" anchor="ctr">
            <a:normAutofit/>
          </a:bodyPr>
          <a:lstStyle/>
          <a:p>
            <a:pPr indent="0" marL="0">
              <a:buNone/>
            </a:pPr>
            <a:r>
              <a:rPr lang="en-US" sz="1280" dirty="0">
                <a:solidFill>
                  <a:srgbClr val="78C9A6"/>
                </a:solidFill>
                <a:latin typeface="Aptos Mono" pitchFamily="34" charset="0"/>
                <a:ea typeface="Aptos Mono" pitchFamily="34" charset="-122"/>
                <a:cs typeface="Aptos Mono" pitchFamily="34" charset="-120"/>
              </a:rPr>
              <a:t>// Calcolo puro nel render.</a:t>
            </a:r>
            <a:endParaRPr lang="en-US" sz="1280" dirty="0"/>
          </a:p>
        </p:txBody>
      </p:sp>
      <p:sp>
        <p:nvSpPr>
          <p:cNvPr id="67" name="Text 65"/>
          <p:cNvSpPr/>
          <p:nvPr/>
        </p:nvSpPr>
        <p:spPr>
          <a:xfrm>
            <a:off x="6327648" y="3255264"/>
            <a:ext cx="320040" cy="242316"/>
          </a:xfrm>
          <a:prstGeom prst="rect">
            <a:avLst/>
          </a:prstGeom>
          <a:noFill/>
          <a:ln/>
        </p:spPr>
        <p:txBody>
          <a:bodyPr wrap="square" lIns="0" tIns="0" rIns="0" bIns="0" rtlCol="0" anchor="ctr"/>
          <a:lstStyle/>
          <a:p>
            <a:pPr algn="r" indent="0" marL="0">
              <a:buNone/>
            </a:pPr>
            <a:r>
              <a:rPr lang="en-US" sz="1060" dirty="0">
                <a:solidFill>
                  <a:srgbClr val="8296AE"/>
                </a:solidFill>
                <a:latin typeface="Aptos Mono" pitchFamily="34" charset="0"/>
                <a:ea typeface="Aptos Mono" pitchFamily="34" charset="-122"/>
                <a:cs typeface="Aptos Mono" pitchFamily="34" charset="-120"/>
              </a:rPr>
              <a:t>06</a:t>
            </a:r>
            <a:endParaRPr lang="en-US" sz="1060" dirty="0"/>
          </a:p>
        </p:txBody>
      </p:sp>
      <p:sp>
        <p:nvSpPr>
          <p:cNvPr id="68" name="Text 66"/>
          <p:cNvSpPr/>
          <p:nvPr/>
        </p:nvSpPr>
        <p:spPr>
          <a:xfrm>
            <a:off x="6720840" y="3241548"/>
            <a:ext cx="4782312" cy="242316"/>
          </a:xfrm>
          <a:prstGeom prst="rect">
            <a:avLst/>
          </a:prstGeom>
          <a:noFill/>
          <a:ln/>
        </p:spPr>
        <p:txBody>
          <a:bodyPr wrap="square" lIns="0" tIns="0" rIns="0" bIns="0" rtlCol="0" anchor="ctr">
            <a:normAutofit/>
          </a:bodyPr>
          <a:lstStyle/>
          <a:p>
            <a:pPr indent="0" marL="0">
              <a:buNone/>
            </a:pPr>
            <a:r>
              <a:rPr lang="en-US" sz="1280" dirty="0">
                <a:solidFill>
                  <a:srgbClr val="78C9A6"/>
                </a:solidFill>
                <a:latin typeface="Aptos Mono" pitchFamily="34" charset="0"/>
                <a:ea typeface="Aptos Mono" pitchFamily="34" charset="-122"/>
                <a:cs typeface="Aptos Mono" pitchFamily="34" charset="-120"/>
              </a:rPr>
              <a:t>// Nessuna sincronizzazione esterna.</a:t>
            </a:r>
            <a:endParaRPr lang="en-US" sz="1280" dirty="0"/>
          </a:p>
        </p:txBody>
      </p:sp>
      <p:sp>
        <p:nvSpPr>
          <p:cNvPr id="69" name="Shape 67"/>
          <p:cNvSpPr/>
          <p:nvPr/>
        </p:nvSpPr>
        <p:spPr>
          <a:xfrm>
            <a:off x="5870448" y="3310128"/>
            <a:ext cx="274320" cy="475488"/>
          </a:xfrm>
          <a:prstGeom prst="chevron">
            <a:avLst/>
          </a:prstGeom>
          <a:solidFill>
            <a:srgbClr val="4C7DFF"/>
          </a:solidFill>
          <a:ln w="12700">
            <a:solidFill>
              <a:srgbClr val="4C7DFF"/>
            </a:solidFill>
            <a:prstDash val="solid"/>
          </a:ln>
        </p:spPr>
      </p:sp>
      <p:sp>
        <p:nvSpPr>
          <p:cNvPr id="70" name="Text 68"/>
          <p:cNvSpPr/>
          <p:nvPr/>
        </p:nvSpPr>
        <p:spPr>
          <a:xfrm>
            <a:off x="1828800" y="6217920"/>
            <a:ext cx="8503920" cy="210312"/>
          </a:xfrm>
          <a:prstGeom prst="rect">
            <a:avLst/>
          </a:prstGeom>
          <a:noFill/>
          <a:ln/>
        </p:spPr>
        <p:txBody>
          <a:bodyPr wrap="square" lIns="0" tIns="0" rIns="0" bIns="0" rtlCol="0" anchor="ctr"/>
          <a:lstStyle/>
          <a:p>
            <a:pPr algn="ctr" indent="0" marL="0">
              <a:buNone/>
            </a:pPr>
            <a:r>
              <a:rPr lang="en-US" sz="1050" b="1" dirty="0">
                <a:solidFill>
                  <a:srgbClr val="F5C96A"/>
                </a:solidFill>
                <a:latin typeface="Aptos" pitchFamily="34" charset="0"/>
                <a:ea typeface="Aptos" pitchFamily="34" charset="-122"/>
                <a:cs typeface="Aptos" pitchFamily="34" charset="-120"/>
              </a:rPr>
              <a:t>Effect è una via di uscita verso sistemi esterni, non un motore di calcoli.</a:t>
            </a:r>
            <a:endParaRPr lang="en-US" sz="10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66</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RICERCA REMOTA</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Il debounce sostituisce il timer a ogni input</a:t>
            </a:r>
            <a:endParaRPr lang="en-US" sz="2700" dirty="0"/>
          </a:p>
        </p:txBody>
      </p:sp>
      <p:sp>
        <p:nvSpPr>
          <p:cNvPr id="29" name="Shape 27"/>
          <p:cNvSpPr/>
          <p:nvPr/>
        </p:nvSpPr>
        <p:spPr>
          <a:xfrm>
            <a:off x="530352" y="1591056"/>
            <a:ext cx="7589520" cy="4553712"/>
          </a:xfrm>
          <a:prstGeom prst="roundRect">
            <a:avLst>
              <a:gd name="adj" fmla="val 1004"/>
            </a:avLst>
          </a:prstGeom>
          <a:solidFill>
            <a:srgbClr val="0D1A2B"/>
          </a:solidFill>
          <a:ln w="13970">
            <a:solidFill>
              <a:srgbClr val="263A55"/>
            </a:solidFill>
            <a:prstDash val="solid"/>
          </a:ln>
        </p:spPr>
      </p:sp>
      <p:sp>
        <p:nvSpPr>
          <p:cNvPr id="30" name="Shape 28"/>
          <p:cNvSpPr/>
          <p:nvPr/>
        </p:nvSpPr>
        <p:spPr>
          <a:xfrm>
            <a:off x="530352" y="1591056"/>
            <a:ext cx="7589520" cy="347472"/>
          </a:xfrm>
          <a:prstGeom prst="rect">
            <a:avLst/>
          </a:prstGeom>
          <a:solidFill>
            <a:srgbClr val="122238"/>
          </a:solidFill>
          <a:ln w="12700">
            <a:solidFill>
              <a:srgbClr val="122238"/>
            </a:solidFill>
            <a:prstDash val="solid"/>
          </a:ln>
        </p:spPr>
      </p:sp>
      <p:sp>
        <p:nvSpPr>
          <p:cNvPr id="31" name="Shape 29"/>
          <p:cNvSpPr/>
          <p:nvPr/>
        </p:nvSpPr>
        <p:spPr>
          <a:xfrm>
            <a:off x="694944" y="1632204"/>
            <a:ext cx="658368" cy="274320"/>
          </a:xfrm>
          <a:prstGeom prst="roundRect">
            <a:avLst>
              <a:gd name="adj" fmla="val 20000"/>
            </a:avLst>
          </a:prstGeom>
          <a:solidFill>
            <a:srgbClr val="7CD4FF">
              <a:alpha val="20000"/>
            </a:srgbClr>
          </a:solidFill>
          <a:ln w="10160">
            <a:solidFill>
              <a:srgbClr val="7CD4FF">
                <a:alpha val="55000"/>
              </a:srgbClr>
            </a:solidFill>
            <a:prstDash val="solid"/>
          </a:ln>
        </p:spPr>
      </p:sp>
      <p:sp>
        <p:nvSpPr>
          <p:cNvPr id="32" name="Text 30"/>
          <p:cNvSpPr/>
          <p:nvPr/>
        </p:nvSpPr>
        <p:spPr>
          <a:xfrm>
            <a:off x="786384" y="1691640"/>
            <a:ext cx="475488" cy="128016"/>
          </a:xfrm>
          <a:prstGeom prst="rect">
            <a:avLst/>
          </a:prstGeom>
          <a:noFill/>
          <a:ln/>
        </p:spPr>
        <p:txBody>
          <a:bodyPr wrap="square" lIns="0" tIns="0" rIns="0" bIns="0" rtlCol="0" anchor="ctr"/>
          <a:lstStyle/>
          <a:p>
            <a:pPr algn="ctr" indent="0" marL="0">
              <a:buNone/>
            </a:pPr>
            <a:r>
              <a:rPr lang="en-US" sz="820" b="1" dirty="0">
                <a:solidFill>
                  <a:srgbClr val="7CD4FF"/>
                </a:solidFill>
                <a:latin typeface="Aptos Mono" pitchFamily="34" charset="0"/>
                <a:ea typeface="Aptos Mono" pitchFamily="34" charset="-122"/>
                <a:cs typeface="Aptos Mono" pitchFamily="34" charset="-120"/>
              </a:rPr>
              <a:t>TSX</a:t>
            </a:r>
            <a:endParaRPr lang="en-US" sz="820" dirty="0"/>
          </a:p>
        </p:txBody>
      </p:sp>
      <p:sp>
        <p:nvSpPr>
          <p:cNvPr id="33" name="Text 31"/>
          <p:cNvSpPr/>
          <p:nvPr/>
        </p:nvSpPr>
        <p:spPr>
          <a:xfrm>
            <a:off x="1490472" y="1687068"/>
            <a:ext cx="635508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SearchField.tsx</a:t>
            </a:r>
            <a:endParaRPr lang="en-US" sz="880" dirty="0"/>
          </a:p>
        </p:txBody>
      </p:sp>
      <p:sp>
        <p:nvSpPr>
          <p:cNvPr id="34" name="Text 32"/>
          <p:cNvSpPr/>
          <p:nvPr/>
        </p:nvSpPr>
        <p:spPr>
          <a:xfrm>
            <a:off x="640080" y="205282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01</a:t>
            </a:r>
            <a:endParaRPr lang="en-US" sz="1200" dirty="0"/>
          </a:p>
        </p:txBody>
      </p:sp>
      <p:sp>
        <p:nvSpPr>
          <p:cNvPr id="35" name="Text 33"/>
          <p:cNvSpPr/>
          <p:nvPr/>
        </p:nvSpPr>
        <p:spPr>
          <a:xfrm>
            <a:off x="1033272" y="203911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useEffect(() =&gt; {</a:t>
            </a:r>
            <a:endParaRPr lang="en-US" sz="1420" dirty="0"/>
          </a:p>
        </p:txBody>
      </p:sp>
      <p:sp>
        <p:nvSpPr>
          <p:cNvPr id="36" name="Text 34"/>
          <p:cNvSpPr/>
          <p:nvPr/>
        </p:nvSpPr>
        <p:spPr>
          <a:xfrm>
            <a:off x="640080" y="229514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02</a:t>
            </a:r>
            <a:endParaRPr lang="en-US" sz="1200" dirty="0"/>
          </a:p>
        </p:txBody>
      </p:sp>
      <p:sp>
        <p:nvSpPr>
          <p:cNvPr id="37" name="Text 35"/>
          <p:cNvSpPr/>
          <p:nvPr/>
        </p:nvSpPr>
        <p:spPr>
          <a:xfrm>
            <a:off x="1033272" y="228142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const trimmed = query.trim();</a:t>
            </a:r>
            <a:endParaRPr lang="en-US" sz="1420" dirty="0"/>
          </a:p>
        </p:txBody>
      </p:sp>
      <p:sp>
        <p:nvSpPr>
          <p:cNvPr id="38" name="Text 36"/>
          <p:cNvSpPr/>
          <p:nvPr/>
        </p:nvSpPr>
        <p:spPr>
          <a:xfrm>
            <a:off x="640080" y="253746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03</a:t>
            </a:r>
            <a:endParaRPr lang="en-US" sz="1200" dirty="0"/>
          </a:p>
        </p:txBody>
      </p:sp>
      <p:sp>
        <p:nvSpPr>
          <p:cNvPr id="39" name="Text 37"/>
          <p:cNvSpPr/>
          <p:nvPr/>
        </p:nvSpPr>
        <p:spPr>
          <a:xfrm>
            <a:off x="1033272" y="2523744"/>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if (!trimmed) return;</a:t>
            </a:r>
            <a:endParaRPr lang="en-US" sz="1420" dirty="0"/>
          </a:p>
        </p:txBody>
      </p:sp>
      <p:sp>
        <p:nvSpPr>
          <p:cNvPr id="40" name="Text 38"/>
          <p:cNvSpPr/>
          <p:nvPr/>
        </p:nvSpPr>
        <p:spPr>
          <a:xfrm>
            <a:off x="640080" y="277977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04</a:t>
            </a:r>
            <a:endParaRPr lang="en-US" sz="1200" dirty="0"/>
          </a:p>
        </p:txBody>
      </p:sp>
      <p:sp>
        <p:nvSpPr>
          <p:cNvPr id="41" name="Text 39"/>
          <p:cNvSpPr/>
          <p:nvPr/>
        </p:nvSpPr>
        <p:spPr>
          <a:xfrm>
            <a:off x="1033272" y="2766060"/>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42" name="Text 40"/>
          <p:cNvSpPr/>
          <p:nvPr/>
        </p:nvSpPr>
        <p:spPr>
          <a:xfrm>
            <a:off x="640080" y="3022092"/>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05</a:t>
            </a:r>
            <a:endParaRPr lang="en-US" sz="1200" dirty="0"/>
          </a:p>
        </p:txBody>
      </p:sp>
      <p:sp>
        <p:nvSpPr>
          <p:cNvPr id="43" name="Text 41"/>
          <p:cNvSpPr/>
          <p:nvPr/>
        </p:nvSpPr>
        <p:spPr>
          <a:xfrm>
            <a:off x="1033272" y="3008376"/>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const timerId = window.setTimeout(() =&gt; {</a:t>
            </a:r>
            <a:endParaRPr lang="en-US" sz="1420" dirty="0"/>
          </a:p>
        </p:txBody>
      </p:sp>
      <p:sp>
        <p:nvSpPr>
          <p:cNvPr id="44" name="Text 42"/>
          <p:cNvSpPr/>
          <p:nvPr/>
        </p:nvSpPr>
        <p:spPr>
          <a:xfrm>
            <a:off x="640080" y="326440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06</a:t>
            </a:r>
            <a:endParaRPr lang="en-US" sz="1200" dirty="0"/>
          </a:p>
        </p:txBody>
      </p:sp>
      <p:sp>
        <p:nvSpPr>
          <p:cNvPr id="45" name="Text 43"/>
          <p:cNvSpPr/>
          <p:nvPr/>
        </p:nvSpPr>
        <p:spPr>
          <a:xfrm>
            <a:off x="1033272" y="325069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onSearch(trimmed);</a:t>
            </a:r>
            <a:endParaRPr lang="en-US" sz="1420" dirty="0"/>
          </a:p>
        </p:txBody>
      </p:sp>
      <p:sp>
        <p:nvSpPr>
          <p:cNvPr id="46" name="Text 44"/>
          <p:cNvSpPr/>
          <p:nvPr/>
        </p:nvSpPr>
        <p:spPr>
          <a:xfrm>
            <a:off x="640080" y="350672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07</a:t>
            </a:r>
            <a:endParaRPr lang="en-US" sz="1200" dirty="0"/>
          </a:p>
        </p:txBody>
      </p:sp>
      <p:sp>
        <p:nvSpPr>
          <p:cNvPr id="47" name="Text 45"/>
          <p:cNvSpPr/>
          <p:nvPr/>
        </p:nvSpPr>
        <p:spPr>
          <a:xfrm>
            <a:off x="1033272" y="349300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 400);</a:t>
            </a:r>
            <a:endParaRPr lang="en-US" sz="1420" dirty="0"/>
          </a:p>
        </p:txBody>
      </p:sp>
      <p:sp>
        <p:nvSpPr>
          <p:cNvPr id="48" name="Text 46"/>
          <p:cNvSpPr/>
          <p:nvPr/>
        </p:nvSpPr>
        <p:spPr>
          <a:xfrm>
            <a:off x="640080" y="374904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08</a:t>
            </a:r>
            <a:endParaRPr lang="en-US" sz="1200" dirty="0"/>
          </a:p>
        </p:txBody>
      </p:sp>
      <p:sp>
        <p:nvSpPr>
          <p:cNvPr id="49" name="Text 47"/>
          <p:cNvSpPr/>
          <p:nvPr/>
        </p:nvSpPr>
        <p:spPr>
          <a:xfrm>
            <a:off x="1033272" y="3735324"/>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50" name="Text 48"/>
          <p:cNvSpPr/>
          <p:nvPr/>
        </p:nvSpPr>
        <p:spPr>
          <a:xfrm>
            <a:off x="640080" y="399135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09</a:t>
            </a:r>
            <a:endParaRPr lang="en-US" sz="1200" dirty="0"/>
          </a:p>
        </p:txBody>
      </p:sp>
      <p:sp>
        <p:nvSpPr>
          <p:cNvPr id="51" name="Text 49"/>
          <p:cNvSpPr/>
          <p:nvPr/>
        </p:nvSpPr>
        <p:spPr>
          <a:xfrm>
            <a:off x="1033272" y="3977640"/>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return () =&gt; {</a:t>
            </a:r>
            <a:endParaRPr lang="en-US" sz="1420" dirty="0"/>
          </a:p>
        </p:txBody>
      </p:sp>
      <p:sp>
        <p:nvSpPr>
          <p:cNvPr id="52" name="Text 50"/>
          <p:cNvSpPr/>
          <p:nvPr/>
        </p:nvSpPr>
        <p:spPr>
          <a:xfrm>
            <a:off x="640080" y="4233672"/>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10</a:t>
            </a:r>
            <a:endParaRPr lang="en-US" sz="1200" dirty="0"/>
          </a:p>
        </p:txBody>
      </p:sp>
      <p:sp>
        <p:nvSpPr>
          <p:cNvPr id="53" name="Text 51"/>
          <p:cNvSpPr/>
          <p:nvPr/>
        </p:nvSpPr>
        <p:spPr>
          <a:xfrm>
            <a:off x="1033272" y="4219956"/>
            <a:ext cx="6931152" cy="242316"/>
          </a:xfrm>
          <a:prstGeom prst="rect">
            <a:avLst/>
          </a:prstGeom>
          <a:noFill/>
          <a:ln/>
        </p:spPr>
        <p:txBody>
          <a:bodyPr wrap="square" lIns="0" tIns="0" rIns="0" bIns="0" rtlCol="0" anchor="ctr">
            <a:normAutofit/>
          </a:bodyPr>
          <a:lstStyle/>
          <a:p>
            <a:pPr indent="0" marL="0">
              <a:buNone/>
            </a:pPr>
            <a:r>
              <a:rPr lang="en-US" sz="1420" dirty="0">
                <a:solidFill>
                  <a:srgbClr val="78C9A6"/>
                </a:solidFill>
                <a:latin typeface="Aptos Mono" pitchFamily="34" charset="0"/>
                <a:ea typeface="Aptos Mono" pitchFamily="34" charset="-122"/>
                <a:cs typeface="Aptos Mono" pitchFamily="34" charset="-120"/>
              </a:rPr>
              <a:t>    // Il carattere successivo cancella il timer precedente.</a:t>
            </a:r>
            <a:endParaRPr lang="en-US" sz="1420" dirty="0"/>
          </a:p>
        </p:txBody>
      </p:sp>
      <p:sp>
        <p:nvSpPr>
          <p:cNvPr id="54" name="Text 52"/>
          <p:cNvSpPr/>
          <p:nvPr/>
        </p:nvSpPr>
        <p:spPr>
          <a:xfrm>
            <a:off x="640080" y="447598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11</a:t>
            </a:r>
            <a:endParaRPr lang="en-US" sz="1200" dirty="0"/>
          </a:p>
        </p:txBody>
      </p:sp>
      <p:sp>
        <p:nvSpPr>
          <p:cNvPr id="55" name="Text 53"/>
          <p:cNvSpPr/>
          <p:nvPr/>
        </p:nvSpPr>
        <p:spPr>
          <a:xfrm>
            <a:off x="1033272" y="446227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window.clearTimeout(timerId);</a:t>
            </a:r>
            <a:endParaRPr lang="en-US" sz="1420" dirty="0"/>
          </a:p>
        </p:txBody>
      </p:sp>
      <p:sp>
        <p:nvSpPr>
          <p:cNvPr id="56" name="Text 54"/>
          <p:cNvSpPr/>
          <p:nvPr/>
        </p:nvSpPr>
        <p:spPr>
          <a:xfrm>
            <a:off x="640080" y="471830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12</a:t>
            </a:r>
            <a:endParaRPr lang="en-US" sz="1200" dirty="0"/>
          </a:p>
        </p:txBody>
      </p:sp>
      <p:sp>
        <p:nvSpPr>
          <p:cNvPr id="57" name="Text 55"/>
          <p:cNvSpPr/>
          <p:nvPr/>
        </p:nvSpPr>
        <p:spPr>
          <a:xfrm>
            <a:off x="1033272" y="470458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58" name="Text 56"/>
          <p:cNvSpPr/>
          <p:nvPr/>
        </p:nvSpPr>
        <p:spPr>
          <a:xfrm>
            <a:off x="640080" y="496062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13</a:t>
            </a:r>
            <a:endParaRPr lang="en-US" sz="1200" dirty="0"/>
          </a:p>
        </p:txBody>
      </p:sp>
      <p:sp>
        <p:nvSpPr>
          <p:cNvPr id="59" name="Text 57"/>
          <p:cNvSpPr/>
          <p:nvPr/>
        </p:nvSpPr>
        <p:spPr>
          <a:xfrm>
            <a:off x="1033272" y="4946904"/>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[query, onSearch]);</a:t>
            </a:r>
            <a:endParaRPr lang="en-US" sz="1420" dirty="0"/>
          </a:p>
        </p:txBody>
      </p:sp>
      <p:sp>
        <p:nvSpPr>
          <p:cNvPr id="60" name="Text 58"/>
          <p:cNvSpPr/>
          <p:nvPr/>
        </p:nvSpPr>
        <p:spPr>
          <a:xfrm>
            <a:off x="640080" y="520293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14</a:t>
            </a:r>
            <a:endParaRPr lang="en-US" sz="1200" dirty="0"/>
          </a:p>
        </p:txBody>
      </p:sp>
      <p:sp>
        <p:nvSpPr>
          <p:cNvPr id="61" name="Text 59"/>
          <p:cNvSpPr/>
          <p:nvPr/>
        </p:nvSpPr>
        <p:spPr>
          <a:xfrm>
            <a:off x="1033272" y="5189220"/>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62" name="Text 60"/>
          <p:cNvSpPr/>
          <p:nvPr/>
        </p:nvSpPr>
        <p:spPr>
          <a:xfrm>
            <a:off x="640080" y="5445252"/>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15</a:t>
            </a:r>
            <a:endParaRPr lang="en-US" sz="1200" dirty="0"/>
          </a:p>
        </p:txBody>
      </p:sp>
      <p:sp>
        <p:nvSpPr>
          <p:cNvPr id="63" name="Text 61"/>
          <p:cNvSpPr/>
          <p:nvPr/>
        </p:nvSpPr>
        <p:spPr>
          <a:xfrm>
            <a:off x="1033272" y="5431536"/>
            <a:ext cx="6931152" cy="242316"/>
          </a:xfrm>
          <a:prstGeom prst="rect">
            <a:avLst/>
          </a:prstGeom>
          <a:noFill/>
          <a:ln/>
        </p:spPr>
        <p:txBody>
          <a:bodyPr wrap="square" lIns="0" tIns="0" rIns="0" bIns="0" rtlCol="0" anchor="ctr">
            <a:normAutofit/>
          </a:bodyPr>
          <a:lstStyle/>
          <a:p>
            <a:pPr indent="0" marL="0">
              <a:buNone/>
            </a:pPr>
            <a:r>
              <a:rPr lang="en-US" sz="1420" dirty="0">
                <a:solidFill>
                  <a:srgbClr val="78C9A6"/>
                </a:solidFill>
                <a:latin typeface="Aptos Mono" pitchFamily="34" charset="0"/>
                <a:ea typeface="Aptos Mono" pitchFamily="34" charset="-122"/>
                <a:cs typeface="Aptos Mono" pitchFamily="34" charset="-120"/>
              </a:rPr>
              <a:t>// Solo una pausa completa avvia la ricerca.</a:t>
            </a:r>
            <a:endParaRPr lang="en-US" sz="1420" dirty="0"/>
          </a:p>
        </p:txBody>
      </p:sp>
      <p:sp>
        <p:nvSpPr>
          <p:cNvPr id="64" name="Shape 62"/>
          <p:cNvSpPr/>
          <p:nvPr/>
        </p:nvSpPr>
        <p:spPr>
          <a:xfrm>
            <a:off x="8366760" y="1591056"/>
            <a:ext cx="3310128" cy="4553712"/>
          </a:xfrm>
          <a:prstGeom prst="roundRect">
            <a:avLst>
              <a:gd name="adj" fmla="val 1381"/>
            </a:avLst>
          </a:prstGeom>
          <a:solidFill>
            <a:srgbClr val="122238"/>
          </a:solidFill>
          <a:ln w="12700">
            <a:solidFill>
              <a:srgbClr val="263A55"/>
            </a:solidFill>
            <a:prstDash val="solid"/>
          </a:ln>
        </p:spPr>
      </p:sp>
      <p:sp>
        <p:nvSpPr>
          <p:cNvPr id="65" name="Text 63"/>
          <p:cNvSpPr/>
          <p:nvPr/>
        </p:nvSpPr>
        <p:spPr>
          <a:xfrm>
            <a:off x="8586216" y="1801368"/>
            <a:ext cx="2871216" cy="182880"/>
          </a:xfrm>
          <a:prstGeom prst="rect">
            <a:avLst/>
          </a:prstGeom>
          <a:noFill/>
          <a:ln/>
        </p:spPr>
        <p:txBody>
          <a:bodyPr wrap="square" lIns="0" tIns="0" rIns="0" bIns="0" rtlCol="0" anchor="ctr"/>
          <a:lstStyle/>
          <a:p>
            <a:pPr indent="0" marL="0">
              <a:buNone/>
            </a:pPr>
            <a:r>
              <a:rPr lang="en-US" sz="950" b="1" spc="115" kern="0" dirty="0">
                <a:solidFill>
                  <a:srgbClr val="F5C96A"/>
                </a:solidFill>
                <a:latin typeface="Aptos" pitchFamily="34" charset="0"/>
                <a:ea typeface="Aptos" pitchFamily="34" charset="-122"/>
                <a:cs typeface="Aptos" pitchFamily="34" charset="-120"/>
              </a:rPr>
              <a:t>DA OSSERVARE</a:t>
            </a:r>
            <a:endParaRPr lang="en-US" sz="950" dirty="0"/>
          </a:p>
        </p:txBody>
      </p:sp>
      <p:sp>
        <p:nvSpPr>
          <p:cNvPr id="66" name="Shape 64"/>
          <p:cNvSpPr/>
          <p:nvPr/>
        </p:nvSpPr>
        <p:spPr>
          <a:xfrm>
            <a:off x="8586216" y="2267712"/>
            <a:ext cx="91440" cy="91440"/>
          </a:xfrm>
          <a:prstGeom prst="ellipse">
            <a:avLst/>
          </a:prstGeom>
          <a:solidFill>
            <a:srgbClr val="7CD4FF"/>
          </a:solidFill>
          <a:ln w="12700">
            <a:solidFill>
              <a:srgbClr val="7CD4FF"/>
            </a:solidFill>
            <a:prstDash val="solid"/>
          </a:ln>
        </p:spPr>
      </p:sp>
      <p:sp>
        <p:nvSpPr>
          <p:cNvPr id="67" name="Text 65"/>
          <p:cNvSpPr/>
          <p:nvPr/>
        </p:nvSpPr>
        <p:spPr>
          <a:xfrm>
            <a:off x="8778240" y="2212848"/>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Ogni query crea un timer.</a:t>
            </a:r>
            <a:endParaRPr lang="en-US" sz="1420" dirty="0"/>
          </a:p>
        </p:txBody>
      </p:sp>
      <p:sp>
        <p:nvSpPr>
          <p:cNvPr id="68" name="Shape 66"/>
          <p:cNvSpPr/>
          <p:nvPr/>
        </p:nvSpPr>
        <p:spPr>
          <a:xfrm>
            <a:off x="8586216" y="2980944"/>
            <a:ext cx="91440" cy="91440"/>
          </a:xfrm>
          <a:prstGeom prst="ellipse">
            <a:avLst/>
          </a:prstGeom>
          <a:solidFill>
            <a:srgbClr val="7CD4FF"/>
          </a:solidFill>
          <a:ln w="12700">
            <a:solidFill>
              <a:srgbClr val="7CD4FF"/>
            </a:solidFill>
            <a:prstDash val="solid"/>
          </a:ln>
        </p:spPr>
      </p:sp>
      <p:sp>
        <p:nvSpPr>
          <p:cNvPr id="69" name="Text 67"/>
          <p:cNvSpPr/>
          <p:nvPr/>
        </p:nvSpPr>
        <p:spPr>
          <a:xfrm>
            <a:off x="8778240" y="2926080"/>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La cleanup cancella il timer obsoleto.</a:t>
            </a:r>
            <a:endParaRPr lang="en-US" sz="1420" dirty="0"/>
          </a:p>
        </p:txBody>
      </p:sp>
      <p:sp>
        <p:nvSpPr>
          <p:cNvPr id="70" name="Shape 68"/>
          <p:cNvSpPr/>
          <p:nvPr/>
        </p:nvSpPr>
        <p:spPr>
          <a:xfrm>
            <a:off x="8586216" y="3694176"/>
            <a:ext cx="91440" cy="91440"/>
          </a:xfrm>
          <a:prstGeom prst="ellipse">
            <a:avLst/>
          </a:prstGeom>
          <a:solidFill>
            <a:srgbClr val="7CD4FF"/>
          </a:solidFill>
          <a:ln w="12700">
            <a:solidFill>
              <a:srgbClr val="7CD4FF"/>
            </a:solidFill>
            <a:prstDash val="solid"/>
          </a:ln>
        </p:spPr>
      </p:sp>
      <p:sp>
        <p:nvSpPr>
          <p:cNvPr id="71" name="Text 69"/>
          <p:cNvSpPr/>
          <p:nvPr/>
        </p:nvSpPr>
        <p:spPr>
          <a:xfrm>
            <a:off x="8778240" y="3639312"/>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La latenza di 400 ms è intenzionale.</a:t>
            </a:r>
            <a:endParaRPr lang="en-US" sz="142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67</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CUSTOM HOOK</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useDebouncedValue isola il tempo come responsabilità</a:t>
            </a:r>
            <a:endParaRPr lang="en-US" sz="2700" dirty="0"/>
          </a:p>
        </p:txBody>
      </p:sp>
      <p:sp>
        <p:nvSpPr>
          <p:cNvPr id="29" name="Shape 27"/>
          <p:cNvSpPr/>
          <p:nvPr/>
        </p:nvSpPr>
        <p:spPr>
          <a:xfrm>
            <a:off x="530352" y="1591056"/>
            <a:ext cx="7589520" cy="4553712"/>
          </a:xfrm>
          <a:prstGeom prst="roundRect">
            <a:avLst>
              <a:gd name="adj" fmla="val 1004"/>
            </a:avLst>
          </a:prstGeom>
          <a:solidFill>
            <a:srgbClr val="0D1A2B"/>
          </a:solidFill>
          <a:ln w="13970">
            <a:solidFill>
              <a:srgbClr val="263A55"/>
            </a:solidFill>
            <a:prstDash val="solid"/>
          </a:ln>
        </p:spPr>
      </p:sp>
      <p:sp>
        <p:nvSpPr>
          <p:cNvPr id="30" name="Shape 28"/>
          <p:cNvSpPr/>
          <p:nvPr/>
        </p:nvSpPr>
        <p:spPr>
          <a:xfrm>
            <a:off x="530352" y="1591056"/>
            <a:ext cx="7589520" cy="347472"/>
          </a:xfrm>
          <a:prstGeom prst="rect">
            <a:avLst/>
          </a:prstGeom>
          <a:solidFill>
            <a:srgbClr val="122238"/>
          </a:solidFill>
          <a:ln w="12700">
            <a:solidFill>
              <a:srgbClr val="122238"/>
            </a:solidFill>
            <a:prstDash val="solid"/>
          </a:ln>
        </p:spPr>
      </p:sp>
      <p:sp>
        <p:nvSpPr>
          <p:cNvPr id="31" name="Shape 29"/>
          <p:cNvSpPr/>
          <p:nvPr/>
        </p:nvSpPr>
        <p:spPr>
          <a:xfrm>
            <a:off x="694944" y="1632204"/>
            <a:ext cx="658368" cy="274320"/>
          </a:xfrm>
          <a:prstGeom prst="roundRect">
            <a:avLst>
              <a:gd name="adj" fmla="val 20000"/>
            </a:avLst>
          </a:prstGeom>
          <a:solidFill>
            <a:srgbClr val="7CD4FF">
              <a:alpha val="20000"/>
            </a:srgbClr>
          </a:solidFill>
          <a:ln w="10160">
            <a:solidFill>
              <a:srgbClr val="7CD4FF">
                <a:alpha val="55000"/>
              </a:srgbClr>
            </a:solidFill>
            <a:prstDash val="solid"/>
          </a:ln>
        </p:spPr>
      </p:sp>
      <p:sp>
        <p:nvSpPr>
          <p:cNvPr id="32" name="Text 30"/>
          <p:cNvSpPr/>
          <p:nvPr/>
        </p:nvSpPr>
        <p:spPr>
          <a:xfrm>
            <a:off x="786384" y="1691640"/>
            <a:ext cx="475488" cy="128016"/>
          </a:xfrm>
          <a:prstGeom prst="rect">
            <a:avLst/>
          </a:prstGeom>
          <a:noFill/>
          <a:ln/>
        </p:spPr>
        <p:txBody>
          <a:bodyPr wrap="square" lIns="0" tIns="0" rIns="0" bIns="0" rtlCol="0" anchor="ctr"/>
          <a:lstStyle/>
          <a:p>
            <a:pPr algn="ctr" indent="0" marL="0">
              <a:buNone/>
            </a:pPr>
            <a:r>
              <a:rPr lang="en-US" sz="820" b="1" dirty="0">
                <a:solidFill>
                  <a:srgbClr val="7CD4FF"/>
                </a:solidFill>
                <a:latin typeface="Aptos Mono" pitchFamily="34" charset="0"/>
                <a:ea typeface="Aptos Mono" pitchFamily="34" charset="-122"/>
                <a:cs typeface="Aptos Mono" pitchFamily="34" charset="-120"/>
              </a:rPr>
              <a:t>TS</a:t>
            </a:r>
            <a:endParaRPr lang="en-US" sz="820" dirty="0"/>
          </a:p>
        </p:txBody>
      </p:sp>
      <p:sp>
        <p:nvSpPr>
          <p:cNvPr id="33" name="Text 31"/>
          <p:cNvSpPr/>
          <p:nvPr/>
        </p:nvSpPr>
        <p:spPr>
          <a:xfrm>
            <a:off x="1490472" y="1687068"/>
            <a:ext cx="635508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useDebouncedValue.ts</a:t>
            </a:r>
            <a:endParaRPr lang="en-US" sz="880" dirty="0"/>
          </a:p>
        </p:txBody>
      </p:sp>
      <p:sp>
        <p:nvSpPr>
          <p:cNvPr id="34" name="Text 32"/>
          <p:cNvSpPr/>
          <p:nvPr/>
        </p:nvSpPr>
        <p:spPr>
          <a:xfrm>
            <a:off x="640080" y="205282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01</a:t>
            </a:r>
            <a:endParaRPr lang="en-US" sz="1200" dirty="0"/>
          </a:p>
        </p:txBody>
      </p:sp>
      <p:sp>
        <p:nvSpPr>
          <p:cNvPr id="35" name="Text 33"/>
          <p:cNvSpPr/>
          <p:nvPr/>
        </p:nvSpPr>
        <p:spPr>
          <a:xfrm>
            <a:off x="1033272" y="203911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export function useDebouncedValue&lt;T&gt;(</a:t>
            </a:r>
            <a:endParaRPr lang="en-US" sz="1420" dirty="0"/>
          </a:p>
        </p:txBody>
      </p:sp>
      <p:sp>
        <p:nvSpPr>
          <p:cNvPr id="36" name="Text 34"/>
          <p:cNvSpPr/>
          <p:nvPr/>
        </p:nvSpPr>
        <p:spPr>
          <a:xfrm>
            <a:off x="640080" y="229514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02</a:t>
            </a:r>
            <a:endParaRPr lang="en-US" sz="1200" dirty="0"/>
          </a:p>
        </p:txBody>
      </p:sp>
      <p:sp>
        <p:nvSpPr>
          <p:cNvPr id="37" name="Text 35"/>
          <p:cNvSpPr/>
          <p:nvPr/>
        </p:nvSpPr>
        <p:spPr>
          <a:xfrm>
            <a:off x="1033272" y="228142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value: T,</a:t>
            </a:r>
            <a:endParaRPr lang="en-US" sz="1420" dirty="0"/>
          </a:p>
        </p:txBody>
      </p:sp>
      <p:sp>
        <p:nvSpPr>
          <p:cNvPr id="38" name="Text 36"/>
          <p:cNvSpPr/>
          <p:nvPr/>
        </p:nvSpPr>
        <p:spPr>
          <a:xfrm>
            <a:off x="640080" y="253746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03</a:t>
            </a:r>
            <a:endParaRPr lang="en-US" sz="1200" dirty="0"/>
          </a:p>
        </p:txBody>
      </p:sp>
      <p:sp>
        <p:nvSpPr>
          <p:cNvPr id="39" name="Text 37"/>
          <p:cNvSpPr/>
          <p:nvPr/>
        </p:nvSpPr>
        <p:spPr>
          <a:xfrm>
            <a:off x="1033272" y="2523744"/>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delayMs: number</a:t>
            </a:r>
            <a:endParaRPr lang="en-US" sz="1420" dirty="0"/>
          </a:p>
        </p:txBody>
      </p:sp>
      <p:sp>
        <p:nvSpPr>
          <p:cNvPr id="40" name="Text 38"/>
          <p:cNvSpPr/>
          <p:nvPr/>
        </p:nvSpPr>
        <p:spPr>
          <a:xfrm>
            <a:off x="640080" y="277977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04</a:t>
            </a:r>
            <a:endParaRPr lang="en-US" sz="1200" dirty="0"/>
          </a:p>
        </p:txBody>
      </p:sp>
      <p:sp>
        <p:nvSpPr>
          <p:cNvPr id="41" name="Text 39"/>
          <p:cNvSpPr/>
          <p:nvPr/>
        </p:nvSpPr>
        <p:spPr>
          <a:xfrm>
            <a:off x="1033272" y="2766060"/>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T {</a:t>
            </a:r>
            <a:endParaRPr lang="en-US" sz="1420" dirty="0"/>
          </a:p>
        </p:txBody>
      </p:sp>
      <p:sp>
        <p:nvSpPr>
          <p:cNvPr id="42" name="Text 40"/>
          <p:cNvSpPr/>
          <p:nvPr/>
        </p:nvSpPr>
        <p:spPr>
          <a:xfrm>
            <a:off x="640080" y="3022092"/>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05</a:t>
            </a:r>
            <a:endParaRPr lang="en-US" sz="1200" dirty="0"/>
          </a:p>
        </p:txBody>
      </p:sp>
      <p:sp>
        <p:nvSpPr>
          <p:cNvPr id="43" name="Text 41"/>
          <p:cNvSpPr/>
          <p:nvPr/>
        </p:nvSpPr>
        <p:spPr>
          <a:xfrm>
            <a:off x="1033272" y="3008376"/>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const [debounced, setDebounced] = useState(value);</a:t>
            </a:r>
            <a:endParaRPr lang="en-US" sz="1420" dirty="0"/>
          </a:p>
        </p:txBody>
      </p:sp>
      <p:sp>
        <p:nvSpPr>
          <p:cNvPr id="44" name="Text 42"/>
          <p:cNvSpPr/>
          <p:nvPr/>
        </p:nvSpPr>
        <p:spPr>
          <a:xfrm>
            <a:off x="640080" y="326440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06</a:t>
            </a:r>
            <a:endParaRPr lang="en-US" sz="1200" dirty="0"/>
          </a:p>
        </p:txBody>
      </p:sp>
      <p:sp>
        <p:nvSpPr>
          <p:cNvPr id="45" name="Text 43"/>
          <p:cNvSpPr/>
          <p:nvPr/>
        </p:nvSpPr>
        <p:spPr>
          <a:xfrm>
            <a:off x="1033272" y="325069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46" name="Text 44"/>
          <p:cNvSpPr/>
          <p:nvPr/>
        </p:nvSpPr>
        <p:spPr>
          <a:xfrm>
            <a:off x="640080" y="350672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07</a:t>
            </a:r>
            <a:endParaRPr lang="en-US" sz="1200" dirty="0"/>
          </a:p>
        </p:txBody>
      </p:sp>
      <p:sp>
        <p:nvSpPr>
          <p:cNvPr id="47" name="Text 45"/>
          <p:cNvSpPr/>
          <p:nvPr/>
        </p:nvSpPr>
        <p:spPr>
          <a:xfrm>
            <a:off x="1033272" y="349300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useEffect(() =&gt; {</a:t>
            </a:r>
            <a:endParaRPr lang="en-US" sz="1420" dirty="0"/>
          </a:p>
        </p:txBody>
      </p:sp>
      <p:sp>
        <p:nvSpPr>
          <p:cNvPr id="48" name="Text 46"/>
          <p:cNvSpPr/>
          <p:nvPr/>
        </p:nvSpPr>
        <p:spPr>
          <a:xfrm>
            <a:off x="640080" y="374904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08</a:t>
            </a:r>
            <a:endParaRPr lang="en-US" sz="1200" dirty="0"/>
          </a:p>
        </p:txBody>
      </p:sp>
      <p:sp>
        <p:nvSpPr>
          <p:cNvPr id="49" name="Text 47"/>
          <p:cNvSpPr/>
          <p:nvPr/>
        </p:nvSpPr>
        <p:spPr>
          <a:xfrm>
            <a:off x="1033272" y="3735324"/>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const timerId = window.setTimeout(() =&gt; {</a:t>
            </a:r>
            <a:endParaRPr lang="en-US" sz="1420" dirty="0"/>
          </a:p>
        </p:txBody>
      </p:sp>
      <p:sp>
        <p:nvSpPr>
          <p:cNvPr id="50" name="Text 48"/>
          <p:cNvSpPr/>
          <p:nvPr/>
        </p:nvSpPr>
        <p:spPr>
          <a:xfrm>
            <a:off x="640080" y="399135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09</a:t>
            </a:r>
            <a:endParaRPr lang="en-US" sz="1200" dirty="0"/>
          </a:p>
        </p:txBody>
      </p:sp>
      <p:sp>
        <p:nvSpPr>
          <p:cNvPr id="51" name="Text 49"/>
          <p:cNvSpPr/>
          <p:nvPr/>
        </p:nvSpPr>
        <p:spPr>
          <a:xfrm>
            <a:off x="1033272" y="3977640"/>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setDebounced(value);</a:t>
            </a:r>
            <a:endParaRPr lang="en-US" sz="1420" dirty="0"/>
          </a:p>
        </p:txBody>
      </p:sp>
      <p:sp>
        <p:nvSpPr>
          <p:cNvPr id="52" name="Text 50"/>
          <p:cNvSpPr/>
          <p:nvPr/>
        </p:nvSpPr>
        <p:spPr>
          <a:xfrm>
            <a:off x="640080" y="4233672"/>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10</a:t>
            </a:r>
            <a:endParaRPr lang="en-US" sz="1200" dirty="0"/>
          </a:p>
        </p:txBody>
      </p:sp>
      <p:sp>
        <p:nvSpPr>
          <p:cNvPr id="53" name="Text 51"/>
          <p:cNvSpPr/>
          <p:nvPr/>
        </p:nvSpPr>
        <p:spPr>
          <a:xfrm>
            <a:off x="1033272" y="4219956"/>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 delayMs);</a:t>
            </a:r>
            <a:endParaRPr lang="en-US" sz="1420" dirty="0"/>
          </a:p>
        </p:txBody>
      </p:sp>
      <p:sp>
        <p:nvSpPr>
          <p:cNvPr id="54" name="Text 52"/>
          <p:cNvSpPr/>
          <p:nvPr/>
        </p:nvSpPr>
        <p:spPr>
          <a:xfrm>
            <a:off x="640080" y="447598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11</a:t>
            </a:r>
            <a:endParaRPr lang="en-US" sz="1200" dirty="0"/>
          </a:p>
        </p:txBody>
      </p:sp>
      <p:sp>
        <p:nvSpPr>
          <p:cNvPr id="55" name="Text 53"/>
          <p:cNvSpPr/>
          <p:nvPr/>
        </p:nvSpPr>
        <p:spPr>
          <a:xfrm>
            <a:off x="1033272" y="446227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56" name="Text 54"/>
          <p:cNvSpPr/>
          <p:nvPr/>
        </p:nvSpPr>
        <p:spPr>
          <a:xfrm>
            <a:off x="640080" y="471830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12</a:t>
            </a:r>
            <a:endParaRPr lang="en-US" sz="1200" dirty="0"/>
          </a:p>
        </p:txBody>
      </p:sp>
      <p:sp>
        <p:nvSpPr>
          <p:cNvPr id="57" name="Text 55"/>
          <p:cNvSpPr/>
          <p:nvPr/>
        </p:nvSpPr>
        <p:spPr>
          <a:xfrm>
            <a:off x="1033272" y="470458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return () =&gt; window.clearTimeout(timerId);</a:t>
            </a:r>
            <a:endParaRPr lang="en-US" sz="1420" dirty="0"/>
          </a:p>
        </p:txBody>
      </p:sp>
      <p:sp>
        <p:nvSpPr>
          <p:cNvPr id="58" name="Text 56"/>
          <p:cNvSpPr/>
          <p:nvPr/>
        </p:nvSpPr>
        <p:spPr>
          <a:xfrm>
            <a:off x="640080" y="496062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13</a:t>
            </a:r>
            <a:endParaRPr lang="en-US" sz="1200" dirty="0"/>
          </a:p>
        </p:txBody>
      </p:sp>
      <p:sp>
        <p:nvSpPr>
          <p:cNvPr id="59" name="Text 57"/>
          <p:cNvSpPr/>
          <p:nvPr/>
        </p:nvSpPr>
        <p:spPr>
          <a:xfrm>
            <a:off x="1033272" y="4946904"/>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 [value, delayMs]);</a:t>
            </a:r>
            <a:endParaRPr lang="en-US" sz="1420" dirty="0"/>
          </a:p>
        </p:txBody>
      </p:sp>
      <p:sp>
        <p:nvSpPr>
          <p:cNvPr id="60" name="Text 58"/>
          <p:cNvSpPr/>
          <p:nvPr/>
        </p:nvSpPr>
        <p:spPr>
          <a:xfrm>
            <a:off x="640080" y="520293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14</a:t>
            </a:r>
            <a:endParaRPr lang="en-US" sz="1200" dirty="0"/>
          </a:p>
        </p:txBody>
      </p:sp>
      <p:sp>
        <p:nvSpPr>
          <p:cNvPr id="61" name="Text 59"/>
          <p:cNvSpPr/>
          <p:nvPr/>
        </p:nvSpPr>
        <p:spPr>
          <a:xfrm>
            <a:off x="1033272" y="5189220"/>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62" name="Text 60"/>
          <p:cNvSpPr/>
          <p:nvPr/>
        </p:nvSpPr>
        <p:spPr>
          <a:xfrm>
            <a:off x="640080" y="5445252"/>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15</a:t>
            </a:r>
            <a:endParaRPr lang="en-US" sz="1200" dirty="0"/>
          </a:p>
        </p:txBody>
      </p:sp>
      <p:sp>
        <p:nvSpPr>
          <p:cNvPr id="63" name="Text 61"/>
          <p:cNvSpPr/>
          <p:nvPr/>
        </p:nvSpPr>
        <p:spPr>
          <a:xfrm>
            <a:off x="1033272" y="5431536"/>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return debounced;</a:t>
            </a:r>
            <a:endParaRPr lang="en-US" sz="1420" dirty="0"/>
          </a:p>
        </p:txBody>
      </p:sp>
      <p:sp>
        <p:nvSpPr>
          <p:cNvPr id="64" name="Text 62"/>
          <p:cNvSpPr/>
          <p:nvPr/>
        </p:nvSpPr>
        <p:spPr>
          <a:xfrm>
            <a:off x="640080" y="568756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16</a:t>
            </a:r>
            <a:endParaRPr lang="en-US" sz="1200" dirty="0"/>
          </a:p>
        </p:txBody>
      </p:sp>
      <p:sp>
        <p:nvSpPr>
          <p:cNvPr id="65" name="Text 63"/>
          <p:cNvSpPr/>
          <p:nvPr/>
        </p:nvSpPr>
        <p:spPr>
          <a:xfrm>
            <a:off x="1033272" y="567385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a:t>
            </a:r>
            <a:endParaRPr lang="en-US" sz="1420" dirty="0"/>
          </a:p>
        </p:txBody>
      </p:sp>
      <p:sp>
        <p:nvSpPr>
          <p:cNvPr id="66" name="Shape 64"/>
          <p:cNvSpPr/>
          <p:nvPr/>
        </p:nvSpPr>
        <p:spPr>
          <a:xfrm>
            <a:off x="8366760" y="1591056"/>
            <a:ext cx="3310128" cy="4553712"/>
          </a:xfrm>
          <a:prstGeom prst="roundRect">
            <a:avLst>
              <a:gd name="adj" fmla="val 1381"/>
            </a:avLst>
          </a:prstGeom>
          <a:solidFill>
            <a:srgbClr val="122238"/>
          </a:solidFill>
          <a:ln w="12700">
            <a:solidFill>
              <a:srgbClr val="263A55"/>
            </a:solidFill>
            <a:prstDash val="solid"/>
          </a:ln>
        </p:spPr>
      </p:sp>
      <p:sp>
        <p:nvSpPr>
          <p:cNvPr id="67" name="Text 65"/>
          <p:cNvSpPr/>
          <p:nvPr/>
        </p:nvSpPr>
        <p:spPr>
          <a:xfrm>
            <a:off x="8586216" y="1801368"/>
            <a:ext cx="2871216" cy="182880"/>
          </a:xfrm>
          <a:prstGeom prst="rect">
            <a:avLst/>
          </a:prstGeom>
          <a:noFill/>
          <a:ln/>
        </p:spPr>
        <p:txBody>
          <a:bodyPr wrap="square" lIns="0" tIns="0" rIns="0" bIns="0" rtlCol="0" anchor="ctr"/>
          <a:lstStyle/>
          <a:p>
            <a:pPr indent="0" marL="0">
              <a:buNone/>
            </a:pPr>
            <a:r>
              <a:rPr lang="en-US" sz="950" b="1" spc="115" kern="0" dirty="0">
                <a:solidFill>
                  <a:srgbClr val="F5C96A"/>
                </a:solidFill>
                <a:latin typeface="Aptos" pitchFamily="34" charset="0"/>
                <a:ea typeface="Aptos" pitchFamily="34" charset="-122"/>
                <a:cs typeface="Aptos" pitchFamily="34" charset="-120"/>
              </a:rPr>
              <a:t>DA OSSERVARE</a:t>
            </a:r>
            <a:endParaRPr lang="en-US" sz="950" dirty="0"/>
          </a:p>
        </p:txBody>
      </p:sp>
      <p:sp>
        <p:nvSpPr>
          <p:cNvPr id="68" name="Shape 66"/>
          <p:cNvSpPr/>
          <p:nvPr/>
        </p:nvSpPr>
        <p:spPr>
          <a:xfrm>
            <a:off x="8586216" y="2267712"/>
            <a:ext cx="91440" cy="91440"/>
          </a:xfrm>
          <a:prstGeom prst="ellipse">
            <a:avLst/>
          </a:prstGeom>
          <a:solidFill>
            <a:srgbClr val="7CD4FF"/>
          </a:solidFill>
          <a:ln w="12700">
            <a:solidFill>
              <a:srgbClr val="7CD4FF"/>
            </a:solidFill>
            <a:prstDash val="solid"/>
          </a:ln>
        </p:spPr>
      </p:sp>
      <p:sp>
        <p:nvSpPr>
          <p:cNvPr id="69" name="Text 67"/>
          <p:cNvSpPr/>
          <p:nvPr/>
        </p:nvSpPr>
        <p:spPr>
          <a:xfrm>
            <a:off x="8778240" y="2212848"/>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Il hook è generico sul tipo T.</a:t>
            </a:r>
            <a:endParaRPr lang="en-US" sz="1420" dirty="0"/>
          </a:p>
        </p:txBody>
      </p:sp>
      <p:sp>
        <p:nvSpPr>
          <p:cNvPr id="70" name="Shape 68"/>
          <p:cNvSpPr/>
          <p:nvPr/>
        </p:nvSpPr>
        <p:spPr>
          <a:xfrm>
            <a:off x="8586216" y="2980944"/>
            <a:ext cx="91440" cy="91440"/>
          </a:xfrm>
          <a:prstGeom prst="ellipse">
            <a:avLst/>
          </a:prstGeom>
          <a:solidFill>
            <a:srgbClr val="7CD4FF"/>
          </a:solidFill>
          <a:ln w="12700">
            <a:solidFill>
              <a:srgbClr val="7CD4FF"/>
            </a:solidFill>
            <a:prstDash val="solid"/>
          </a:ln>
        </p:spPr>
      </p:sp>
      <p:sp>
        <p:nvSpPr>
          <p:cNvPr id="71" name="Text 69"/>
          <p:cNvSpPr/>
          <p:nvPr/>
        </p:nvSpPr>
        <p:spPr>
          <a:xfrm>
            <a:off x="8778240" y="2926080"/>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Setup e cleanup restano simmetrici.</a:t>
            </a:r>
            <a:endParaRPr lang="en-US" sz="1420" dirty="0"/>
          </a:p>
        </p:txBody>
      </p:sp>
      <p:sp>
        <p:nvSpPr>
          <p:cNvPr id="72" name="Shape 70"/>
          <p:cNvSpPr/>
          <p:nvPr/>
        </p:nvSpPr>
        <p:spPr>
          <a:xfrm>
            <a:off x="8586216" y="3694176"/>
            <a:ext cx="91440" cy="91440"/>
          </a:xfrm>
          <a:prstGeom prst="ellipse">
            <a:avLst/>
          </a:prstGeom>
          <a:solidFill>
            <a:srgbClr val="7CD4FF"/>
          </a:solidFill>
          <a:ln w="12700">
            <a:solidFill>
              <a:srgbClr val="7CD4FF"/>
            </a:solidFill>
            <a:prstDash val="solid"/>
          </a:ln>
        </p:spPr>
      </p:sp>
      <p:sp>
        <p:nvSpPr>
          <p:cNvPr id="73" name="Text 71"/>
          <p:cNvSpPr/>
          <p:nvPr/>
        </p:nvSpPr>
        <p:spPr>
          <a:xfrm>
            <a:off x="8778240" y="3639312"/>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Il componente non conosce setTimeout.</a:t>
            </a:r>
            <a:endParaRPr lang="en-US" sz="142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68</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FLUSSO ASINCRONO COMPLETO</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Il hook dei ticket combina debounce, fetch e cleanup</a:t>
            </a:r>
            <a:endParaRPr lang="en-US" sz="2700" dirty="0"/>
          </a:p>
        </p:txBody>
      </p:sp>
      <p:sp>
        <p:nvSpPr>
          <p:cNvPr id="29" name="Shape 27"/>
          <p:cNvSpPr/>
          <p:nvPr/>
        </p:nvSpPr>
        <p:spPr>
          <a:xfrm>
            <a:off x="530352" y="1591056"/>
            <a:ext cx="7589520" cy="4553712"/>
          </a:xfrm>
          <a:prstGeom prst="roundRect">
            <a:avLst>
              <a:gd name="adj" fmla="val 1004"/>
            </a:avLst>
          </a:prstGeom>
          <a:solidFill>
            <a:srgbClr val="0D1A2B"/>
          </a:solidFill>
          <a:ln w="13970">
            <a:solidFill>
              <a:srgbClr val="263A55"/>
            </a:solidFill>
            <a:prstDash val="solid"/>
          </a:ln>
        </p:spPr>
      </p:sp>
      <p:sp>
        <p:nvSpPr>
          <p:cNvPr id="30" name="Shape 28"/>
          <p:cNvSpPr/>
          <p:nvPr/>
        </p:nvSpPr>
        <p:spPr>
          <a:xfrm>
            <a:off x="530352" y="1591056"/>
            <a:ext cx="7589520" cy="347472"/>
          </a:xfrm>
          <a:prstGeom prst="rect">
            <a:avLst/>
          </a:prstGeom>
          <a:solidFill>
            <a:srgbClr val="122238"/>
          </a:solidFill>
          <a:ln w="12700">
            <a:solidFill>
              <a:srgbClr val="122238"/>
            </a:solidFill>
            <a:prstDash val="solid"/>
          </a:ln>
        </p:spPr>
      </p:sp>
      <p:sp>
        <p:nvSpPr>
          <p:cNvPr id="31" name="Shape 29"/>
          <p:cNvSpPr/>
          <p:nvPr/>
        </p:nvSpPr>
        <p:spPr>
          <a:xfrm>
            <a:off x="694944" y="1632204"/>
            <a:ext cx="658368" cy="274320"/>
          </a:xfrm>
          <a:prstGeom prst="roundRect">
            <a:avLst>
              <a:gd name="adj" fmla="val 20000"/>
            </a:avLst>
          </a:prstGeom>
          <a:solidFill>
            <a:srgbClr val="7CD4FF">
              <a:alpha val="20000"/>
            </a:srgbClr>
          </a:solidFill>
          <a:ln w="10160">
            <a:solidFill>
              <a:srgbClr val="7CD4FF">
                <a:alpha val="55000"/>
              </a:srgbClr>
            </a:solidFill>
            <a:prstDash val="solid"/>
          </a:ln>
        </p:spPr>
      </p:sp>
      <p:sp>
        <p:nvSpPr>
          <p:cNvPr id="32" name="Text 30"/>
          <p:cNvSpPr/>
          <p:nvPr/>
        </p:nvSpPr>
        <p:spPr>
          <a:xfrm>
            <a:off x="786384" y="1691640"/>
            <a:ext cx="475488" cy="128016"/>
          </a:xfrm>
          <a:prstGeom prst="rect">
            <a:avLst/>
          </a:prstGeom>
          <a:noFill/>
          <a:ln/>
        </p:spPr>
        <p:txBody>
          <a:bodyPr wrap="square" lIns="0" tIns="0" rIns="0" bIns="0" rtlCol="0" anchor="ctr"/>
          <a:lstStyle/>
          <a:p>
            <a:pPr algn="ctr" indent="0" marL="0">
              <a:buNone/>
            </a:pPr>
            <a:r>
              <a:rPr lang="en-US" sz="820" b="1" dirty="0">
                <a:solidFill>
                  <a:srgbClr val="7CD4FF"/>
                </a:solidFill>
                <a:latin typeface="Aptos Mono" pitchFamily="34" charset="0"/>
                <a:ea typeface="Aptos Mono" pitchFamily="34" charset="-122"/>
                <a:cs typeface="Aptos Mono" pitchFamily="34" charset="-120"/>
              </a:rPr>
              <a:t>TS</a:t>
            </a:r>
            <a:endParaRPr lang="en-US" sz="820" dirty="0"/>
          </a:p>
        </p:txBody>
      </p:sp>
      <p:sp>
        <p:nvSpPr>
          <p:cNvPr id="33" name="Text 31"/>
          <p:cNvSpPr/>
          <p:nvPr/>
        </p:nvSpPr>
        <p:spPr>
          <a:xfrm>
            <a:off x="1490472" y="1687068"/>
            <a:ext cx="635508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useTickets.ts</a:t>
            </a:r>
            <a:endParaRPr lang="en-US" sz="880" dirty="0"/>
          </a:p>
        </p:txBody>
      </p:sp>
      <p:sp>
        <p:nvSpPr>
          <p:cNvPr id="34" name="Text 32"/>
          <p:cNvSpPr/>
          <p:nvPr/>
        </p:nvSpPr>
        <p:spPr>
          <a:xfrm>
            <a:off x="640080" y="2052828"/>
            <a:ext cx="320040" cy="161666"/>
          </a:xfrm>
          <a:prstGeom prst="rect">
            <a:avLst/>
          </a:prstGeom>
          <a:noFill/>
          <a:ln/>
        </p:spPr>
        <p:txBody>
          <a:bodyPr wrap="square" lIns="0" tIns="0" rIns="0" bIns="0" rtlCol="0" anchor="ctr"/>
          <a:lstStyle/>
          <a:p>
            <a:pPr algn="r" indent="0" marL="0">
              <a:buNone/>
            </a:pPr>
            <a:r>
              <a:rPr lang="en-US" sz="830" dirty="0">
                <a:solidFill>
                  <a:srgbClr val="8296AE"/>
                </a:solidFill>
                <a:latin typeface="Aptos Mono" pitchFamily="34" charset="0"/>
                <a:ea typeface="Aptos Mono" pitchFamily="34" charset="-122"/>
                <a:cs typeface="Aptos Mono" pitchFamily="34" charset="-120"/>
              </a:rPr>
              <a:t>01</a:t>
            </a:r>
            <a:endParaRPr lang="en-US" sz="830" dirty="0"/>
          </a:p>
        </p:txBody>
      </p:sp>
      <p:sp>
        <p:nvSpPr>
          <p:cNvPr id="35" name="Text 33"/>
          <p:cNvSpPr/>
          <p:nvPr/>
        </p:nvSpPr>
        <p:spPr>
          <a:xfrm>
            <a:off x="1033272" y="2039112"/>
            <a:ext cx="6931152" cy="161666"/>
          </a:xfrm>
          <a:prstGeom prst="rect">
            <a:avLst/>
          </a:prstGeom>
          <a:noFill/>
          <a:ln/>
        </p:spPr>
        <p:txBody>
          <a:bodyPr wrap="square" lIns="0" tIns="0" rIns="0" bIns="0" rtlCol="0" anchor="ctr">
            <a:normAutofit/>
          </a:bodyPr>
          <a:lstStyle/>
          <a:p>
            <a:pPr indent="0" marL="0">
              <a:buNone/>
            </a:pPr>
            <a:r>
              <a:rPr lang="en-US" sz="1050" dirty="0">
                <a:solidFill>
                  <a:srgbClr val="D9E4F2"/>
                </a:solidFill>
                <a:latin typeface="Aptos Mono" pitchFamily="34" charset="0"/>
                <a:ea typeface="Aptos Mono" pitchFamily="34" charset="-122"/>
                <a:cs typeface="Aptos Mono" pitchFamily="34" charset="-120"/>
              </a:rPr>
              <a:t>export function useTickets(query: string) {</a:t>
            </a:r>
            <a:endParaRPr lang="en-US" sz="1050" dirty="0"/>
          </a:p>
        </p:txBody>
      </p:sp>
      <p:sp>
        <p:nvSpPr>
          <p:cNvPr id="36" name="Text 34"/>
          <p:cNvSpPr/>
          <p:nvPr/>
        </p:nvSpPr>
        <p:spPr>
          <a:xfrm>
            <a:off x="640080" y="2214494"/>
            <a:ext cx="320040" cy="161666"/>
          </a:xfrm>
          <a:prstGeom prst="rect">
            <a:avLst/>
          </a:prstGeom>
          <a:noFill/>
          <a:ln/>
        </p:spPr>
        <p:txBody>
          <a:bodyPr wrap="square" lIns="0" tIns="0" rIns="0" bIns="0" rtlCol="0" anchor="ctr"/>
          <a:lstStyle/>
          <a:p>
            <a:pPr algn="r" indent="0" marL="0">
              <a:buNone/>
            </a:pPr>
            <a:r>
              <a:rPr lang="en-US" sz="830" dirty="0">
                <a:solidFill>
                  <a:srgbClr val="8296AE"/>
                </a:solidFill>
                <a:latin typeface="Aptos Mono" pitchFamily="34" charset="0"/>
                <a:ea typeface="Aptos Mono" pitchFamily="34" charset="-122"/>
                <a:cs typeface="Aptos Mono" pitchFamily="34" charset="-120"/>
              </a:rPr>
              <a:t>02</a:t>
            </a:r>
            <a:endParaRPr lang="en-US" sz="830" dirty="0"/>
          </a:p>
        </p:txBody>
      </p:sp>
      <p:sp>
        <p:nvSpPr>
          <p:cNvPr id="37" name="Text 35"/>
          <p:cNvSpPr/>
          <p:nvPr/>
        </p:nvSpPr>
        <p:spPr>
          <a:xfrm>
            <a:off x="1033272" y="2200778"/>
            <a:ext cx="6931152" cy="161666"/>
          </a:xfrm>
          <a:prstGeom prst="rect">
            <a:avLst/>
          </a:prstGeom>
          <a:noFill/>
          <a:ln/>
        </p:spPr>
        <p:txBody>
          <a:bodyPr wrap="square" lIns="0" tIns="0" rIns="0" bIns="0" rtlCol="0" anchor="ctr">
            <a:normAutofit/>
          </a:bodyPr>
          <a:lstStyle/>
          <a:p>
            <a:pPr indent="0" marL="0">
              <a:buNone/>
            </a:pPr>
            <a:r>
              <a:rPr lang="en-US" sz="1050" dirty="0">
                <a:solidFill>
                  <a:srgbClr val="D9E4F2"/>
                </a:solidFill>
                <a:latin typeface="Aptos Mono" pitchFamily="34" charset="0"/>
                <a:ea typeface="Aptos Mono" pitchFamily="34" charset="-122"/>
                <a:cs typeface="Aptos Mono" pitchFamily="34" charset="-120"/>
              </a:rPr>
              <a:t>  const debouncedQuery = useDebouncedValue(query, 400);</a:t>
            </a:r>
            <a:endParaRPr lang="en-US" sz="1050" dirty="0"/>
          </a:p>
        </p:txBody>
      </p:sp>
      <p:sp>
        <p:nvSpPr>
          <p:cNvPr id="38" name="Text 36"/>
          <p:cNvSpPr/>
          <p:nvPr/>
        </p:nvSpPr>
        <p:spPr>
          <a:xfrm>
            <a:off x="640080" y="2376160"/>
            <a:ext cx="320040" cy="161666"/>
          </a:xfrm>
          <a:prstGeom prst="rect">
            <a:avLst/>
          </a:prstGeom>
          <a:noFill/>
          <a:ln/>
        </p:spPr>
        <p:txBody>
          <a:bodyPr wrap="square" lIns="0" tIns="0" rIns="0" bIns="0" rtlCol="0" anchor="ctr"/>
          <a:lstStyle/>
          <a:p>
            <a:pPr algn="r" indent="0" marL="0">
              <a:buNone/>
            </a:pPr>
            <a:r>
              <a:rPr lang="en-US" sz="830" dirty="0">
                <a:solidFill>
                  <a:srgbClr val="8296AE"/>
                </a:solidFill>
                <a:latin typeface="Aptos Mono" pitchFamily="34" charset="0"/>
                <a:ea typeface="Aptos Mono" pitchFamily="34" charset="-122"/>
                <a:cs typeface="Aptos Mono" pitchFamily="34" charset="-120"/>
              </a:rPr>
              <a:t>03</a:t>
            </a:r>
            <a:endParaRPr lang="en-US" sz="830" dirty="0"/>
          </a:p>
        </p:txBody>
      </p:sp>
      <p:sp>
        <p:nvSpPr>
          <p:cNvPr id="39" name="Text 37"/>
          <p:cNvSpPr/>
          <p:nvPr/>
        </p:nvSpPr>
        <p:spPr>
          <a:xfrm>
            <a:off x="1033272" y="2362444"/>
            <a:ext cx="6931152" cy="161666"/>
          </a:xfrm>
          <a:prstGeom prst="rect">
            <a:avLst/>
          </a:prstGeom>
          <a:noFill/>
          <a:ln/>
        </p:spPr>
        <p:txBody>
          <a:bodyPr wrap="square" lIns="0" tIns="0" rIns="0" bIns="0" rtlCol="0" anchor="ctr">
            <a:normAutofit/>
          </a:bodyPr>
          <a:lstStyle/>
          <a:p>
            <a:pPr indent="0" marL="0">
              <a:buNone/>
            </a:pPr>
            <a:r>
              <a:rPr lang="en-US" sz="1050" dirty="0">
                <a:solidFill>
                  <a:srgbClr val="D9E4F2"/>
                </a:solidFill>
                <a:latin typeface="Aptos Mono" pitchFamily="34" charset="0"/>
                <a:ea typeface="Aptos Mono" pitchFamily="34" charset="-122"/>
                <a:cs typeface="Aptos Mono" pitchFamily="34" charset="-120"/>
              </a:rPr>
              <a:t>  const [state, setState] = useState&lt;TicketsState&gt;(INITIAL_STATE);</a:t>
            </a:r>
            <a:endParaRPr lang="en-US" sz="1050" dirty="0"/>
          </a:p>
        </p:txBody>
      </p:sp>
      <p:sp>
        <p:nvSpPr>
          <p:cNvPr id="40" name="Text 38"/>
          <p:cNvSpPr/>
          <p:nvPr/>
        </p:nvSpPr>
        <p:spPr>
          <a:xfrm>
            <a:off x="640080" y="2537826"/>
            <a:ext cx="320040" cy="161666"/>
          </a:xfrm>
          <a:prstGeom prst="rect">
            <a:avLst/>
          </a:prstGeom>
          <a:noFill/>
          <a:ln/>
        </p:spPr>
        <p:txBody>
          <a:bodyPr wrap="square" lIns="0" tIns="0" rIns="0" bIns="0" rtlCol="0" anchor="ctr"/>
          <a:lstStyle/>
          <a:p>
            <a:pPr algn="r" indent="0" marL="0">
              <a:buNone/>
            </a:pPr>
            <a:r>
              <a:rPr lang="en-US" sz="830" dirty="0">
                <a:solidFill>
                  <a:srgbClr val="8296AE"/>
                </a:solidFill>
                <a:latin typeface="Aptos Mono" pitchFamily="34" charset="0"/>
                <a:ea typeface="Aptos Mono" pitchFamily="34" charset="-122"/>
                <a:cs typeface="Aptos Mono" pitchFamily="34" charset="-120"/>
              </a:rPr>
              <a:t>04</a:t>
            </a:r>
            <a:endParaRPr lang="en-US" sz="830" dirty="0"/>
          </a:p>
        </p:txBody>
      </p:sp>
      <p:sp>
        <p:nvSpPr>
          <p:cNvPr id="41" name="Text 39"/>
          <p:cNvSpPr/>
          <p:nvPr/>
        </p:nvSpPr>
        <p:spPr>
          <a:xfrm>
            <a:off x="1033272" y="2524110"/>
            <a:ext cx="6931152" cy="161666"/>
          </a:xfrm>
          <a:prstGeom prst="rect">
            <a:avLst/>
          </a:prstGeom>
          <a:noFill/>
          <a:ln/>
        </p:spPr>
        <p:txBody>
          <a:bodyPr wrap="square" lIns="0" tIns="0" rIns="0" bIns="0" rtlCol="0" anchor="ctr">
            <a:normAutofit/>
          </a:bodyPr>
          <a:lstStyle/>
          <a:p>
            <a:pPr indent="0" marL="0">
              <a:buNone/>
            </a:pPr>
            <a:r>
              <a:rPr lang="en-US" sz="1050" dirty="0">
                <a:solidFill>
                  <a:srgbClr val="D9E4F2"/>
                </a:solidFill>
                <a:latin typeface="Aptos Mono" pitchFamily="34" charset="0"/>
                <a:ea typeface="Aptos Mono" pitchFamily="34" charset="-122"/>
                <a:cs typeface="Aptos Mono" pitchFamily="34" charset="-120"/>
              </a:rPr>
              <a:t> </a:t>
            </a:r>
            <a:endParaRPr lang="en-US" sz="1050" dirty="0"/>
          </a:p>
        </p:txBody>
      </p:sp>
      <p:sp>
        <p:nvSpPr>
          <p:cNvPr id="42" name="Text 40"/>
          <p:cNvSpPr/>
          <p:nvPr/>
        </p:nvSpPr>
        <p:spPr>
          <a:xfrm>
            <a:off x="640080" y="2699492"/>
            <a:ext cx="320040" cy="161666"/>
          </a:xfrm>
          <a:prstGeom prst="rect">
            <a:avLst/>
          </a:prstGeom>
          <a:noFill/>
          <a:ln/>
        </p:spPr>
        <p:txBody>
          <a:bodyPr wrap="square" lIns="0" tIns="0" rIns="0" bIns="0" rtlCol="0" anchor="ctr"/>
          <a:lstStyle/>
          <a:p>
            <a:pPr algn="r" indent="0" marL="0">
              <a:buNone/>
            </a:pPr>
            <a:r>
              <a:rPr lang="en-US" sz="830" dirty="0">
                <a:solidFill>
                  <a:srgbClr val="8296AE"/>
                </a:solidFill>
                <a:latin typeface="Aptos Mono" pitchFamily="34" charset="0"/>
                <a:ea typeface="Aptos Mono" pitchFamily="34" charset="-122"/>
                <a:cs typeface="Aptos Mono" pitchFamily="34" charset="-120"/>
              </a:rPr>
              <a:t>05</a:t>
            </a:r>
            <a:endParaRPr lang="en-US" sz="830" dirty="0"/>
          </a:p>
        </p:txBody>
      </p:sp>
      <p:sp>
        <p:nvSpPr>
          <p:cNvPr id="43" name="Text 41"/>
          <p:cNvSpPr/>
          <p:nvPr/>
        </p:nvSpPr>
        <p:spPr>
          <a:xfrm>
            <a:off x="1033272" y="2685776"/>
            <a:ext cx="6931152" cy="161666"/>
          </a:xfrm>
          <a:prstGeom prst="rect">
            <a:avLst/>
          </a:prstGeom>
          <a:noFill/>
          <a:ln/>
        </p:spPr>
        <p:txBody>
          <a:bodyPr wrap="square" lIns="0" tIns="0" rIns="0" bIns="0" rtlCol="0" anchor="ctr">
            <a:normAutofit/>
          </a:bodyPr>
          <a:lstStyle/>
          <a:p>
            <a:pPr indent="0" marL="0">
              <a:buNone/>
            </a:pPr>
            <a:r>
              <a:rPr lang="en-US" sz="1050" dirty="0">
                <a:solidFill>
                  <a:srgbClr val="D9E4F2"/>
                </a:solidFill>
                <a:latin typeface="Aptos Mono" pitchFamily="34" charset="0"/>
                <a:ea typeface="Aptos Mono" pitchFamily="34" charset="-122"/>
                <a:cs typeface="Aptos Mono" pitchFamily="34" charset="-120"/>
              </a:rPr>
              <a:t>  useEffect(() =&gt; {</a:t>
            </a:r>
            <a:endParaRPr lang="en-US" sz="1050" dirty="0"/>
          </a:p>
        </p:txBody>
      </p:sp>
      <p:sp>
        <p:nvSpPr>
          <p:cNvPr id="44" name="Text 42"/>
          <p:cNvSpPr/>
          <p:nvPr/>
        </p:nvSpPr>
        <p:spPr>
          <a:xfrm>
            <a:off x="640080" y="2861158"/>
            <a:ext cx="320040" cy="161666"/>
          </a:xfrm>
          <a:prstGeom prst="rect">
            <a:avLst/>
          </a:prstGeom>
          <a:noFill/>
          <a:ln/>
        </p:spPr>
        <p:txBody>
          <a:bodyPr wrap="square" lIns="0" tIns="0" rIns="0" bIns="0" rtlCol="0" anchor="ctr"/>
          <a:lstStyle/>
          <a:p>
            <a:pPr algn="r" indent="0" marL="0">
              <a:buNone/>
            </a:pPr>
            <a:r>
              <a:rPr lang="en-US" sz="830" dirty="0">
                <a:solidFill>
                  <a:srgbClr val="8296AE"/>
                </a:solidFill>
                <a:latin typeface="Aptos Mono" pitchFamily="34" charset="0"/>
                <a:ea typeface="Aptos Mono" pitchFamily="34" charset="-122"/>
                <a:cs typeface="Aptos Mono" pitchFamily="34" charset="-120"/>
              </a:rPr>
              <a:t>06</a:t>
            </a:r>
            <a:endParaRPr lang="en-US" sz="830" dirty="0"/>
          </a:p>
        </p:txBody>
      </p:sp>
      <p:sp>
        <p:nvSpPr>
          <p:cNvPr id="45" name="Text 43"/>
          <p:cNvSpPr/>
          <p:nvPr/>
        </p:nvSpPr>
        <p:spPr>
          <a:xfrm>
            <a:off x="1033272" y="2847442"/>
            <a:ext cx="6931152" cy="161666"/>
          </a:xfrm>
          <a:prstGeom prst="rect">
            <a:avLst/>
          </a:prstGeom>
          <a:noFill/>
          <a:ln/>
        </p:spPr>
        <p:txBody>
          <a:bodyPr wrap="square" lIns="0" tIns="0" rIns="0" bIns="0" rtlCol="0" anchor="ctr">
            <a:normAutofit/>
          </a:bodyPr>
          <a:lstStyle/>
          <a:p>
            <a:pPr indent="0" marL="0">
              <a:buNone/>
            </a:pPr>
            <a:r>
              <a:rPr lang="en-US" sz="1050" dirty="0">
                <a:solidFill>
                  <a:srgbClr val="D9E4F2"/>
                </a:solidFill>
                <a:latin typeface="Aptos Mono" pitchFamily="34" charset="0"/>
                <a:ea typeface="Aptos Mono" pitchFamily="34" charset="-122"/>
                <a:cs typeface="Aptos Mono" pitchFamily="34" charset="-120"/>
              </a:rPr>
              <a:t>    if (!debouncedQuery.trim()) {</a:t>
            </a:r>
            <a:endParaRPr lang="en-US" sz="1050" dirty="0"/>
          </a:p>
        </p:txBody>
      </p:sp>
      <p:sp>
        <p:nvSpPr>
          <p:cNvPr id="46" name="Text 44"/>
          <p:cNvSpPr/>
          <p:nvPr/>
        </p:nvSpPr>
        <p:spPr>
          <a:xfrm>
            <a:off x="640080" y="3022824"/>
            <a:ext cx="320040" cy="161666"/>
          </a:xfrm>
          <a:prstGeom prst="rect">
            <a:avLst/>
          </a:prstGeom>
          <a:noFill/>
          <a:ln/>
        </p:spPr>
        <p:txBody>
          <a:bodyPr wrap="square" lIns="0" tIns="0" rIns="0" bIns="0" rtlCol="0" anchor="ctr"/>
          <a:lstStyle/>
          <a:p>
            <a:pPr algn="r" indent="0" marL="0">
              <a:buNone/>
            </a:pPr>
            <a:r>
              <a:rPr lang="en-US" sz="830" dirty="0">
                <a:solidFill>
                  <a:srgbClr val="8296AE"/>
                </a:solidFill>
                <a:latin typeface="Aptos Mono" pitchFamily="34" charset="0"/>
                <a:ea typeface="Aptos Mono" pitchFamily="34" charset="-122"/>
                <a:cs typeface="Aptos Mono" pitchFamily="34" charset="-120"/>
              </a:rPr>
              <a:t>07</a:t>
            </a:r>
            <a:endParaRPr lang="en-US" sz="830" dirty="0"/>
          </a:p>
        </p:txBody>
      </p:sp>
      <p:sp>
        <p:nvSpPr>
          <p:cNvPr id="47" name="Text 45"/>
          <p:cNvSpPr/>
          <p:nvPr/>
        </p:nvSpPr>
        <p:spPr>
          <a:xfrm>
            <a:off x="1033272" y="3009108"/>
            <a:ext cx="6931152" cy="161666"/>
          </a:xfrm>
          <a:prstGeom prst="rect">
            <a:avLst/>
          </a:prstGeom>
          <a:noFill/>
          <a:ln/>
        </p:spPr>
        <p:txBody>
          <a:bodyPr wrap="square" lIns="0" tIns="0" rIns="0" bIns="0" rtlCol="0" anchor="ctr">
            <a:normAutofit/>
          </a:bodyPr>
          <a:lstStyle/>
          <a:p>
            <a:pPr indent="0" marL="0">
              <a:buNone/>
            </a:pPr>
            <a:r>
              <a:rPr lang="en-US" sz="1050" dirty="0">
                <a:solidFill>
                  <a:srgbClr val="D9E4F2"/>
                </a:solidFill>
                <a:latin typeface="Aptos Mono" pitchFamily="34" charset="0"/>
                <a:ea typeface="Aptos Mono" pitchFamily="34" charset="-122"/>
                <a:cs typeface="Aptos Mono" pitchFamily="34" charset="-120"/>
              </a:rPr>
              <a:t>      setState(INITIAL_STATE);</a:t>
            </a:r>
            <a:endParaRPr lang="en-US" sz="1050" dirty="0"/>
          </a:p>
        </p:txBody>
      </p:sp>
      <p:sp>
        <p:nvSpPr>
          <p:cNvPr id="48" name="Text 46"/>
          <p:cNvSpPr/>
          <p:nvPr/>
        </p:nvSpPr>
        <p:spPr>
          <a:xfrm>
            <a:off x="640080" y="3184489"/>
            <a:ext cx="320040" cy="161666"/>
          </a:xfrm>
          <a:prstGeom prst="rect">
            <a:avLst/>
          </a:prstGeom>
          <a:noFill/>
          <a:ln/>
        </p:spPr>
        <p:txBody>
          <a:bodyPr wrap="square" lIns="0" tIns="0" rIns="0" bIns="0" rtlCol="0" anchor="ctr"/>
          <a:lstStyle/>
          <a:p>
            <a:pPr algn="r" indent="0" marL="0">
              <a:buNone/>
            </a:pPr>
            <a:r>
              <a:rPr lang="en-US" sz="830" dirty="0">
                <a:solidFill>
                  <a:srgbClr val="8296AE"/>
                </a:solidFill>
                <a:latin typeface="Aptos Mono" pitchFamily="34" charset="0"/>
                <a:ea typeface="Aptos Mono" pitchFamily="34" charset="-122"/>
                <a:cs typeface="Aptos Mono" pitchFamily="34" charset="-120"/>
              </a:rPr>
              <a:t>08</a:t>
            </a:r>
            <a:endParaRPr lang="en-US" sz="830" dirty="0"/>
          </a:p>
        </p:txBody>
      </p:sp>
      <p:sp>
        <p:nvSpPr>
          <p:cNvPr id="49" name="Text 47"/>
          <p:cNvSpPr/>
          <p:nvPr/>
        </p:nvSpPr>
        <p:spPr>
          <a:xfrm>
            <a:off x="1033272" y="3170773"/>
            <a:ext cx="6931152" cy="161666"/>
          </a:xfrm>
          <a:prstGeom prst="rect">
            <a:avLst/>
          </a:prstGeom>
          <a:noFill/>
          <a:ln/>
        </p:spPr>
        <p:txBody>
          <a:bodyPr wrap="square" lIns="0" tIns="0" rIns="0" bIns="0" rtlCol="0" anchor="ctr">
            <a:normAutofit/>
          </a:bodyPr>
          <a:lstStyle/>
          <a:p>
            <a:pPr indent="0" marL="0">
              <a:buNone/>
            </a:pPr>
            <a:r>
              <a:rPr lang="en-US" sz="1050" dirty="0">
                <a:solidFill>
                  <a:srgbClr val="D9E4F2"/>
                </a:solidFill>
                <a:latin typeface="Aptos Mono" pitchFamily="34" charset="0"/>
                <a:ea typeface="Aptos Mono" pitchFamily="34" charset="-122"/>
                <a:cs typeface="Aptos Mono" pitchFamily="34" charset="-120"/>
              </a:rPr>
              <a:t>      return;</a:t>
            </a:r>
            <a:endParaRPr lang="en-US" sz="1050" dirty="0"/>
          </a:p>
        </p:txBody>
      </p:sp>
      <p:sp>
        <p:nvSpPr>
          <p:cNvPr id="50" name="Text 48"/>
          <p:cNvSpPr/>
          <p:nvPr/>
        </p:nvSpPr>
        <p:spPr>
          <a:xfrm>
            <a:off x="640080" y="3346155"/>
            <a:ext cx="320040" cy="161666"/>
          </a:xfrm>
          <a:prstGeom prst="rect">
            <a:avLst/>
          </a:prstGeom>
          <a:noFill/>
          <a:ln/>
        </p:spPr>
        <p:txBody>
          <a:bodyPr wrap="square" lIns="0" tIns="0" rIns="0" bIns="0" rtlCol="0" anchor="ctr"/>
          <a:lstStyle/>
          <a:p>
            <a:pPr algn="r" indent="0" marL="0">
              <a:buNone/>
            </a:pPr>
            <a:r>
              <a:rPr lang="en-US" sz="830" dirty="0">
                <a:solidFill>
                  <a:srgbClr val="8296AE"/>
                </a:solidFill>
                <a:latin typeface="Aptos Mono" pitchFamily="34" charset="0"/>
                <a:ea typeface="Aptos Mono" pitchFamily="34" charset="-122"/>
                <a:cs typeface="Aptos Mono" pitchFamily="34" charset="-120"/>
              </a:rPr>
              <a:t>09</a:t>
            </a:r>
            <a:endParaRPr lang="en-US" sz="830" dirty="0"/>
          </a:p>
        </p:txBody>
      </p:sp>
      <p:sp>
        <p:nvSpPr>
          <p:cNvPr id="51" name="Text 49"/>
          <p:cNvSpPr/>
          <p:nvPr/>
        </p:nvSpPr>
        <p:spPr>
          <a:xfrm>
            <a:off x="1033272" y="3332439"/>
            <a:ext cx="6931152" cy="161666"/>
          </a:xfrm>
          <a:prstGeom prst="rect">
            <a:avLst/>
          </a:prstGeom>
          <a:noFill/>
          <a:ln/>
        </p:spPr>
        <p:txBody>
          <a:bodyPr wrap="square" lIns="0" tIns="0" rIns="0" bIns="0" rtlCol="0" anchor="ctr">
            <a:normAutofit/>
          </a:bodyPr>
          <a:lstStyle/>
          <a:p>
            <a:pPr indent="0" marL="0">
              <a:buNone/>
            </a:pPr>
            <a:r>
              <a:rPr lang="en-US" sz="1050" dirty="0">
                <a:solidFill>
                  <a:srgbClr val="D9E4F2"/>
                </a:solidFill>
                <a:latin typeface="Aptos Mono" pitchFamily="34" charset="0"/>
                <a:ea typeface="Aptos Mono" pitchFamily="34" charset="-122"/>
                <a:cs typeface="Aptos Mono" pitchFamily="34" charset="-120"/>
              </a:rPr>
              <a:t>    }</a:t>
            </a:r>
            <a:endParaRPr lang="en-US" sz="1050" dirty="0"/>
          </a:p>
        </p:txBody>
      </p:sp>
      <p:sp>
        <p:nvSpPr>
          <p:cNvPr id="52" name="Text 50"/>
          <p:cNvSpPr/>
          <p:nvPr/>
        </p:nvSpPr>
        <p:spPr>
          <a:xfrm>
            <a:off x="640080" y="3507821"/>
            <a:ext cx="320040" cy="161666"/>
          </a:xfrm>
          <a:prstGeom prst="rect">
            <a:avLst/>
          </a:prstGeom>
          <a:noFill/>
          <a:ln/>
        </p:spPr>
        <p:txBody>
          <a:bodyPr wrap="square" lIns="0" tIns="0" rIns="0" bIns="0" rtlCol="0" anchor="ctr"/>
          <a:lstStyle/>
          <a:p>
            <a:pPr algn="r" indent="0" marL="0">
              <a:buNone/>
            </a:pPr>
            <a:r>
              <a:rPr lang="en-US" sz="830" dirty="0">
                <a:solidFill>
                  <a:srgbClr val="8296AE"/>
                </a:solidFill>
                <a:latin typeface="Aptos Mono" pitchFamily="34" charset="0"/>
                <a:ea typeface="Aptos Mono" pitchFamily="34" charset="-122"/>
                <a:cs typeface="Aptos Mono" pitchFamily="34" charset="-120"/>
              </a:rPr>
              <a:t>10</a:t>
            </a:r>
            <a:endParaRPr lang="en-US" sz="830" dirty="0"/>
          </a:p>
        </p:txBody>
      </p:sp>
      <p:sp>
        <p:nvSpPr>
          <p:cNvPr id="53" name="Text 51"/>
          <p:cNvSpPr/>
          <p:nvPr/>
        </p:nvSpPr>
        <p:spPr>
          <a:xfrm>
            <a:off x="1033272" y="3494105"/>
            <a:ext cx="6931152" cy="161666"/>
          </a:xfrm>
          <a:prstGeom prst="rect">
            <a:avLst/>
          </a:prstGeom>
          <a:noFill/>
          <a:ln/>
        </p:spPr>
        <p:txBody>
          <a:bodyPr wrap="square" lIns="0" tIns="0" rIns="0" bIns="0" rtlCol="0" anchor="ctr">
            <a:normAutofit/>
          </a:bodyPr>
          <a:lstStyle/>
          <a:p>
            <a:pPr indent="0" marL="0">
              <a:buNone/>
            </a:pPr>
            <a:r>
              <a:rPr lang="en-US" sz="1050" dirty="0">
                <a:solidFill>
                  <a:srgbClr val="D9E4F2"/>
                </a:solidFill>
                <a:latin typeface="Aptos Mono" pitchFamily="34" charset="0"/>
                <a:ea typeface="Aptos Mono" pitchFamily="34" charset="-122"/>
                <a:cs typeface="Aptos Mono" pitchFamily="34" charset="-120"/>
              </a:rPr>
              <a:t> </a:t>
            </a:r>
            <a:endParaRPr lang="en-US" sz="1050" dirty="0"/>
          </a:p>
        </p:txBody>
      </p:sp>
      <p:sp>
        <p:nvSpPr>
          <p:cNvPr id="54" name="Text 52"/>
          <p:cNvSpPr/>
          <p:nvPr/>
        </p:nvSpPr>
        <p:spPr>
          <a:xfrm>
            <a:off x="640080" y="3669487"/>
            <a:ext cx="320040" cy="161666"/>
          </a:xfrm>
          <a:prstGeom prst="rect">
            <a:avLst/>
          </a:prstGeom>
          <a:noFill/>
          <a:ln/>
        </p:spPr>
        <p:txBody>
          <a:bodyPr wrap="square" lIns="0" tIns="0" rIns="0" bIns="0" rtlCol="0" anchor="ctr"/>
          <a:lstStyle/>
          <a:p>
            <a:pPr algn="r" indent="0" marL="0">
              <a:buNone/>
            </a:pPr>
            <a:r>
              <a:rPr lang="en-US" sz="830" dirty="0">
                <a:solidFill>
                  <a:srgbClr val="8296AE"/>
                </a:solidFill>
                <a:latin typeface="Aptos Mono" pitchFamily="34" charset="0"/>
                <a:ea typeface="Aptos Mono" pitchFamily="34" charset="-122"/>
                <a:cs typeface="Aptos Mono" pitchFamily="34" charset="-120"/>
              </a:rPr>
              <a:t>11</a:t>
            </a:r>
            <a:endParaRPr lang="en-US" sz="830" dirty="0"/>
          </a:p>
        </p:txBody>
      </p:sp>
      <p:sp>
        <p:nvSpPr>
          <p:cNvPr id="55" name="Text 53"/>
          <p:cNvSpPr/>
          <p:nvPr/>
        </p:nvSpPr>
        <p:spPr>
          <a:xfrm>
            <a:off x="1033272" y="3655771"/>
            <a:ext cx="6931152" cy="161666"/>
          </a:xfrm>
          <a:prstGeom prst="rect">
            <a:avLst/>
          </a:prstGeom>
          <a:noFill/>
          <a:ln/>
        </p:spPr>
        <p:txBody>
          <a:bodyPr wrap="square" lIns="0" tIns="0" rIns="0" bIns="0" rtlCol="0" anchor="ctr">
            <a:normAutofit/>
          </a:bodyPr>
          <a:lstStyle/>
          <a:p>
            <a:pPr indent="0" marL="0">
              <a:buNone/>
            </a:pPr>
            <a:r>
              <a:rPr lang="en-US" sz="1050" dirty="0">
                <a:solidFill>
                  <a:srgbClr val="D9E4F2"/>
                </a:solidFill>
                <a:latin typeface="Aptos Mono" pitchFamily="34" charset="0"/>
                <a:ea typeface="Aptos Mono" pitchFamily="34" charset="-122"/>
                <a:cs typeface="Aptos Mono" pitchFamily="34" charset="-120"/>
              </a:rPr>
              <a:t>    const controller = new AbortController();</a:t>
            </a:r>
            <a:endParaRPr lang="en-US" sz="1050" dirty="0"/>
          </a:p>
        </p:txBody>
      </p:sp>
      <p:sp>
        <p:nvSpPr>
          <p:cNvPr id="56" name="Text 54"/>
          <p:cNvSpPr/>
          <p:nvPr/>
        </p:nvSpPr>
        <p:spPr>
          <a:xfrm>
            <a:off x="640080" y="3831153"/>
            <a:ext cx="320040" cy="161666"/>
          </a:xfrm>
          <a:prstGeom prst="rect">
            <a:avLst/>
          </a:prstGeom>
          <a:noFill/>
          <a:ln/>
        </p:spPr>
        <p:txBody>
          <a:bodyPr wrap="square" lIns="0" tIns="0" rIns="0" bIns="0" rtlCol="0" anchor="ctr"/>
          <a:lstStyle/>
          <a:p>
            <a:pPr algn="r" indent="0" marL="0">
              <a:buNone/>
            </a:pPr>
            <a:r>
              <a:rPr lang="en-US" sz="830" dirty="0">
                <a:solidFill>
                  <a:srgbClr val="8296AE"/>
                </a:solidFill>
                <a:latin typeface="Aptos Mono" pitchFamily="34" charset="0"/>
                <a:ea typeface="Aptos Mono" pitchFamily="34" charset="-122"/>
                <a:cs typeface="Aptos Mono" pitchFamily="34" charset="-120"/>
              </a:rPr>
              <a:t>12</a:t>
            </a:r>
            <a:endParaRPr lang="en-US" sz="830" dirty="0"/>
          </a:p>
        </p:txBody>
      </p:sp>
      <p:sp>
        <p:nvSpPr>
          <p:cNvPr id="57" name="Text 55"/>
          <p:cNvSpPr/>
          <p:nvPr/>
        </p:nvSpPr>
        <p:spPr>
          <a:xfrm>
            <a:off x="1033272" y="3817437"/>
            <a:ext cx="6931152" cy="161666"/>
          </a:xfrm>
          <a:prstGeom prst="rect">
            <a:avLst/>
          </a:prstGeom>
          <a:noFill/>
          <a:ln/>
        </p:spPr>
        <p:txBody>
          <a:bodyPr wrap="square" lIns="0" tIns="0" rIns="0" bIns="0" rtlCol="0" anchor="ctr">
            <a:normAutofit/>
          </a:bodyPr>
          <a:lstStyle/>
          <a:p>
            <a:pPr indent="0" marL="0">
              <a:buNone/>
            </a:pPr>
            <a:r>
              <a:rPr lang="en-US" sz="1050" dirty="0">
                <a:solidFill>
                  <a:srgbClr val="D9E4F2"/>
                </a:solidFill>
                <a:latin typeface="Aptos Mono" pitchFamily="34" charset="0"/>
                <a:ea typeface="Aptos Mono" pitchFamily="34" charset="-122"/>
                <a:cs typeface="Aptos Mono" pitchFamily="34" charset="-120"/>
              </a:rPr>
              <a:t>    setState(current =&gt; ({ ...current, status: 'loading', error: null }));</a:t>
            </a:r>
            <a:endParaRPr lang="en-US" sz="1050" dirty="0"/>
          </a:p>
        </p:txBody>
      </p:sp>
      <p:sp>
        <p:nvSpPr>
          <p:cNvPr id="58" name="Text 56"/>
          <p:cNvSpPr/>
          <p:nvPr/>
        </p:nvSpPr>
        <p:spPr>
          <a:xfrm>
            <a:off x="640080" y="3992819"/>
            <a:ext cx="320040" cy="161666"/>
          </a:xfrm>
          <a:prstGeom prst="rect">
            <a:avLst/>
          </a:prstGeom>
          <a:noFill/>
          <a:ln/>
        </p:spPr>
        <p:txBody>
          <a:bodyPr wrap="square" lIns="0" tIns="0" rIns="0" bIns="0" rtlCol="0" anchor="ctr"/>
          <a:lstStyle/>
          <a:p>
            <a:pPr algn="r" indent="0" marL="0">
              <a:buNone/>
            </a:pPr>
            <a:r>
              <a:rPr lang="en-US" sz="830" dirty="0">
                <a:solidFill>
                  <a:srgbClr val="8296AE"/>
                </a:solidFill>
                <a:latin typeface="Aptos Mono" pitchFamily="34" charset="0"/>
                <a:ea typeface="Aptos Mono" pitchFamily="34" charset="-122"/>
                <a:cs typeface="Aptos Mono" pitchFamily="34" charset="-120"/>
              </a:rPr>
              <a:t>13</a:t>
            </a:r>
            <a:endParaRPr lang="en-US" sz="830" dirty="0"/>
          </a:p>
        </p:txBody>
      </p:sp>
      <p:sp>
        <p:nvSpPr>
          <p:cNvPr id="59" name="Text 57"/>
          <p:cNvSpPr/>
          <p:nvPr/>
        </p:nvSpPr>
        <p:spPr>
          <a:xfrm>
            <a:off x="1033272" y="3979103"/>
            <a:ext cx="6931152" cy="161666"/>
          </a:xfrm>
          <a:prstGeom prst="rect">
            <a:avLst/>
          </a:prstGeom>
          <a:noFill/>
          <a:ln/>
        </p:spPr>
        <p:txBody>
          <a:bodyPr wrap="square" lIns="0" tIns="0" rIns="0" bIns="0" rtlCol="0" anchor="ctr">
            <a:normAutofit/>
          </a:bodyPr>
          <a:lstStyle/>
          <a:p>
            <a:pPr indent="0" marL="0">
              <a:buNone/>
            </a:pPr>
            <a:r>
              <a:rPr lang="en-US" sz="1050" dirty="0">
                <a:solidFill>
                  <a:srgbClr val="D9E4F2"/>
                </a:solidFill>
                <a:latin typeface="Aptos Mono" pitchFamily="34" charset="0"/>
                <a:ea typeface="Aptos Mono" pitchFamily="34" charset="-122"/>
                <a:cs typeface="Aptos Mono" pitchFamily="34" charset="-120"/>
              </a:rPr>
              <a:t> </a:t>
            </a:r>
            <a:endParaRPr lang="en-US" sz="1050" dirty="0"/>
          </a:p>
        </p:txBody>
      </p:sp>
      <p:sp>
        <p:nvSpPr>
          <p:cNvPr id="60" name="Text 58"/>
          <p:cNvSpPr/>
          <p:nvPr/>
        </p:nvSpPr>
        <p:spPr>
          <a:xfrm>
            <a:off x="640080" y="4154485"/>
            <a:ext cx="320040" cy="161666"/>
          </a:xfrm>
          <a:prstGeom prst="rect">
            <a:avLst/>
          </a:prstGeom>
          <a:noFill/>
          <a:ln/>
        </p:spPr>
        <p:txBody>
          <a:bodyPr wrap="square" lIns="0" tIns="0" rIns="0" bIns="0" rtlCol="0" anchor="ctr"/>
          <a:lstStyle/>
          <a:p>
            <a:pPr algn="r" indent="0" marL="0">
              <a:buNone/>
            </a:pPr>
            <a:r>
              <a:rPr lang="en-US" sz="830" dirty="0">
                <a:solidFill>
                  <a:srgbClr val="8296AE"/>
                </a:solidFill>
                <a:latin typeface="Aptos Mono" pitchFamily="34" charset="0"/>
                <a:ea typeface="Aptos Mono" pitchFamily="34" charset="-122"/>
                <a:cs typeface="Aptos Mono" pitchFamily="34" charset="-120"/>
              </a:rPr>
              <a:t>14</a:t>
            </a:r>
            <a:endParaRPr lang="en-US" sz="830" dirty="0"/>
          </a:p>
        </p:txBody>
      </p:sp>
      <p:sp>
        <p:nvSpPr>
          <p:cNvPr id="61" name="Text 59"/>
          <p:cNvSpPr/>
          <p:nvPr/>
        </p:nvSpPr>
        <p:spPr>
          <a:xfrm>
            <a:off x="1033272" y="4140769"/>
            <a:ext cx="6931152" cy="161666"/>
          </a:xfrm>
          <a:prstGeom prst="rect">
            <a:avLst/>
          </a:prstGeom>
          <a:noFill/>
          <a:ln/>
        </p:spPr>
        <p:txBody>
          <a:bodyPr wrap="square" lIns="0" tIns="0" rIns="0" bIns="0" rtlCol="0" anchor="ctr">
            <a:normAutofit/>
          </a:bodyPr>
          <a:lstStyle/>
          <a:p>
            <a:pPr indent="0" marL="0">
              <a:buNone/>
            </a:pPr>
            <a:r>
              <a:rPr lang="en-US" sz="1050" dirty="0">
                <a:solidFill>
                  <a:srgbClr val="D9E4F2"/>
                </a:solidFill>
                <a:latin typeface="Aptos Mono" pitchFamily="34" charset="0"/>
                <a:ea typeface="Aptos Mono" pitchFamily="34" charset="-122"/>
                <a:cs typeface="Aptos Mono" pitchFamily="34" charset="-120"/>
              </a:rPr>
              <a:t>    fetchTickets(debouncedQuery, controller.signal)</a:t>
            </a:r>
            <a:endParaRPr lang="en-US" sz="1050" dirty="0"/>
          </a:p>
        </p:txBody>
      </p:sp>
      <p:sp>
        <p:nvSpPr>
          <p:cNvPr id="62" name="Text 60"/>
          <p:cNvSpPr/>
          <p:nvPr/>
        </p:nvSpPr>
        <p:spPr>
          <a:xfrm>
            <a:off x="640080" y="4316151"/>
            <a:ext cx="320040" cy="161666"/>
          </a:xfrm>
          <a:prstGeom prst="rect">
            <a:avLst/>
          </a:prstGeom>
          <a:noFill/>
          <a:ln/>
        </p:spPr>
        <p:txBody>
          <a:bodyPr wrap="square" lIns="0" tIns="0" rIns="0" bIns="0" rtlCol="0" anchor="ctr"/>
          <a:lstStyle/>
          <a:p>
            <a:pPr algn="r" indent="0" marL="0">
              <a:buNone/>
            </a:pPr>
            <a:r>
              <a:rPr lang="en-US" sz="830" dirty="0">
                <a:solidFill>
                  <a:srgbClr val="8296AE"/>
                </a:solidFill>
                <a:latin typeface="Aptos Mono" pitchFamily="34" charset="0"/>
                <a:ea typeface="Aptos Mono" pitchFamily="34" charset="-122"/>
                <a:cs typeface="Aptos Mono" pitchFamily="34" charset="-120"/>
              </a:rPr>
              <a:t>15</a:t>
            </a:r>
            <a:endParaRPr lang="en-US" sz="830" dirty="0"/>
          </a:p>
        </p:txBody>
      </p:sp>
      <p:sp>
        <p:nvSpPr>
          <p:cNvPr id="63" name="Text 61"/>
          <p:cNvSpPr/>
          <p:nvPr/>
        </p:nvSpPr>
        <p:spPr>
          <a:xfrm>
            <a:off x="1033272" y="4302435"/>
            <a:ext cx="6931152" cy="161666"/>
          </a:xfrm>
          <a:prstGeom prst="rect">
            <a:avLst/>
          </a:prstGeom>
          <a:noFill/>
          <a:ln/>
        </p:spPr>
        <p:txBody>
          <a:bodyPr wrap="square" lIns="0" tIns="0" rIns="0" bIns="0" rtlCol="0" anchor="ctr">
            <a:normAutofit/>
          </a:bodyPr>
          <a:lstStyle/>
          <a:p>
            <a:pPr indent="0" marL="0">
              <a:buNone/>
            </a:pPr>
            <a:r>
              <a:rPr lang="en-US" sz="1050" dirty="0">
                <a:solidFill>
                  <a:srgbClr val="D9E4F2"/>
                </a:solidFill>
                <a:latin typeface="Aptos Mono" pitchFamily="34" charset="0"/>
                <a:ea typeface="Aptos Mono" pitchFamily="34" charset="-122"/>
                <a:cs typeface="Aptos Mono" pitchFamily="34" charset="-120"/>
              </a:rPr>
              <a:t>      .then(data =&gt; setState({ status: 'success', data, error: null }))</a:t>
            </a:r>
            <a:endParaRPr lang="en-US" sz="1050" dirty="0"/>
          </a:p>
        </p:txBody>
      </p:sp>
      <p:sp>
        <p:nvSpPr>
          <p:cNvPr id="64" name="Text 62"/>
          <p:cNvSpPr/>
          <p:nvPr/>
        </p:nvSpPr>
        <p:spPr>
          <a:xfrm>
            <a:off x="640080" y="4477817"/>
            <a:ext cx="320040" cy="161666"/>
          </a:xfrm>
          <a:prstGeom prst="rect">
            <a:avLst/>
          </a:prstGeom>
          <a:noFill/>
          <a:ln/>
        </p:spPr>
        <p:txBody>
          <a:bodyPr wrap="square" lIns="0" tIns="0" rIns="0" bIns="0" rtlCol="0" anchor="ctr"/>
          <a:lstStyle/>
          <a:p>
            <a:pPr algn="r" indent="0" marL="0">
              <a:buNone/>
            </a:pPr>
            <a:r>
              <a:rPr lang="en-US" sz="830" dirty="0">
                <a:solidFill>
                  <a:srgbClr val="8296AE"/>
                </a:solidFill>
                <a:latin typeface="Aptos Mono" pitchFamily="34" charset="0"/>
                <a:ea typeface="Aptos Mono" pitchFamily="34" charset="-122"/>
                <a:cs typeface="Aptos Mono" pitchFamily="34" charset="-120"/>
              </a:rPr>
              <a:t>16</a:t>
            </a:r>
            <a:endParaRPr lang="en-US" sz="830" dirty="0"/>
          </a:p>
        </p:txBody>
      </p:sp>
      <p:sp>
        <p:nvSpPr>
          <p:cNvPr id="65" name="Text 63"/>
          <p:cNvSpPr/>
          <p:nvPr/>
        </p:nvSpPr>
        <p:spPr>
          <a:xfrm>
            <a:off x="1033272" y="4464101"/>
            <a:ext cx="6931152" cy="161666"/>
          </a:xfrm>
          <a:prstGeom prst="rect">
            <a:avLst/>
          </a:prstGeom>
          <a:noFill/>
          <a:ln/>
        </p:spPr>
        <p:txBody>
          <a:bodyPr wrap="square" lIns="0" tIns="0" rIns="0" bIns="0" rtlCol="0" anchor="ctr">
            <a:normAutofit/>
          </a:bodyPr>
          <a:lstStyle/>
          <a:p>
            <a:pPr indent="0" marL="0">
              <a:buNone/>
            </a:pPr>
            <a:r>
              <a:rPr lang="en-US" sz="1050" dirty="0">
                <a:solidFill>
                  <a:srgbClr val="D9E4F2"/>
                </a:solidFill>
                <a:latin typeface="Aptos Mono" pitchFamily="34" charset="0"/>
                <a:ea typeface="Aptos Mono" pitchFamily="34" charset="-122"/>
                <a:cs typeface="Aptos Mono" pitchFamily="34" charset="-120"/>
              </a:rPr>
              <a:t>      .catch(error =&gt; {</a:t>
            </a:r>
            <a:endParaRPr lang="en-US" sz="1050" dirty="0"/>
          </a:p>
        </p:txBody>
      </p:sp>
      <p:sp>
        <p:nvSpPr>
          <p:cNvPr id="66" name="Text 64"/>
          <p:cNvSpPr/>
          <p:nvPr/>
        </p:nvSpPr>
        <p:spPr>
          <a:xfrm>
            <a:off x="640080" y="4639483"/>
            <a:ext cx="320040" cy="161666"/>
          </a:xfrm>
          <a:prstGeom prst="rect">
            <a:avLst/>
          </a:prstGeom>
          <a:noFill/>
          <a:ln/>
        </p:spPr>
        <p:txBody>
          <a:bodyPr wrap="square" lIns="0" tIns="0" rIns="0" bIns="0" rtlCol="0" anchor="ctr"/>
          <a:lstStyle/>
          <a:p>
            <a:pPr algn="r" indent="0" marL="0">
              <a:buNone/>
            </a:pPr>
            <a:r>
              <a:rPr lang="en-US" sz="830" dirty="0">
                <a:solidFill>
                  <a:srgbClr val="8296AE"/>
                </a:solidFill>
                <a:latin typeface="Aptos Mono" pitchFamily="34" charset="0"/>
                <a:ea typeface="Aptos Mono" pitchFamily="34" charset="-122"/>
                <a:cs typeface="Aptos Mono" pitchFamily="34" charset="-120"/>
              </a:rPr>
              <a:t>17</a:t>
            </a:r>
            <a:endParaRPr lang="en-US" sz="830" dirty="0"/>
          </a:p>
        </p:txBody>
      </p:sp>
      <p:sp>
        <p:nvSpPr>
          <p:cNvPr id="67" name="Text 65"/>
          <p:cNvSpPr/>
          <p:nvPr/>
        </p:nvSpPr>
        <p:spPr>
          <a:xfrm>
            <a:off x="1033272" y="4625767"/>
            <a:ext cx="6931152" cy="161666"/>
          </a:xfrm>
          <a:prstGeom prst="rect">
            <a:avLst/>
          </a:prstGeom>
          <a:noFill/>
          <a:ln/>
        </p:spPr>
        <p:txBody>
          <a:bodyPr wrap="square" lIns="0" tIns="0" rIns="0" bIns="0" rtlCol="0" anchor="ctr">
            <a:normAutofit/>
          </a:bodyPr>
          <a:lstStyle/>
          <a:p>
            <a:pPr indent="0" marL="0">
              <a:buNone/>
            </a:pPr>
            <a:r>
              <a:rPr lang="en-US" sz="1050" dirty="0">
                <a:solidFill>
                  <a:srgbClr val="D9E4F2"/>
                </a:solidFill>
                <a:latin typeface="Aptos Mono" pitchFamily="34" charset="0"/>
                <a:ea typeface="Aptos Mono" pitchFamily="34" charset="-122"/>
                <a:cs typeface="Aptos Mono" pitchFamily="34" charset="-120"/>
              </a:rPr>
              <a:t>        if (error.name !== 'AbortError')</a:t>
            </a:r>
            <a:endParaRPr lang="en-US" sz="1050" dirty="0"/>
          </a:p>
        </p:txBody>
      </p:sp>
      <p:sp>
        <p:nvSpPr>
          <p:cNvPr id="68" name="Text 66"/>
          <p:cNvSpPr/>
          <p:nvPr/>
        </p:nvSpPr>
        <p:spPr>
          <a:xfrm>
            <a:off x="640080" y="4801149"/>
            <a:ext cx="320040" cy="161666"/>
          </a:xfrm>
          <a:prstGeom prst="rect">
            <a:avLst/>
          </a:prstGeom>
          <a:noFill/>
          <a:ln/>
        </p:spPr>
        <p:txBody>
          <a:bodyPr wrap="square" lIns="0" tIns="0" rIns="0" bIns="0" rtlCol="0" anchor="ctr"/>
          <a:lstStyle/>
          <a:p>
            <a:pPr algn="r" indent="0" marL="0">
              <a:buNone/>
            </a:pPr>
            <a:r>
              <a:rPr lang="en-US" sz="830" dirty="0">
                <a:solidFill>
                  <a:srgbClr val="8296AE"/>
                </a:solidFill>
                <a:latin typeface="Aptos Mono" pitchFamily="34" charset="0"/>
                <a:ea typeface="Aptos Mono" pitchFamily="34" charset="-122"/>
                <a:cs typeface="Aptos Mono" pitchFamily="34" charset="-120"/>
              </a:rPr>
              <a:t>18</a:t>
            </a:r>
            <a:endParaRPr lang="en-US" sz="830" dirty="0"/>
          </a:p>
        </p:txBody>
      </p:sp>
      <p:sp>
        <p:nvSpPr>
          <p:cNvPr id="69" name="Text 67"/>
          <p:cNvSpPr/>
          <p:nvPr/>
        </p:nvSpPr>
        <p:spPr>
          <a:xfrm>
            <a:off x="1033272" y="4787433"/>
            <a:ext cx="6931152" cy="161666"/>
          </a:xfrm>
          <a:prstGeom prst="rect">
            <a:avLst/>
          </a:prstGeom>
          <a:noFill/>
          <a:ln/>
        </p:spPr>
        <p:txBody>
          <a:bodyPr wrap="square" lIns="0" tIns="0" rIns="0" bIns="0" rtlCol="0" anchor="ctr">
            <a:normAutofit/>
          </a:bodyPr>
          <a:lstStyle/>
          <a:p>
            <a:pPr indent="0" marL="0">
              <a:buNone/>
            </a:pPr>
            <a:r>
              <a:rPr lang="en-US" sz="1050" dirty="0">
                <a:solidFill>
                  <a:srgbClr val="D9E4F2"/>
                </a:solidFill>
                <a:latin typeface="Aptos Mono" pitchFamily="34" charset="0"/>
                <a:ea typeface="Aptos Mono" pitchFamily="34" charset="-122"/>
                <a:cs typeface="Aptos Mono" pitchFamily="34" charset="-120"/>
              </a:rPr>
              <a:t>          setState({ status: 'error', data: [], error });</a:t>
            </a:r>
            <a:endParaRPr lang="en-US" sz="1050" dirty="0"/>
          </a:p>
        </p:txBody>
      </p:sp>
      <p:sp>
        <p:nvSpPr>
          <p:cNvPr id="70" name="Text 68"/>
          <p:cNvSpPr/>
          <p:nvPr/>
        </p:nvSpPr>
        <p:spPr>
          <a:xfrm>
            <a:off x="640080" y="4962815"/>
            <a:ext cx="320040" cy="161666"/>
          </a:xfrm>
          <a:prstGeom prst="rect">
            <a:avLst/>
          </a:prstGeom>
          <a:noFill/>
          <a:ln/>
        </p:spPr>
        <p:txBody>
          <a:bodyPr wrap="square" lIns="0" tIns="0" rIns="0" bIns="0" rtlCol="0" anchor="ctr"/>
          <a:lstStyle/>
          <a:p>
            <a:pPr algn="r" indent="0" marL="0">
              <a:buNone/>
            </a:pPr>
            <a:r>
              <a:rPr lang="en-US" sz="830" dirty="0">
                <a:solidFill>
                  <a:srgbClr val="8296AE"/>
                </a:solidFill>
                <a:latin typeface="Aptos Mono" pitchFamily="34" charset="0"/>
                <a:ea typeface="Aptos Mono" pitchFamily="34" charset="-122"/>
                <a:cs typeface="Aptos Mono" pitchFamily="34" charset="-120"/>
              </a:rPr>
              <a:t>19</a:t>
            </a:r>
            <a:endParaRPr lang="en-US" sz="830" dirty="0"/>
          </a:p>
        </p:txBody>
      </p:sp>
      <p:sp>
        <p:nvSpPr>
          <p:cNvPr id="71" name="Text 69"/>
          <p:cNvSpPr/>
          <p:nvPr/>
        </p:nvSpPr>
        <p:spPr>
          <a:xfrm>
            <a:off x="1033272" y="4949099"/>
            <a:ext cx="6931152" cy="161666"/>
          </a:xfrm>
          <a:prstGeom prst="rect">
            <a:avLst/>
          </a:prstGeom>
          <a:noFill/>
          <a:ln/>
        </p:spPr>
        <p:txBody>
          <a:bodyPr wrap="square" lIns="0" tIns="0" rIns="0" bIns="0" rtlCol="0" anchor="ctr">
            <a:normAutofit/>
          </a:bodyPr>
          <a:lstStyle/>
          <a:p>
            <a:pPr indent="0" marL="0">
              <a:buNone/>
            </a:pPr>
            <a:r>
              <a:rPr lang="en-US" sz="1050" dirty="0">
                <a:solidFill>
                  <a:srgbClr val="D9E4F2"/>
                </a:solidFill>
                <a:latin typeface="Aptos Mono" pitchFamily="34" charset="0"/>
                <a:ea typeface="Aptos Mono" pitchFamily="34" charset="-122"/>
                <a:cs typeface="Aptos Mono" pitchFamily="34" charset="-120"/>
              </a:rPr>
              <a:t>      });</a:t>
            </a:r>
            <a:endParaRPr lang="en-US" sz="1050" dirty="0"/>
          </a:p>
        </p:txBody>
      </p:sp>
      <p:sp>
        <p:nvSpPr>
          <p:cNvPr id="72" name="Text 70"/>
          <p:cNvSpPr/>
          <p:nvPr/>
        </p:nvSpPr>
        <p:spPr>
          <a:xfrm>
            <a:off x="640080" y="5124480"/>
            <a:ext cx="320040" cy="161666"/>
          </a:xfrm>
          <a:prstGeom prst="rect">
            <a:avLst/>
          </a:prstGeom>
          <a:noFill/>
          <a:ln/>
        </p:spPr>
        <p:txBody>
          <a:bodyPr wrap="square" lIns="0" tIns="0" rIns="0" bIns="0" rtlCol="0" anchor="ctr"/>
          <a:lstStyle/>
          <a:p>
            <a:pPr algn="r" indent="0" marL="0">
              <a:buNone/>
            </a:pPr>
            <a:r>
              <a:rPr lang="en-US" sz="830" dirty="0">
                <a:solidFill>
                  <a:srgbClr val="8296AE"/>
                </a:solidFill>
                <a:latin typeface="Aptos Mono" pitchFamily="34" charset="0"/>
                <a:ea typeface="Aptos Mono" pitchFamily="34" charset="-122"/>
                <a:cs typeface="Aptos Mono" pitchFamily="34" charset="-120"/>
              </a:rPr>
              <a:t>20</a:t>
            </a:r>
            <a:endParaRPr lang="en-US" sz="830" dirty="0"/>
          </a:p>
        </p:txBody>
      </p:sp>
      <p:sp>
        <p:nvSpPr>
          <p:cNvPr id="73" name="Text 71"/>
          <p:cNvSpPr/>
          <p:nvPr/>
        </p:nvSpPr>
        <p:spPr>
          <a:xfrm>
            <a:off x="1033272" y="5110764"/>
            <a:ext cx="6931152" cy="161666"/>
          </a:xfrm>
          <a:prstGeom prst="rect">
            <a:avLst/>
          </a:prstGeom>
          <a:noFill/>
          <a:ln/>
        </p:spPr>
        <p:txBody>
          <a:bodyPr wrap="square" lIns="0" tIns="0" rIns="0" bIns="0" rtlCol="0" anchor="ctr">
            <a:normAutofit/>
          </a:bodyPr>
          <a:lstStyle/>
          <a:p>
            <a:pPr indent="0" marL="0">
              <a:buNone/>
            </a:pPr>
            <a:r>
              <a:rPr lang="en-US" sz="1050" dirty="0">
                <a:solidFill>
                  <a:srgbClr val="D9E4F2"/>
                </a:solidFill>
                <a:latin typeface="Aptos Mono" pitchFamily="34" charset="0"/>
                <a:ea typeface="Aptos Mono" pitchFamily="34" charset="-122"/>
                <a:cs typeface="Aptos Mono" pitchFamily="34" charset="-120"/>
              </a:rPr>
              <a:t> </a:t>
            </a:r>
            <a:endParaRPr lang="en-US" sz="1050" dirty="0"/>
          </a:p>
        </p:txBody>
      </p:sp>
      <p:sp>
        <p:nvSpPr>
          <p:cNvPr id="74" name="Text 72"/>
          <p:cNvSpPr/>
          <p:nvPr/>
        </p:nvSpPr>
        <p:spPr>
          <a:xfrm>
            <a:off x="640080" y="5286146"/>
            <a:ext cx="320040" cy="161666"/>
          </a:xfrm>
          <a:prstGeom prst="rect">
            <a:avLst/>
          </a:prstGeom>
          <a:noFill/>
          <a:ln/>
        </p:spPr>
        <p:txBody>
          <a:bodyPr wrap="square" lIns="0" tIns="0" rIns="0" bIns="0" rtlCol="0" anchor="ctr"/>
          <a:lstStyle/>
          <a:p>
            <a:pPr algn="r" indent="0" marL="0">
              <a:buNone/>
            </a:pPr>
            <a:r>
              <a:rPr lang="en-US" sz="830" dirty="0">
                <a:solidFill>
                  <a:srgbClr val="8296AE"/>
                </a:solidFill>
                <a:latin typeface="Aptos Mono" pitchFamily="34" charset="0"/>
                <a:ea typeface="Aptos Mono" pitchFamily="34" charset="-122"/>
                <a:cs typeface="Aptos Mono" pitchFamily="34" charset="-120"/>
              </a:rPr>
              <a:t>21</a:t>
            </a:r>
            <a:endParaRPr lang="en-US" sz="830" dirty="0"/>
          </a:p>
        </p:txBody>
      </p:sp>
      <p:sp>
        <p:nvSpPr>
          <p:cNvPr id="75" name="Text 73"/>
          <p:cNvSpPr/>
          <p:nvPr/>
        </p:nvSpPr>
        <p:spPr>
          <a:xfrm>
            <a:off x="1033272" y="5272430"/>
            <a:ext cx="6931152" cy="161666"/>
          </a:xfrm>
          <a:prstGeom prst="rect">
            <a:avLst/>
          </a:prstGeom>
          <a:noFill/>
          <a:ln/>
        </p:spPr>
        <p:txBody>
          <a:bodyPr wrap="square" lIns="0" tIns="0" rIns="0" bIns="0" rtlCol="0" anchor="ctr">
            <a:normAutofit/>
          </a:bodyPr>
          <a:lstStyle/>
          <a:p>
            <a:pPr indent="0" marL="0">
              <a:buNone/>
            </a:pPr>
            <a:r>
              <a:rPr lang="en-US" sz="1050" dirty="0">
                <a:solidFill>
                  <a:srgbClr val="D9E4F2"/>
                </a:solidFill>
                <a:latin typeface="Aptos Mono" pitchFamily="34" charset="0"/>
                <a:ea typeface="Aptos Mono" pitchFamily="34" charset="-122"/>
                <a:cs typeface="Aptos Mono" pitchFamily="34" charset="-120"/>
              </a:rPr>
              <a:t>    return () =&gt; controller.abort();</a:t>
            </a:r>
            <a:endParaRPr lang="en-US" sz="1050" dirty="0"/>
          </a:p>
        </p:txBody>
      </p:sp>
      <p:sp>
        <p:nvSpPr>
          <p:cNvPr id="76" name="Text 74"/>
          <p:cNvSpPr/>
          <p:nvPr/>
        </p:nvSpPr>
        <p:spPr>
          <a:xfrm>
            <a:off x="640080" y="5447812"/>
            <a:ext cx="320040" cy="161666"/>
          </a:xfrm>
          <a:prstGeom prst="rect">
            <a:avLst/>
          </a:prstGeom>
          <a:noFill/>
          <a:ln/>
        </p:spPr>
        <p:txBody>
          <a:bodyPr wrap="square" lIns="0" tIns="0" rIns="0" bIns="0" rtlCol="0" anchor="ctr"/>
          <a:lstStyle/>
          <a:p>
            <a:pPr algn="r" indent="0" marL="0">
              <a:buNone/>
            </a:pPr>
            <a:r>
              <a:rPr lang="en-US" sz="830" dirty="0">
                <a:solidFill>
                  <a:srgbClr val="8296AE"/>
                </a:solidFill>
                <a:latin typeface="Aptos Mono" pitchFamily="34" charset="0"/>
                <a:ea typeface="Aptos Mono" pitchFamily="34" charset="-122"/>
                <a:cs typeface="Aptos Mono" pitchFamily="34" charset="-120"/>
              </a:rPr>
              <a:t>22</a:t>
            </a:r>
            <a:endParaRPr lang="en-US" sz="830" dirty="0"/>
          </a:p>
        </p:txBody>
      </p:sp>
      <p:sp>
        <p:nvSpPr>
          <p:cNvPr id="77" name="Text 75"/>
          <p:cNvSpPr/>
          <p:nvPr/>
        </p:nvSpPr>
        <p:spPr>
          <a:xfrm>
            <a:off x="1033272" y="5434096"/>
            <a:ext cx="6931152" cy="161666"/>
          </a:xfrm>
          <a:prstGeom prst="rect">
            <a:avLst/>
          </a:prstGeom>
          <a:noFill/>
          <a:ln/>
        </p:spPr>
        <p:txBody>
          <a:bodyPr wrap="square" lIns="0" tIns="0" rIns="0" bIns="0" rtlCol="0" anchor="ctr">
            <a:normAutofit/>
          </a:bodyPr>
          <a:lstStyle/>
          <a:p>
            <a:pPr indent="0" marL="0">
              <a:buNone/>
            </a:pPr>
            <a:r>
              <a:rPr lang="en-US" sz="1050" dirty="0">
                <a:solidFill>
                  <a:srgbClr val="D9E4F2"/>
                </a:solidFill>
                <a:latin typeface="Aptos Mono" pitchFamily="34" charset="0"/>
                <a:ea typeface="Aptos Mono" pitchFamily="34" charset="-122"/>
                <a:cs typeface="Aptos Mono" pitchFamily="34" charset="-120"/>
              </a:rPr>
              <a:t>  }, [debouncedQuery]);</a:t>
            </a:r>
            <a:endParaRPr lang="en-US" sz="1050" dirty="0"/>
          </a:p>
        </p:txBody>
      </p:sp>
      <p:sp>
        <p:nvSpPr>
          <p:cNvPr id="78" name="Text 76"/>
          <p:cNvSpPr/>
          <p:nvPr/>
        </p:nvSpPr>
        <p:spPr>
          <a:xfrm>
            <a:off x="640080" y="5609478"/>
            <a:ext cx="320040" cy="161666"/>
          </a:xfrm>
          <a:prstGeom prst="rect">
            <a:avLst/>
          </a:prstGeom>
          <a:noFill/>
          <a:ln/>
        </p:spPr>
        <p:txBody>
          <a:bodyPr wrap="square" lIns="0" tIns="0" rIns="0" bIns="0" rtlCol="0" anchor="ctr"/>
          <a:lstStyle/>
          <a:p>
            <a:pPr algn="r" indent="0" marL="0">
              <a:buNone/>
            </a:pPr>
            <a:r>
              <a:rPr lang="en-US" sz="830" dirty="0">
                <a:solidFill>
                  <a:srgbClr val="8296AE"/>
                </a:solidFill>
                <a:latin typeface="Aptos Mono" pitchFamily="34" charset="0"/>
                <a:ea typeface="Aptos Mono" pitchFamily="34" charset="-122"/>
                <a:cs typeface="Aptos Mono" pitchFamily="34" charset="-120"/>
              </a:rPr>
              <a:t>23</a:t>
            </a:r>
            <a:endParaRPr lang="en-US" sz="830" dirty="0"/>
          </a:p>
        </p:txBody>
      </p:sp>
      <p:sp>
        <p:nvSpPr>
          <p:cNvPr id="79" name="Text 77"/>
          <p:cNvSpPr/>
          <p:nvPr/>
        </p:nvSpPr>
        <p:spPr>
          <a:xfrm>
            <a:off x="1033272" y="5595762"/>
            <a:ext cx="6931152" cy="161666"/>
          </a:xfrm>
          <a:prstGeom prst="rect">
            <a:avLst/>
          </a:prstGeom>
          <a:noFill/>
          <a:ln/>
        </p:spPr>
        <p:txBody>
          <a:bodyPr wrap="square" lIns="0" tIns="0" rIns="0" bIns="0" rtlCol="0" anchor="ctr">
            <a:normAutofit/>
          </a:bodyPr>
          <a:lstStyle/>
          <a:p>
            <a:pPr indent="0" marL="0">
              <a:buNone/>
            </a:pPr>
            <a:r>
              <a:rPr lang="en-US" sz="1050" dirty="0">
                <a:solidFill>
                  <a:srgbClr val="D9E4F2"/>
                </a:solidFill>
                <a:latin typeface="Aptos Mono" pitchFamily="34" charset="0"/>
                <a:ea typeface="Aptos Mono" pitchFamily="34" charset="-122"/>
                <a:cs typeface="Aptos Mono" pitchFamily="34" charset="-120"/>
              </a:rPr>
              <a:t> </a:t>
            </a:r>
            <a:endParaRPr lang="en-US" sz="1050" dirty="0"/>
          </a:p>
        </p:txBody>
      </p:sp>
      <p:sp>
        <p:nvSpPr>
          <p:cNvPr id="80" name="Text 78"/>
          <p:cNvSpPr/>
          <p:nvPr/>
        </p:nvSpPr>
        <p:spPr>
          <a:xfrm>
            <a:off x="640080" y="5771144"/>
            <a:ext cx="320040" cy="161666"/>
          </a:xfrm>
          <a:prstGeom prst="rect">
            <a:avLst/>
          </a:prstGeom>
          <a:noFill/>
          <a:ln/>
        </p:spPr>
        <p:txBody>
          <a:bodyPr wrap="square" lIns="0" tIns="0" rIns="0" bIns="0" rtlCol="0" anchor="ctr"/>
          <a:lstStyle/>
          <a:p>
            <a:pPr algn="r" indent="0" marL="0">
              <a:buNone/>
            </a:pPr>
            <a:r>
              <a:rPr lang="en-US" sz="830" dirty="0">
                <a:solidFill>
                  <a:srgbClr val="8296AE"/>
                </a:solidFill>
                <a:latin typeface="Aptos Mono" pitchFamily="34" charset="0"/>
                <a:ea typeface="Aptos Mono" pitchFamily="34" charset="-122"/>
                <a:cs typeface="Aptos Mono" pitchFamily="34" charset="-120"/>
              </a:rPr>
              <a:t>24</a:t>
            </a:r>
            <a:endParaRPr lang="en-US" sz="830" dirty="0"/>
          </a:p>
        </p:txBody>
      </p:sp>
      <p:sp>
        <p:nvSpPr>
          <p:cNvPr id="81" name="Text 79"/>
          <p:cNvSpPr/>
          <p:nvPr/>
        </p:nvSpPr>
        <p:spPr>
          <a:xfrm>
            <a:off x="1033272" y="5757428"/>
            <a:ext cx="6931152" cy="161666"/>
          </a:xfrm>
          <a:prstGeom prst="rect">
            <a:avLst/>
          </a:prstGeom>
          <a:noFill/>
          <a:ln/>
        </p:spPr>
        <p:txBody>
          <a:bodyPr wrap="square" lIns="0" tIns="0" rIns="0" bIns="0" rtlCol="0" anchor="ctr">
            <a:normAutofit/>
          </a:bodyPr>
          <a:lstStyle/>
          <a:p>
            <a:pPr indent="0" marL="0">
              <a:buNone/>
            </a:pPr>
            <a:r>
              <a:rPr lang="en-US" sz="1050" dirty="0">
                <a:solidFill>
                  <a:srgbClr val="D9E4F2"/>
                </a:solidFill>
                <a:latin typeface="Aptos Mono" pitchFamily="34" charset="0"/>
                <a:ea typeface="Aptos Mono" pitchFamily="34" charset="-122"/>
                <a:cs typeface="Aptos Mono" pitchFamily="34" charset="-120"/>
              </a:rPr>
              <a:t>  return state;</a:t>
            </a:r>
            <a:endParaRPr lang="en-US" sz="1050" dirty="0"/>
          </a:p>
        </p:txBody>
      </p:sp>
      <p:sp>
        <p:nvSpPr>
          <p:cNvPr id="82" name="Text 80"/>
          <p:cNvSpPr/>
          <p:nvPr/>
        </p:nvSpPr>
        <p:spPr>
          <a:xfrm>
            <a:off x="640080" y="5932810"/>
            <a:ext cx="320040" cy="161666"/>
          </a:xfrm>
          <a:prstGeom prst="rect">
            <a:avLst/>
          </a:prstGeom>
          <a:noFill/>
          <a:ln/>
        </p:spPr>
        <p:txBody>
          <a:bodyPr wrap="square" lIns="0" tIns="0" rIns="0" bIns="0" rtlCol="0" anchor="ctr"/>
          <a:lstStyle/>
          <a:p>
            <a:pPr algn="r" indent="0" marL="0">
              <a:buNone/>
            </a:pPr>
            <a:r>
              <a:rPr lang="en-US" sz="830" dirty="0">
                <a:solidFill>
                  <a:srgbClr val="8296AE"/>
                </a:solidFill>
                <a:latin typeface="Aptos Mono" pitchFamily="34" charset="0"/>
                <a:ea typeface="Aptos Mono" pitchFamily="34" charset="-122"/>
                <a:cs typeface="Aptos Mono" pitchFamily="34" charset="-120"/>
              </a:rPr>
              <a:t>25</a:t>
            </a:r>
            <a:endParaRPr lang="en-US" sz="830" dirty="0"/>
          </a:p>
        </p:txBody>
      </p:sp>
      <p:sp>
        <p:nvSpPr>
          <p:cNvPr id="83" name="Text 81"/>
          <p:cNvSpPr/>
          <p:nvPr/>
        </p:nvSpPr>
        <p:spPr>
          <a:xfrm>
            <a:off x="1033272" y="5919094"/>
            <a:ext cx="6931152" cy="161666"/>
          </a:xfrm>
          <a:prstGeom prst="rect">
            <a:avLst/>
          </a:prstGeom>
          <a:noFill/>
          <a:ln/>
        </p:spPr>
        <p:txBody>
          <a:bodyPr wrap="square" lIns="0" tIns="0" rIns="0" bIns="0" rtlCol="0" anchor="ctr">
            <a:normAutofit/>
          </a:bodyPr>
          <a:lstStyle/>
          <a:p>
            <a:pPr indent="0" marL="0">
              <a:buNone/>
            </a:pPr>
            <a:r>
              <a:rPr lang="en-US" sz="1050" dirty="0">
                <a:solidFill>
                  <a:srgbClr val="D9E4F2"/>
                </a:solidFill>
                <a:latin typeface="Aptos Mono" pitchFamily="34" charset="0"/>
                <a:ea typeface="Aptos Mono" pitchFamily="34" charset="-122"/>
                <a:cs typeface="Aptos Mono" pitchFamily="34" charset="-120"/>
              </a:rPr>
              <a:t>}</a:t>
            </a:r>
            <a:endParaRPr lang="en-US" sz="1050" dirty="0"/>
          </a:p>
        </p:txBody>
      </p:sp>
      <p:sp>
        <p:nvSpPr>
          <p:cNvPr id="84" name="Shape 82"/>
          <p:cNvSpPr/>
          <p:nvPr/>
        </p:nvSpPr>
        <p:spPr>
          <a:xfrm>
            <a:off x="8366760" y="1591056"/>
            <a:ext cx="3310128" cy="4553712"/>
          </a:xfrm>
          <a:prstGeom prst="roundRect">
            <a:avLst>
              <a:gd name="adj" fmla="val 1381"/>
            </a:avLst>
          </a:prstGeom>
          <a:solidFill>
            <a:srgbClr val="122238"/>
          </a:solidFill>
          <a:ln w="12700">
            <a:solidFill>
              <a:srgbClr val="263A55"/>
            </a:solidFill>
            <a:prstDash val="solid"/>
          </a:ln>
        </p:spPr>
      </p:sp>
      <p:sp>
        <p:nvSpPr>
          <p:cNvPr id="85" name="Text 83"/>
          <p:cNvSpPr/>
          <p:nvPr/>
        </p:nvSpPr>
        <p:spPr>
          <a:xfrm>
            <a:off x="8586216" y="1801368"/>
            <a:ext cx="2871216" cy="182880"/>
          </a:xfrm>
          <a:prstGeom prst="rect">
            <a:avLst/>
          </a:prstGeom>
          <a:noFill/>
          <a:ln/>
        </p:spPr>
        <p:txBody>
          <a:bodyPr wrap="square" lIns="0" tIns="0" rIns="0" bIns="0" rtlCol="0" anchor="ctr"/>
          <a:lstStyle/>
          <a:p>
            <a:pPr indent="0" marL="0">
              <a:buNone/>
            </a:pPr>
            <a:r>
              <a:rPr lang="en-US" sz="950" b="1" spc="115" kern="0" dirty="0">
                <a:solidFill>
                  <a:srgbClr val="F5C96A"/>
                </a:solidFill>
                <a:latin typeface="Aptos" pitchFamily="34" charset="0"/>
                <a:ea typeface="Aptos" pitchFamily="34" charset="-122"/>
                <a:cs typeface="Aptos" pitchFamily="34" charset="-120"/>
              </a:rPr>
              <a:t>DA OSSERVARE</a:t>
            </a:r>
            <a:endParaRPr lang="en-US" sz="950" dirty="0"/>
          </a:p>
        </p:txBody>
      </p:sp>
      <p:sp>
        <p:nvSpPr>
          <p:cNvPr id="86" name="Shape 84"/>
          <p:cNvSpPr/>
          <p:nvPr/>
        </p:nvSpPr>
        <p:spPr>
          <a:xfrm>
            <a:off x="8586216" y="2267712"/>
            <a:ext cx="91440" cy="91440"/>
          </a:xfrm>
          <a:prstGeom prst="ellipse">
            <a:avLst/>
          </a:prstGeom>
          <a:solidFill>
            <a:srgbClr val="7CD4FF"/>
          </a:solidFill>
          <a:ln w="12700">
            <a:solidFill>
              <a:srgbClr val="7CD4FF"/>
            </a:solidFill>
            <a:prstDash val="solid"/>
          </a:ln>
        </p:spPr>
      </p:sp>
      <p:sp>
        <p:nvSpPr>
          <p:cNvPr id="87" name="Text 85"/>
          <p:cNvSpPr/>
          <p:nvPr/>
        </p:nvSpPr>
        <p:spPr>
          <a:xfrm>
            <a:off x="8778240" y="2212848"/>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Input immediato, query debounced.</a:t>
            </a:r>
            <a:endParaRPr lang="en-US" sz="1420" dirty="0"/>
          </a:p>
        </p:txBody>
      </p:sp>
      <p:sp>
        <p:nvSpPr>
          <p:cNvPr id="88" name="Shape 86"/>
          <p:cNvSpPr/>
          <p:nvPr/>
        </p:nvSpPr>
        <p:spPr>
          <a:xfrm>
            <a:off x="8586216" y="2980944"/>
            <a:ext cx="91440" cy="91440"/>
          </a:xfrm>
          <a:prstGeom prst="ellipse">
            <a:avLst/>
          </a:prstGeom>
          <a:solidFill>
            <a:srgbClr val="7CD4FF"/>
          </a:solidFill>
          <a:ln w="12700">
            <a:solidFill>
              <a:srgbClr val="7CD4FF"/>
            </a:solidFill>
            <a:prstDash val="solid"/>
          </a:ln>
        </p:spPr>
      </p:sp>
      <p:sp>
        <p:nvSpPr>
          <p:cNvPr id="89" name="Text 87"/>
          <p:cNvSpPr/>
          <p:nvPr/>
        </p:nvSpPr>
        <p:spPr>
          <a:xfrm>
            <a:off x="8778240" y="2926080"/>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Una richiesta attiva per volta.</a:t>
            </a:r>
            <a:endParaRPr lang="en-US" sz="1420" dirty="0"/>
          </a:p>
        </p:txBody>
      </p:sp>
      <p:sp>
        <p:nvSpPr>
          <p:cNvPr id="90" name="Shape 88"/>
          <p:cNvSpPr/>
          <p:nvPr/>
        </p:nvSpPr>
        <p:spPr>
          <a:xfrm>
            <a:off x="8586216" y="3694176"/>
            <a:ext cx="91440" cy="91440"/>
          </a:xfrm>
          <a:prstGeom prst="ellipse">
            <a:avLst/>
          </a:prstGeom>
          <a:solidFill>
            <a:srgbClr val="7CD4FF"/>
          </a:solidFill>
          <a:ln w="12700">
            <a:solidFill>
              <a:srgbClr val="7CD4FF"/>
            </a:solidFill>
            <a:prstDash val="solid"/>
          </a:ln>
        </p:spPr>
      </p:sp>
      <p:sp>
        <p:nvSpPr>
          <p:cNvPr id="91" name="Text 89"/>
          <p:cNvSpPr/>
          <p:nvPr/>
        </p:nvSpPr>
        <p:spPr>
          <a:xfrm>
            <a:off x="8778240" y="3639312"/>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Stati asincroni modellati in un unico oggetto.</a:t>
            </a:r>
            <a:endParaRPr lang="en-US" sz="142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69</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PRESENTATIONAL INPUT</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SearchField possiede soltanto l’input immediato</a:t>
            </a:r>
            <a:endParaRPr lang="en-US" sz="2700" dirty="0"/>
          </a:p>
        </p:txBody>
      </p:sp>
      <p:sp>
        <p:nvSpPr>
          <p:cNvPr id="29" name="Shape 27"/>
          <p:cNvSpPr/>
          <p:nvPr/>
        </p:nvSpPr>
        <p:spPr>
          <a:xfrm>
            <a:off x="530352" y="1591056"/>
            <a:ext cx="7589520" cy="4553712"/>
          </a:xfrm>
          <a:prstGeom prst="roundRect">
            <a:avLst>
              <a:gd name="adj" fmla="val 1004"/>
            </a:avLst>
          </a:prstGeom>
          <a:solidFill>
            <a:srgbClr val="0D1A2B"/>
          </a:solidFill>
          <a:ln w="13970">
            <a:solidFill>
              <a:srgbClr val="263A55"/>
            </a:solidFill>
            <a:prstDash val="solid"/>
          </a:ln>
        </p:spPr>
      </p:sp>
      <p:sp>
        <p:nvSpPr>
          <p:cNvPr id="30" name="Shape 28"/>
          <p:cNvSpPr/>
          <p:nvPr/>
        </p:nvSpPr>
        <p:spPr>
          <a:xfrm>
            <a:off x="530352" y="1591056"/>
            <a:ext cx="7589520" cy="347472"/>
          </a:xfrm>
          <a:prstGeom prst="rect">
            <a:avLst/>
          </a:prstGeom>
          <a:solidFill>
            <a:srgbClr val="122238"/>
          </a:solidFill>
          <a:ln w="12700">
            <a:solidFill>
              <a:srgbClr val="122238"/>
            </a:solidFill>
            <a:prstDash val="solid"/>
          </a:ln>
        </p:spPr>
      </p:sp>
      <p:sp>
        <p:nvSpPr>
          <p:cNvPr id="31" name="Shape 29"/>
          <p:cNvSpPr/>
          <p:nvPr/>
        </p:nvSpPr>
        <p:spPr>
          <a:xfrm>
            <a:off x="694944" y="1632204"/>
            <a:ext cx="658368" cy="274320"/>
          </a:xfrm>
          <a:prstGeom prst="roundRect">
            <a:avLst>
              <a:gd name="adj" fmla="val 20000"/>
            </a:avLst>
          </a:prstGeom>
          <a:solidFill>
            <a:srgbClr val="7CD4FF">
              <a:alpha val="20000"/>
            </a:srgbClr>
          </a:solidFill>
          <a:ln w="10160">
            <a:solidFill>
              <a:srgbClr val="7CD4FF">
                <a:alpha val="55000"/>
              </a:srgbClr>
            </a:solidFill>
            <a:prstDash val="solid"/>
          </a:ln>
        </p:spPr>
      </p:sp>
      <p:sp>
        <p:nvSpPr>
          <p:cNvPr id="32" name="Text 30"/>
          <p:cNvSpPr/>
          <p:nvPr/>
        </p:nvSpPr>
        <p:spPr>
          <a:xfrm>
            <a:off x="786384" y="1691640"/>
            <a:ext cx="475488" cy="128016"/>
          </a:xfrm>
          <a:prstGeom prst="rect">
            <a:avLst/>
          </a:prstGeom>
          <a:noFill/>
          <a:ln/>
        </p:spPr>
        <p:txBody>
          <a:bodyPr wrap="square" lIns="0" tIns="0" rIns="0" bIns="0" rtlCol="0" anchor="ctr"/>
          <a:lstStyle/>
          <a:p>
            <a:pPr algn="ctr" indent="0" marL="0">
              <a:buNone/>
            </a:pPr>
            <a:r>
              <a:rPr lang="en-US" sz="820" b="1" dirty="0">
                <a:solidFill>
                  <a:srgbClr val="7CD4FF"/>
                </a:solidFill>
                <a:latin typeface="Aptos Mono" pitchFamily="34" charset="0"/>
                <a:ea typeface="Aptos Mono" pitchFamily="34" charset="-122"/>
                <a:cs typeface="Aptos Mono" pitchFamily="34" charset="-120"/>
              </a:rPr>
              <a:t>TSX</a:t>
            </a:r>
            <a:endParaRPr lang="en-US" sz="820" dirty="0"/>
          </a:p>
        </p:txBody>
      </p:sp>
      <p:sp>
        <p:nvSpPr>
          <p:cNvPr id="33" name="Text 31"/>
          <p:cNvSpPr/>
          <p:nvPr/>
        </p:nvSpPr>
        <p:spPr>
          <a:xfrm>
            <a:off x="1490472" y="1687068"/>
            <a:ext cx="635508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SearchField.tsx</a:t>
            </a:r>
            <a:endParaRPr lang="en-US" sz="880" dirty="0"/>
          </a:p>
        </p:txBody>
      </p:sp>
      <p:sp>
        <p:nvSpPr>
          <p:cNvPr id="34" name="Text 32"/>
          <p:cNvSpPr/>
          <p:nvPr/>
        </p:nvSpPr>
        <p:spPr>
          <a:xfrm>
            <a:off x="640080" y="2052828"/>
            <a:ext cx="320040" cy="202082"/>
          </a:xfrm>
          <a:prstGeom prst="rect">
            <a:avLst/>
          </a:prstGeom>
          <a:noFill/>
          <a:ln/>
        </p:spPr>
        <p:txBody>
          <a:bodyPr wrap="square" lIns="0" tIns="0" rIns="0" bIns="0" rtlCol="0" anchor="ctr"/>
          <a:lstStyle/>
          <a:p>
            <a:pPr algn="r" indent="0" marL="0">
              <a:buNone/>
            </a:pPr>
            <a:r>
              <a:rPr lang="en-US" sz="1018" dirty="0">
                <a:solidFill>
                  <a:srgbClr val="8296AE"/>
                </a:solidFill>
                <a:latin typeface="Aptos Mono" pitchFamily="34" charset="0"/>
                <a:ea typeface="Aptos Mono" pitchFamily="34" charset="-122"/>
                <a:cs typeface="Aptos Mono" pitchFamily="34" charset="-120"/>
              </a:rPr>
              <a:t>01</a:t>
            </a:r>
            <a:endParaRPr lang="en-US" sz="1018" dirty="0"/>
          </a:p>
        </p:txBody>
      </p:sp>
      <p:sp>
        <p:nvSpPr>
          <p:cNvPr id="35" name="Text 33"/>
          <p:cNvSpPr/>
          <p:nvPr/>
        </p:nvSpPr>
        <p:spPr>
          <a:xfrm>
            <a:off x="1033272" y="2039112"/>
            <a:ext cx="6931152" cy="202082"/>
          </a:xfrm>
          <a:prstGeom prst="rect">
            <a:avLst/>
          </a:prstGeom>
          <a:noFill/>
          <a:ln/>
        </p:spPr>
        <p:txBody>
          <a:bodyPr wrap="square" lIns="0" tIns="0" rIns="0" bIns="0" rtlCol="0" anchor="ctr">
            <a:normAutofit/>
          </a:bodyPr>
          <a:lstStyle/>
          <a:p>
            <a:pPr indent="0" marL="0">
              <a:buNone/>
            </a:pPr>
            <a:r>
              <a:rPr lang="en-US" sz="1238" dirty="0">
                <a:solidFill>
                  <a:srgbClr val="D9E4F2"/>
                </a:solidFill>
                <a:latin typeface="Aptos Mono" pitchFamily="34" charset="0"/>
                <a:ea typeface="Aptos Mono" pitchFamily="34" charset="-122"/>
                <a:cs typeface="Aptos Mono" pitchFamily="34" charset="-120"/>
              </a:rPr>
              <a:t>type Props = {</a:t>
            </a:r>
            <a:endParaRPr lang="en-US" sz="1238" dirty="0"/>
          </a:p>
        </p:txBody>
      </p:sp>
      <p:sp>
        <p:nvSpPr>
          <p:cNvPr id="36" name="Text 34"/>
          <p:cNvSpPr/>
          <p:nvPr/>
        </p:nvSpPr>
        <p:spPr>
          <a:xfrm>
            <a:off x="640080" y="2254910"/>
            <a:ext cx="320040" cy="202082"/>
          </a:xfrm>
          <a:prstGeom prst="rect">
            <a:avLst/>
          </a:prstGeom>
          <a:noFill/>
          <a:ln/>
        </p:spPr>
        <p:txBody>
          <a:bodyPr wrap="square" lIns="0" tIns="0" rIns="0" bIns="0" rtlCol="0" anchor="ctr"/>
          <a:lstStyle/>
          <a:p>
            <a:pPr algn="r" indent="0" marL="0">
              <a:buNone/>
            </a:pPr>
            <a:r>
              <a:rPr lang="en-US" sz="1018" dirty="0">
                <a:solidFill>
                  <a:srgbClr val="8296AE"/>
                </a:solidFill>
                <a:latin typeface="Aptos Mono" pitchFamily="34" charset="0"/>
                <a:ea typeface="Aptos Mono" pitchFamily="34" charset="-122"/>
                <a:cs typeface="Aptos Mono" pitchFamily="34" charset="-120"/>
              </a:rPr>
              <a:t>02</a:t>
            </a:r>
            <a:endParaRPr lang="en-US" sz="1018" dirty="0"/>
          </a:p>
        </p:txBody>
      </p:sp>
      <p:sp>
        <p:nvSpPr>
          <p:cNvPr id="37" name="Text 35"/>
          <p:cNvSpPr/>
          <p:nvPr/>
        </p:nvSpPr>
        <p:spPr>
          <a:xfrm>
            <a:off x="1033272" y="2241194"/>
            <a:ext cx="6931152" cy="202082"/>
          </a:xfrm>
          <a:prstGeom prst="rect">
            <a:avLst/>
          </a:prstGeom>
          <a:noFill/>
          <a:ln/>
        </p:spPr>
        <p:txBody>
          <a:bodyPr wrap="square" lIns="0" tIns="0" rIns="0" bIns="0" rtlCol="0" anchor="ctr">
            <a:normAutofit/>
          </a:bodyPr>
          <a:lstStyle/>
          <a:p>
            <a:pPr indent="0" marL="0">
              <a:buNone/>
            </a:pPr>
            <a:r>
              <a:rPr lang="en-US" sz="1238" dirty="0">
                <a:solidFill>
                  <a:srgbClr val="D9E4F2"/>
                </a:solidFill>
                <a:latin typeface="Aptos Mono" pitchFamily="34" charset="0"/>
                <a:ea typeface="Aptos Mono" pitchFamily="34" charset="-122"/>
                <a:cs typeface="Aptos Mono" pitchFamily="34" charset="-120"/>
              </a:rPr>
              <a:t>  value: string;</a:t>
            </a:r>
            <a:endParaRPr lang="en-US" sz="1238" dirty="0"/>
          </a:p>
        </p:txBody>
      </p:sp>
      <p:sp>
        <p:nvSpPr>
          <p:cNvPr id="38" name="Text 36"/>
          <p:cNvSpPr/>
          <p:nvPr/>
        </p:nvSpPr>
        <p:spPr>
          <a:xfrm>
            <a:off x="640080" y="2456993"/>
            <a:ext cx="320040" cy="202082"/>
          </a:xfrm>
          <a:prstGeom prst="rect">
            <a:avLst/>
          </a:prstGeom>
          <a:noFill/>
          <a:ln/>
        </p:spPr>
        <p:txBody>
          <a:bodyPr wrap="square" lIns="0" tIns="0" rIns="0" bIns="0" rtlCol="0" anchor="ctr"/>
          <a:lstStyle/>
          <a:p>
            <a:pPr algn="r" indent="0" marL="0">
              <a:buNone/>
            </a:pPr>
            <a:r>
              <a:rPr lang="en-US" sz="1018" dirty="0">
                <a:solidFill>
                  <a:srgbClr val="8296AE"/>
                </a:solidFill>
                <a:latin typeface="Aptos Mono" pitchFamily="34" charset="0"/>
                <a:ea typeface="Aptos Mono" pitchFamily="34" charset="-122"/>
                <a:cs typeface="Aptos Mono" pitchFamily="34" charset="-120"/>
              </a:rPr>
              <a:t>03</a:t>
            </a:r>
            <a:endParaRPr lang="en-US" sz="1018" dirty="0"/>
          </a:p>
        </p:txBody>
      </p:sp>
      <p:sp>
        <p:nvSpPr>
          <p:cNvPr id="39" name="Text 37"/>
          <p:cNvSpPr/>
          <p:nvPr/>
        </p:nvSpPr>
        <p:spPr>
          <a:xfrm>
            <a:off x="1033272" y="2443277"/>
            <a:ext cx="6931152" cy="202082"/>
          </a:xfrm>
          <a:prstGeom prst="rect">
            <a:avLst/>
          </a:prstGeom>
          <a:noFill/>
          <a:ln/>
        </p:spPr>
        <p:txBody>
          <a:bodyPr wrap="square" lIns="0" tIns="0" rIns="0" bIns="0" rtlCol="0" anchor="ctr">
            <a:normAutofit/>
          </a:bodyPr>
          <a:lstStyle/>
          <a:p>
            <a:pPr indent="0" marL="0">
              <a:buNone/>
            </a:pPr>
            <a:r>
              <a:rPr lang="en-US" sz="1238" dirty="0">
                <a:solidFill>
                  <a:srgbClr val="D9E4F2"/>
                </a:solidFill>
                <a:latin typeface="Aptos Mono" pitchFamily="34" charset="0"/>
                <a:ea typeface="Aptos Mono" pitchFamily="34" charset="-122"/>
                <a:cs typeface="Aptos Mono" pitchFamily="34" charset="-120"/>
              </a:rPr>
              <a:t>  onChange: (value: string) =&gt; void;</a:t>
            </a:r>
            <a:endParaRPr lang="en-US" sz="1238" dirty="0"/>
          </a:p>
        </p:txBody>
      </p:sp>
      <p:sp>
        <p:nvSpPr>
          <p:cNvPr id="40" name="Text 38"/>
          <p:cNvSpPr/>
          <p:nvPr/>
        </p:nvSpPr>
        <p:spPr>
          <a:xfrm>
            <a:off x="640080" y="2659075"/>
            <a:ext cx="320040" cy="202082"/>
          </a:xfrm>
          <a:prstGeom prst="rect">
            <a:avLst/>
          </a:prstGeom>
          <a:noFill/>
          <a:ln/>
        </p:spPr>
        <p:txBody>
          <a:bodyPr wrap="square" lIns="0" tIns="0" rIns="0" bIns="0" rtlCol="0" anchor="ctr"/>
          <a:lstStyle/>
          <a:p>
            <a:pPr algn="r" indent="0" marL="0">
              <a:buNone/>
            </a:pPr>
            <a:r>
              <a:rPr lang="en-US" sz="1018" dirty="0">
                <a:solidFill>
                  <a:srgbClr val="8296AE"/>
                </a:solidFill>
                <a:latin typeface="Aptos Mono" pitchFamily="34" charset="0"/>
                <a:ea typeface="Aptos Mono" pitchFamily="34" charset="-122"/>
                <a:cs typeface="Aptos Mono" pitchFamily="34" charset="-120"/>
              </a:rPr>
              <a:t>04</a:t>
            </a:r>
            <a:endParaRPr lang="en-US" sz="1018" dirty="0"/>
          </a:p>
        </p:txBody>
      </p:sp>
      <p:sp>
        <p:nvSpPr>
          <p:cNvPr id="41" name="Text 39"/>
          <p:cNvSpPr/>
          <p:nvPr/>
        </p:nvSpPr>
        <p:spPr>
          <a:xfrm>
            <a:off x="1033272" y="2645359"/>
            <a:ext cx="6931152" cy="202082"/>
          </a:xfrm>
          <a:prstGeom prst="rect">
            <a:avLst/>
          </a:prstGeom>
          <a:noFill/>
          <a:ln/>
        </p:spPr>
        <p:txBody>
          <a:bodyPr wrap="square" lIns="0" tIns="0" rIns="0" bIns="0" rtlCol="0" anchor="ctr">
            <a:normAutofit/>
          </a:bodyPr>
          <a:lstStyle/>
          <a:p>
            <a:pPr indent="0" marL="0">
              <a:buNone/>
            </a:pPr>
            <a:r>
              <a:rPr lang="en-US" sz="1238" dirty="0">
                <a:solidFill>
                  <a:srgbClr val="D9E4F2"/>
                </a:solidFill>
                <a:latin typeface="Aptos Mono" pitchFamily="34" charset="0"/>
                <a:ea typeface="Aptos Mono" pitchFamily="34" charset="-122"/>
                <a:cs typeface="Aptos Mono" pitchFamily="34" charset="-120"/>
              </a:rPr>
              <a:t>};</a:t>
            </a:r>
            <a:endParaRPr lang="en-US" sz="1238" dirty="0"/>
          </a:p>
        </p:txBody>
      </p:sp>
      <p:sp>
        <p:nvSpPr>
          <p:cNvPr id="42" name="Text 40"/>
          <p:cNvSpPr/>
          <p:nvPr/>
        </p:nvSpPr>
        <p:spPr>
          <a:xfrm>
            <a:off x="640080" y="2861158"/>
            <a:ext cx="320040" cy="202082"/>
          </a:xfrm>
          <a:prstGeom prst="rect">
            <a:avLst/>
          </a:prstGeom>
          <a:noFill/>
          <a:ln/>
        </p:spPr>
        <p:txBody>
          <a:bodyPr wrap="square" lIns="0" tIns="0" rIns="0" bIns="0" rtlCol="0" anchor="ctr"/>
          <a:lstStyle/>
          <a:p>
            <a:pPr algn="r" indent="0" marL="0">
              <a:buNone/>
            </a:pPr>
            <a:r>
              <a:rPr lang="en-US" sz="1018" dirty="0">
                <a:solidFill>
                  <a:srgbClr val="8296AE"/>
                </a:solidFill>
                <a:latin typeface="Aptos Mono" pitchFamily="34" charset="0"/>
                <a:ea typeface="Aptos Mono" pitchFamily="34" charset="-122"/>
                <a:cs typeface="Aptos Mono" pitchFamily="34" charset="-120"/>
              </a:rPr>
              <a:t>05</a:t>
            </a:r>
            <a:endParaRPr lang="en-US" sz="1018" dirty="0"/>
          </a:p>
        </p:txBody>
      </p:sp>
      <p:sp>
        <p:nvSpPr>
          <p:cNvPr id="43" name="Text 41"/>
          <p:cNvSpPr/>
          <p:nvPr/>
        </p:nvSpPr>
        <p:spPr>
          <a:xfrm>
            <a:off x="1033272" y="2847442"/>
            <a:ext cx="6931152" cy="202082"/>
          </a:xfrm>
          <a:prstGeom prst="rect">
            <a:avLst/>
          </a:prstGeom>
          <a:noFill/>
          <a:ln/>
        </p:spPr>
        <p:txBody>
          <a:bodyPr wrap="square" lIns="0" tIns="0" rIns="0" bIns="0" rtlCol="0" anchor="ctr">
            <a:normAutofit/>
          </a:bodyPr>
          <a:lstStyle/>
          <a:p>
            <a:pPr indent="0" marL="0">
              <a:buNone/>
            </a:pPr>
            <a:r>
              <a:rPr lang="en-US" sz="1238" dirty="0">
                <a:solidFill>
                  <a:srgbClr val="D9E4F2"/>
                </a:solidFill>
                <a:latin typeface="Aptos Mono" pitchFamily="34" charset="0"/>
                <a:ea typeface="Aptos Mono" pitchFamily="34" charset="-122"/>
                <a:cs typeface="Aptos Mono" pitchFamily="34" charset="-120"/>
              </a:rPr>
              <a:t> </a:t>
            </a:r>
            <a:endParaRPr lang="en-US" sz="1238" dirty="0"/>
          </a:p>
        </p:txBody>
      </p:sp>
      <p:sp>
        <p:nvSpPr>
          <p:cNvPr id="44" name="Text 42"/>
          <p:cNvSpPr/>
          <p:nvPr/>
        </p:nvSpPr>
        <p:spPr>
          <a:xfrm>
            <a:off x="640080" y="3063240"/>
            <a:ext cx="320040" cy="202082"/>
          </a:xfrm>
          <a:prstGeom prst="rect">
            <a:avLst/>
          </a:prstGeom>
          <a:noFill/>
          <a:ln/>
        </p:spPr>
        <p:txBody>
          <a:bodyPr wrap="square" lIns="0" tIns="0" rIns="0" bIns="0" rtlCol="0" anchor="ctr"/>
          <a:lstStyle/>
          <a:p>
            <a:pPr algn="r" indent="0" marL="0">
              <a:buNone/>
            </a:pPr>
            <a:r>
              <a:rPr lang="en-US" sz="1018" dirty="0">
                <a:solidFill>
                  <a:srgbClr val="8296AE"/>
                </a:solidFill>
                <a:latin typeface="Aptos Mono" pitchFamily="34" charset="0"/>
                <a:ea typeface="Aptos Mono" pitchFamily="34" charset="-122"/>
                <a:cs typeface="Aptos Mono" pitchFamily="34" charset="-120"/>
              </a:rPr>
              <a:t>06</a:t>
            </a:r>
            <a:endParaRPr lang="en-US" sz="1018" dirty="0"/>
          </a:p>
        </p:txBody>
      </p:sp>
      <p:sp>
        <p:nvSpPr>
          <p:cNvPr id="45" name="Text 43"/>
          <p:cNvSpPr/>
          <p:nvPr/>
        </p:nvSpPr>
        <p:spPr>
          <a:xfrm>
            <a:off x="1033272" y="3049524"/>
            <a:ext cx="6931152" cy="202082"/>
          </a:xfrm>
          <a:prstGeom prst="rect">
            <a:avLst/>
          </a:prstGeom>
          <a:noFill/>
          <a:ln/>
        </p:spPr>
        <p:txBody>
          <a:bodyPr wrap="square" lIns="0" tIns="0" rIns="0" bIns="0" rtlCol="0" anchor="ctr">
            <a:normAutofit/>
          </a:bodyPr>
          <a:lstStyle/>
          <a:p>
            <a:pPr indent="0" marL="0">
              <a:buNone/>
            </a:pPr>
            <a:r>
              <a:rPr lang="en-US" sz="1238" dirty="0">
                <a:solidFill>
                  <a:srgbClr val="D9E4F2"/>
                </a:solidFill>
                <a:latin typeface="Aptos Mono" pitchFamily="34" charset="0"/>
                <a:ea typeface="Aptos Mono" pitchFamily="34" charset="-122"/>
                <a:cs typeface="Aptos Mono" pitchFamily="34" charset="-120"/>
              </a:rPr>
              <a:t>export function SearchField({ value, onChange }: Props) {</a:t>
            </a:r>
            <a:endParaRPr lang="en-US" sz="1238" dirty="0"/>
          </a:p>
        </p:txBody>
      </p:sp>
      <p:sp>
        <p:nvSpPr>
          <p:cNvPr id="46" name="Text 44"/>
          <p:cNvSpPr/>
          <p:nvPr/>
        </p:nvSpPr>
        <p:spPr>
          <a:xfrm>
            <a:off x="640080" y="3265322"/>
            <a:ext cx="320040" cy="202082"/>
          </a:xfrm>
          <a:prstGeom prst="rect">
            <a:avLst/>
          </a:prstGeom>
          <a:noFill/>
          <a:ln/>
        </p:spPr>
        <p:txBody>
          <a:bodyPr wrap="square" lIns="0" tIns="0" rIns="0" bIns="0" rtlCol="0" anchor="ctr"/>
          <a:lstStyle/>
          <a:p>
            <a:pPr algn="r" indent="0" marL="0">
              <a:buNone/>
            </a:pPr>
            <a:r>
              <a:rPr lang="en-US" sz="1018" dirty="0">
                <a:solidFill>
                  <a:srgbClr val="8296AE"/>
                </a:solidFill>
                <a:latin typeface="Aptos Mono" pitchFamily="34" charset="0"/>
                <a:ea typeface="Aptos Mono" pitchFamily="34" charset="-122"/>
                <a:cs typeface="Aptos Mono" pitchFamily="34" charset="-120"/>
              </a:rPr>
              <a:t>07</a:t>
            </a:r>
            <a:endParaRPr lang="en-US" sz="1018" dirty="0"/>
          </a:p>
        </p:txBody>
      </p:sp>
      <p:sp>
        <p:nvSpPr>
          <p:cNvPr id="47" name="Text 45"/>
          <p:cNvSpPr/>
          <p:nvPr/>
        </p:nvSpPr>
        <p:spPr>
          <a:xfrm>
            <a:off x="1033272" y="3251606"/>
            <a:ext cx="6931152" cy="202082"/>
          </a:xfrm>
          <a:prstGeom prst="rect">
            <a:avLst/>
          </a:prstGeom>
          <a:noFill/>
          <a:ln/>
        </p:spPr>
        <p:txBody>
          <a:bodyPr wrap="square" lIns="0" tIns="0" rIns="0" bIns="0" rtlCol="0" anchor="ctr">
            <a:normAutofit/>
          </a:bodyPr>
          <a:lstStyle/>
          <a:p>
            <a:pPr indent="0" marL="0">
              <a:buNone/>
            </a:pPr>
            <a:r>
              <a:rPr lang="en-US" sz="1238" dirty="0">
                <a:solidFill>
                  <a:srgbClr val="D9E4F2"/>
                </a:solidFill>
                <a:latin typeface="Aptos Mono" pitchFamily="34" charset="0"/>
                <a:ea typeface="Aptos Mono" pitchFamily="34" charset="-122"/>
                <a:cs typeface="Aptos Mono" pitchFamily="34" charset="-120"/>
              </a:rPr>
              <a:t>  return (</a:t>
            </a:r>
            <a:endParaRPr lang="en-US" sz="1238" dirty="0"/>
          </a:p>
        </p:txBody>
      </p:sp>
      <p:sp>
        <p:nvSpPr>
          <p:cNvPr id="48" name="Text 46"/>
          <p:cNvSpPr/>
          <p:nvPr/>
        </p:nvSpPr>
        <p:spPr>
          <a:xfrm>
            <a:off x="640080" y="3467405"/>
            <a:ext cx="320040" cy="202082"/>
          </a:xfrm>
          <a:prstGeom prst="rect">
            <a:avLst/>
          </a:prstGeom>
          <a:noFill/>
          <a:ln/>
        </p:spPr>
        <p:txBody>
          <a:bodyPr wrap="square" lIns="0" tIns="0" rIns="0" bIns="0" rtlCol="0" anchor="ctr"/>
          <a:lstStyle/>
          <a:p>
            <a:pPr algn="r" indent="0" marL="0">
              <a:buNone/>
            </a:pPr>
            <a:r>
              <a:rPr lang="en-US" sz="1018" dirty="0">
                <a:solidFill>
                  <a:srgbClr val="8296AE"/>
                </a:solidFill>
                <a:latin typeface="Aptos Mono" pitchFamily="34" charset="0"/>
                <a:ea typeface="Aptos Mono" pitchFamily="34" charset="-122"/>
                <a:cs typeface="Aptos Mono" pitchFamily="34" charset="-120"/>
              </a:rPr>
              <a:t>08</a:t>
            </a:r>
            <a:endParaRPr lang="en-US" sz="1018" dirty="0"/>
          </a:p>
        </p:txBody>
      </p:sp>
      <p:sp>
        <p:nvSpPr>
          <p:cNvPr id="49" name="Text 47"/>
          <p:cNvSpPr/>
          <p:nvPr/>
        </p:nvSpPr>
        <p:spPr>
          <a:xfrm>
            <a:off x="1033272" y="3453689"/>
            <a:ext cx="6931152" cy="202082"/>
          </a:xfrm>
          <a:prstGeom prst="rect">
            <a:avLst/>
          </a:prstGeom>
          <a:noFill/>
          <a:ln/>
        </p:spPr>
        <p:txBody>
          <a:bodyPr wrap="square" lIns="0" tIns="0" rIns="0" bIns="0" rtlCol="0" anchor="ctr">
            <a:normAutofit/>
          </a:bodyPr>
          <a:lstStyle/>
          <a:p>
            <a:pPr indent="0" marL="0">
              <a:buNone/>
            </a:pPr>
            <a:r>
              <a:rPr lang="en-US" sz="1238" dirty="0">
                <a:solidFill>
                  <a:srgbClr val="D9E4F2"/>
                </a:solidFill>
                <a:latin typeface="Aptos Mono" pitchFamily="34" charset="0"/>
                <a:ea typeface="Aptos Mono" pitchFamily="34" charset="-122"/>
                <a:cs typeface="Aptos Mono" pitchFamily="34" charset="-120"/>
              </a:rPr>
              <a:t>    &lt;label className='search-field'&gt;</a:t>
            </a:r>
            <a:endParaRPr lang="en-US" sz="1238" dirty="0"/>
          </a:p>
        </p:txBody>
      </p:sp>
      <p:sp>
        <p:nvSpPr>
          <p:cNvPr id="50" name="Text 48"/>
          <p:cNvSpPr/>
          <p:nvPr/>
        </p:nvSpPr>
        <p:spPr>
          <a:xfrm>
            <a:off x="640080" y="3669487"/>
            <a:ext cx="320040" cy="202082"/>
          </a:xfrm>
          <a:prstGeom prst="rect">
            <a:avLst/>
          </a:prstGeom>
          <a:noFill/>
          <a:ln/>
        </p:spPr>
        <p:txBody>
          <a:bodyPr wrap="square" lIns="0" tIns="0" rIns="0" bIns="0" rtlCol="0" anchor="ctr"/>
          <a:lstStyle/>
          <a:p>
            <a:pPr algn="r" indent="0" marL="0">
              <a:buNone/>
            </a:pPr>
            <a:r>
              <a:rPr lang="en-US" sz="1018" dirty="0">
                <a:solidFill>
                  <a:srgbClr val="8296AE"/>
                </a:solidFill>
                <a:latin typeface="Aptos Mono" pitchFamily="34" charset="0"/>
                <a:ea typeface="Aptos Mono" pitchFamily="34" charset="-122"/>
                <a:cs typeface="Aptos Mono" pitchFamily="34" charset="-120"/>
              </a:rPr>
              <a:t>09</a:t>
            </a:r>
            <a:endParaRPr lang="en-US" sz="1018" dirty="0"/>
          </a:p>
        </p:txBody>
      </p:sp>
      <p:sp>
        <p:nvSpPr>
          <p:cNvPr id="51" name="Text 49"/>
          <p:cNvSpPr/>
          <p:nvPr/>
        </p:nvSpPr>
        <p:spPr>
          <a:xfrm>
            <a:off x="1033272" y="3655771"/>
            <a:ext cx="6931152" cy="202082"/>
          </a:xfrm>
          <a:prstGeom prst="rect">
            <a:avLst/>
          </a:prstGeom>
          <a:noFill/>
          <a:ln/>
        </p:spPr>
        <p:txBody>
          <a:bodyPr wrap="square" lIns="0" tIns="0" rIns="0" bIns="0" rtlCol="0" anchor="ctr">
            <a:normAutofit/>
          </a:bodyPr>
          <a:lstStyle/>
          <a:p>
            <a:pPr indent="0" marL="0">
              <a:buNone/>
            </a:pPr>
            <a:r>
              <a:rPr lang="en-US" sz="1238" dirty="0">
                <a:solidFill>
                  <a:srgbClr val="D9E4F2"/>
                </a:solidFill>
                <a:latin typeface="Aptos Mono" pitchFamily="34" charset="0"/>
                <a:ea typeface="Aptos Mono" pitchFamily="34" charset="-122"/>
                <a:cs typeface="Aptos Mono" pitchFamily="34" charset="-120"/>
              </a:rPr>
              <a:t>      &lt;span&gt;Cerca ticket&lt;/span&gt;</a:t>
            </a:r>
            <a:endParaRPr lang="en-US" sz="1238" dirty="0"/>
          </a:p>
        </p:txBody>
      </p:sp>
      <p:sp>
        <p:nvSpPr>
          <p:cNvPr id="52" name="Text 50"/>
          <p:cNvSpPr/>
          <p:nvPr/>
        </p:nvSpPr>
        <p:spPr>
          <a:xfrm>
            <a:off x="640080" y="3871570"/>
            <a:ext cx="320040" cy="202082"/>
          </a:xfrm>
          <a:prstGeom prst="rect">
            <a:avLst/>
          </a:prstGeom>
          <a:noFill/>
          <a:ln/>
        </p:spPr>
        <p:txBody>
          <a:bodyPr wrap="square" lIns="0" tIns="0" rIns="0" bIns="0" rtlCol="0" anchor="ctr"/>
          <a:lstStyle/>
          <a:p>
            <a:pPr algn="r" indent="0" marL="0">
              <a:buNone/>
            </a:pPr>
            <a:r>
              <a:rPr lang="en-US" sz="1018" dirty="0">
                <a:solidFill>
                  <a:srgbClr val="8296AE"/>
                </a:solidFill>
                <a:latin typeface="Aptos Mono" pitchFamily="34" charset="0"/>
                <a:ea typeface="Aptos Mono" pitchFamily="34" charset="-122"/>
                <a:cs typeface="Aptos Mono" pitchFamily="34" charset="-120"/>
              </a:rPr>
              <a:t>10</a:t>
            </a:r>
            <a:endParaRPr lang="en-US" sz="1018" dirty="0"/>
          </a:p>
        </p:txBody>
      </p:sp>
      <p:sp>
        <p:nvSpPr>
          <p:cNvPr id="53" name="Text 51"/>
          <p:cNvSpPr/>
          <p:nvPr/>
        </p:nvSpPr>
        <p:spPr>
          <a:xfrm>
            <a:off x="1033272" y="3857854"/>
            <a:ext cx="6931152" cy="202082"/>
          </a:xfrm>
          <a:prstGeom prst="rect">
            <a:avLst/>
          </a:prstGeom>
          <a:noFill/>
          <a:ln/>
        </p:spPr>
        <p:txBody>
          <a:bodyPr wrap="square" lIns="0" tIns="0" rIns="0" bIns="0" rtlCol="0" anchor="ctr">
            <a:normAutofit/>
          </a:bodyPr>
          <a:lstStyle/>
          <a:p>
            <a:pPr indent="0" marL="0">
              <a:buNone/>
            </a:pPr>
            <a:r>
              <a:rPr lang="en-US" sz="1238" dirty="0">
                <a:solidFill>
                  <a:srgbClr val="D9E4F2"/>
                </a:solidFill>
                <a:latin typeface="Aptos Mono" pitchFamily="34" charset="0"/>
                <a:ea typeface="Aptos Mono" pitchFamily="34" charset="-122"/>
                <a:cs typeface="Aptos Mono" pitchFamily="34" charset="-120"/>
              </a:rPr>
              <a:t>      &lt;input</a:t>
            </a:r>
            <a:endParaRPr lang="en-US" sz="1238" dirty="0"/>
          </a:p>
        </p:txBody>
      </p:sp>
      <p:sp>
        <p:nvSpPr>
          <p:cNvPr id="54" name="Text 52"/>
          <p:cNvSpPr/>
          <p:nvPr/>
        </p:nvSpPr>
        <p:spPr>
          <a:xfrm>
            <a:off x="640080" y="4073652"/>
            <a:ext cx="320040" cy="202082"/>
          </a:xfrm>
          <a:prstGeom prst="rect">
            <a:avLst/>
          </a:prstGeom>
          <a:noFill/>
          <a:ln/>
        </p:spPr>
        <p:txBody>
          <a:bodyPr wrap="square" lIns="0" tIns="0" rIns="0" bIns="0" rtlCol="0" anchor="ctr"/>
          <a:lstStyle/>
          <a:p>
            <a:pPr algn="r" indent="0" marL="0">
              <a:buNone/>
            </a:pPr>
            <a:r>
              <a:rPr lang="en-US" sz="1018" dirty="0">
                <a:solidFill>
                  <a:srgbClr val="8296AE"/>
                </a:solidFill>
                <a:latin typeface="Aptos Mono" pitchFamily="34" charset="0"/>
                <a:ea typeface="Aptos Mono" pitchFamily="34" charset="-122"/>
                <a:cs typeface="Aptos Mono" pitchFamily="34" charset="-120"/>
              </a:rPr>
              <a:t>11</a:t>
            </a:r>
            <a:endParaRPr lang="en-US" sz="1018" dirty="0"/>
          </a:p>
        </p:txBody>
      </p:sp>
      <p:sp>
        <p:nvSpPr>
          <p:cNvPr id="55" name="Text 53"/>
          <p:cNvSpPr/>
          <p:nvPr/>
        </p:nvSpPr>
        <p:spPr>
          <a:xfrm>
            <a:off x="1033272" y="4059936"/>
            <a:ext cx="6931152" cy="202082"/>
          </a:xfrm>
          <a:prstGeom prst="rect">
            <a:avLst/>
          </a:prstGeom>
          <a:noFill/>
          <a:ln/>
        </p:spPr>
        <p:txBody>
          <a:bodyPr wrap="square" lIns="0" tIns="0" rIns="0" bIns="0" rtlCol="0" anchor="ctr">
            <a:normAutofit/>
          </a:bodyPr>
          <a:lstStyle/>
          <a:p>
            <a:pPr indent="0" marL="0">
              <a:buNone/>
            </a:pPr>
            <a:r>
              <a:rPr lang="en-US" sz="1238" dirty="0">
                <a:solidFill>
                  <a:srgbClr val="D9E4F2"/>
                </a:solidFill>
                <a:latin typeface="Aptos Mono" pitchFamily="34" charset="0"/>
                <a:ea typeface="Aptos Mono" pitchFamily="34" charset="-122"/>
                <a:cs typeface="Aptos Mono" pitchFamily="34" charset="-120"/>
              </a:rPr>
              <a:t>        type='search'</a:t>
            </a:r>
            <a:endParaRPr lang="en-US" sz="1238" dirty="0"/>
          </a:p>
        </p:txBody>
      </p:sp>
      <p:sp>
        <p:nvSpPr>
          <p:cNvPr id="56" name="Text 54"/>
          <p:cNvSpPr/>
          <p:nvPr/>
        </p:nvSpPr>
        <p:spPr>
          <a:xfrm>
            <a:off x="640080" y="4275734"/>
            <a:ext cx="320040" cy="202082"/>
          </a:xfrm>
          <a:prstGeom prst="rect">
            <a:avLst/>
          </a:prstGeom>
          <a:noFill/>
          <a:ln/>
        </p:spPr>
        <p:txBody>
          <a:bodyPr wrap="square" lIns="0" tIns="0" rIns="0" bIns="0" rtlCol="0" anchor="ctr"/>
          <a:lstStyle/>
          <a:p>
            <a:pPr algn="r" indent="0" marL="0">
              <a:buNone/>
            </a:pPr>
            <a:r>
              <a:rPr lang="en-US" sz="1018" dirty="0">
                <a:solidFill>
                  <a:srgbClr val="8296AE"/>
                </a:solidFill>
                <a:latin typeface="Aptos Mono" pitchFamily="34" charset="0"/>
                <a:ea typeface="Aptos Mono" pitchFamily="34" charset="-122"/>
                <a:cs typeface="Aptos Mono" pitchFamily="34" charset="-120"/>
              </a:rPr>
              <a:t>12</a:t>
            </a:r>
            <a:endParaRPr lang="en-US" sz="1018" dirty="0"/>
          </a:p>
        </p:txBody>
      </p:sp>
      <p:sp>
        <p:nvSpPr>
          <p:cNvPr id="57" name="Text 55"/>
          <p:cNvSpPr/>
          <p:nvPr/>
        </p:nvSpPr>
        <p:spPr>
          <a:xfrm>
            <a:off x="1033272" y="4262018"/>
            <a:ext cx="6931152" cy="202082"/>
          </a:xfrm>
          <a:prstGeom prst="rect">
            <a:avLst/>
          </a:prstGeom>
          <a:noFill/>
          <a:ln/>
        </p:spPr>
        <p:txBody>
          <a:bodyPr wrap="square" lIns="0" tIns="0" rIns="0" bIns="0" rtlCol="0" anchor="ctr">
            <a:normAutofit/>
          </a:bodyPr>
          <a:lstStyle/>
          <a:p>
            <a:pPr indent="0" marL="0">
              <a:buNone/>
            </a:pPr>
            <a:r>
              <a:rPr lang="en-US" sz="1238" dirty="0">
                <a:solidFill>
                  <a:srgbClr val="D9E4F2"/>
                </a:solidFill>
                <a:latin typeface="Aptos Mono" pitchFamily="34" charset="0"/>
                <a:ea typeface="Aptos Mono" pitchFamily="34" charset="-122"/>
                <a:cs typeface="Aptos Mono" pitchFamily="34" charset="-120"/>
              </a:rPr>
              <a:t>        value={value}</a:t>
            </a:r>
            <a:endParaRPr lang="en-US" sz="1238" dirty="0"/>
          </a:p>
        </p:txBody>
      </p:sp>
      <p:sp>
        <p:nvSpPr>
          <p:cNvPr id="58" name="Text 56"/>
          <p:cNvSpPr/>
          <p:nvPr/>
        </p:nvSpPr>
        <p:spPr>
          <a:xfrm>
            <a:off x="640080" y="4477817"/>
            <a:ext cx="320040" cy="202082"/>
          </a:xfrm>
          <a:prstGeom prst="rect">
            <a:avLst/>
          </a:prstGeom>
          <a:noFill/>
          <a:ln/>
        </p:spPr>
        <p:txBody>
          <a:bodyPr wrap="square" lIns="0" tIns="0" rIns="0" bIns="0" rtlCol="0" anchor="ctr"/>
          <a:lstStyle/>
          <a:p>
            <a:pPr algn="r" indent="0" marL="0">
              <a:buNone/>
            </a:pPr>
            <a:r>
              <a:rPr lang="en-US" sz="1018" dirty="0">
                <a:solidFill>
                  <a:srgbClr val="8296AE"/>
                </a:solidFill>
                <a:latin typeface="Aptos Mono" pitchFamily="34" charset="0"/>
                <a:ea typeface="Aptos Mono" pitchFamily="34" charset="-122"/>
                <a:cs typeface="Aptos Mono" pitchFamily="34" charset="-120"/>
              </a:rPr>
              <a:t>13</a:t>
            </a:r>
            <a:endParaRPr lang="en-US" sz="1018" dirty="0"/>
          </a:p>
        </p:txBody>
      </p:sp>
      <p:sp>
        <p:nvSpPr>
          <p:cNvPr id="59" name="Text 57"/>
          <p:cNvSpPr/>
          <p:nvPr/>
        </p:nvSpPr>
        <p:spPr>
          <a:xfrm>
            <a:off x="1033272" y="4464101"/>
            <a:ext cx="6931152" cy="202082"/>
          </a:xfrm>
          <a:prstGeom prst="rect">
            <a:avLst/>
          </a:prstGeom>
          <a:noFill/>
          <a:ln/>
        </p:spPr>
        <p:txBody>
          <a:bodyPr wrap="square" lIns="0" tIns="0" rIns="0" bIns="0" rtlCol="0" anchor="ctr">
            <a:normAutofit/>
          </a:bodyPr>
          <a:lstStyle/>
          <a:p>
            <a:pPr indent="0" marL="0">
              <a:buNone/>
            </a:pPr>
            <a:r>
              <a:rPr lang="en-US" sz="1238" dirty="0">
                <a:solidFill>
                  <a:srgbClr val="D9E4F2"/>
                </a:solidFill>
                <a:latin typeface="Aptos Mono" pitchFamily="34" charset="0"/>
                <a:ea typeface="Aptos Mono" pitchFamily="34" charset="-122"/>
                <a:cs typeface="Aptos Mono" pitchFamily="34" charset="-120"/>
              </a:rPr>
              <a:t>        onChange={event =&gt; onChange(event.target.value)}</a:t>
            </a:r>
            <a:endParaRPr lang="en-US" sz="1238" dirty="0"/>
          </a:p>
        </p:txBody>
      </p:sp>
      <p:sp>
        <p:nvSpPr>
          <p:cNvPr id="60" name="Text 58"/>
          <p:cNvSpPr/>
          <p:nvPr/>
        </p:nvSpPr>
        <p:spPr>
          <a:xfrm>
            <a:off x="640080" y="4679899"/>
            <a:ext cx="320040" cy="202082"/>
          </a:xfrm>
          <a:prstGeom prst="rect">
            <a:avLst/>
          </a:prstGeom>
          <a:noFill/>
          <a:ln/>
        </p:spPr>
        <p:txBody>
          <a:bodyPr wrap="square" lIns="0" tIns="0" rIns="0" bIns="0" rtlCol="0" anchor="ctr"/>
          <a:lstStyle/>
          <a:p>
            <a:pPr algn="r" indent="0" marL="0">
              <a:buNone/>
            </a:pPr>
            <a:r>
              <a:rPr lang="en-US" sz="1018" dirty="0">
                <a:solidFill>
                  <a:srgbClr val="8296AE"/>
                </a:solidFill>
                <a:latin typeface="Aptos Mono" pitchFamily="34" charset="0"/>
                <a:ea typeface="Aptos Mono" pitchFamily="34" charset="-122"/>
                <a:cs typeface="Aptos Mono" pitchFamily="34" charset="-120"/>
              </a:rPr>
              <a:t>14</a:t>
            </a:r>
            <a:endParaRPr lang="en-US" sz="1018" dirty="0"/>
          </a:p>
        </p:txBody>
      </p:sp>
      <p:sp>
        <p:nvSpPr>
          <p:cNvPr id="61" name="Text 59"/>
          <p:cNvSpPr/>
          <p:nvPr/>
        </p:nvSpPr>
        <p:spPr>
          <a:xfrm>
            <a:off x="1033272" y="4666183"/>
            <a:ext cx="6931152" cy="202082"/>
          </a:xfrm>
          <a:prstGeom prst="rect">
            <a:avLst/>
          </a:prstGeom>
          <a:noFill/>
          <a:ln/>
        </p:spPr>
        <p:txBody>
          <a:bodyPr wrap="square" lIns="0" tIns="0" rIns="0" bIns="0" rtlCol="0" anchor="ctr">
            <a:normAutofit/>
          </a:bodyPr>
          <a:lstStyle/>
          <a:p>
            <a:pPr indent="0" marL="0">
              <a:buNone/>
            </a:pPr>
            <a:r>
              <a:rPr lang="en-US" sz="1238" dirty="0">
                <a:solidFill>
                  <a:srgbClr val="D9E4F2"/>
                </a:solidFill>
                <a:latin typeface="Aptos Mono" pitchFamily="34" charset="0"/>
                <a:ea typeface="Aptos Mono" pitchFamily="34" charset="-122"/>
                <a:cs typeface="Aptos Mono" pitchFamily="34" charset="-120"/>
              </a:rPr>
              <a:t>        placeholder='ID, titolo o cliente'</a:t>
            </a:r>
            <a:endParaRPr lang="en-US" sz="1238" dirty="0"/>
          </a:p>
        </p:txBody>
      </p:sp>
      <p:sp>
        <p:nvSpPr>
          <p:cNvPr id="62" name="Text 60"/>
          <p:cNvSpPr/>
          <p:nvPr/>
        </p:nvSpPr>
        <p:spPr>
          <a:xfrm>
            <a:off x="640080" y="4881982"/>
            <a:ext cx="320040" cy="202082"/>
          </a:xfrm>
          <a:prstGeom prst="rect">
            <a:avLst/>
          </a:prstGeom>
          <a:noFill/>
          <a:ln/>
        </p:spPr>
        <p:txBody>
          <a:bodyPr wrap="square" lIns="0" tIns="0" rIns="0" bIns="0" rtlCol="0" anchor="ctr"/>
          <a:lstStyle/>
          <a:p>
            <a:pPr algn="r" indent="0" marL="0">
              <a:buNone/>
            </a:pPr>
            <a:r>
              <a:rPr lang="en-US" sz="1018" dirty="0">
                <a:solidFill>
                  <a:srgbClr val="8296AE"/>
                </a:solidFill>
                <a:latin typeface="Aptos Mono" pitchFamily="34" charset="0"/>
                <a:ea typeface="Aptos Mono" pitchFamily="34" charset="-122"/>
                <a:cs typeface="Aptos Mono" pitchFamily="34" charset="-120"/>
              </a:rPr>
              <a:t>15</a:t>
            </a:r>
            <a:endParaRPr lang="en-US" sz="1018" dirty="0"/>
          </a:p>
        </p:txBody>
      </p:sp>
      <p:sp>
        <p:nvSpPr>
          <p:cNvPr id="63" name="Text 61"/>
          <p:cNvSpPr/>
          <p:nvPr/>
        </p:nvSpPr>
        <p:spPr>
          <a:xfrm>
            <a:off x="1033272" y="4868266"/>
            <a:ext cx="6931152" cy="202082"/>
          </a:xfrm>
          <a:prstGeom prst="rect">
            <a:avLst/>
          </a:prstGeom>
          <a:noFill/>
          <a:ln/>
        </p:spPr>
        <p:txBody>
          <a:bodyPr wrap="square" lIns="0" tIns="0" rIns="0" bIns="0" rtlCol="0" anchor="ctr">
            <a:normAutofit/>
          </a:bodyPr>
          <a:lstStyle/>
          <a:p>
            <a:pPr indent="0" marL="0">
              <a:buNone/>
            </a:pPr>
            <a:r>
              <a:rPr lang="en-US" sz="1238" dirty="0">
                <a:solidFill>
                  <a:srgbClr val="D9E4F2"/>
                </a:solidFill>
                <a:latin typeface="Aptos Mono" pitchFamily="34" charset="0"/>
                <a:ea typeface="Aptos Mono" pitchFamily="34" charset="-122"/>
                <a:cs typeface="Aptos Mono" pitchFamily="34" charset="-120"/>
              </a:rPr>
              <a:t>      /&gt;</a:t>
            </a:r>
            <a:endParaRPr lang="en-US" sz="1238" dirty="0"/>
          </a:p>
        </p:txBody>
      </p:sp>
      <p:sp>
        <p:nvSpPr>
          <p:cNvPr id="64" name="Text 62"/>
          <p:cNvSpPr/>
          <p:nvPr/>
        </p:nvSpPr>
        <p:spPr>
          <a:xfrm>
            <a:off x="640080" y="5084064"/>
            <a:ext cx="320040" cy="202082"/>
          </a:xfrm>
          <a:prstGeom prst="rect">
            <a:avLst/>
          </a:prstGeom>
          <a:noFill/>
          <a:ln/>
        </p:spPr>
        <p:txBody>
          <a:bodyPr wrap="square" lIns="0" tIns="0" rIns="0" bIns="0" rtlCol="0" anchor="ctr"/>
          <a:lstStyle/>
          <a:p>
            <a:pPr algn="r" indent="0" marL="0">
              <a:buNone/>
            </a:pPr>
            <a:r>
              <a:rPr lang="en-US" sz="1018" dirty="0">
                <a:solidFill>
                  <a:srgbClr val="8296AE"/>
                </a:solidFill>
                <a:latin typeface="Aptos Mono" pitchFamily="34" charset="0"/>
                <a:ea typeface="Aptos Mono" pitchFamily="34" charset="-122"/>
                <a:cs typeface="Aptos Mono" pitchFamily="34" charset="-120"/>
              </a:rPr>
              <a:t>16</a:t>
            </a:r>
            <a:endParaRPr lang="en-US" sz="1018" dirty="0"/>
          </a:p>
        </p:txBody>
      </p:sp>
      <p:sp>
        <p:nvSpPr>
          <p:cNvPr id="65" name="Text 63"/>
          <p:cNvSpPr/>
          <p:nvPr/>
        </p:nvSpPr>
        <p:spPr>
          <a:xfrm>
            <a:off x="1033272" y="5070348"/>
            <a:ext cx="6931152" cy="202082"/>
          </a:xfrm>
          <a:prstGeom prst="rect">
            <a:avLst/>
          </a:prstGeom>
          <a:noFill/>
          <a:ln/>
        </p:spPr>
        <p:txBody>
          <a:bodyPr wrap="square" lIns="0" tIns="0" rIns="0" bIns="0" rtlCol="0" anchor="ctr">
            <a:normAutofit/>
          </a:bodyPr>
          <a:lstStyle/>
          <a:p>
            <a:pPr indent="0" marL="0">
              <a:buNone/>
            </a:pPr>
            <a:r>
              <a:rPr lang="en-US" sz="1238" dirty="0">
                <a:solidFill>
                  <a:srgbClr val="D9E4F2"/>
                </a:solidFill>
                <a:latin typeface="Aptos Mono" pitchFamily="34" charset="0"/>
                <a:ea typeface="Aptos Mono" pitchFamily="34" charset="-122"/>
                <a:cs typeface="Aptos Mono" pitchFamily="34" charset="-120"/>
              </a:rPr>
              <a:t>    &lt;/label&gt;</a:t>
            </a:r>
            <a:endParaRPr lang="en-US" sz="1238" dirty="0"/>
          </a:p>
        </p:txBody>
      </p:sp>
      <p:sp>
        <p:nvSpPr>
          <p:cNvPr id="66" name="Text 64"/>
          <p:cNvSpPr/>
          <p:nvPr/>
        </p:nvSpPr>
        <p:spPr>
          <a:xfrm>
            <a:off x="640080" y="5286146"/>
            <a:ext cx="320040" cy="202082"/>
          </a:xfrm>
          <a:prstGeom prst="rect">
            <a:avLst/>
          </a:prstGeom>
          <a:noFill/>
          <a:ln/>
        </p:spPr>
        <p:txBody>
          <a:bodyPr wrap="square" lIns="0" tIns="0" rIns="0" bIns="0" rtlCol="0" anchor="ctr"/>
          <a:lstStyle/>
          <a:p>
            <a:pPr algn="r" indent="0" marL="0">
              <a:buNone/>
            </a:pPr>
            <a:r>
              <a:rPr lang="en-US" sz="1018" dirty="0">
                <a:solidFill>
                  <a:srgbClr val="8296AE"/>
                </a:solidFill>
                <a:latin typeface="Aptos Mono" pitchFamily="34" charset="0"/>
                <a:ea typeface="Aptos Mono" pitchFamily="34" charset="-122"/>
                <a:cs typeface="Aptos Mono" pitchFamily="34" charset="-120"/>
              </a:rPr>
              <a:t>17</a:t>
            </a:r>
            <a:endParaRPr lang="en-US" sz="1018" dirty="0"/>
          </a:p>
        </p:txBody>
      </p:sp>
      <p:sp>
        <p:nvSpPr>
          <p:cNvPr id="67" name="Text 65"/>
          <p:cNvSpPr/>
          <p:nvPr/>
        </p:nvSpPr>
        <p:spPr>
          <a:xfrm>
            <a:off x="1033272" y="5272430"/>
            <a:ext cx="6931152" cy="202082"/>
          </a:xfrm>
          <a:prstGeom prst="rect">
            <a:avLst/>
          </a:prstGeom>
          <a:noFill/>
          <a:ln/>
        </p:spPr>
        <p:txBody>
          <a:bodyPr wrap="square" lIns="0" tIns="0" rIns="0" bIns="0" rtlCol="0" anchor="ctr">
            <a:normAutofit/>
          </a:bodyPr>
          <a:lstStyle/>
          <a:p>
            <a:pPr indent="0" marL="0">
              <a:buNone/>
            </a:pPr>
            <a:r>
              <a:rPr lang="en-US" sz="1238" dirty="0">
                <a:solidFill>
                  <a:srgbClr val="D9E4F2"/>
                </a:solidFill>
                <a:latin typeface="Aptos Mono" pitchFamily="34" charset="0"/>
                <a:ea typeface="Aptos Mono" pitchFamily="34" charset="-122"/>
                <a:cs typeface="Aptos Mono" pitchFamily="34" charset="-120"/>
              </a:rPr>
              <a:t>  );</a:t>
            </a:r>
            <a:endParaRPr lang="en-US" sz="1238" dirty="0"/>
          </a:p>
        </p:txBody>
      </p:sp>
      <p:sp>
        <p:nvSpPr>
          <p:cNvPr id="68" name="Text 66"/>
          <p:cNvSpPr/>
          <p:nvPr/>
        </p:nvSpPr>
        <p:spPr>
          <a:xfrm>
            <a:off x="640080" y="5488229"/>
            <a:ext cx="320040" cy="202082"/>
          </a:xfrm>
          <a:prstGeom prst="rect">
            <a:avLst/>
          </a:prstGeom>
          <a:noFill/>
          <a:ln/>
        </p:spPr>
        <p:txBody>
          <a:bodyPr wrap="square" lIns="0" tIns="0" rIns="0" bIns="0" rtlCol="0" anchor="ctr"/>
          <a:lstStyle/>
          <a:p>
            <a:pPr algn="r" indent="0" marL="0">
              <a:buNone/>
            </a:pPr>
            <a:r>
              <a:rPr lang="en-US" sz="1018" dirty="0">
                <a:solidFill>
                  <a:srgbClr val="8296AE"/>
                </a:solidFill>
                <a:latin typeface="Aptos Mono" pitchFamily="34" charset="0"/>
                <a:ea typeface="Aptos Mono" pitchFamily="34" charset="-122"/>
                <a:cs typeface="Aptos Mono" pitchFamily="34" charset="-120"/>
              </a:rPr>
              <a:t>18</a:t>
            </a:r>
            <a:endParaRPr lang="en-US" sz="1018" dirty="0"/>
          </a:p>
        </p:txBody>
      </p:sp>
      <p:sp>
        <p:nvSpPr>
          <p:cNvPr id="69" name="Text 67"/>
          <p:cNvSpPr/>
          <p:nvPr/>
        </p:nvSpPr>
        <p:spPr>
          <a:xfrm>
            <a:off x="1033272" y="5474513"/>
            <a:ext cx="6931152" cy="202082"/>
          </a:xfrm>
          <a:prstGeom prst="rect">
            <a:avLst/>
          </a:prstGeom>
          <a:noFill/>
          <a:ln/>
        </p:spPr>
        <p:txBody>
          <a:bodyPr wrap="square" lIns="0" tIns="0" rIns="0" bIns="0" rtlCol="0" anchor="ctr">
            <a:normAutofit/>
          </a:bodyPr>
          <a:lstStyle/>
          <a:p>
            <a:pPr indent="0" marL="0">
              <a:buNone/>
            </a:pPr>
            <a:r>
              <a:rPr lang="en-US" sz="1238" dirty="0">
                <a:solidFill>
                  <a:srgbClr val="D9E4F2"/>
                </a:solidFill>
                <a:latin typeface="Aptos Mono" pitchFamily="34" charset="0"/>
                <a:ea typeface="Aptos Mono" pitchFamily="34" charset="-122"/>
                <a:cs typeface="Aptos Mono" pitchFamily="34" charset="-120"/>
              </a:rPr>
              <a:t>}</a:t>
            </a:r>
            <a:endParaRPr lang="en-US" sz="1238" dirty="0"/>
          </a:p>
        </p:txBody>
      </p:sp>
      <p:sp>
        <p:nvSpPr>
          <p:cNvPr id="70" name="Text 68"/>
          <p:cNvSpPr/>
          <p:nvPr/>
        </p:nvSpPr>
        <p:spPr>
          <a:xfrm>
            <a:off x="640080" y="5690311"/>
            <a:ext cx="320040" cy="202082"/>
          </a:xfrm>
          <a:prstGeom prst="rect">
            <a:avLst/>
          </a:prstGeom>
          <a:noFill/>
          <a:ln/>
        </p:spPr>
        <p:txBody>
          <a:bodyPr wrap="square" lIns="0" tIns="0" rIns="0" bIns="0" rtlCol="0" anchor="ctr"/>
          <a:lstStyle/>
          <a:p>
            <a:pPr algn="r" indent="0" marL="0">
              <a:buNone/>
            </a:pPr>
            <a:r>
              <a:rPr lang="en-US" sz="1018" dirty="0">
                <a:solidFill>
                  <a:srgbClr val="8296AE"/>
                </a:solidFill>
                <a:latin typeface="Aptos Mono" pitchFamily="34" charset="0"/>
                <a:ea typeface="Aptos Mono" pitchFamily="34" charset="-122"/>
                <a:cs typeface="Aptos Mono" pitchFamily="34" charset="-120"/>
              </a:rPr>
              <a:t>19</a:t>
            </a:r>
            <a:endParaRPr lang="en-US" sz="1018" dirty="0"/>
          </a:p>
        </p:txBody>
      </p:sp>
      <p:sp>
        <p:nvSpPr>
          <p:cNvPr id="71" name="Text 69"/>
          <p:cNvSpPr/>
          <p:nvPr/>
        </p:nvSpPr>
        <p:spPr>
          <a:xfrm>
            <a:off x="1033272" y="5676595"/>
            <a:ext cx="6931152" cy="202082"/>
          </a:xfrm>
          <a:prstGeom prst="rect">
            <a:avLst/>
          </a:prstGeom>
          <a:noFill/>
          <a:ln/>
        </p:spPr>
        <p:txBody>
          <a:bodyPr wrap="square" lIns="0" tIns="0" rIns="0" bIns="0" rtlCol="0" anchor="ctr">
            <a:normAutofit/>
          </a:bodyPr>
          <a:lstStyle/>
          <a:p>
            <a:pPr indent="0" marL="0">
              <a:buNone/>
            </a:pPr>
            <a:r>
              <a:rPr lang="en-US" sz="1238" dirty="0">
                <a:solidFill>
                  <a:srgbClr val="D9E4F2"/>
                </a:solidFill>
                <a:latin typeface="Aptos Mono" pitchFamily="34" charset="0"/>
                <a:ea typeface="Aptos Mono" pitchFamily="34" charset="-122"/>
                <a:cs typeface="Aptos Mono" pitchFamily="34" charset="-120"/>
              </a:rPr>
              <a:t> </a:t>
            </a:r>
            <a:endParaRPr lang="en-US" sz="1238" dirty="0"/>
          </a:p>
        </p:txBody>
      </p:sp>
      <p:sp>
        <p:nvSpPr>
          <p:cNvPr id="72" name="Text 70"/>
          <p:cNvSpPr/>
          <p:nvPr/>
        </p:nvSpPr>
        <p:spPr>
          <a:xfrm>
            <a:off x="640080" y="5892394"/>
            <a:ext cx="320040" cy="202082"/>
          </a:xfrm>
          <a:prstGeom prst="rect">
            <a:avLst/>
          </a:prstGeom>
          <a:noFill/>
          <a:ln/>
        </p:spPr>
        <p:txBody>
          <a:bodyPr wrap="square" lIns="0" tIns="0" rIns="0" bIns="0" rtlCol="0" anchor="ctr"/>
          <a:lstStyle/>
          <a:p>
            <a:pPr algn="r" indent="0" marL="0">
              <a:buNone/>
            </a:pPr>
            <a:r>
              <a:rPr lang="en-US" sz="1018" dirty="0">
                <a:solidFill>
                  <a:srgbClr val="8296AE"/>
                </a:solidFill>
                <a:latin typeface="Aptos Mono" pitchFamily="34" charset="0"/>
                <a:ea typeface="Aptos Mono" pitchFamily="34" charset="-122"/>
                <a:cs typeface="Aptos Mono" pitchFamily="34" charset="-120"/>
              </a:rPr>
              <a:t>20</a:t>
            </a:r>
            <a:endParaRPr lang="en-US" sz="1018" dirty="0"/>
          </a:p>
        </p:txBody>
      </p:sp>
      <p:sp>
        <p:nvSpPr>
          <p:cNvPr id="73" name="Text 71"/>
          <p:cNvSpPr/>
          <p:nvPr/>
        </p:nvSpPr>
        <p:spPr>
          <a:xfrm>
            <a:off x="1033272" y="5878678"/>
            <a:ext cx="6931152" cy="202082"/>
          </a:xfrm>
          <a:prstGeom prst="rect">
            <a:avLst/>
          </a:prstGeom>
          <a:noFill/>
          <a:ln/>
        </p:spPr>
        <p:txBody>
          <a:bodyPr wrap="square" lIns="0" tIns="0" rIns="0" bIns="0" rtlCol="0" anchor="ctr">
            <a:normAutofit/>
          </a:bodyPr>
          <a:lstStyle/>
          <a:p>
            <a:pPr indent="0" marL="0">
              <a:buNone/>
            </a:pPr>
            <a:r>
              <a:rPr lang="en-US" sz="1238" dirty="0">
                <a:solidFill>
                  <a:srgbClr val="78C9A6"/>
                </a:solidFill>
                <a:latin typeface="Aptos Mono" pitchFamily="34" charset="0"/>
                <a:ea typeface="Aptos Mono" pitchFamily="34" charset="-122"/>
                <a:cs typeface="Aptos Mono" pitchFamily="34" charset="-120"/>
              </a:rPr>
              <a:t>// Nessun timer e nessuna fetch nel componente.</a:t>
            </a:r>
            <a:endParaRPr lang="en-US" sz="1238" dirty="0"/>
          </a:p>
        </p:txBody>
      </p:sp>
      <p:sp>
        <p:nvSpPr>
          <p:cNvPr id="74" name="Shape 72"/>
          <p:cNvSpPr/>
          <p:nvPr/>
        </p:nvSpPr>
        <p:spPr>
          <a:xfrm>
            <a:off x="8366760" y="1591056"/>
            <a:ext cx="3310128" cy="4553712"/>
          </a:xfrm>
          <a:prstGeom prst="roundRect">
            <a:avLst>
              <a:gd name="adj" fmla="val 1381"/>
            </a:avLst>
          </a:prstGeom>
          <a:solidFill>
            <a:srgbClr val="122238"/>
          </a:solidFill>
          <a:ln w="12700">
            <a:solidFill>
              <a:srgbClr val="263A55"/>
            </a:solidFill>
            <a:prstDash val="solid"/>
          </a:ln>
        </p:spPr>
      </p:sp>
      <p:sp>
        <p:nvSpPr>
          <p:cNvPr id="75" name="Text 73"/>
          <p:cNvSpPr/>
          <p:nvPr/>
        </p:nvSpPr>
        <p:spPr>
          <a:xfrm>
            <a:off x="8586216" y="1801368"/>
            <a:ext cx="2871216" cy="182880"/>
          </a:xfrm>
          <a:prstGeom prst="rect">
            <a:avLst/>
          </a:prstGeom>
          <a:noFill/>
          <a:ln/>
        </p:spPr>
        <p:txBody>
          <a:bodyPr wrap="square" lIns="0" tIns="0" rIns="0" bIns="0" rtlCol="0" anchor="ctr"/>
          <a:lstStyle/>
          <a:p>
            <a:pPr indent="0" marL="0">
              <a:buNone/>
            </a:pPr>
            <a:r>
              <a:rPr lang="en-US" sz="950" b="1" spc="115" kern="0" dirty="0">
                <a:solidFill>
                  <a:srgbClr val="F5C96A"/>
                </a:solidFill>
                <a:latin typeface="Aptos" pitchFamily="34" charset="0"/>
                <a:ea typeface="Aptos" pitchFamily="34" charset="-122"/>
                <a:cs typeface="Aptos" pitchFamily="34" charset="-120"/>
              </a:rPr>
              <a:t>DA OSSERVARE</a:t>
            </a:r>
            <a:endParaRPr lang="en-US" sz="950" dirty="0"/>
          </a:p>
        </p:txBody>
      </p:sp>
      <p:sp>
        <p:nvSpPr>
          <p:cNvPr id="76" name="Shape 74"/>
          <p:cNvSpPr/>
          <p:nvPr/>
        </p:nvSpPr>
        <p:spPr>
          <a:xfrm>
            <a:off x="8586216" y="2267712"/>
            <a:ext cx="91440" cy="91440"/>
          </a:xfrm>
          <a:prstGeom prst="ellipse">
            <a:avLst/>
          </a:prstGeom>
          <a:solidFill>
            <a:srgbClr val="7CD4FF"/>
          </a:solidFill>
          <a:ln w="12700">
            <a:solidFill>
              <a:srgbClr val="7CD4FF"/>
            </a:solidFill>
            <a:prstDash val="solid"/>
          </a:ln>
        </p:spPr>
      </p:sp>
      <p:sp>
        <p:nvSpPr>
          <p:cNvPr id="77" name="Text 75"/>
          <p:cNvSpPr/>
          <p:nvPr/>
        </p:nvSpPr>
        <p:spPr>
          <a:xfrm>
            <a:off x="8778240" y="2212848"/>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Controlled input semplice.</a:t>
            </a:r>
            <a:endParaRPr lang="en-US" sz="1420" dirty="0"/>
          </a:p>
        </p:txBody>
      </p:sp>
      <p:sp>
        <p:nvSpPr>
          <p:cNvPr id="78" name="Shape 76"/>
          <p:cNvSpPr/>
          <p:nvPr/>
        </p:nvSpPr>
        <p:spPr>
          <a:xfrm>
            <a:off x="8586216" y="2980944"/>
            <a:ext cx="91440" cy="91440"/>
          </a:xfrm>
          <a:prstGeom prst="ellipse">
            <a:avLst/>
          </a:prstGeom>
          <a:solidFill>
            <a:srgbClr val="7CD4FF"/>
          </a:solidFill>
          <a:ln w="12700">
            <a:solidFill>
              <a:srgbClr val="7CD4FF"/>
            </a:solidFill>
            <a:prstDash val="solid"/>
          </a:ln>
        </p:spPr>
      </p:sp>
      <p:sp>
        <p:nvSpPr>
          <p:cNvPr id="79" name="Text 77"/>
          <p:cNvSpPr/>
          <p:nvPr/>
        </p:nvSpPr>
        <p:spPr>
          <a:xfrm>
            <a:off x="8778240" y="2926080"/>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Il valore cambia a ogni carattere.</a:t>
            </a:r>
            <a:endParaRPr lang="en-US" sz="1420" dirty="0"/>
          </a:p>
        </p:txBody>
      </p:sp>
      <p:sp>
        <p:nvSpPr>
          <p:cNvPr id="80" name="Shape 78"/>
          <p:cNvSpPr/>
          <p:nvPr/>
        </p:nvSpPr>
        <p:spPr>
          <a:xfrm>
            <a:off x="8586216" y="3694176"/>
            <a:ext cx="91440" cy="91440"/>
          </a:xfrm>
          <a:prstGeom prst="ellipse">
            <a:avLst/>
          </a:prstGeom>
          <a:solidFill>
            <a:srgbClr val="7CD4FF"/>
          </a:solidFill>
          <a:ln w="12700">
            <a:solidFill>
              <a:srgbClr val="7CD4FF"/>
            </a:solidFill>
            <a:prstDash val="solid"/>
          </a:ln>
        </p:spPr>
      </p:sp>
      <p:sp>
        <p:nvSpPr>
          <p:cNvPr id="81" name="Text 79"/>
          <p:cNvSpPr/>
          <p:nvPr/>
        </p:nvSpPr>
        <p:spPr>
          <a:xfrm>
            <a:off x="8778240" y="3639312"/>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La semantica label resta nel componente.</a:t>
            </a:r>
            <a:endParaRPr lang="en-US" sz="142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70</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INTEGRAZIONE FINALE</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TicketsPage riunisce il flusso senza nascondere le parti</a:t>
            </a:r>
            <a:endParaRPr lang="en-US" sz="2700" dirty="0"/>
          </a:p>
        </p:txBody>
      </p:sp>
      <p:sp>
        <p:nvSpPr>
          <p:cNvPr id="29" name="Shape 27"/>
          <p:cNvSpPr/>
          <p:nvPr/>
        </p:nvSpPr>
        <p:spPr>
          <a:xfrm>
            <a:off x="530352" y="1591056"/>
            <a:ext cx="7589520" cy="4553712"/>
          </a:xfrm>
          <a:prstGeom prst="roundRect">
            <a:avLst>
              <a:gd name="adj" fmla="val 1004"/>
            </a:avLst>
          </a:prstGeom>
          <a:solidFill>
            <a:srgbClr val="0D1A2B"/>
          </a:solidFill>
          <a:ln w="13970">
            <a:solidFill>
              <a:srgbClr val="263A55"/>
            </a:solidFill>
            <a:prstDash val="solid"/>
          </a:ln>
        </p:spPr>
      </p:sp>
      <p:sp>
        <p:nvSpPr>
          <p:cNvPr id="30" name="Shape 28"/>
          <p:cNvSpPr/>
          <p:nvPr/>
        </p:nvSpPr>
        <p:spPr>
          <a:xfrm>
            <a:off x="530352" y="1591056"/>
            <a:ext cx="7589520" cy="347472"/>
          </a:xfrm>
          <a:prstGeom prst="rect">
            <a:avLst/>
          </a:prstGeom>
          <a:solidFill>
            <a:srgbClr val="122238"/>
          </a:solidFill>
          <a:ln w="12700">
            <a:solidFill>
              <a:srgbClr val="122238"/>
            </a:solidFill>
            <a:prstDash val="solid"/>
          </a:ln>
        </p:spPr>
      </p:sp>
      <p:sp>
        <p:nvSpPr>
          <p:cNvPr id="31" name="Shape 29"/>
          <p:cNvSpPr/>
          <p:nvPr/>
        </p:nvSpPr>
        <p:spPr>
          <a:xfrm>
            <a:off x="694944" y="1632204"/>
            <a:ext cx="658368" cy="274320"/>
          </a:xfrm>
          <a:prstGeom prst="roundRect">
            <a:avLst>
              <a:gd name="adj" fmla="val 20000"/>
            </a:avLst>
          </a:prstGeom>
          <a:solidFill>
            <a:srgbClr val="7CD4FF">
              <a:alpha val="20000"/>
            </a:srgbClr>
          </a:solidFill>
          <a:ln w="10160">
            <a:solidFill>
              <a:srgbClr val="7CD4FF">
                <a:alpha val="55000"/>
              </a:srgbClr>
            </a:solidFill>
            <a:prstDash val="solid"/>
          </a:ln>
        </p:spPr>
      </p:sp>
      <p:sp>
        <p:nvSpPr>
          <p:cNvPr id="32" name="Text 30"/>
          <p:cNvSpPr/>
          <p:nvPr/>
        </p:nvSpPr>
        <p:spPr>
          <a:xfrm>
            <a:off x="786384" y="1691640"/>
            <a:ext cx="475488" cy="128016"/>
          </a:xfrm>
          <a:prstGeom prst="rect">
            <a:avLst/>
          </a:prstGeom>
          <a:noFill/>
          <a:ln/>
        </p:spPr>
        <p:txBody>
          <a:bodyPr wrap="square" lIns="0" tIns="0" rIns="0" bIns="0" rtlCol="0" anchor="ctr"/>
          <a:lstStyle/>
          <a:p>
            <a:pPr algn="ctr" indent="0" marL="0">
              <a:buNone/>
            </a:pPr>
            <a:r>
              <a:rPr lang="en-US" sz="820" b="1" dirty="0">
                <a:solidFill>
                  <a:srgbClr val="7CD4FF"/>
                </a:solidFill>
                <a:latin typeface="Aptos Mono" pitchFamily="34" charset="0"/>
                <a:ea typeface="Aptos Mono" pitchFamily="34" charset="-122"/>
                <a:cs typeface="Aptos Mono" pitchFamily="34" charset="-120"/>
              </a:rPr>
              <a:t>TSX</a:t>
            </a:r>
            <a:endParaRPr lang="en-US" sz="820" dirty="0"/>
          </a:p>
        </p:txBody>
      </p:sp>
      <p:sp>
        <p:nvSpPr>
          <p:cNvPr id="33" name="Text 31"/>
          <p:cNvSpPr/>
          <p:nvPr/>
        </p:nvSpPr>
        <p:spPr>
          <a:xfrm>
            <a:off x="1490472" y="1687068"/>
            <a:ext cx="635508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TicketsPage.tsx</a:t>
            </a:r>
            <a:endParaRPr lang="en-US" sz="880" dirty="0"/>
          </a:p>
        </p:txBody>
      </p:sp>
      <p:sp>
        <p:nvSpPr>
          <p:cNvPr id="34" name="Text 32"/>
          <p:cNvSpPr/>
          <p:nvPr/>
        </p:nvSpPr>
        <p:spPr>
          <a:xfrm>
            <a:off x="640080" y="2052828"/>
            <a:ext cx="320040" cy="224536"/>
          </a:xfrm>
          <a:prstGeom prst="rect">
            <a:avLst/>
          </a:prstGeom>
          <a:noFill/>
          <a:ln/>
        </p:spPr>
        <p:txBody>
          <a:bodyPr wrap="square" lIns="0" tIns="0" rIns="0" bIns="0" rtlCol="0" anchor="ctr"/>
          <a:lstStyle/>
          <a:p>
            <a:pPr algn="r" indent="0" marL="0">
              <a:buNone/>
            </a:pPr>
            <a:r>
              <a:rPr lang="en-US" sz="1155" dirty="0">
                <a:solidFill>
                  <a:srgbClr val="8296AE"/>
                </a:solidFill>
                <a:latin typeface="Aptos Mono" pitchFamily="34" charset="0"/>
                <a:ea typeface="Aptos Mono" pitchFamily="34" charset="-122"/>
                <a:cs typeface="Aptos Mono" pitchFamily="34" charset="-120"/>
              </a:rPr>
              <a:t>01</a:t>
            </a:r>
            <a:endParaRPr lang="en-US" sz="1155" dirty="0"/>
          </a:p>
        </p:txBody>
      </p:sp>
      <p:sp>
        <p:nvSpPr>
          <p:cNvPr id="35" name="Text 33"/>
          <p:cNvSpPr/>
          <p:nvPr/>
        </p:nvSpPr>
        <p:spPr>
          <a:xfrm>
            <a:off x="1033272" y="2039112"/>
            <a:ext cx="6931152" cy="224536"/>
          </a:xfrm>
          <a:prstGeom prst="rect">
            <a:avLst/>
          </a:prstGeom>
          <a:noFill/>
          <a:ln/>
        </p:spPr>
        <p:txBody>
          <a:bodyPr wrap="square" lIns="0" tIns="0" rIns="0" bIns="0" rtlCol="0" anchor="ctr">
            <a:normAutofit/>
          </a:bodyPr>
          <a:lstStyle/>
          <a:p>
            <a:pPr indent="0" marL="0">
              <a:buNone/>
            </a:pPr>
            <a:r>
              <a:rPr lang="en-US" sz="1375" dirty="0">
                <a:solidFill>
                  <a:srgbClr val="D9E4F2"/>
                </a:solidFill>
                <a:latin typeface="Aptos Mono" pitchFamily="34" charset="0"/>
                <a:ea typeface="Aptos Mono" pitchFamily="34" charset="-122"/>
                <a:cs typeface="Aptos Mono" pitchFamily="34" charset="-120"/>
              </a:rPr>
              <a:t>export function TicketsPage() {</a:t>
            </a:r>
            <a:endParaRPr lang="en-US" sz="1375" dirty="0"/>
          </a:p>
        </p:txBody>
      </p:sp>
      <p:sp>
        <p:nvSpPr>
          <p:cNvPr id="36" name="Text 34"/>
          <p:cNvSpPr/>
          <p:nvPr/>
        </p:nvSpPr>
        <p:spPr>
          <a:xfrm>
            <a:off x="640080" y="2277364"/>
            <a:ext cx="320040" cy="224536"/>
          </a:xfrm>
          <a:prstGeom prst="rect">
            <a:avLst/>
          </a:prstGeom>
          <a:noFill/>
          <a:ln/>
        </p:spPr>
        <p:txBody>
          <a:bodyPr wrap="square" lIns="0" tIns="0" rIns="0" bIns="0" rtlCol="0" anchor="ctr"/>
          <a:lstStyle/>
          <a:p>
            <a:pPr algn="r" indent="0" marL="0">
              <a:buNone/>
            </a:pPr>
            <a:r>
              <a:rPr lang="en-US" sz="1155" dirty="0">
                <a:solidFill>
                  <a:srgbClr val="8296AE"/>
                </a:solidFill>
                <a:latin typeface="Aptos Mono" pitchFamily="34" charset="0"/>
                <a:ea typeface="Aptos Mono" pitchFamily="34" charset="-122"/>
                <a:cs typeface="Aptos Mono" pitchFamily="34" charset="-120"/>
              </a:rPr>
              <a:t>02</a:t>
            </a:r>
            <a:endParaRPr lang="en-US" sz="1155" dirty="0"/>
          </a:p>
        </p:txBody>
      </p:sp>
      <p:sp>
        <p:nvSpPr>
          <p:cNvPr id="37" name="Text 35"/>
          <p:cNvSpPr/>
          <p:nvPr/>
        </p:nvSpPr>
        <p:spPr>
          <a:xfrm>
            <a:off x="1033272" y="2263648"/>
            <a:ext cx="6931152" cy="224536"/>
          </a:xfrm>
          <a:prstGeom prst="rect">
            <a:avLst/>
          </a:prstGeom>
          <a:noFill/>
          <a:ln/>
        </p:spPr>
        <p:txBody>
          <a:bodyPr wrap="square" lIns="0" tIns="0" rIns="0" bIns="0" rtlCol="0" anchor="ctr">
            <a:normAutofit/>
          </a:bodyPr>
          <a:lstStyle/>
          <a:p>
            <a:pPr indent="0" marL="0">
              <a:buNone/>
            </a:pPr>
            <a:r>
              <a:rPr lang="en-US" sz="1375" dirty="0">
                <a:solidFill>
                  <a:srgbClr val="D9E4F2"/>
                </a:solidFill>
                <a:latin typeface="Aptos Mono" pitchFamily="34" charset="0"/>
                <a:ea typeface="Aptos Mono" pitchFamily="34" charset="-122"/>
                <a:cs typeface="Aptos Mono" pitchFamily="34" charset="-120"/>
              </a:rPr>
              <a:t>  const [query, setQuery] = useState('');</a:t>
            </a:r>
            <a:endParaRPr lang="en-US" sz="1375" dirty="0"/>
          </a:p>
        </p:txBody>
      </p:sp>
      <p:sp>
        <p:nvSpPr>
          <p:cNvPr id="38" name="Text 36"/>
          <p:cNvSpPr/>
          <p:nvPr/>
        </p:nvSpPr>
        <p:spPr>
          <a:xfrm>
            <a:off x="640080" y="2501900"/>
            <a:ext cx="320040" cy="224536"/>
          </a:xfrm>
          <a:prstGeom prst="rect">
            <a:avLst/>
          </a:prstGeom>
          <a:noFill/>
          <a:ln/>
        </p:spPr>
        <p:txBody>
          <a:bodyPr wrap="square" lIns="0" tIns="0" rIns="0" bIns="0" rtlCol="0" anchor="ctr"/>
          <a:lstStyle/>
          <a:p>
            <a:pPr algn="r" indent="0" marL="0">
              <a:buNone/>
            </a:pPr>
            <a:r>
              <a:rPr lang="en-US" sz="1155" dirty="0">
                <a:solidFill>
                  <a:srgbClr val="8296AE"/>
                </a:solidFill>
                <a:latin typeface="Aptos Mono" pitchFamily="34" charset="0"/>
                <a:ea typeface="Aptos Mono" pitchFamily="34" charset="-122"/>
                <a:cs typeface="Aptos Mono" pitchFamily="34" charset="-120"/>
              </a:rPr>
              <a:t>03</a:t>
            </a:r>
            <a:endParaRPr lang="en-US" sz="1155" dirty="0"/>
          </a:p>
        </p:txBody>
      </p:sp>
      <p:sp>
        <p:nvSpPr>
          <p:cNvPr id="39" name="Text 37"/>
          <p:cNvSpPr/>
          <p:nvPr/>
        </p:nvSpPr>
        <p:spPr>
          <a:xfrm>
            <a:off x="1033272" y="2488184"/>
            <a:ext cx="6931152" cy="224536"/>
          </a:xfrm>
          <a:prstGeom prst="rect">
            <a:avLst/>
          </a:prstGeom>
          <a:noFill/>
          <a:ln/>
        </p:spPr>
        <p:txBody>
          <a:bodyPr wrap="square" lIns="0" tIns="0" rIns="0" bIns="0" rtlCol="0" anchor="ctr">
            <a:normAutofit/>
          </a:bodyPr>
          <a:lstStyle/>
          <a:p>
            <a:pPr indent="0" marL="0">
              <a:buNone/>
            </a:pPr>
            <a:r>
              <a:rPr lang="en-US" sz="1375" dirty="0">
                <a:solidFill>
                  <a:srgbClr val="D9E4F2"/>
                </a:solidFill>
                <a:latin typeface="Aptos Mono" pitchFamily="34" charset="0"/>
                <a:ea typeface="Aptos Mono" pitchFamily="34" charset="-122"/>
                <a:cs typeface="Aptos Mono" pitchFamily="34" charset="-120"/>
              </a:rPr>
              <a:t>  const tickets = useTickets(query);</a:t>
            </a:r>
            <a:endParaRPr lang="en-US" sz="1375" dirty="0"/>
          </a:p>
        </p:txBody>
      </p:sp>
      <p:sp>
        <p:nvSpPr>
          <p:cNvPr id="40" name="Text 38"/>
          <p:cNvSpPr/>
          <p:nvPr/>
        </p:nvSpPr>
        <p:spPr>
          <a:xfrm>
            <a:off x="640080" y="2726436"/>
            <a:ext cx="320040" cy="224536"/>
          </a:xfrm>
          <a:prstGeom prst="rect">
            <a:avLst/>
          </a:prstGeom>
          <a:noFill/>
          <a:ln/>
        </p:spPr>
        <p:txBody>
          <a:bodyPr wrap="square" lIns="0" tIns="0" rIns="0" bIns="0" rtlCol="0" anchor="ctr"/>
          <a:lstStyle/>
          <a:p>
            <a:pPr algn="r" indent="0" marL="0">
              <a:buNone/>
            </a:pPr>
            <a:r>
              <a:rPr lang="en-US" sz="1155" dirty="0">
                <a:solidFill>
                  <a:srgbClr val="8296AE"/>
                </a:solidFill>
                <a:latin typeface="Aptos Mono" pitchFamily="34" charset="0"/>
                <a:ea typeface="Aptos Mono" pitchFamily="34" charset="-122"/>
                <a:cs typeface="Aptos Mono" pitchFamily="34" charset="-120"/>
              </a:rPr>
              <a:t>04</a:t>
            </a:r>
            <a:endParaRPr lang="en-US" sz="1155" dirty="0"/>
          </a:p>
        </p:txBody>
      </p:sp>
      <p:sp>
        <p:nvSpPr>
          <p:cNvPr id="41" name="Text 39"/>
          <p:cNvSpPr/>
          <p:nvPr/>
        </p:nvSpPr>
        <p:spPr>
          <a:xfrm>
            <a:off x="1033272" y="2712720"/>
            <a:ext cx="6931152" cy="224536"/>
          </a:xfrm>
          <a:prstGeom prst="rect">
            <a:avLst/>
          </a:prstGeom>
          <a:noFill/>
          <a:ln/>
        </p:spPr>
        <p:txBody>
          <a:bodyPr wrap="square" lIns="0" tIns="0" rIns="0" bIns="0" rtlCol="0" anchor="ctr">
            <a:normAutofit/>
          </a:bodyPr>
          <a:lstStyle/>
          <a:p>
            <a:pPr indent="0" marL="0">
              <a:buNone/>
            </a:pPr>
            <a:r>
              <a:rPr lang="en-US" sz="1375" dirty="0">
                <a:solidFill>
                  <a:srgbClr val="D9E4F2"/>
                </a:solidFill>
                <a:latin typeface="Aptos Mono" pitchFamily="34" charset="0"/>
                <a:ea typeface="Aptos Mono" pitchFamily="34" charset="-122"/>
                <a:cs typeface="Aptos Mono" pitchFamily="34" charset="-120"/>
              </a:rPr>
              <a:t> </a:t>
            </a:r>
            <a:endParaRPr lang="en-US" sz="1375" dirty="0"/>
          </a:p>
        </p:txBody>
      </p:sp>
      <p:sp>
        <p:nvSpPr>
          <p:cNvPr id="42" name="Text 40"/>
          <p:cNvSpPr/>
          <p:nvPr/>
        </p:nvSpPr>
        <p:spPr>
          <a:xfrm>
            <a:off x="640080" y="2950972"/>
            <a:ext cx="320040" cy="224536"/>
          </a:xfrm>
          <a:prstGeom prst="rect">
            <a:avLst/>
          </a:prstGeom>
          <a:noFill/>
          <a:ln/>
        </p:spPr>
        <p:txBody>
          <a:bodyPr wrap="square" lIns="0" tIns="0" rIns="0" bIns="0" rtlCol="0" anchor="ctr"/>
          <a:lstStyle/>
          <a:p>
            <a:pPr algn="r" indent="0" marL="0">
              <a:buNone/>
            </a:pPr>
            <a:r>
              <a:rPr lang="en-US" sz="1155" dirty="0">
                <a:solidFill>
                  <a:srgbClr val="8296AE"/>
                </a:solidFill>
                <a:latin typeface="Aptos Mono" pitchFamily="34" charset="0"/>
                <a:ea typeface="Aptos Mono" pitchFamily="34" charset="-122"/>
                <a:cs typeface="Aptos Mono" pitchFamily="34" charset="-120"/>
              </a:rPr>
              <a:t>05</a:t>
            </a:r>
            <a:endParaRPr lang="en-US" sz="1155" dirty="0"/>
          </a:p>
        </p:txBody>
      </p:sp>
      <p:sp>
        <p:nvSpPr>
          <p:cNvPr id="43" name="Text 41"/>
          <p:cNvSpPr/>
          <p:nvPr/>
        </p:nvSpPr>
        <p:spPr>
          <a:xfrm>
            <a:off x="1033272" y="2937256"/>
            <a:ext cx="6931152" cy="224536"/>
          </a:xfrm>
          <a:prstGeom prst="rect">
            <a:avLst/>
          </a:prstGeom>
          <a:noFill/>
          <a:ln/>
        </p:spPr>
        <p:txBody>
          <a:bodyPr wrap="square" lIns="0" tIns="0" rIns="0" bIns="0" rtlCol="0" anchor="ctr">
            <a:normAutofit/>
          </a:bodyPr>
          <a:lstStyle/>
          <a:p>
            <a:pPr indent="0" marL="0">
              <a:buNone/>
            </a:pPr>
            <a:r>
              <a:rPr lang="en-US" sz="1375" dirty="0">
                <a:solidFill>
                  <a:srgbClr val="D9E4F2"/>
                </a:solidFill>
                <a:latin typeface="Aptos Mono" pitchFamily="34" charset="0"/>
                <a:ea typeface="Aptos Mono" pitchFamily="34" charset="-122"/>
                <a:cs typeface="Aptos Mono" pitchFamily="34" charset="-120"/>
              </a:rPr>
              <a:t>  return (</a:t>
            </a:r>
            <a:endParaRPr lang="en-US" sz="1375" dirty="0"/>
          </a:p>
        </p:txBody>
      </p:sp>
      <p:sp>
        <p:nvSpPr>
          <p:cNvPr id="44" name="Text 42"/>
          <p:cNvSpPr/>
          <p:nvPr/>
        </p:nvSpPr>
        <p:spPr>
          <a:xfrm>
            <a:off x="640080" y="3175508"/>
            <a:ext cx="320040" cy="224536"/>
          </a:xfrm>
          <a:prstGeom prst="rect">
            <a:avLst/>
          </a:prstGeom>
          <a:noFill/>
          <a:ln/>
        </p:spPr>
        <p:txBody>
          <a:bodyPr wrap="square" lIns="0" tIns="0" rIns="0" bIns="0" rtlCol="0" anchor="ctr"/>
          <a:lstStyle/>
          <a:p>
            <a:pPr algn="r" indent="0" marL="0">
              <a:buNone/>
            </a:pPr>
            <a:r>
              <a:rPr lang="en-US" sz="1155" dirty="0">
                <a:solidFill>
                  <a:srgbClr val="8296AE"/>
                </a:solidFill>
                <a:latin typeface="Aptos Mono" pitchFamily="34" charset="0"/>
                <a:ea typeface="Aptos Mono" pitchFamily="34" charset="-122"/>
                <a:cs typeface="Aptos Mono" pitchFamily="34" charset="-120"/>
              </a:rPr>
              <a:t>06</a:t>
            </a:r>
            <a:endParaRPr lang="en-US" sz="1155" dirty="0"/>
          </a:p>
        </p:txBody>
      </p:sp>
      <p:sp>
        <p:nvSpPr>
          <p:cNvPr id="45" name="Text 43"/>
          <p:cNvSpPr/>
          <p:nvPr/>
        </p:nvSpPr>
        <p:spPr>
          <a:xfrm>
            <a:off x="1033272" y="3161792"/>
            <a:ext cx="6931152" cy="224536"/>
          </a:xfrm>
          <a:prstGeom prst="rect">
            <a:avLst/>
          </a:prstGeom>
          <a:noFill/>
          <a:ln/>
        </p:spPr>
        <p:txBody>
          <a:bodyPr wrap="square" lIns="0" tIns="0" rIns="0" bIns="0" rtlCol="0" anchor="ctr">
            <a:normAutofit/>
          </a:bodyPr>
          <a:lstStyle/>
          <a:p>
            <a:pPr indent="0" marL="0">
              <a:buNone/>
            </a:pPr>
            <a:r>
              <a:rPr lang="en-US" sz="1375" dirty="0">
                <a:solidFill>
                  <a:srgbClr val="D9E4F2"/>
                </a:solidFill>
                <a:latin typeface="Aptos Mono" pitchFamily="34" charset="0"/>
                <a:ea typeface="Aptos Mono" pitchFamily="34" charset="-122"/>
                <a:cs typeface="Aptos Mono" pitchFamily="34" charset="-120"/>
              </a:rPr>
              <a:t>    &lt;DashboardLayout sidebar={&lt;TicketFilters /&gt;}&gt;</a:t>
            </a:r>
            <a:endParaRPr lang="en-US" sz="1375" dirty="0"/>
          </a:p>
        </p:txBody>
      </p:sp>
      <p:sp>
        <p:nvSpPr>
          <p:cNvPr id="46" name="Text 44"/>
          <p:cNvSpPr/>
          <p:nvPr/>
        </p:nvSpPr>
        <p:spPr>
          <a:xfrm>
            <a:off x="640080" y="3400044"/>
            <a:ext cx="320040" cy="224536"/>
          </a:xfrm>
          <a:prstGeom prst="rect">
            <a:avLst/>
          </a:prstGeom>
          <a:noFill/>
          <a:ln/>
        </p:spPr>
        <p:txBody>
          <a:bodyPr wrap="square" lIns="0" tIns="0" rIns="0" bIns="0" rtlCol="0" anchor="ctr"/>
          <a:lstStyle/>
          <a:p>
            <a:pPr algn="r" indent="0" marL="0">
              <a:buNone/>
            </a:pPr>
            <a:r>
              <a:rPr lang="en-US" sz="1155" dirty="0">
                <a:solidFill>
                  <a:srgbClr val="8296AE"/>
                </a:solidFill>
                <a:latin typeface="Aptos Mono" pitchFamily="34" charset="0"/>
                <a:ea typeface="Aptos Mono" pitchFamily="34" charset="-122"/>
                <a:cs typeface="Aptos Mono" pitchFamily="34" charset="-120"/>
              </a:rPr>
              <a:t>07</a:t>
            </a:r>
            <a:endParaRPr lang="en-US" sz="1155" dirty="0"/>
          </a:p>
        </p:txBody>
      </p:sp>
      <p:sp>
        <p:nvSpPr>
          <p:cNvPr id="47" name="Text 45"/>
          <p:cNvSpPr/>
          <p:nvPr/>
        </p:nvSpPr>
        <p:spPr>
          <a:xfrm>
            <a:off x="1033272" y="3386328"/>
            <a:ext cx="6931152" cy="224536"/>
          </a:xfrm>
          <a:prstGeom prst="rect">
            <a:avLst/>
          </a:prstGeom>
          <a:noFill/>
          <a:ln/>
        </p:spPr>
        <p:txBody>
          <a:bodyPr wrap="square" lIns="0" tIns="0" rIns="0" bIns="0" rtlCol="0" anchor="ctr">
            <a:normAutofit/>
          </a:bodyPr>
          <a:lstStyle/>
          <a:p>
            <a:pPr indent="0" marL="0">
              <a:buNone/>
            </a:pPr>
            <a:r>
              <a:rPr lang="en-US" sz="1375" dirty="0">
                <a:solidFill>
                  <a:srgbClr val="D9E4F2"/>
                </a:solidFill>
                <a:latin typeface="Aptos Mono" pitchFamily="34" charset="0"/>
                <a:ea typeface="Aptos Mono" pitchFamily="34" charset="-122"/>
                <a:cs typeface="Aptos Mono" pitchFamily="34" charset="-120"/>
              </a:rPr>
              <a:t>      &lt;SearchField value={query} onChange={setQuery} /&gt;</a:t>
            </a:r>
            <a:endParaRPr lang="en-US" sz="1375" dirty="0"/>
          </a:p>
        </p:txBody>
      </p:sp>
      <p:sp>
        <p:nvSpPr>
          <p:cNvPr id="48" name="Text 46"/>
          <p:cNvSpPr/>
          <p:nvPr/>
        </p:nvSpPr>
        <p:spPr>
          <a:xfrm>
            <a:off x="640080" y="3624580"/>
            <a:ext cx="320040" cy="224536"/>
          </a:xfrm>
          <a:prstGeom prst="rect">
            <a:avLst/>
          </a:prstGeom>
          <a:noFill/>
          <a:ln/>
        </p:spPr>
        <p:txBody>
          <a:bodyPr wrap="square" lIns="0" tIns="0" rIns="0" bIns="0" rtlCol="0" anchor="ctr"/>
          <a:lstStyle/>
          <a:p>
            <a:pPr algn="r" indent="0" marL="0">
              <a:buNone/>
            </a:pPr>
            <a:r>
              <a:rPr lang="en-US" sz="1155" dirty="0">
                <a:solidFill>
                  <a:srgbClr val="8296AE"/>
                </a:solidFill>
                <a:latin typeface="Aptos Mono" pitchFamily="34" charset="0"/>
                <a:ea typeface="Aptos Mono" pitchFamily="34" charset="-122"/>
                <a:cs typeface="Aptos Mono" pitchFamily="34" charset="-120"/>
              </a:rPr>
              <a:t>08</a:t>
            </a:r>
            <a:endParaRPr lang="en-US" sz="1155" dirty="0"/>
          </a:p>
        </p:txBody>
      </p:sp>
      <p:sp>
        <p:nvSpPr>
          <p:cNvPr id="49" name="Text 47"/>
          <p:cNvSpPr/>
          <p:nvPr/>
        </p:nvSpPr>
        <p:spPr>
          <a:xfrm>
            <a:off x="1033272" y="3610864"/>
            <a:ext cx="6931152" cy="224536"/>
          </a:xfrm>
          <a:prstGeom prst="rect">
            <a:avLst/>
          </a:prstGeom>
          <a:noFill/>
          <a:ln/>
        </p:spPr>
        <p:txBody>
          <a:bodyPr wrap="square" lIns="0" tIns="0" rIns="0" bIns="0" rtlCol="0" anchor="ctr">
            <a:normAutofit/>
          </a:bodyPr>
          <a:lstStyle/>
          <a:p>
            <a:pPr indent="0" marL="0">
              <a:buNone/>
            </a:pPr>
            <a:r>
              <a:rPr lang="en-US" sz="1375" dirty="0">
                <a:solidFill>
                  <a:srgbClr val="D9E4F2"/>
                </a:solidFill>
                <a:latin typeface="Aptos Mono" pitchFamily="34" charset="0"/>
                <a:ea typeface="Aptos Mono" pitchFamily="34" charset="-122"/>
                <a:cs typeface="Aptos Mono" pitchFamily="34" charset="-120"/>
              </a:rPr>
              <a:t> </a:t>
            </a:r>
            <a:endParaRPr lang="en-US" sz="1375" dirty="0"/>
          </a:p>
        </p:txBody>
      </p:sp>
      <p:sp>
        <p:nvSpPr>
          <p:cNvPr id="50" name="Text 48"/>
          <p:cNvSpPr/>
          <p:nvPr/>
        </p:nvSpPr>
        <p:spPr>
          <a:xfrm>
            <a:off x="640080" y="3849116"/>
            <a:ext cx="320040" cy="224536"/>
          </a:xfrm>
          <a:prstGeom prst="rect">
            <a:avLst/>
          </a:prstGeom>
          <a:noFill/>
          <a:ln/>
        </p:spPr>
        <p:txBody>
          <a:bodyPr wrap="square" lIns="0" tIns="0" rIns="0" bIns="0" rtlCol="0" anchor="ctr"/>
          <a:lstStyle/>
          <a:p>
            <a:pPr algn="r" indent="0" marL="0">
              <a:buNone/>
            </a:pPr>
            <a:r>
              <a:rPr lang="en-US" sz="1155" dirty="0">
                <a:solidFill>
                  <a:srgbClr val="8296AE"/>
                </a:solidFill>
                <a:latin typeface="Aptos Mono" pitchFamily="34" charset="0"/>
                <a:ea typeface="Aptos Mono" pitchFamily="34" charset="-122"/>
                <a:cs typeface="Aptos Mono" pitchFamily="34" charset="-120"/>
              </a:rPr>
              <a:t>09</a:t>
            </a:r>
            <a:endParaRPr lang="en-US" sz="1155" dirty="0"/>
          </a:p>
        </p:txBody>
      </p:sp>
      <p:sp>
        <p:nvSpPr>
          <p:cNvPr id="51" name="Text 49"/>
          <p:cNvSpPr/>
          <p:nvPr/>
        </p:nvSpPr>
        <p:spPr>
          <a:xfrm>
            <a:off x="1033272" y="3835400"/>
            <a:ext cx="6931152" cy="224536"/>
          </a:xfrm>
          <a:prstGeom prst="rect">
            <a:avLst/>
          </a:prstGeom>
          <a:noFill/>
          <a:ln/>
        </p:spPr>
        <p:txBody>
          <a:bodyPr wrap="square" lIns="0" tIns="0" rIns="0" bIns="0" rtlCol="0" anchor="ctr">
            <a:normAutofit/>
          </a:bodyPr>
          <a:lstStyle/>
          <a:p>
            <a:pPr indent="0" marL="0">
              <a:buNone/>
            </a:pPr>
            <a:r>
              <a:rPr lang="en-US" sz="1375" dirty="0">
                <a:solidFill>
                  <a:srgbClr val="D9E4F2"/>
                </a:solidFill>
                <a:latin typeface="Aptos Mono" pitchFamily="34" charset="0"/>
                <a:ea typeface="Aptos Mono" pitchFamily="34" charset="-122"/>
                <a:cs typeface="Aptos Mono" pitchFamily="34" charset="-120"/>
              </a:rPr>
              <a:t>      {tickets.status === 'loading' &amp;&amp; &lt;Spinner /&gt;}</a:t>
            </a:r>
            <a:endParaRPr lang="en-US" sz="1375" dirty="0"/>
          </a:p>
        </p:txBody>
      </p:sp>
      <p:sp>
        <p:nvSpPr>
          <p:cNvPr id="52" name="Text 50"/>
          <p:cNvSpPr/>
          <p:nvPr/>
        </p:nvSpPr>
        <p:spPr>
          <a:xfrm>
            <a:off x="640080" y="4073652"/>
            <a:ext cx="320040" cy="224536"/>
          </a:xfrm>
          <a:prstGeom prst="rect">
            <a:avLst/>
          </a:prstGeom>
          <a:noFill/>
          <a:ln/>
        </p:spPr>
        <p:txBody>
          <a:bodyPr wrap="square" lIns="0" tIns="0" rIns="0" bIns="0" rtlCol="0" anchor="ctr"/>
          <a:lstStyle/>
          <a:p>
            <a:pPr algn="r" indent="0" marL="0">
              <a:buNone/>
            </a:pPr>
            <a:r>
              <a:rPr lang="en-US" sz="1155" dirty="0">
                <a:solidFill>
                  <a:srgbClr val="8296AE"/>
                </a:solidFill>
                <a:latin typeface="Aptos Mono" pitchFamily="34" charset="0"/>
                <a:ea typeface="Aptos Mono" pitchFamily="34" charset="-122"/>
                <a:cs typeface="Aptos Mono" pitchFamily="34" charset="-120"/>
              </a:rPr>
              <a:t>10</a:t>
            </a:r>
            <a:endParaRPr lang="en-US" sz="1155" dirty="0"/>
          </a:p>
        </p:txBody>
      </p:sp>
      <p:sp>
        <p:nvSpPr>
          <p:cNvPr id="53" name="Text 51"/>
          <p:cNvSpPr/>
          <p:nvPr/>
        </p:nvSpPr>
        <p:spPr>
          <a:xfrm>
            <a:off x="1033272" y="4059936"/>
            <a:ext cx="6931152" cy="224536"/>
          </a:xfrm>
          <a:prstGeom prst="rect">
            <a:avLst/>
          </a:prstGeom>
          <a:noFill/>
          <a:ln/>
        </p:spPr>
        <p:txBody>
          <a:bodyPr wrap="square" lIns="0" tIns="0" rIns="0" bIns="0" rtlCol="0" anchor="ctr">
            <a:normAutofit/>
          </a:bodyPr>
          <a:lstStyle/>
          <a:p>
            <a:pPr indent="0" marL="0">
              <a:buNone/>
            </a:pPr>
            <a:r>
              <a:rPr lang="en-US" sz="1375" dirty="0">
                <a:solidFill>
                  <a:srgbClr val="D9E4F2"/>
                </a:solidFill>
                <a:latin typeface="Aptos Mono" pitchFamily="34" charset="0"/>
                <a:ea typeface="Aptos Mono" pitchFamily="34" charset="-122"/>
                <a:cs typeface="Aptos Mono" pitchFamily="34" charset="-120"/>
              </a:rPr>
              <a:t>      {tickets.status === 'error' &amp;&amp; (</a:t>
            </a:r>
            <a:endParaRPr lang="en-US" sz="1375" dirty="0"/>
          </a:p>
        </p:txBody>
      </p:sp>
      <p:sp>
        <p:nvSpPr>
          <p:cNvPr id="54" name="Text 52"/>
          <p:cNvSpPr/>
          <p:nvPr/>
        </p:nvSpPr>
        <p:spPr>
          <a:xfrm>
            <a:off x="640080" y="4298188"/>
            <a:ext cx="320040" cy="224536"/>
          </a:xfrm>
          <a:prstGeom prst="rect">
            <a:avLst/>
          </a:prstGeom>
          <a:noFill/>
          <a:ln/>
        </p:spPr>
        <p:txBody>
          <a:bodyPr wrap="square" lIns="0" tIns="0" rIns="0" bIns="0" rtlCol="0" anchor="ctr"/>
          <a:lstStyle/>
          <a:p>
            <a:pPr algn="r" indent="0" marL="0">
              <a:buNone/>
            </a:pPr>
            <a:r>
              <a:rPr lang="en-US" sz="1155" dirty="0">
                <a:solidFill>
                  <a:srgbClr val="8296AE"/>
                </a:solidFill>
                <a:latin typeface="Aptos Mono" pitchFamily="34" charset="0"/>
                <a:ea typeface="Aptos Mono" pitchFamily="34" charset="-122"/>
                <a:cs typeface="Aptos Mono" pitchFamily="34" charset="-120"/>
              </a:rPr>
              <a:t>11</a:t>
            </a:r>
            <a:endParaRPr lang="en-US" sz="1155" dirty="0"/>
          </a:p>
        </p:txBody>
      </p:sp>
      <p:sp>
        <p:nvSpPr>
          <p:cNvPr id="55" name="Text 53"/>
          <p:cNvSpPr/>
          <p:nvPr/>
        </p:nvSpPr>
        <p:spPr>
          <a:xfrm>
            <a:off x="1033272" y="4284472"/>
            <a:ext cx="6931152" cy="224536"/>
          </a:xfrm>
          <a:prstGeom prst="rect">
            <a:avLst/>
          </a:prstGeom>
          <a:noFill/>
          <a:ln/>
        </p:spPr>
        <p:txBody>
          <a:bodyPr wrap="square" lIns="0" tIns="0" rIns="0" bIns="0" rtlCol="0" anchor="ctr">
            <a:normAutofit/>
          </a:bodyPr>
          <a:lstStyle/>
          <a:p>
            <a:pPr indent="0" marL="0">
              <a:buNone/>
            </a:pPr>
            <a:r>
              <a:rPr lang="en-US" sz="1375" dirty="0">
                <a:solidFill>
                  <a:srgbClr val="D9E4F2"/>
                </a:solidFill>
                <a:latin typeface="Aptos Mono" pitchFamily="34" charset="0"/>
                <a:ea typeface="Aptos Mono" pitchFamily="34" charset="-122"/>
                <a:cs typeface="Aptos Mono" pitchFamily="34" charset="-120"/>
              </a:rPr>
              <a:t>        &lt;ErrorBanner error={tickets.error} /&gt;</a:t>
            </a:r>
            <a:endParaRPr lang="en-US" sz="1375" dirty="0"/>
          </a:p>
        </p:txBody>
      </p:sp>
      <p:sp>
        <p:nvSpPr>
          <p:cNvPr id="56" name="Text 54"/>
          <p:cNvSpPr/>
          <p:nvPr/>
        </p:nvSpPr>
        <p:spPr>
          <a:xfrm>
            <a:off x="640080" y="4522724"/>
            <a:ext cx="320040" cy="224536"/>
          </a:xfrm>
          <a:prstGeom prst="rect">
            <a:avLst/>
          </a:prstGeom>
          <a:noFill/>
          <a:ln/>
        </p:spPr>
        <p:txBody>
          <a:bodyPr wrap="square" lIns="0" tIns="0" rIns="0" bIns="0" rtlCol="0" anchor="ctr"/>
          <a:lstStyle/>
          <a:p>
            <a:pPr algn="r" indent="0" marL="0">
              <a:buNone/>
            </a:pPr>
            <a:r>
              <a:rPr lang="en-US" sz="1155" dirty="0">
                <a:solidFill>
                  <a:srgbClr val="8296AE"/>
                </a:solidFill>
                <a:latin typeface="Aptos Mono" pitchFamily="34" charset="0"/>
                <a:ea typeface="Aptos Mono" pitchFamily="34" charset="-122"/>
                <a:cs typeface="Aptos Mono" pitchFamily="34" charset="-120"/>
              </a:rPr>
              <a:t>12</a:t>
            </a:r>
            <a:endParaRPr lang="en-US" sz="1155" dirty="0"/>
          </a:p>
        </p:txBody>
      </p:sp>
      <p:sp>
        <p:nvSpPr>
          <p:cNvPr id="57" name="Text 55"/>
          <p:cNvSpPr/>
          <p:nvPr/>
        </p:nvSpPr>
        <p:spPr>
          <a:xfrm>
            <a:off x="1033272" y="4509008"/>
            <a:ext cx="6931152" cy="224536"/>
          </a:xfrm>
          <a:prstGeom prst="rect">
            <a:avLst/>
          </a:prstGeom>
          <a:noFill/>
          <a:ln/>
        </p:spPr>
        <p:txBody>
          <a:bodyPr wrap="square" lIns="0" tIns="0" rIns="0" bIns="0" rtlCol="0" anchor="ctr">
            <a:normAutofit/>
          </a:bodyPr>
          <a:lstStyle/>
          <a:p>
            <a:pPr indent="0" marL="0">
              <a:buNone/>
            </a:pPr>
            <a:r>
              <a:rPr lang="en-US" sz="1375" dirty="0">
                <a:solidFill>
                  <a:srgbClr val="D9E4F2"/>
                </a:solidFill>
                <a:latin typeface="Aptos Mono" pitchFamily="34" charset="0"/>
                <a:ea typeface="Aptos Mono" pitchFamily="34" charset="-122"/>
                <a:cs typeface="Aptos Mono" pitchFamily="34" charset="-120"/>
              </a:rPr>
              <a:t>      )}</a:t>
            </a:r>
            <a:endParaRPr lang="en-US" sz="1375" dirty="0"/>
          </a:p>
        </p:txBody>
      </p:sp>
      <p:sp>
        <p:nvSpPr>
          <p:cNvPr id="58" name="Text 56"/>
          <p:cNvSpPr/>
          <p:nvPr/>
        </p:nvSpPr>
        <p:spPr>
          <a:xfrm>
            <a:off x="640080" y="4747260"/>
            <a:ext cx="320040" cy="224536"/>
          </a:xfrm>
          <a:prstGeom prst="rect">
            <a:avLst/>
          </a:prstGeom>
          <a:noFill/>
          <a:ln/>
        </p:spPr>
        <p:txBody>
          <a:bodyPr wrap="square" lIns="0" tIns="0" rIns="0" bIns="0" rtlCol="0" anchor="ctr"/>
          <a:lstStyle/>
          <a:p>
            <a:pPr algn="r" indent="0" marL="0">
              <a:buNone/>
            </a:pPr>
            <a:r>
              <a:rPr lang="en-US" sz="1155" dirty="0">
                <a:solidFill>
                  <a:srgbClr val="8296AE"/>
                </a:solidFill>
                <a:latin typeface="Aptos Mono" pitchFamily="34" charset="0"/>
                <a:ea typeface="Aptos Mono" pitchFamily="34" charset="-122"/>
                <a:cs typeface="Aptos Mono" pitchFamily="34" charset="-120"/>
              </a:rPr>
              <a:t>13</a:t>
            </a:r>
            <a:endParaRPr lang="en-US" sz="1155" dirty="0"/>
          </a:p>
        </p:txBody>
      </p:sp>
      <p:sp>
        <p:nvSpPr>
          <p:cNvPr id="59" name="Text 57"/>
          <p:cNvSpPr/>
          <p:nvPr/>
        </p:nvSpPr>
        <p:spPr>
          <a:xfrm>
            <a:off x="1033272" y="4733544"/>
            <a:ext cx="6931152" cy="224536"/>
          </a:xfrm>
          <a:prstGeom prst="rect">
            <a:avLst/>
          </a:prstGeom>
          <a:noFill/>
          <a:ln/>
        </p:spPr>
        <p:txBody>
          <a:bodyPr wrap="square" lIns="0" tIns="0" rIns="0" bIns="0" rtlCol="0" anchor="ctr">
            <a:normAutofit/>
          </a:bodyPr>
          <a:lstStyle/>
          <a:p>
            <a:pPr indent="0" marL="0">
              <a:buNone/>
            </a:pPr>
            <a:r>
              <a:rPr lang="en-US" sz="1375" dirty="0">
                <a:solidFill>
                  <a:srgbClr val="D9E4F2"/>
                </a:solidFill>
                <a:latin typeface="Aptos Mono" pitchFamily="34" charset="0"/>
                <a:ea typeface="Aptos Mono" pitchFamily="34" charset="-122"/>
                <a:cs typeface="Aptos Mono" pitchFamily="34" charset="-120"/>
              </a:rPr>
              <a:t>      {tickets.status === 'success' &amp;&amp; (</a:t>
            </a:r>
            <a:endParaRPr lang="en-US" sz="1375" dirty="0"/>
          </a:p>
        </p:txBody>
      </p:sp>
      <p:sp>
        <p:nvSpPr>
          <p:cNvPr id="60" name="Text 58"/>
          <p:cNvSpPr/>
          <p:nvPr/>
        </p:nvSpPr>
        <p:spPr>
          <a:xfrm>
            <a:off x="640080" y="4971796"/>
            <a:ext cx="320040" cy="224536"/>
          </a:xfrm>
          <a:prstGeom prst="rect">
            <a:avLst/>
          </a:prstGeom>
          <a:noFill/>
          <a:ln/>
        </p:spPr>
        <p:txBody>
          <a:bodyPr wrap="square" lIns="0" tIns="0" rIns="0" bIns="0" rtlCol="0" anchor="ctr"/>
          <a:lstStyle/>
          <a:p>
            <a:pPr algn="r" indent="0" marL="0">
              <a:buNone/>
            </a:pPr>
            <a:r>
              <a:rPr lang="en-US" sz="1155" dirty="0">
                <a:solidFill>
                  <a:srgbClr val="8296AE"/>
                </a:solidFill>
                <a:latin typeface="Aptos Mono" pitchFamily="34" charset="0"/>
                <a:ea typeface="Aptos Mono" pitchFamily="34" charset="-122"/>
                <a:cs typeface="Aptos Mono" pitchFamily="34" charset="-120"/>
              </a:rPr>
              <a:t>14</a:t>
            </a:r>
            <a:endParaRPr lang="en-US" sz="1155" dirty="0"/>
          </a:p>
        </p:txBody>
      </p:sp>
      <p:sp>
        <p:nvSpPr>
          <p:cNvPr id="61" name="Text 59"/>
          <p:cNvSpPr/>
          <p:nvPr/>
        </p:nvSpPr>
        <p:spPr>
          <a:xfrm>
            <a:off x="1033272" y="4958080"/>
            <a:ext cx="6931152" cy="224536"/>
          </a:xfrm>
          <a:prstGeom prst="rect">
            <a:avLst/>
          </a:prstGeom>
          <a:noFill/>
          <a:ln/>
        </p:spPr>
        <p:txBody>
          <a:bodyPr wrap="square" lIns="0" tIns="0" rIns="0" bIns="0" rtlCol="0" anchor="ctr">
            <a:normAutofit/>
          </a:bodyPr>
          <a:lstStyle/>
          <a:p>
            <a:pPr indent="0" marL="0">
              <a:buNone/>
            </a:pPr>
            <a:r>
              <a:rPr lang="en-US" sz="1375" dirty="0">
                <a:solidFill>
                  <a:srgbClr val="D9E4F2"/>
                </a:solidFill>
                <a:latin typeface="Aptos Mono" pitchFamily="34" charset="0"/>
                <a:ea typeface="Aptos Mono" pitchFamily="34" charset="-122"/>
                <a:cs typeface="Aptos Mono" pitchFamily="34" charset="-120"/>
              </a:rPr>
              <a:t>        &lt;TicketList tickets={tickets.data} /&gt;</a:t>
            </a:r>
            <a:endParaRPr lang="en-US" sz="1375" dirty="0"/>
          </a:p>
        </p:txBody>
      </p:sp>
      <p:sp>
        <p:nvSpPr>
          <p:cNvPr id="62" name="Text 60"/>
          <p:cNvSpPr/>
          <p:nvPr/>
        </p:nvSpPr>
        <p:spPr>
          <a:xfrm>
            <a:off x="640080" y="5196332"/>
            <a:ext cx="320040" cy="224536"/>
          </a:xfrm>
          <a:prstGeom prst="rect">
            <a:avLst/>
          </a:prstGeom>
          <a:noFill/>
          <a:ln/>
        </p:spPr>
        <p:txBody>
          <a:bodyPr wrap="square" lIns="0" tIns="0" rIns="0" bIns="0" rtlCol="0" anchor="ctr"/>
          <a:lstStyle/>
          <a:p>
            <a:pPr algn="r" indent="0" marL="0">
              <a:buNone/>
            </a:pPr>
            <a:r>
              <a:rPr lang="en-US" sz="1155" dirty="0">
                <a:solidFill>
                  <a:srgbClr val="8296AE"/>
                </a:solidFill>
                <a:latin typeface="Aptos Mono" pitchFamily="34" charset="0"/>
                <a:ea typeface="Aptos Mono" pitchFamily="34" charset="-122"/>
                <a:cs typeface="Aptos Mono" pitchFamily="34" charset="-120"/>
              </a:rPr>
              <a:t>15</a:t>
            </a:r>
            <a:endParaRPr lang="en-US" sz="1155" dirty="0"/>
          </a:p>
        </p:txBody>
      </p:sp>
      <p:sp>
        <p:nvSpPr>
          <p:cNvPr id="63" name="Text 61"/>
          <p:cNvSpPr/>
          <p:nvPr/>
        </p:nvSpPr>
        <p:spPr>
          <a:xfrm>
            <a:off x="1033272" y="5182616"/>
            <a:ext cx="6931152" cy="224536"/>
          </a:xfrm>
          <a:prstGeom prst="rect">
            <a:avLst/>
          </a:prstGeom>
          <a:noFill/>
          <a:ln/>
        </p:spPr>
        <p:txBody>
          <a:bodyPr wrap="square" lIns="0" tIns="0" rIns="0" bIns="0" rtlCol="0" anchor="ctr">
            <a:normAutofit/>
          </a:bodyPr>
          <a:lstStyle/>
          <a:p>
            <a:pPr indent="0" marL="0">
              <a:buNone/>
            </a:pPr>
            <a:r>
              <a:rPr lang="en-US" sz="1375" dirty="0">
                <a:solidFill>
                  <a:srgbClr val="D9E4F2"/>
                </a:solidFill>
                <a:latin typeface="Aptos Mono" pitchFamily="34" charset="0"/>
                <a:ea typeface="Aptos Mono" pitchFamily="34" charset="-122"/>
                <a:cs typeface="Aptos Mono" pitchFamily="34" charset="-120"/>
              </a:rPr>
              <a:t>      )}</a:t>
            </a:r>
            <a:endParaRPr lang="en-US" sz="1375" dirty="0"/>
          </a:p>
        </p:txBody>
      </p:sp>
      <p:sp>
        <p:nvSpPr>
          <p:cNvPr id="64" name="Text 62"/>
          <p:cNvSpPr/>
          <p:nvPr/>
        </p:nvSpPr>
        <p:spPr>
          <a:xfrm>
            <a:off x="640080" y="5420868"/>
            <a:ext cx="320040" cy="224536"/>
          </a:xfrm>
          <a:prstGeom prst="rect">
            <a:avLst/>
          </a:prstGeom>
          <a:noFill/>
          <a:ln/>
        </p:spPr>
        <p:txBody>
          <a:bodyPr wrap="square" lIns="0" tIns="0" rIns="0" bIns="0" rtlCol="0" anchor="ctr"/>
          <a:lstStyle/>
          <a:p>
            <a:pPr algn="r" indent="0" marL="0">
              <a:buNone/>
            </a:pPr>
            <a:r>
              <a:rPr lang="en-US" sz="1155" dirty="0">
                <a:solidFill>
                  <a:srgbClr val="8296AE"/>
                </a:solidFill>
                <a:latin typeface="Aptos Mono" pitchFamily="34" charset="0"/>
                <a:ea typeface="Aptos Mono" pitchFamily="34" charset="-122"/>
                <a:cs typeface="Aptos Mono" pitchFamily="34" charset="-120"/>
              </a:rPr>
              <a:t>16</a:t>
            </a:r>
            <a:endParaRPr lang="en-US" sz="1155" dirty="0"/>
          </a:p>
        </p:txBody>
      </p:sp>
      <p:sp>
        <p:nvSpPr>
          <p:cNvPr id="65" name="Text 63"/>
          <p:cNvSpPr/>
          <p:nvPr/>
        </p:nvSpPr>
        <p:spPr>
          <a:xfrm>
            <a:off x="1033272" y="5407152"/>
            <a:ext cx="6931152" cy="224536"/>
          </a:xfrm>
          <a:prstGeom prst="rect">
            <a:avLst/>
          </a:prstGeom>
          <a:noFill/>
          <a:ln/>
        </p:spPr>
        <p:txBody>
          <a:bodyPr wrap="square" lIns="0" tIns="0" rIns="0" bIns="0" rtlCol="0" anchor="ctr">
            <a:normAutofit/>
          </a:bodyPr>
          <a:lstStyle/>
          <a:p>
            <a:pPr indent="0" marL="0">
              <a:buNone/>
            </a:pPr>
            <a:r>
              <a:rPr lang="en-US" sz="1375" dirty="0">
                <a:solidFill>
                  <a:srgbClr val="D9E4F2"/>
                </a:solidFill>
                <a:latin typeface="Aptos Mono" pitchFamily="34" charset="0"/>
                <a:ea typeface="Aptos Mono" pitchFamily="34" charset="-122"/>
                <a:cs typeface="Aptos Mono" pitchFamily="34" charset="-120"/>
              </a:rPr>
              <a:t>    &lt;/DashboardLayout&gt;</a:t>
            </a:r>
            <a:endParaRPr lang="en-US" sz="1375" dirty="0"/>
          </a:p>
        </p:txBody>
      </p:sp>
      <p:sp>
        <p:nvSpPr>
          <p:cNvPr id="66" name="Text 64"/>
          <p:cNvSpPr/>
          <p:nvPr/>
        </p:nvSpPr>
        <p:spPr>
          <a:xfrm>
            <a:off x="640080" y="5645404"/>
            <a:ext cx="320040" cy="224536"/>
          </a:xfrm>
          <a:prstGeom prst="rect">
            <a:avLst/>
          </a:prstGeom>
          <a:noFill/>
          <a:ln/>
        </p:spPr>
        <p:txBody>
          <a:bodyPr wrap="square" lIns="0" tIns="0" rIns="0" bIns="0" rtlCol="0" anchor="ctr"/>
          <a:lstStyle/>
          <a:p>
            <a:pPr algn="r" indent="0" marL="0">
              <a:buNone/>
            </a:pPr>
            <a:r>
              <a:rPr lang="en-US" sz="1155" dirty="0">
                <a:solidFill>
                  <a:srgbClr val="8296AE"/>
                </a:solidFill>
                <a:latin typeface="Aptos Mono" pitchFamily="34" charset="0"/>
                <a:ea typeface="Aptos Mono" pitchFamily="34" charset="-122"/>
                <a:cs typeface="Aptos Mono" pitchFamily="34" charset="-120"/>
              </a:rPr>
              <a:t>17</a:t>
            </a:r>
            <a:endParaRPr lang="en-US" sz="1155" dirty="0"/>
          </a:p>
        </p:txBody>
      </p:sp>
      <p:sp>
        <p:nvSpPr>
          <p:cNvPr id="67" name="Text 65"/>
          <p:cNvSpPr/>
          <p:nvPr/>
        </p:nvSpPr>
        <p:spPr>
          <a:xfrm>
            <a:off x="1033272" y="5631688"/>
            <a:ext cx="6931152" cy="224536"/>
          </a:xfrm>
          <a:prstGeom prst="rect">
            <a:avLst/>
          </a:prstGeom>
          <a:noFill/>
          <a:ln/>
        </p:spPr>
        <p:txBody>
          <a:bodyPr wrap="square" lIns="0" tIns="0" rIns="0" bIns="0" rtlCol="0" anchor="ctr">
            <a:normAutofit/>
          </a:bodyPr>
          <a:lstStyle/>
          <a:p>
            <a:pPr indent="0" marL="0">
              <a:buNone/>
            </a:pPr>
            <a:r>
              <a:rPr lang="en-US" sz="1375" dirty="0">
                <a:solidFill>
                  <a:srgbClr val="D9E4F2"/>
                </a:solidFill>
                <a:latin typeface="Aptos Mono" pitchFamily="34" charset="0"/>
                <a:ea typeface="Aptos Mono" pitchFamily="34" charset="-122"/>
                <a:cs typeface="Aptos Mono" pitchFamily="34" charset="-120"/>
              </a:rPr>
              <a:t>  );</a:t>
            </a:r>
            <a:endParaRPr lang="en-US" sz="1375" dirty="0"/>
          </a:p>
        </p:txBody>
      </p:sp>
      <p:sp>
        <p:nvSpPr>
          <p:cNvPr id="68" name="Text 66"/>
          <p:cNvSpPr/>
          <p:nvPr/>
        </p:nvSpPr>
        <p:spPr>
          <a:xfrm>
            <a:off x="640080" y="5869940"/>
            <a:ext cx="320040" cy="224536"/>
          </a:xfrm>
          <a:prstGeom prst="rect">
            <a:avLst/>
          </a:prstGeom>
          <a:noFill/>
          <a:ln/>
        </p:spPr>
        <p:txBody>
          <a:bodyPr wrap="square" lIns="0" tIns="0" rIns="0" bIns="0" rtlCol="0" anchor="ctr"/>
          <a:lstStyle/>
          <a:p>
            <a:pPr algn="r" indent="0" marL="0">
              <a:buNone/>
            </a:pPr>
            <a:r>
              <a:rPr lang="en-US" sz="1155" dirty="0">
                <a:solidFill>
                  <a:srgbClr val="8296AE"/>
                </a:solidFill>
                <a:latin typeface="Aptos Mono" pitchFamily="34" charset="0"/>
                <a:ea typeface="Aptos Mono" pitchFamily="34" charset="-122"/>
                <a:cs typeface="Aptos Mono" pitchFamily="34" charset="-120"/>
              </a:rPr>
              <a:t>18</a:t>
            </a:r>
            <a:endParaRPr lang="en-US" sz="1155" dirty="0"/>
          </a:p>
        </p:txBody>
      </p:sp>
      <p:sp>
        <p:nvSpPr>
          <p:cNvPr id="69" name="Text 67"/>
          <p:cNvSpPr/>
          <p:nvPr/>
        </p:nvSpPr>
        <p:spPr>
          <a:xfrm>
            <a:off x="1033272" y="5856224"/>
            <a:ext cx="6931152" cy="224536"/>
          </a:xfrm>
          <a:prstGeom prst="rect">
            <a:avLst/>
          </a:prstGeom>
          <a:noFill/>
          <a:ln/>
        </p:spPr>
        <p:txBody>
          <a:bodyPr wrap="square" lIns="0" tIns="0" rIns="0" bIns="0" rtlCol="0" anchor="ctr">
            <a:normAutofit/>
          </a:bodyPr>
          <a:lstStyle/>
          <a:p>
            <a:pPr indent="0" marL="0">
              <a:buNone/>
            </a:pPr>
            <a:r>
              <a:rPr lang="en-US" sz="1375" dirty="0">
                <a:solidFill>
                  <a:srgbClr val="D9E4F2"/>
                </a:solidFill>
                <a:latin typeface="Aptos Mono" pitchFamily="34" charset="0"/>
                <a:ea typeface="Aptos Mono" pitchFamily="34" charset="-122"/>
                <a:cs typeface="Aptos Mono" pitchFamily="34" charset="-120"/>
              </a:rPr>
              <a:t>}</a:t>
            </a:r>
            <a:endParaRPr lang="en-US" sz="1375" dirty="0"/>
          </a:p>
        </p:txBody>
      </p:sp>
      <p:sp>
        <p:nvSpPr>
          <p:cNvPr id="70" name="Shape 68"/>
          <p:cNvSpPr/>
          <p:nvPr/>
        </p:nvSpPr>
        <p:spPr>
          <a:xfrm>
            <a:off x="8366760" y="1591056"/>
            <a:ext cx="3310128" cy="4553712"/>
          </a:xfrm>
          <a:prstGeom prst="roundRect">
            <a:avLst>
              <a:gd name="adj" fmla="val 1381"/>
            </a:avLst>
          </a:prstGeom>
          <a:solidFill>
            <a:srgbClr val="122238"/>
          </a:solidFill>
          <a:ln w="12700">
            <a:solidFill>
              <a:srgbClr val="263A55"/>
            </a:solidFill>
            <a:prstDash val="solid"/>
          </a:ln>
        </p:spPr>
      </p:sp>
      <p:sp>
        <p:nvSpPr>
          <p:cNvPr id="71" name="Text 69"/>
          <p:cNvSpPr/>
          <p:nvPr/>
        </p:nvSpPr>
        <p:spPr>
          <a:xfrm>
            <a:off x="8586216" y="1801368"/>
            <a:ext cx="2871216" cy="182880"/>
          </a:xfrm>
          <a:prstGeom prst="rect">
            <a:avLst/>
          </a:prstGeom>
          <a:noFill/>
          <a:ln/>
        </p:spPr>
        <p:txBody>
          <a:bodyPr wrap="square" lIns="0" tIns="0" rIns="0" bIns="0" rtlCol="0" anchor="ctr"/>
          <a:lstStyle/>
          <a:p>
            <a:pPr indent="0" marL="0">
              <a:buNone/>
            </a:pPr>
            <a:r>
              <a:rPr lang="en-US" sz="950" b="1" spc="115" kern="0" dirty="0">
                <a:solidFill>
                  <a:srgbClr val="F5C96A"/>
                </a:solidFill>
                <a:latin typeface="Aptos" pitchFamily="34" charset="0"/>
                <a:ea typeface="Aptos" pitchFamily="34" charset="-122"/>
                <a:cs typeface="Aptos" pitchFamily="34" charset="-120"/>
              </a:rPr>
              <a:t>DA OSSERVARE</a:t>
            </a:r>
            <a:endParaRPr lang="en-US" sz="950" dirty="0"/>
          </a:p>
        </p:txBody>
      </p:sp>
      <p:sp>
        <p:nvSpPr>
          <p:cNvPr id="72" name="Shape 70"/>
          <p:cNvSpPr/>
          <p:nvPr/>
        </p:nvSpPr>
        <p:spPr>
          <a:xfrm>
            <a:off x="8586216" y="2267712"/>
            <a:ext cx="91440" cy="91440"/>
          </a:xfrm>
          <a:prstGeom prst="ellipse">
            <a:avLst/>
          </a:prstGeom>
          <a:solidFill>
            <a:srgbClr val="7CD4FF"/>
          </a:solidFill>
          <a:ln w="12700">
            <a:solidFill>
              <a:srgbClr val="7CD4FF"/>
            </a:solidFill>
            <a:prstDash val="solid"/>
          </a:ln>
        </p:spPr>
      </p:sp>
      <p:sp>
        <p:nvSpPr>
          <p:cNvPr id="73" name="Text 71"/>
          <p:cNvSpPr/>
          <p:nvPr/>
        </p:nvSpPr>
        <p:spPr>
          <a:xfrm>
            <a:off x="8778240" y="2212848"/>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Evento → state → debounce → fetch → UI.</a:t>
            </a:r>
            <a:endParaRPr lang="en-US" sz="1420" dirty="0"/>
          </a:p>
        </p:txBody>
      </p:sp>
      <p:sp>
        <p:nvSpPr>
          <p:cNvPr id="74" name="Shape 72"/>
          <p:cNvSpPr/>
          <p:nvPr/>
        </p:nvSpPr>
        <p:spPr>
          <a:xfrm>
            <a:off x="8586216" y="2980944"/>
            <a:ext cx="91440" cy="91440"/>
          </a:xfrm>
          <a:prstGeom prst="ellipse">
            <a:avLst/>
          </a:prstGeom>
          <a:solidFill>
            <a:srgbClr val="7CD4FF"/>
          </a:solidFill>
          <a:ln w="12700">
            <a:solidFill>
              <a:srgbClr val="7CD4FF"/>
            </a:solidFill>
            <a:prstDash val="solid"/>
          </a:ln>
        </p:spPr>
      </p:sp>
      <p:sp>
        <p:nvSpPr>
          <p:cNvPr id="75" name="Text 73"/>
          <p:cNvSpPr/>
          <p:nvPr/>
        </p:nvSpPr>
        <p:spPr>
          <a:xfrm>
            <a:off x="8778240" y="2926080"/>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La page orchestra stati e componenti.</a:t>
            </a:r>
            <a:endParaRPr lang="en-US" sz="1420" dirty="0"/>
          </a:p>
        </p:txBody>
      </p:sp>
      <p:sp>
        <p:nvSpPr>
          <p:cNvPr id="76" name="Shape 74"/>
          <p:cNvSpPr/>
          <p:nvPr/>
        </p:nvSpPr>
        <p:spPr>
          <a:xfrm>
            <a:off x="8586216" y="3694176"/>
            <a:ext cx="91440" cy="91440"/>
          </a:xfrm>
          <a:prstGeom prst="ellipse">
            <a:avLst/>
          </a:prstGeom>
          <a:solidFill>
            <a:srgbClr val="7CD4FF"/>
          </a:solidFill>
          <a:ln w="12700">
            <a:solidFill>
              <a:srgbClr val="7CD4FF"/>
            </a:solidFill>
            <a:prstDash val="solid"/>
          </a:ln>
        </p:spPr>
      </p:sp>
      <p:sp>
        <p:nvSpPr>
          <p:cNvPr id="77" name="Text 75"/>
          <p:cNvSpPr/>
          <p:nvPr/>
        </p:nvSpPr>
        <p:spPr>
          <a:xfrm>
            <a:off x="8778240" y="3639312"/>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Ogni confine resta visibile nel JSX.</a:t>
            </a:r>
            <a:endParaRPr lang="en-US" sz="142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71</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SVILUPPO</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Strict Mode verifica la simmetria del processo</a:t>
            </a:r>
            <a:endParaRPr lang="en-US" sz="2700" dirty="0"/>
          </a:p>
        </p:txBody>
      </p:sp>
      <p:sp>
        <p:nvSpPr>
          <p:cNvPr id="29" name="Shape 27"/>
          <p:cNvSpPr/>
          <p:nvPr/>
        </p:nvSpPr>
        <p:spPr>
          <a:xfrm>
            <a:off x="530352" y="1591056"/>
            <a:ext cx="7589520" cy="4553712"/>
          </a:xfrm>
          <a:prstGeom prst="roundRect">
            <a:avLst>
              <a:gd name="adj" fmla="val 1004"/>
            </a:avLst>
          </a:prstGeom>
          <a:solidFill>
            <a:srgbClr val="0D1A2B"/>
          </a:solidFill>
          <a:ln w="13970">
            <a:solidFill>
              <a:srgbClr val="263A55"/>
            </a:solidFill>
            <a:prstDash val="solid"/>
          </a:ln>
        </p:spPr>
      </p:sp>
      <p:sp>
        <p:nvSpPr>
          <p:cNvPr id="30" name="Shape 28"/>
          <p:cNvSpPr/>
          <p:nvPr/>
        </p:nvSpPr>
        <p:spPr>
          <a:xfrm>
            <a:off x="530352" y="1591056"/>
            <a:ext cx="7589520" cy="347472"/>
          </a:xfrm>
          <a:prstGeom prst="rect">
            <a:avLst/>
          </a:prstGeom>
          <a:solidFill>
            <a:srgbClr val="122238"/>
          </a:solidFill>
          <a:ln w="12700">
            <a:solidFill>
              <a:srgbClr val="122238"/>
            </a:solidFill>
            <a:prstDash val="solid"/>
          </a:ln>
        </p:spPr>
      </p:sp>
      <p:sp>
        <p:nvSpPr>
          <p:cNvPr id="31" name="Shape 29"/>
          <p:cNvSpPr/>
          <p:nvPr/>
        </p:nvSpPr>
        <p:spPr>
          <a:xfrm>
            <a:off x="694944" y="1632204"/>
            <a:ext cx="658368" cy="274320"/>
          </a:xfrm>
          <a:prstGeom prst="roundRect">
            <a:avLst>
              <a:gd name="adj" fmla="val 20000"/>
            </a:avLst>
          </a:prstGeom>
          <a:solidFill>
            <a:srgbClr val="7CD4FF">
              <a:alpha val="20000"/>
            </a:srgbClr>
          </a:solidFill>
          <a:ln w="10160">
            <a:solidFill>
              <a:srgbClr val="7CD4FF">
                <a:alpha val="55000"/>
              </a:srgbClr>
            </a:solidFill>
            <a:prstDash val="solid"/>
          </a:ln>
        </p:spPr>
      </p:sp>
      <p:sp>
        <p:nvSpPr>
          <p:cNvPr id="32" name="Text 30"/>
          <p:cNvSpPr/>
          <p:nvPr/>
        </p:nvSpPr>
        <p:spPr>
          <a:xfrm>
            <a:off x="786384" y="1691640"/>
            <a:ext cx="475488" cy="128016"/>
          </a:xfrm>
          <a:prstGeom prst="rect">
            <a:avLst/>
          </a:prstGeom>
          <a:noFill/>
          <a:ln/>
        </p:spPr>
        <p:txBody>
          <a:bodyPr wrap="square" lIns="0" tIns="0" rIns="0" bIns="0" rtlCol="0" anchor="ctr"/>
          <a:lstStyle/>
          <a:p>
            <a:pPr algn="ctr" indent="0" marL="0">
              <a:buNone/>
            </a:pPr>
            <a:r>
              <a:rPr lang="en-US" sz="820" b="1" dirty="0">
                <a:solidFill>
                  <a:srgbClr val="7CD4FF"/>
                </a:solidFill>
                <a:latin typeface="Aptos Mono" pitchFamily="34" charset="0"/>
                <a:ea typeface="Aptos Mono" pitchFamily="34" charset="-122"/>
                <a:cs typeface="Aptos Mono" pitchFamily="34" charset="-120"/>
              </a:rPr>
              <a:t>TSX</a:t>
            </a:r>
            <a:endParaRPr lang="en-US" sz="820" dirty="0"/>
          </a:p>
        </p:txBody>
      </p:sp>
      <p:sp>
        <p:nvSpPr>
          <p:cNvPr id="33" name="Text 31"/>
          <p:cNvSpPr/>
          <p:nvPr/>
        </p:nvSpPr>
        <p:spPr>
          <a:xfrm>
            <a:off x="1490472" y="1687068"/>
            <a:ext cx="6355080" cy="128016"/>
          </a:xfrm>
          <a:prstGeom prst="rect">
            <a:avLst/>
          </a:prstGeom>
          <a:noFill/>
          <a:ln/>
        </p:spPr>
        <p:txBody>
          <a:bodyPr wrap="square" lIns="0" tIns="0" rIns="0" bIns="0" rtlCol="0" anchor="ctr"/>
          <a:lstStyle/>
          <a:p>
            <a:pPr algn="r" indent="0" marL="0">
              <a:buNone/>
            </a:pPr>
            <a:r>
              <a:rPr lang="en-US" sz="880" dirty="0">
                <a:solidFill>
                  <a:srgbClr val="9DB0C7"/>
                </a:solidFill>
                <a:latin typeface="Aptos Mono" pitchFamily="34" charset="0"/>
                <a:ea typeface="Aptos Mono" pitchFamily="34" charset="-122"/>
                <a:cs typeface="Aptos Mono" pitchFamily="34" charset="-120"/>
              </a:rPr>
              <a:t>TicketChannel.tsx</a:t>
            </a:r>
            <a:endParaRPr lang="en-US" sz="880" dirty="0"/>
          </a:p>
        </p:txBody>
      </p:sp>
      <p:sp>
        <p:nvSpPr>
          <p:cNvPr id="34" name="Text 32"/>
          <p:cNvSpPr/>
          <p:nvPr/>
        </p:nvSpPr>
        <p:spPr>
          <a:xfrm>
            <a:off x="640080" y="205282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01</a:t>
            </a:r>
            <a:endParaRPr lang="en-US" sz="1200" dirty="0"/>
          </a:p>
        </p:txBody>
      </p:sp>
      <p:sp>
        <p:nvSpPr>
          <p:cNvPr id="35" name="Text 33"/>
          <p:cNvSpPr/>
          <p:nvPr/>
        </p:nvSpPr>
        <p:spPr>
          <a:xfrm>
            <a:off x="1033272" y="203911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useEffect(() =&gt; {</a:t>
            </a:r>
            <a:endParaRPr lang="en-US" sz="1420" dirty="0"/>
          </a:p>
        </p:txBody>
      </p:sp>
      <p:sp>
        <p:nvSpPr>
          <p:cNvPr id="36" name="Text 34"/>
          <p:cNvSpPr/>
          <p:nvPr/>
        </p:nvSpPr>
        <p:spPr>
          <a:xfrm>
            <a:off x="640080" y="229514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02</a:t>
            </a:r>
            <a:endParaRPr lang="en-US" sz="1200" dirty="0"/>
          </a:p>
        </p:txBody>
      </p:sp>
      <p:sp>
        <p:nvSpPr>
          <p:cNvPr id="37" name="Text 35"/>
          <p:cNvSpPr/>
          <p:nvPr/>
        </p:nvSpPr>
        <p:spPr>
          <a:xfrm>
            <a:off x="1033272" y="228142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const connection = createConnection(ticketId);</a:t>
            </a:r>
            <a:endParaRPr lang="en-US" sz="1420" dirty="0"/>
          </a:p>
        </p:txBody>
      </p:sp>
      <p:sp>
        <p:nvSpPr>
          <p:cNvPr id="38" name="Text 36"/>
          <p:cNvSpPr/>
          <p:nvPr/>
        </p:nvSpPr>
        <p:spPr>
          <a:xfrm>
            <a:off x="640080" y="253746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03</a:t>
            </a:r>
            <a:endParaRPr lang="en-US" sz="1200" dirty="0"/>
          </a:p>
        </p:txBody>
      </p:sp>
      <p:sp>
        <p:nvSpPr>
          <p:cNvPr id="39" name="Text 37"/>
          <p:cNvSpPr/>
          <p:nvPr/>
        </p:nvSpPr>
        <p:spPr>
          <a:xfrm>
            <a:off x="1033272" y="2523744"/>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connection.connect();</a:t>
            </a:r>
            <a:endParaRPr lang="en-US" sz="1420" dirty="0"/>
          </a:p>
        </p:txBody>
      </p:sp>
      <p:sp>
        <p:nvSpPr>
          <p:cNvPr id="40" name="Text 38"/>
          <p:cNvSpPr/>
          <p:nvPr/>
        </p:nvSpPr>
        <p:spPr>
          <a:xfrm>
            <a:off x="640080" y="277977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04</a:t>
            </a:r>
            <a:endParaRPr lang="en-US" sz="1200" dirty="0"/>
          </a:p>
        </p:txBody>
      </p:sp>
      <p:sp>
        <p:nvSpPr>
          <p:cNvPr id="41" name="Text 39"/>
          <p:cNvSpPr/>
          <p:nvPr/>
        </p:nvSpPr>
        <p:spPr>
          <a:xfrm>
            <a:off x="1033272" y="2766060"/>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42" name="Text 40"/>
          <p:cNvSpPr/>
          <p:nvPr/>
        </p:nvSpPr>
        <p:spPr>
          <a:xfrm>
            <a:off x="640080" y="3022092"/>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05</a:t>
            </a:r>
            <a:endParaRPr lang="en-US" sz="1200" dirty="0"/>
          </a:p>
        </p:txBody>
      </p:sp>
      <p:sp>
        <p:nvSpPr>
          <p:cNvPr id="43" name="Text 41"/>
          <p:cNvSpPr/>
          <p:nvPr/>
        </p:nvSpPr>
        <p:spPr>
          <a:xfrm>
            <a:off x="1033272" y="3008376"/>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return () =&gt; {</a:t>
            </a:r>
            <a:endParaRPr lang="en-US" sz="1420" dirty="0"/>
          </a:p>
        </p:txBody>
      </p:sp>
      <p:sp>
        <p:nvSpPr>
          <p:cNvPr id="44" name="Text 42"/>
          <p:cNvSpPr/>
          <p:nvPr/>
        </p:nvSpPr>
        <p:spPr>
          <a:xfrm>
            <a:off x="640080" y="326440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06</a:t>
            </a:r>
            <a:endParaRPr lang="en-US" sz="1200" dirty="0"/>
          </a:p>
        </p:txBody>
      </p:sp>
      <p:sp>
        <p:nvSpPr>
          <p:cNvPr id="45" name="Text 43"/>
          <p:cNvSpPr/>
          <p:nvPr/>
        </p:nvSpPr>
        <p:spPr>
          <a:xfrm>
            <a:off x="1033272" y="3250692"/>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connection.disconnect();</a:t>
            </a:r>
            <a:endParaRPr lang="en-US" sz="1420" dirty="0"/>
          </a:p>
        </p:txBody>
      </p:sp>
      <p:sp>
        <p:nvSpPr>
          <p:cNvPr id="46" name="Text 44"/>
          <p:cNvSpPr/>
          <p:nvPr/>
        </p:nvSpPr>
        <p:spPr>
          <a:xfrm>
            <a:off x="640080" y="350672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07</a:t>
            </a:r>
            <a:endParaRPr lang="en-US" sz="1200" dirty="0"/>
          </a:p>
        </p:txBody>
      </p:sp>
      <p:sp>
        <p:nvSpPr>
          <p:cNvPr id="47" name="Text 45"/>
          <p:cNvSpPr/>
          <p:nvPr/>
        </p:nvSpPr>
        <p:spPr>
          <a:xfrm>
            <a:off x="1033272" y="349300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48" name="Text 46"/>
          <p:cNvSpPr/>
          <p:nvPr/>
        </p:nvSpPr>
        <p:spPr>
          <a:xfrm>
            <a:off x="640080" y="374904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08</a:t>
            </a:r>
            <a:endParaRPr lang="en-US" sz="1200" dirty="0"/>
          </a:p>
        </p:txBody>
      </p:sp>
      <p:sp>
        <p:nvSpPr>
          <p:cNvPr id="49" name="Text 47"/>
          <p:cNvSpPr/>
          <p:nvPr/>
        </p:nvSpPr>
        <p:spPr>
          <a:xfrm>
            <a:off x="1033272" y="3735324"/>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[ticketId]);</a:t>
            </a:r>
            <a:endParaRPr lang="en-US" sz="1420" dirty="0"/>
          </a:p>
        </p:txBody>
      </p:sp>
      <p:sp>
        <p:nvSpPr>
          <p:cNvPr id="50" name="Text 48"/>
          <p:cNvSpPr/>
          <p:nvPr/>
        </p:nvSpPr>
        <p:spPr>
          <a:xfrm>
            <a:off x="640080" y="399135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09</a:t>
            </a:r>
            <a:endParaRPr lang="en-US" sz="1200" dirty="0"/>
          </a:p>
        </p:txBody>
      </p:sp>
      <p:sp>
        <p:nvSpPr>
          <p:cNvPr id="51" name="Text 49"/>
          <p:cNvSpPr/>
          <p:nvPr/>
        </p:nvSpPr>
        <p:spPr>
          <a:xfrm>
            <a:off x="1033272" y="3977640"/>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52" name="Text 50"/>
          <p:cNvSpPr/>
          <p:nvPr/>
        </p:nvSpPr>
        <p:spPr>
          <a:xfrm>
            <a:off x="640080" y="4233672"/>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10</a:t>
            </a:r>
            <a:endParaRPr lang="en-US" sz="1200" dirty="0"/>
          </a:p>
        </p:txBody>
      </p:sp>
      <p:sp>
        <p:nvSpPr>
          <p:cNvPr id="53" name="Text 51"/>
          <p:cNvSpPr/>
          <p:nvPr/>
        </p:nvSpPr>
        <p:spPr>
          <a:xfrm>
            <a:off x="1033272" y="4219956"/>
            <a:ext cx="6931152" cy="242316"/>
          </a:xfrm>
          <a:prstGeom prst="rect">
            <a:avLst/>
          </a:prstGeom>
          <a:noFill/>
          <a:ln/>
        </p:spPr>
        <p:txBody>
          <a:bodyPr wrap="square" lIns="0" tIns="0" rIns="0" bIns="0" rtlCol="0" anchor="ctr">
            <a:normAutofit/>
          </a:bodyPr>
          <a:lstStyle/>
          <a:p>
            <a:pPr indent="0" marL="0">
              <a:buNone/>
            </a:pPr>
            <a:r>
              <a:rPr lang="en-US" sz="1420" dirty="0">
                <a:solidFill>
                  <a:srgbClr val="78C9A6"/>
                </a:solidFill>
                <a:latin typeface="Aptos Mono" pitchFamily="34" charset="0"/>
                <a:ea typeface="Aptos Mono" pitchFamily="34" charset="-122"/>
                <a:cs typeface="Aptos Mono" pitchFamily="34" charset="-120"/>
              </a:rPr>
              <a:t>// In sviluppo con Strict Mode:</a:t>
            </a:r>
            <a:endParaRPr lang="en-US" sz="1420" dirty="0"/>
          </a:p>
        </p:txBody>
      </p:sp>
      <p:sp>
        <p:nvSpPr>
          <p:cNvPr id="54" name="Text 52"/>
          <p:cNvSpPr/>
          <p:nvPr/>
        </p:nvSpPr>
        <p:spPr>
          <a:xfrm>
            <a:off x="640080" y="4475988"/>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11</a:t>
            </a:r>
            <a:endParaRPr lang="en-US" sz="1200" dirty="0"/>
          </a:p>
        </p:txBody>
      </p:sp>
      <p:sp>
        <p:nvSpPr>
          <p:cNvPr id="55" name="Text 53"/>
          <p:cNvSpPr/>
          <p:nvPr/>
        </p:nvSpPr>
        <p:spPr>
          <a:xfrm>
            <a:off x="1033272" y="4462272"/>
            <a:ext cx="6931152" cy="242316"/>
          </a:xfrm>
          <a:prstGeom prst="rect">
            <a:avLst/>
          </a:prstGeom>
          <a:noFill/>
          <a:ln/>
        </p:spPr>
        <p:txBody>
          <a:bodyPr wrap="square" lIns="0" tIns="0" rIns="0" bIns="0" rtlCol="0" anchor="ctr">
            <a:normAutofit/>
          </a:bodyPr>
          <a:lstStyle/>
          <a:p>
            <a:pPr indent="0" marL="0">
              <a:buNone/>
            </a:pPr>
            <a:r>
              <a:rPr lang="en-US" sz="1420" dirty="0">
                <a:solidFill>
                  <a:srgbClr val="78C9A6"/>
                </a:solidFill>
                <a:latin typeface="Aptos Mono" pitchFamily="34" charset="0"/>
                <a:ea typeface="Aptos Mono" pitchFamily="34" charset="-122"/>
                <a:cs typeface="Aptos Mono" pitchFamily="34" charset="-120"/>
              </a:rPr>
              <a:t>// setup → cleanup → setup reale</a:t>
            </a:r>
            <a:endParaRPr lang="en-US" sz="1420" dirty="0"/>
          </a:p>
        </p:txBody>
      </p:sp>
      <p:sp>
        <p:nvSpPr>
          <p:cNvPr id="56" name="Text 54"/>
          <p:cNvSpPr/>
          <p:nvPr/>
        </p:nvSpPr>
        <p:spPr>
          <a:xfrm>
            <a:off x="640080" y="4718304"/>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12</a:t>
            </a:r>
            <a:endParaRPr lang="en-US" sz="1200" dirty="0"/>
          </a:p>
        </p:txBody>
      </p:sp>
      <p:sp>
        <p:nvSpPr>
          <p:cNvPr id="57" name="Text 55"/>
          <p:cNvSpPr/>
          <p:nvPr/>
        </p:nvSpPr>
        <p:spPr>
          <a:xfrm>
            <a:off x="1033272" y="4704588"/>
            <a:ext cx="6931152" cy="242316"/>
          </a:xfrm>
          <a:prstGeom prst="rect">
            <a:avLst/>
          </a:prstGeom>
          <a:noFill/>
          <a:ln/>
        </p:spPr>
        <p:txBody>
          <a:bodyPr wrap="square" lIns="0" tIns="0" rIns="0" bIns="0" rtlCol="0" anchor="ctr">
            <a:normAutofit/>
          </a:bodyPr>
          <a:lstStyle/>
          <a:p>
            <a:pPr indent="0" marL="0">
              <a:buNone/>
            </a:pPr>
            <a:r>
              <a:rPr lang="en-US" sz="1420" dirty="0">
                <a:solidFill>
                  <a:srgbClr val="D9E4F2"/>
                </a:solidFill>
                <a:latin typeface="Aptos Mono" pitchFamily="34" charset="0"/>
                <a:ea typeface="Aptos Mono" pitchFamily="34" charset="-122"/>
                <a:cs typeface="Aptos Mono" pitchFamily="34" charset="-120"/>
              </a:rPr>
              <a:t> </a:t>
            </a:r>
            <a:endParaRPr lang="en-US" sz="1420" dirty="0"/>
          </a:p>
        </p:txBody>
      </p:sp>
      <p:sp>
        <p:nvSpPr>
          <p:cNvPr id="58" name="Text 56"/>
          <p:cNvSpPr/>
          <p:nvPr/>
        </p:nvSpPr>
        <p:spPr>
          <a:xfrm>
            <a:off x="640080" y="4960620"/>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13</a:t>
            </a:r>
            <a:endParaRPr lang="en-US" sz="1200" dirty="0"/>
          </a:p>
        </p:txBody>
      </p:sp>
      <p:sp>
        <p:nvSpPr>
          <p:cNvPr id="59" name="Text 57"/>
          <p:cNvSpPr/>
          <p:nvPr/>
        </p:nvSpPr>
        <p:spPr>
          <a:xfrm>
            <a:off x="1033272" y="4946904"/>
            <a:ext cx="6931152" cy="242316"/>
          </a:xfrm>
          <a:prstGeom prst="rect">
            <a:avLst/>
          </a:prstGeom>
          <a:noFill/>
          <a:ln/>
        </p:spPr>
        <p:txBody>
          <a:bodyPr wrap="square" lIns="0" tIns="0" rIns="0" bIns="0" rtlCol="0" anchor="ctr">
            <a:normAutofit/>
          </a:bodyPr>
          <a:lstStyle/>
          <a:p>
            <a:pPr indent="0" marL="0">
              <a:buNone/>
            </a:pPr>
            <a:r>
              <a:rPr lang="en-US" sz="1420" dirty="0">
                <a:solidFill>
                  <a:srgbClr val="78C9A6"/>
                </a:solidFill>
                <a:latin typeface="Aptos Mono" pitchFamily="34" charset="0"/>
                <a:ea typeface="Aptos Mono" pitchFamily="34" charset="-122"/>
                <a:cs typeface="Aptos Mono" pitchFamily="34" charset="-120"/>
              </a:rPr>
              <a:t>// Non bloccare il secondo setup con un ref.</a:t>
            </a:r>
            <a:endParaRPr lang="en-US" sz="1420" dirty="0"/>
          </a:p>
        </p:txBody>
      </p:sp>
      <p:sp>
        <p:nvSpPr>
          <p:cNvPr id="60" name="Text 58"/>
          <p:cNvSpPr/>
          <p:nvPr/>
        </p:nvSpPr>
        <p:spPr>
          <a:xfrm>
            <a:off x="640080" y="5202936"/>
            <a:ext cx="320040" cy="242316"/>
          </a:xfrm>
          <a:prstGeom prst="rect">
            <a:avLst/>
          </a:prstGeom>
          <a:noFill/>
          <a:ln/>
        </p:spPr>
        <p:txBody>
          <a:bodyPr wrap="square" lIns="0" tIns="0" rIns="0" bIns="0" rtlCol="0" anchor="ctr"/>
          <a:lstStyle/>
          <a:p>
            <a:pPr algn="r" indent="0" marL="0">
              <a:buNone/>
            </a:pPr>
            <a:r>
              <a:rPr lang="en-US" sz="1200" dirty="0">
                <a:solidFill>
                  <a:srgbClr val="8296AE"/>
                </a:solidFill>
                <a:latin typeface="Aptos Mono" pitchFamily="34" charset="0"/>
                <a:ea typeface="Aptos Mono" pitchFamily="34" charset="-122"/>
                <a:cs typeface="Aptos Mono" pitchFamily="34" charset="-120"/>
              </a:rPr>
              <a:t>14</a:t>
            </a:r>
            <a:endParaRPr lang="en-US" sz="1200" dirty="0"/>
          </a:p>
        </p:txBody>
      </p:sp>
      <p:sp>
        <p:nvSpPr>
          <p:cNvPr id="61" name="Text 59"/>
          <p:cNvSpPr/>
          <p:nvPr/>
        </p:nvSpPr>
        <p:spPr>
          <a:xfrm>
            <a:off x="1033272" y="5189220"/>
            <a:ext cx="6931152" cy="242316"/>
          </a:xfrm>
          <a:prstGeom prst="rect">
            <a:avLst/>
          </a:prstGeom>
          <a:noFill/>
          <a:ln/>
        </p:spPr>
        <p:txBody>
          <a:bodyPr wrap="square" lIns="0" tIns="0" rIns="0" bIns="0" rtlCol="0" anchor="ctr">
            <a:normAutofit/>
          </a:bodyPr>
          <a:lstStyle/>
          <a:p>
            <a:pPr indent="0" marL="0">
              <a:buNone/>
            </a:pPr>
            <a:r>
              <a:rPr lang="en-US" sz="1420" dirty="0">
                <a:solidFill>
                  <a:srgbClr val="78C9A6"/>
                </a:solidFill>
                <a:latin typeface="Aptos Mono" pitchFamily="34" charset="0"/>
                <a:ea typeface="Aptos Mono" pitchFamily="34" charset="-122"/>
                <a:cs typeface="Aptos Mono" pitchFamily="34" charset="-120"/>
              </a:rPr>
              <a:t>// Correggi invece la cleanup incompleta.</a:t>
            </a:r>
            <a:endParaRPr lang="en-US" sz="1420" dirty="0"/>
          </a:p>
        </p:txBody>
      </p:sp>
      <p:sp>
        <p:nvSpPr>
          <p:cNvPr id="62" name="Shape 60"/>
          <p:cNvSpPr/>
          <p:nvPr/>
        </p:nvSpPr>
        <p:spPr>
          <a:xfrm>
            <a:off x="8366760" y="1591056"/>
            <a:ext cx="3310128" cy="4553712"/>
          </a:xfrm>
          <a:prstGeom prst="roundRect">
            <a:avLst>
              <a:gd name="adj" fmla="val 1381"/>
            </a:avLst>
          </a:prstGeom>
          <a:solidFill>
            <a:srgbClr val="122238"/>
          </a:solidFill>
          <a:ln w="12700">
            <a:solidFill>
              <a:srgbClr val="263A55"/>
            </a:solidFill>
            <a:prstDash val="solid"/>
          </a:ln>
        </p:spPr>
      </p:sp>
      <p:sp>
        <p:nvSpPr>
          <p:cNvPr id="63" name="Text 61"/>
          <p:cNvSpPr/>
          <p:nvPr/>
        </p:nvSpPr>
        <p:spPr>
          <a:xfrm>
            <a:off x="8586216" y="1801368"/>
            <a:ext cx="2871216" cy="182880"/>
          </a:xfrm>
          <a:prstGeom prst="rect">
            <a:avLst/>
          </a:prstGeom>
          <a:noFill/>
          <a:ln/>
        </p:spPr>
        <p:txBody>
          <a:bodyPr wrap="square" lIns="0" tIns="0" rIns="0" bIns="0" rtlCol="0" anchor="ctr"/>
          <a:lstStyle/>
          <a:p>
            <a:pPr indent="0" marL="0">
              <a:buNone/>
            </a:pPr>
            <a:r>
              <a:rPr lang="en-US" sz="950" b="1" spc="115" kern="0" dirty="0">
                <a:solidFill>
                  <a:srgbClr val="F5C96A"/>
                </a:solidFill>
                <a:latin typeface="Aptos" pitchFamily="34" charset="0"/>
                <a:ea typeface="Aptos" pitchFamily="34" charset="-122"/>
                <a:cs typeface="Aptos" pitchFamily="34" charset="-120"/>
              </a:rPr>
              <a:t>DA OSSERVARE</a:t>
            </a:r>
            <a:endParaRPr lang="en-US" sz="950" dirty="0"/>
          </a:p>
        </p:txBody>
      </p:sp>
      <p:sp>
        <p:nvSpPr>
          <p:cNvPr id="64" name="Shape 62"/>
          <p:cNvSpPr/>
          <p:nvPr/>
        </p:nvSpPr>
        <p:spPr>
          <a:xfrm>
            <a:off x="8586216" y="2267712"/>
            <a:ext cx="91440" cy="91440"/>
          </a:xfrm>
          <a:prstGeom prst="ellipse">
            <a:avLst/>
          </a:prstGeom>
          <a:solidFill>
            <a:srgbClr val="7CD4FF"/>
          </a:solidFill>
          <a:ln w="12700">
            <a:solidFill>
              <a:srgbClr val="7CD4FF"/>
            </a:solidFill>
            <a:prstDash val="solid"/>
          </a:ln>
        </p:spPr>
      </p:sp>
      <p:sp>
        <p:nvSpPr>
          <p:cNvPr id="65" name="Text 63"/>
          <p:cNvSpPr/>
          <p:nvPr/>
        </p:nvSpPr>
        <p:spPr>
          <a:xfrm>
            <a:off x="8778240" y="2212848"/>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Il ciclo extra avviene in sviluppo.</a:t>
            </a:r>
            <a:endParaRPr lang="en-US" sz="1420" dirty="0"/>
          </a:p>
        </p:txBody>
      </p:sp>
      <p:sp>
        <p:nvSpPr>
          <p:cNvPr id="66" name="Shape 64"/>
          <p:cNvSpPr/>
          <p:nvPr/>
        </p:nvSpPr>
        <p:spPr>
          <a:xfrm>
            <a:off x="8586216" y="2980944"/>
            <a:ext cx="91440" cy="91440"/>
          </a:xfrm>
          <a:prstGeom prst="ellipse">
            <a:avLst/>
          </a:prstGeom>
          <a:solidFill>
            <a:srgbClr val="7CD4FF"/>
          </a:solidFill>
          <a:ln w="12700">
            <a:solidFill>
              <a:srgbClr val="7CD4FF"/>
            </a:solidFill>
            <a:prstDash val="solid"/>
          </a:ln>
        </p:spPr>
      </p:sp>
      <p:sp>
        <p:nvSpPr>
          <p:cNvPr id="67" name="Text 65"/>
          <p:cNvSpPr/>
          <p:nvPr/>
        </p:nvSpPr>
        <p:spPr>
          <a:xfrm>
            <a:off x="8778240" y="2926080"/>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Serve a far emergere processi non simmetrici.</a:t>
            </a:r>
            <a:endParaRPr lang="en-US" sz="1420" dirty="0"/>
          </a:p>
        </p:txBody>
      </p:sp>
      <p:sp>
        <p:nvSpPr>
          <p:cNvPr id="68" name="Shape 66"/>
          <p:cNvSpPr/>
          <p:nvPr/>
        </p:nvSpPr>
        <p:spPr>
          <a:xfrm>
            <a:off x="8586216" y="3694176"/>
            <a:ext cx="91440" cy="91440"/>
          </a:xfrm>
          <a:prstGeom prst="ellipse">
            <a:avLst/>
          </a:prstGeom>
          <a:solidFill>
            <a:srgbClr val="7CD4FF"/>
          </a:solidFill>
          <a:ln w="12700">
            <a:solidFill>
              <a:srgbClr val="7CD4FF"/>
            </a:solidFill>
            <a:prstDash val="solid"/>
          </a:ln>
        </p:spPr>
      </p:sp>
      <p:sp>
        <p:nvSpPr>
          <p:cNvPr id="69" name="Text 67"/>
          <p:cNvSpPr/>
          <p:nvPr/>
        </p:nvSpPr>
        <p:spPr>
          <a:xfrm>
            <a:off x="8778240" y="3639312"/>
            <a:ext cx="2679192"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La produzione usa il ciclo normale.</a:t>
            </a:r>
            <a:endParaRPr lang="en-US" sz="142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CODE LAB</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72</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CONSEGNA OPERATIVA</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Laboratorio: rifattorizzare la ricerca ticket</a:t>
            </a:r>
            <a:endParaRPr lang="en-US" sz="2700" dirty="0"/>
          </a:p>
        </p:txBody>
      </p:sp>
      <p:sp>
        <p:nvSpPr>
          <p:cNvPr id="29" name="Shape 27"/>
          <p:cNvSpPr/>
          <p:nvPr/>
        </p:nvSpPr>
        <p:spPr>
          <a:xfrm>
            <a:off x="530352" y="1645920"/>
            <a:ext cx="7040880" cy="4343400"/>
          </a:xfrm>
          <a:prstGeom prst="roundRect">
            <a:avLst>
              <a:gd name="adj" fmla="val 1263"/>
            </a:avLst>
          </a:prstGeom>
          <a:solidFill>
            <a:srgbClr val="0D1A2B"/>
          </a:solidFill>
          <a:ln w="12700">
            <a:solidFill>
              <a:srgbClr val="263A55"/>
            </a:solidFill>
            <a:prstDash val="solid"/>
          </a:ln>
        </p:spPr>
      </p:sp>
      <p:sp>
        <p:nvSpPr>
          <p:cNvPr id="30" name="Text 28"/>
          <p:cNvSpPr/>
          <p:nvPr/>
        </p:nvSpPr>
        <p:spPr>
          <a:xfrm>
            <a:off x="804672" y="1938528"/>
            <a:ext cx="1828800" cy="182880"/>
          </a:xfrm>
          <a:prstGeom prst="rect">
            <a:avLst/>
          </a:prstGeom>
          <a:noFill/>
          <a:ln/>
        </p:spPr>
        <p:txBody>
          <a:bodyPr wrap="square" lIns="0" tIns="0" rIns="0" bIns="0" rtlCol="0" anchor="ctr"/>
          <a:lstStyle/>
          <a:p>
            <a:pPr indent="0" marL="0">
              <a:buNone/>
            </a:pPr>
            <a:r>
              <a:rPr lang="en-US" sz="950" b="1" spc="120" kern="0" dirty="0">
                <a:solidFill>
                  <a:srgbClr val="6FE3B1"/>
                </a:solidFill>
                <a:latin typeface="Aptos" pitchFamily="34" charset="0"/>
                <a:ea typeface="Aptos" pitchFamily="34" charset="-122"/>
                <a:cs typeface="Aptos" pitchFamily="34" charset="-120"/>
              </a:rPr>
              <a:t>DEFINIZIONE</a:t>
            </a:r>
            <a:endParaRPr lang="en-US" sz="950" dirty="0"/>
          </a:p>
        </p:txBody>
      </p:sp>
      <p:sp>
        <p:nvSpPr>
          <p:cNvPr id="31" name="Text 29"/>
          <p:cNvSpPr/>
          <p:nvPr/>
        </p:nvSpPr>
        <p:spPr>
          <a:xfrm>
            <a:off x="804672" y="2331720"/>
            <a:ext cx="6355080" cy="1325880"/>
          </a:xfrm>
          <a:prstGeom prst="rect">
            <a:avLst/>
          </a:prstGeom>
          <a:noFill/>
          <a:ln/>
        </p:spPr>
        <p:txBody>
          <a:bodyPr wrap="square" lIns="0" tIns="0" rIns="0" bIns="0" rtlCol="0" anchor="ctr">
            <a:normAutofit/>
          </a:bodyPr>
          <a:lstStyle/>
          <a:p>
            <a:pPr indent="0" marL="0">
              <a:buNone/>
            </a:pPr>
            <a:r>
              <a:rPr lang="en-US" sz="2300" b="1" dirty="0">
                <a:solidFill>
                  <a:srgbClr val="F4F7FB"/>
                </a:solidFill>
                <a:latin typeface="Aptos Display" pitchFamily="34" charset="0"/>
                <a:ea typeface="Aptos Display" pitchFamily="34" charset="-122"/>
                <a:cs typeface="Aptos Display" pitchFamily="34" charset="-120"/>
              </a:rPr>
              <a:t>Partire da una pagina monolitica e ottenere feature, componenti, hook, service e cleanup verificabile.</a:t>
            </a:r>
            <a:endParaRPr lang="en-US" sz="2300" dirty="0"/>
          </a:p>
        </p:txBody>
      </p:sp>
      <p:sp>
        <p:nvSpPr>
          <p:cNvPr id="32" name="Shape 30"/>
          <p:cNvSpPr/>
          <p:nvPr/>
        </p:nvSpPr>
        <p:spPr>
          <a:xfrm>
            <a:off x="804672" y="3886200"/>
            <a:ext cx="6309360" cy="0"/>
          </a:xfrm>
          <a:prstGeom prst="line">
            <a:avLst/>
          </a:prstGeom>
          <a:noFill/>
          <a:ln w="12700">
            <a:solidFill>
              <a:srgbClr val="263A55"/>
            </a:solidFill>
            <a:prstDash val="solid"/>
          </a:ln>
        </p:spPr>
      </p:sp>
      <p:sp>
        <p:nvSpPr>
          <p:cNvPr id="33" name="Text 31"/>
          <p:cNvSpPr/>
          <p:nvPr/>
        </p:nvSpPr>
        <p:spPr>
          <a:xfrm>
            <a:off x="804672" y="4160520"/>
            <a:ext cx="1828800" cy="182880"/>
          </a:xfrm>
          <a:prstGeom prst="rect">
            <a:avLst/>
          </a:prstGeom>
          <a:noFill/>
          <a:ln/>
        </p:spPr>
        <p:txBody>
          <a:bodyPr wrap="square" lIns="0" tIns="0" rIns="0" bIns="0" rtlCol="0" anchor="ctr"/>
          <a:lstStyle/>
          <a:p>
            <a:pPr indent="0" marL="0">
              <a:buNone/>
            </a:pPr>
            <a:r>
              <a:rPr lang="en-US" sz="950" b="1" spc="120" kern="0" dirty="0">
                <a:solidFill>
                  <a:srgbClr val="F5C96A"/>
                </a:solidFill>
                <a:latin typeface="Aptos" pitchFamily="34" charset="0"/>
                <a:ea typeface="Aptos" pitchFamily="34" charset="-122"/>
                <a:cs typeface="Aptos" pitchFamily="34" charset="-120"/>
              </a:rPr>
              <a:t>ESEMPIO</a:t>
            </a:r>
            <a:endParaRPr lang="en-US" sz="950" dirty="0"/>
          </a:p>
        </p:txBody>
      </p:sp>
      <p:sp>
        <p:nvSpPr>
          <p:cNvPr id="34" name="Text 32"/>
          <p:cNvSpPr/>
          <p:nvPr/>
        </p:nvSpPr>
        <p:spPr>
          <a:xfrm>
            <a:off x="804672" y="4507992"/>
            <a:ext cx="6355080" cy="868680"/>
          </a:xfrm>
          <a:prstGeom prst="rect">
            <a:avLst/>
          </a:prstGeom>
          <a:noFill/>
          <a:ln/>
        </p:spPr>
        <p:txBody>
          <a:bodyPr wrap="square" lIns="0" tIns="0" rIns="0" bIns="0" rtlCol="0" anchor="ctr">
            <a:normAutofit/>
          </a:bodyPr>
          <a:lstStyle/>
          <a:p>
            <a:pPr indent="0" marL="0">
              <a:buNone/>
            </a:pPr>
            <a:r>
              <a:rPr lang="en-US" sz="1800" b="1" dirty="0">
                <a:solidFill>
                  <a:srgbClr val="7CD4FF"/>
                </a:solidFill>
                <a:latin typeface="Aptos Mono" pitchFamily="34" charset="0"/>
                <a:ea typeface="Aptos Mono" pitchFamily="34" charset="-122"/>
                <a:cs typeface="Aptos Mono" pitchFamily="34" charset="-120"/>
              </a:rPr>
              <a:t>stesso comportamento → confini più chiari</a:t>
            </a:r>
            <a:endParaRPr lang="en-US" sz="1800" dirty="0"/>
          </a:p>
        </p:txBody>
      </p:sp>
      <p:sp>
        <p:nvSpPr>
          <p:cNvPr id="35" name="Shape 33"/>
          <p:cNvSpPr/>
          <p:nvPr/>
        </p:nvSpPr>
        <p:spPr>
          <a:xfrm>
            <a:off x="7845552" y="1645920"/>
            <a:ext cx="3840480" cy="4343400"/>
          </a:xfrm>
          <a:prstGeom prst="roundRect">
            <a:avLst>
              <a:gd name="adj" fmla="val 1190"/>
            </a:avLst>
          </a:prstGeom>
          <a:solidFill>
            <a:srgbClr val="122238"/>
          </a:solidFill>
          <a:ln w="12700">
            <a:solidFill>
              <a:srgbClr val="263A55"/>
            </a:solidFill>
            <a:prstDash val="solid"/>
          </a:ln>
        </p:spPr>
      </p:sp>
      <p:sp>
        <p:nvSpPr>
          <p:cNvPr id="36" name="Text 34"/>
          <p:cNvSpPr/>
          <p:nvPr/>
        </p:nvSpPr>
        <p:spPr>
          <a:xfrm>
            <a:off x="8065008" y="1856232"/>
            <a:ext cx="3401568" cy="182880"/>
          </a:xfrm>
          <a:prstGeom prst="rect">
            <a:avLst/>
          </a:prstGeom>
          <a:noFill/>
          <a:ln/>
        </p:spPr>
        <p:txBody>
          <a:bodyPr wrap="square" lIns="0" tIns="0" rIns="0" bIns="0" rtlCol="0" anchor="ctr"/>
          <a:lstStyle/>
          <a:p>
            <a:pPr indent="0" marL="0">
              <a:buNone/>
            </a:pPr>
            <a:r>
              <a:rPr lang="en-US" sz="950" b="1" spc="115" kern="0" dirty="0">
                <a:solidFill>
                  <a:srgbClr val="4C7DFF"/>
                </a:solidFill>
                <a:latin typeface="Aptos" pitchFamily="34" charset="0"/>
                <a:ea typeface="Aptos" pitchFamily="34" charset="-122"/>
                <a:cs typeface="Aptos" pitchFamily="34" charset="-120"/>
              </a:rPr>
              <a:t>PERCHÉ CONTA</a:t>
            </a:r>
            <a:endParaRPr lang="en-US" sz="950" dirty="0"/>
          </a:p>
        </p:txBody>
      </p:sp>
      <p:sp>
        <p:nvSpPr>
          <p:cNvPr id="37" name="Shape 35"/>
          <p:cNvSpPr/>
          <p:nvPr/>
        </p:nvSpPr>
        <p:spPr>
          <a:xfrm>
            <a:off x="8065008" y="2322576"/>
            <a:ext cx="91440" cy="91440"/>
          </a:xfrm>
          <a:prstGeom prst="ellipse">
            <a:avLst/>
          </a:prstGeom>
          <a:solidFill>
            <a:srgbClr val="7CD4FF"/>
          </a:solidFill>
          <a:ln w="12700">
            <a:solidFill>
              <a:srgbClr val="7CD4FF"/>
            </a:solidFill>
            <a:prstDash val="solid"/>
          </a:ln>
        </p:spPr>
      </p:sp>
      <p:sp>
        <p:nvSpPr>
          <p:cNvPr id="38" name="Text 36"/>
          <p:cNvSpPr/>
          <p:nvPr/>
        </p:nvSpPr>
        <p:spPr>
          <a:xfrm>
            <a:off x="8257032" y="2267712"/>
            <a:ext cx="3209544"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Pairing TSX + SCSS</a:t>
            </a:r>
            <a:endParaRPr lang="en-US" sz="1420" dirty="0"/>
          </a:p>
        </p:txBody>
      </p:sp>
      <p:sp>
        <p:nvSpPr>
          <p:cNvPr id="39" name="Shape 37"/>
          <p:cNvSpPr/>
          <p:nvPr/>
        </p:nvSpPr>
        <p:spPr>
          <a:xfrm>
            <a:off x="8065008" y="3035808"/>
            <a:ext cx="91440" cy="91440"/>
          </a:xfrm>
          <a:prstGeom prst="ellipse">
            <a:avLst/>
          </a:prstGeom>
          <a:solidFill>
            <a:srgbClr val="7CD4FF"/>
          </a:solidFill>
          <a:ln w="12700">
            <a:solidFill>
              <a:srgbClr val="7CD4FF"/>
            </a:solidFill>
            <a:prstDash val="solid"/>
          </a:ln>
        </p:spPr>
      </p:sp>
      <p:sp>
        <p:nvSpPr>
          <p:cNvPr id="40" name="Text 38"/>
          <p:cNvSpPr/>
          <p:nvPr/>
        </p:nvSpPr>
        <p:spPr>
          <a:xfrm>
            <a:off x="8257032" y="2980944"/>
            <a:ext cx="3209544"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DashboardLayout con slot</a:t>
            </a:r>
            <a:endParaRPr lang="en-US" sz="1420" dirty="0"/>
          </a:p>
        </p:txBody>
      </p:sp>
      <p:sp>
        <p:nvSpPr>
          <p:cNvPr id="41" name="Shape 39"/>
          <p:cNvSpPr/>
          <p:nvPr/>
        </p:nvSpPr>
        <p:spPr>
          <a:xfrm>
            <a:off x="8065008" y="3749040"/>
            <a:ext cx="91440" cy="91440"/>
          </a:xfrm>
          <a:prstGeom prst="ellipse">
            <a:avLst/>
          </a:prstGeom>
          <a:solidFill>
            <a:srgbClr val="7CD4FF"/>
          </a:solidFill>
          <a:ln w="12700">
            <a:solidFill>
              <a:srgbClr val="7CD4FF"/>
            </a:solidFill>
            <a:prstDash val="solid"/>
          </a:ln>
        </p:spPr>
      </p:sp>
      <p:sp>
        <p:nvSpPr>
          <p:cNvPr id="42" name="Text 40"/>
          <p:cNvSpPr/>
          <p:nvPr/>
        </p:nvSpPr>
        <p:spPr>
          <a:xfrm>
            <a:off x="8257032" y="3694176"/>
            <a:ext cx="3209544"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useDebouncedValue a 400 ms</a:t>
            </a:r>
            <a:endParaRPr lang="en-US" sz="1420" dirty="0"/>
          </a:p>
        </p:txBody>
      </p:sp>
      <p:sp>
        <p:nvSpPr>
          <p:cNvPr id="43" name="Shape 41"/>
          <p:cNvSpPr/>
          <p:nvPr/>
        </p:nvSpPr>
        <p:spPr>
          <a:xfrm>
            <a:off x="8065008" y="4462272"/>
            <a:ext cx="91440" cy="91440"/>
          </a:xfrm>
          <a:prstGeom prst="ellipse">
            <a:avLst/>
          </a:prstGeom>
          <a:solidFill>
            <a:srgbClr val="7CD4FF"/>
          </a:solidFill>
          <a:ln w="12700">
            <a:solidFill>
              <a:srgbClr val="7CD4FF"/>
            </a:solidFill>
            <a:prstDash val="solid"/>
          </a:ln>
        </p:spPr>
      </p:sp>
      <p:sp>
        <p:nvSpPr>
          <p:cNvPr id="44" name="Text 42"/>
          <p:cNvSpPr/>
          <p:nvPr/>
        </p:nvSpPr>
        <p:spPr>
          <a:xfrm>
            <a:off x="8257032" y="4407408"/>
            <a:ext cx="3209544" cy="566928"/>
          </a:xfrm>
          <a:prstGeom prst="rect">
            <a:avLst/>
          </a:prstGeom>
          <a:noFill/>
          <a:ln/>
        </p:spPr>
        <p:txBody>
          <a:bodyPr wrap="square" lIns="0" tIns="0" rIns="0" bIns="0" rtlCol="0" anchor="t">
            <a:normAutofit/>
          </a:bodyPr>
          <a:lstStyle/>
          <a:p>
            <a:pPr indent="0" marL="0">
              <a:buNone/>
            </a:pPr>
            <a:r>
              <a:rPr lang="en-US" sz="1420" dirty="0">
                <a:solidFill>
                  <a:srgbClr val="F4F7FB"/>
                </a:solidFill>
                <a:latin typeface="Aptos" pitchFamily="34" charset="0"/>
                <a:ea typeface="Aptos" pitchFamily="34" charset="-122"/>
                <a:cs typeface="Aptos" pitchFamily="34" charset="-120"/>
              </a:rPr>
              <a:t>AbortController e stati UI</a:t>
            </a:r>
            <a:endParaRPr lang="en-US" sz="142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CHECKLIST</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73</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PRIMA DELLA PULL REQUEST</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Checklist finale del code lab</a:t>
            </a:r>
            <a:endParaRPr lang="en-US" sz="2700" dirty="0"/>
          </a:p>
        </p:txBody>
      </p:sp>
      <p:sp>
        <p:nvSpPr>
          <p:cNvPr id="29" name="Shape 27"/>
          <p:cNvSpPr/>
          <p:nvPr/>
        </p:nvSpPr>
        <p:spPr>
          <a:xfrm>
            <a:off x="530352" y="1627632"/>
            <a:ext cx="3456432" cy="4434840"/>
          </a:xfrm>
          <a:prstGeom prst="roundRect">
            <a:avLst>
              <a:gd name="adj" fmla="val 1587"/>
            </a:avLst>
          </a:prstGeom>
          <a:solidFill>
            <a:srgbClr val="0D1A2B"/>
          </a:solidFill>
          <a:ln w="12700">
            <a:solidFill>
              <a:srgbClr val="263A55"/>
            </a:solidFill>
            <a:prstDash val="solid"/>
          </a:ln>
        </p:spPr>
      </p:sp>
      <p:sp>
        <p:nvSpPr>
          <p:cNvPr id="30" name="Text 28"/>
          <p:cNvSpPr/>
          <p:nvPr/>
        </p:nvSpPr>
        <p:spPr>
          <a:xfrm>
            <a:off x="786384" y="1901952"/>
            <a:ext cx="2926080" cy="210312"/>
          </a:xfrm>
          <a:prstGeom prst="rect">
            <a:avLst/>
          </a:prstGeom>
          <a:noFill/>
          <a:ln/>
        </p:spPr>
        <p:txBody>
          <a:bodyPr wrap="square" lIns="0" tIns="0" rIns="0" bIns="0" rtlCol="0" anchor="ctr"/>
          <a:lstStyle/>
          <a:p>
            <a:pPr indent="0" marL="0">
              <a:buNone/>
            </a:pPr>
            <a:r>
              <a:rPr lang="en-US" sz="1100" b="1" spc="120" kern="0" dirty="0">
                <a:solidFill>
                  <a:srgbClr val="7CD4FF"/>
                </a:solidFill>
                <a:latin typeface="Aptos" pitchFamily="34" charset="0"/>
                <a:ea typeface="Aptos" pitchFamily="34" charset="-122"/>
                <a:cs typeface="Aptos" pitchFamily="34" charset="-120"/>
              </a:rPr>
              <a:t>ARCHITETTURA</a:t>
            </a:r>
            <a:endParaRPr lang="en-US" sz="1100" dirty="0"/>
          </a:p>
        </p:txBody>
      </p:sp>
      <p:sp>
        <p:nvSpPr>
          <p:cNvPr id="31" name="Shape 29"/>
          <p:cNvSpPr/>
          <p:nvPr/>
        </p:nvSpPr>
        <p:spPr>
          <a:xfrm>
            <a:off x="786384" y="2487168"/>
            <a:ext cx="292608" cy="292608"/>
          </a:xfrm>
          <a:prstGeom prst="roundRect">
            <a:avLst>
              <a:gd name="adj" fmla="val 12500"/>
            </a:avLst>
          </a:prstGeom>
          <a:solidFill>
            <a:srgbClr val="7CD4FF">
              <a:alpha val="22000"/>
            </a:srgbClr>
          </a:solidFill>
          <a:ln w="10160">
            <a:solidFill>
              <a:srgbClr val="7CD4FF"/>
            </a:solidFill>
            <a:prstDash val="solid"/>
          </a:ln>
        </p:spPr>
      </p:sp>
      <p:sp>
        <p:nvSpPr>
          <p:cNvPr id="32" name="Text 30"/>
          <p:cNvSpPr/>
          <p:nvPr/>
        </p:nvSpPr>
        <p:spPr>
          <a:xfrm>
            <a:off x="841248" y="2528316"/>
            <a:ext cx="182880" cy="155448"/>
          </a:xfrm>
          <a:prstGeom prst="rect">
            <a:avLst/>
          </a:prstGeom>
          <a:noFill/>
          <a:ln/>
        </p:spPr>
        <p:txBody>
          <a:bodyPr wrap="square" lIns="0" tIns="0" rIns="0" bIns="0" rtlCol="0" anchor="ctr"/>
          <a:lstStyle/>
          <a:p>
            <a:pPr algn="ctr" indent="0" marL="0">
              <a:buNone/>
            </a:pPr>
            <a:r>
              <a:rPr lang="en-US" sz="1000" b="1" dirty="0">
                <a:solidFill>
                  <a:srgbClr val="7CD4FF"/>
                </a:solidFill>
                <a:latin typeface="Aptos" pitchFamily="34" charset="0"/>
                <a:ea typeface="Aptos" pitchFamily="34" charset="-122"/>
                <a:cs typeface="Aptos" pitchFamily="34" charset="-120"/>
              </a:rPr>
              <a:t>✓</a:t>
            </a:r>
            <a:endParaRPr lang="en-US" sz="1000" dirty="0"/>
          </a:p>
        </p:txBody>
      </p:sp>
      <p:sp>
        <p:nvSpPr>
          <p:cNvPr id="33" name="Text 31"/>
          <p:cNvSpPr/>
          <p:nvPr/>
        </p:nvSpPr>
        <p:spPr>
          <a:xfrm>
            <a:off x="1225296" y="2468880"/>
            <a:ext cx="2432304" cy="585216"/>
          </a:xfrm>
          <a:prstGeom prst="rect">
            <a:avLst/>
          </a:prstGeom>
          <a:noFill/>
          <a:ln/>
        </p:spPr>
        <p:txBody>
          <a:bodyPr wrap="square" lIns="0" tIns="0" rIns="0" bIns="0" rtlCol="0" anchor="ctr">
            <a:normAutofit/>
          </a:bodyPr>
          <a:lstStyle/>
          <a:p>
            <a:pPr indent="0" marL="0">
              <a:buNone/>
            </a:pPr>
            <a:r>
              <a:rPr lang="en-US" sz="1520" dirty="0">
                <a:solidFill>
                  <a:srgbClr val="F4F7FB"/>
                </a:solidFill>
                <a:latin typeface="Aptos" pitchFamily="34" charset="0"/>
                <a:ea typeface="Aptos" pitchFamily="34" charset="-122"/>
                <a:cs typeface="Aptos" pitchFamily="34" charset="-120"/>
              </a:rPr>
              <a:t>File che cambiano insieme sono vicini</a:t>
            </a:r>
            <a:endParaRPr lang="en-US" sz="1520" dirty="0"/>
          </a:p>
        </p:txBody>
      </p:sp>
      <p:sp>
        <p:nvSpPr>
          <p:cNvPr id="34" name="Shape 32"/>
          <p:cNvSpPr/>
          <p:nvPr/>
        </p:nvSpPr>
        <p:spPr>
          <a:xfrm>
            <a:off x="786384" y="3419856"/>
            <a:ext cx="292608" cy="292608"/>
          </a:xfrm>
          <a:prstGeom prst="roundRect">
            <a:avLst>
              <a:gd name="adj" fmla="val 12500"/>
            </a:avLst>
          </a:prstGeom>
          <a:solidFill>
            <a:srgbClr val="7CD4FF">
              <a:alpha val="22000"/>
            </a:srgbClr>
          </a:solidFill>
          <a:ln w="10160">
            <a:solidFill>
              <a:srgbClr val="7CD4FF"/>
            </a:solidFill>
            <a:prstDash val="solid"/>
          </a:ln>
        </p:spPr>
      </p:sp>
      <p:sp>
        <p:nvSpPr>
          <p:cNvPr id="35" name="Text 33"/>
          <p:cNvSpPr/>
          <p:nvPr/>
        </p:nvSpPr>
        <p:spPr>
          <a:xfrm>
            <a:off x="841248" y="3461004"/>
            <a:ext cx="182880" cy="155448"/>
          </a:xfrm>
          <a:prstGeom prst="rect">
            <a:avLst/>
          </a:prstGeom>
          <a:noFill/>
          <a:ln/>
        </p:spPr>
        <p:txBody>
          <a:bodyPr wrap="square" lIns="0" tIns="0" rIns="0" bIns="0" rtlCol="0" anchor="ctr"/>
          <a:lstStyle/>
          <a:p>
            <a:pPr algn="ctr" indent="0" marL="0">
              <a:buNone/>
            </a:pPr>
            <a:r>
              <a:rPr lang="en-US" sz="1000" b="1" dirty="0">
                <a:solidFill>
                  <a:srgbClr val="7CD4FF"/>
                </a:solidFill>
                <a:latin typeface="Aptos" pitchFamily="34" charset="0"/>
                <a:ea typeface="Aptos" pitchFamily="34" charset="-122"/>
                <a:cs typeface="Aptos" pitchFamily="34" charset="-120"/>
              </a:rPr>
              <a:t>✓</a:t>
            </a:r>
            <a:endParaRPr lang="en-US" sz="1000" dirty="0"/>
          </a:p>
        </p:txBody>
      </p:sp>
      <p:sp>
        <p:nvSpPr>
          <p:cNvPr id="36" name="Text 34"/>
          <p:cNvSpPr/>
          <p:nvPr/>
        </p:nvSpPr>
        <p:spPr>
          <a:xfrm>
            <a:off x="1225296" y="3401568"/>
            <a:ext cx="2432304" cy="585216"/>
          </a:xfrm>
          <a:prstGeom prst="rect">
            <a:avLst/>
          </a:prstGeom>
          <a:noFill/>
          <a:ln/>
        </p:spPr>
        <p:txBody>
          <a:bodyPr wrap="square" lIns="0" tIns="0" rIns="0" bIns="0" rtlCol="0" anchor="ctr">
            <a:normAutofit/>
          </a:bodyPr>
          <a:lstStyle/>
          <a:p>
            <a:pPr indent="0" marL="0">
              <a:buNone/>
            </a:pPr>
            <a:r>
              <a:rPr lang="en-US" sz="1520" dirty="0">
                <a:solidFill>
                  <a:srgbClr val="F4F7FB"/>
                </a:solidFill>
                <a:latin typeface="Aptos" pitchFamily="34" charset="0"/>
                <a:ea typeface="Aptos" pitchFamily="34" charset="-122"/>
                <a:cs typeface="Aptos" pitchFamily="34" charset="-120"/>
              </a:rPr>
              <a:t>Shared contiene riuso provato</a:t>
            </a:r>
            <a:endParaRPr lang="en-US" sz="1520" dirty="0"/>
          </a:p>
        </p:txBody>
      </p:sp>
      <p:sp>
        <p:nvSpPr>
          <p:cNvPr id="37" name="Shape 35"/>
          <p:cNvSpPr/>
          <p:nvPr/>
        </p:nvSpPr>
        <p:spPr>
          <a:xfrm>
            <a:off x="786384" y="4352544"/>
            <a:ext cx="292608" cy="292608"/>
          </a:xfrm>
          <a:prstGeom prst="roundRect">
            <a:avLst>
              <a:gd name="adj" fmla="val 12500"/>
            </a:avLst>
          </a:prstGeom>
          <a:solidFill>
            <a:srgbClr val="7CD4FF">
              <a:alpha val="22000"/>
            </a:srgbClr>
          </a:solidFill>
          <a:ln w="10160">
            <a:solidFill>
              <a:srgbClr val="7CD4FF"/>
            </a:solidFill>
            <a:prstDash val="solid"/>
          </a:ln>
        </p:spPr>
      </p:sp>
      <p:sp>
        <p:nvSpPr>
          <p:cNvPr id="38" name="Text 36"/>
          <p:cNvSpPr/>
          <p:nvPr/>
        </p:nvSpPr>
        <p:spPr>
          <a:xfrm>
            <a:off x="841248" y="4393692"/>
            <a:ext cx="182880" cy="155448"/>
          </a:xfrm>
          <a:prstGeom prst="rect">
            <a:avLst/>
          </a:prstGeom>
          <a:noFill/>
          <a:ln/>
        </p:spPr>
        <p:txBody>
          <a:bodyPr wrap="square" lIns="0" tIns="0" rIns="0" bIns="0" rtlCol="0" anchor="ctr"/>
          <a:lstStyle/>
          <a:p>
            <a:pPr algn="ctr" indent="0" marL="0">
              <a:buNone/>
            </a:pPr>
            <a:r>
              <a:rPr lang="en-US" sz="1000" b="1" dirty="0">
                <a:solidFill>
                  <a:srgbClr val="7CD4FF"/>
                </a:solidFill>
                <a:latin typeface="Aptos" pitchFamily="34" charset="0"/>
                <a:ea typeface="Aptos" pitchFamily="34" charset="-122"/>
                <a:cs typeface="Aptos" pitchFamily="34" charset="-120"/>
              </a:rPr>
              <a:t>✓</a:t>
            </a:r>
            <a:endParaRPr lang="en-US" sz="1000" dirty="0"/>
          </a:p>
        </p:txBody>
      </p:sp>
      <p:sp>
        <p:nvSpPr>
          <p:cNvPr id="39" name="Text 37"/>
          <p:cNvSpPr/>
          <p:nvPr/>
        </p:nvSpPr>
        <p:spPr>
          <a:xfrm>
            <a:off x="1225296" y="4334256"/>
            <a:ext cx="2432304" cy="585216"/>
          </a:xfrm>
          <a:prstGeom prst="rect">
            <a:avLst/>
          </a:prstGeom>
          <a:noFill/>
          <a:ln/>
        </p:spPr>
        <p:txBody>
          <a:bodyPr wrap="square" lIns="0" tIns="0" rIns="0" bIns="0" rtlCol="0" anchor="ctr">
            <a:normAutofit/>
          </a:bodyPr>
          <a:lstStyle/>
          <a:p>
            <a:pPr indent="0" marL="0">
              <a:buNone/>
            </a:pPr>
            <a:r>
              <a:rPr lang="en-US" sz="1520" dirty="0">
                <a:solidFill>
                  <a:srgbClr val="F4F7FB"/>
                </a:solidFill>
                <a:latin typeface="Aptos" pitchFamily="34" charset="0"/>
                <a:ea typeface="Aptos" pitchFamily="34" charset="-122"/>
                <a:cs typeface="Aptos" pitchFamily="34" charset="-120"/>
              </a:rPr>
              <a:t>Import rispettano i confini</a:t>
            </a:r>
            <a:endParaRPr lang="en-US" sz="1520" dirty="0"/>
          </a:p>
        </p:txBody>
      </p:sp>
      <p:sp>
        <p:nvSpPr>
          <p:cNvPr id="40" name="Shape 38"/>
          <p:cNvSpPr/>
          <p:nvPr/>
        </p:nvSpPr>
        <p:spPr>
          <a:xfrm>
            <a:off x="4334256" y="1627632"/>
            <a:ext cx="3456432" cy="4434840"/>
          </a:xfrm>
          <a:prstGeom prst="roundRect">
            <a:avLst>
              <a:gd name="adj" fmla="val 1587"/>
            </a:avLst>
          </a:prstGeom>
          <a:solidFill>
            <a:srgbClr val="0D1A2B"/>
          </a:solidFill>
          <a:ln w="12700">
            <a:solidFill>
              <a:srgbClr val="263A55"/>
            </a:solidFill>
            <a:prstDash val="solid"/>
          </a:ln>
        </p:spPr>
      </p:sp>
      <p:sp>
        <p:nvSpPr>
          <p:cNvPr id="41" name="Text 39"/>
          <p:cNvSpPr/>
          <p:nvPr/>
        </p:nvSpPr>
        <p:spPr>
          <a:xfrm>
            <a:off x="4590288" y="1901952"/>
            <a:ext cx="2926080" cy="210312"/>
          </a:xfrm>
          <a:prstGeom prst="rect">
            <a:avLst/>
          </a:prstGeom>
          <a:noFill/>
          <a:ln/>
        </p:spPr>
        <p:txBody>
          <a:bodyPr wrap="square" lIns="0" tIns="0" rIns="0" bIns="0" rtlCol="0" anchor="ctr"/>
          <a:lstStyle/>
          <a:p>
            <a:pPr indent="0" marL="0">
              <a:buNone/>
            </a:pPr>
            <a:r>
              <a:rPr lang="en-US" sz="1100" b="1" spc="120" kern="0" dirty="0">
                <a:solidFill>
                  <a:srgbClr val="6FE3B1"/>
                </a:solidFill>
                <a:latin typeface="Aptos" pitchFamily="34" charset="0"/>
                <a:ea typeface="Aptos" pitchFamily="34" charset="-122"/>
                <a:cs typeface="Aptos" pitchFamily="34" charset="-120"/>
              </a:rPr>
              <a:t>COMPONENTI</a:t>
            </a:r>
            <a:endParaRPr lang="en-US" sz="1100" dirty="0"/>
          </a:p>
        </p:txBody>
      </p:sp>
      <p:sp>
        <p:nvSpPr>
          <p:cNvPr id="42" name="Shape 40"/>
          <p:cNvSpPr/>
          <p:nvPr/>
        </p:nvSpPr>
        <p:spPr>
          <a:xfrm>
            <a:off x="4590288" y="2487168"/>
            <a:ext cx="292608" cy="292608"/>
          </a:xfrm>
          <a:prstGeom prst="roundRect">
            <a:avLst>
              <a:gd name="adj" fmla="val 12500"/>
            </a:avLst>
          </a:prstGeom>
          <a:solidFill>
            <a:srgbClr val="6FE3B1">
              <a:alpha val="22000"/>
            </a:srgbClr>
          </a:solidFill>
          <a:ln w="10160">
            <a:solidFill>
              <a:srgbClr val="6FE3B1"/>
            </a:solidFill>
            <a:prstDash val="solid"/>
          </a:ln>
        </p:spPr>
      </p:sp>
      <p:sp>
        <p:nvSpPr>
          <p:cNvPr id="43" name="Text 41"/>
          <p:cNvSpPr/>
          <p:nvPr/>
        </p:nvSpPr>
        <p:spPr>
          <a:xfrm>
            <a:off x="4645152" y="2528316"/>
            <a:ext cx="182880" cy="155448"/>
          </a:xfrm>
          <a:prstGeom prst="rect">
            <a:avLst/>
          </a:prstGeom>
          <a:noFill/>
          <a:ln/>
        </p:spPr>
        <p:txBody>
          <a:bodyPr wrap="square" lIns="0" tIns="0" rIns="0" bIns="0" rtlCol="0" anchor="ctr"/>
          <a:lstStyle/>
          <a:p>
            <a:pPr algn="ctr" indent="0" marL="0">
              <a:buNone/>
            </a:pPr>
            <a:r>
              <a:rPr lang="en-US" sz="1000" b="1" dirty="0">
                <a:solidFill>
                  <a:srgbClr val="6FE3B1"/>
                </a:solidFill>
                <a:latin typeface="Aptos" pitchFamily="34" charset="0"/>
                <a:ea typeface="Aptos" pitchFamily="34" charset="-122"/>
                <a:cs typeface="Aptos" pitchFamily="34" charset="-120"/>
              </a:rPr>
              <a:t>✓</a:t>
            </a:r>
            <a:endParaRPr lang="en-US" sz="1000" dirty="0"/>
          </a:p>
        </p:txBody>
      </p:sp>
      <p:sp>
        <p:nvSpPr>
          <p:cNvPr id="44" name="Text 42"/>
          <p:cNvSpPr/>
          <p:nvPr/>
        </p:nvSpPr>
        <p:spPr>
          <a:xfrm>
            <a:off x="5029200" y="2468880"/>
            <a:ext cx="2432304" cy="585216"/>
          </a:xfrm>
          <a:prstGeom prst="rect">
            <a:avLst/>
          </a:prstGeom>
          <a:noFill/>
          <a:ln/>
        </p:spPr>
        <p:txBody>
          <a:bodyPr wrap="square" lIns="0" tIns="0" rIns="0" bIns="0" rtlCol="0" anchor="ctr">
            <a:normAutofit/>
          </a:bodyPr>
          <a:lstStyle/>
          <a:p>
            <a:pPr indent="0" marL="0">
              <a:buNone/>
            </a:pPr>
            <a:r>
              <a:rPr lang="en-US" sz="1520" dirty="0">
                <a:solidFill>
                  <a:srgbClr val="F4F7FB"/>
                </a:solidFill>
                <a:latin typeface="Aptos" pitchFamily="34" charset="0"/>
                <a:ea typeface="Aptos" pitchFamily="34" charset="-122"/>
                <a:cs typeface="Aptos" pitchFamily="34" charset="-120"/>
              </a:rPr>
              <a:t>Props descrivono un contratto piccolo</a:t>
            </a:r>
            <a:endParaRPr lang="en-US" sz="1520" dirty="0"/>
          </a:p>
        </p:txBody>
      </p:sp>
      <p:sp>
        <p:nvSpPr>
          <p:cNvPr id="45" name="Shape 43"/>
          <p:cNvSpPr/>
          <p:nvPr/>
        </p:nvSpPr>
        <p:spPr>
          <a:xfrm>
            <a:off x="4590288" y="3419856"/>
            <a:ext cx="292608" cy="292608"/>
          </a:xfrm>
          <a:prstGeom prst="roundRect">
            <a:avLst>
              <a:gd name="adj" fmla="val 12500"/>
            </a:avLst>
          </a:prstGeom>
          <a:solidFill>
            <a:srgbClr val="6FE3B1">
              <a:alpha val="22000"/>
            </a:srgbClr>
          </a:solidFill>
          <a:ln w="10160">
            <a:solidFill>
              <a:srgbClr val="6FE3B1"/>
            </a:solidFill>
            <a:prstDash val="solid"/>
          </a:ln>
        </p:spPr>
      </p:sp>
      <p:sp>
        <p:nvSpPr>
          <p:cNvPr id="46" name="Text 44"/>
          <p:cNvSpPr/>
          <p:nvPr/>
        </p:nvSpPr>
        <p:spPr>
          <a:xfrm>
            <a:off x="4645152" y="3461004"/>
            <a:ext cx="182880" cy="155448"/>
          </a:xfrm>
          <a:prstGeom prst="rect">
            <a:avLst/>
          </a:prstGeom>
          <a:noFill/>
          <a:ln/>
        </p:spPr>
        <p:txBody>
          <a:bodyPr wrap="square" lIns="0" tIns="0" rIns="0" bIns="0" rtlCol="0" anchor="ctr"/>
          <a:lstStyle/>
          <a:p>
            <a:pPr algn="ctr" indent="0" marL="0">
              <a:buNone/>
            </a:pPr>
            <a:r>
              <a:rPr lang="en-US" sz="1000" b="1" dirty="0">
                <a:solidFill>
                  <a:srgbClr val="6FE3B1"/>
                </a:solidFill>
                <a:latin typeface="Aptos" pitchFamily="34" charset="0"/>
                <a:ea typeface="Aptos" pitchFamily="34" charset="-122"/>
                <a:cs typeface="Aptos" pitchFamily="34" charset="-120"/>
              </a:rPr>
              <a:t>✓</a:t>
            </a:r>
            <a:endParaRPr lang="en-US" sz="1000" dirty="0"/>
          </a:p>
        </p:txBody>
      </p:sp>
      <p:sp>
        <p:nvSpPr>
          <p:cNvPr id="47" name="Text 45"/>
          <p:cNvSpPr/>
          <p:nvPr/>
        </p:nvSpPr>
        <p:spPr>
          <a:xfrm>
            <a:off x="5029200" y="3401568"/>
            <a:ext cx="2432304" cy="585216"/>
          </a:xfrm>
          <a:prstGeom prst="rect">
            <a:avLst/>
          </a:prstGeom>
          <a:noFill/>
          <a:ln/>
        </p:spPr>
        <p:txBody>
          <a:bodyPr wrap="square" lIns="0" tIns="0" rIns="0" bIns="0" rtlCol="0" anchor="ctr">
            <a:normAutofit/>
          </a:bodyPr>
          <a:lstStyle/>
          <a:p>
            <a:pPr indent="0" marL="0">
              <a:buNone/>
            </a:pPr>
            <a:r>
              <a:rPr lang="en-US" sz="1520" dirty="0">
                <a:solidFill>
                  <a:srgbClr val="F4F7FB"/>
                </a:solidFill>
                <a:latin typeface="Aptos" pitchFamily="34" charset="0"/>
                <a:ea typeface="Aptos" pitchFamily="34" charset="-122"/>
                <a:cs typeface="Aptos" pitchFamily="34" charset="-120"/>
              </a:rPr>
              <a:t>Composition evita modalità crescenti</a:t>
            </a:r>
            <a:endParaRPr lang="en-US" sz="1520" dirty="0"/>
          </a:p>
        </p:txBody>
      </p:sp>
      <p:sp>
        <p:nvSpPr>
          <p:cNvPr id="48" name="Shape 46"/>
          <p:cNvSpPr/>
          <p:nvPr/>
        </p:nvSpPr>
        <p:spPr>
          <a:xfrm>
            <a:off x="4590288" y="4352544"/>
            <a:ext cx="292608" cy="292608"/>
          </a:xfrm>
          <a:prstGeom prst="roundRect">
            <a:avLst>
              <a:gd name="adj" fmla="val 12500"/>
            </a:avLst>
          </a:prstGeom>
          <a:solidFill>
            <a:srgbClr val="6FE3B1">
              <a:alpha val="22000"/>
            </a:srgbClr>
          </a:solidFill>
          <a:ln w="10160">
            <a:solidFill>
              <a:srgbClr val="6FE3B1"/>
            </a:solidFill>
            <a:prstDash val="solid"/>
          </a:ln>
        </p:spPr>
      </p:sp>
      <p:sp>
        <p:nvSpPr>
          <p:cNvPr id="49" name="Text 47"/>
          <p:cNvSpPr/>
          <p:nvPr/>
        </p:nvSpPr>
        <p:spPr>
          <a:xfrm>
            <a:off x="4645152" y="4393692"/>
            <a:ext cx="182880" cy="155448"/>
          </a:xfrm>
          <a:prstGeom prst="rect">
            <a:avLst/>
          </a:prstGeom>
          <a:noFill/>
          <a:ln/>
        </p:spPr>
        <p:txBody>
          <a:bodyPr wrap="square" lIns="0" tIns="0" rIns="0" bIns="0" rtlCol="0" anchor="ctr"/>
          <a:lstStyle/>
          <a:p>
            <a:pPr algn="ctr" indent="0" marL="0">
              <a:buNone/>
            </a:pPr>
            <a:r>
              <a:rPr lang="en-US" sz="1000" b="1" dirty="0">
                <a:solidFill>
                  <a:srgbClr val="6FE3B1"/>
                </a:solidFill>
                <a:latin typeface="Aptos" pitchFamily="34" charset="0"/>
                <a:ea typeface="Aptos" pitchFamily="34" charset="-122"/>
                <a:cs typeface="Aptos" pitchFamily="34" charset="-120"/>
              </a:rPr>
              <a:t>✓</a:t>
            </a:r>
            <a:endParaRPr lang="en-US" sz="1000" dirty="0"/>
          </a:p>
        </p:txBody>
      </p:sp>
      <p:sp>
        <p:nvSpPr>
          <p:cNvPr id="50" name="Text 48"/>
          <p:cNvSpPr/>
          <p:nvPr/>
        </p:nvSpPr>
        <p:spPr>
          <a:xfrm>
            <a:off x="5029200" y="4334256"/>
            <a:ext cx="2432304" cy="585216"/>
          </a:xfrm>
          <a:prstGeom prst="rect">
            <a:avLst/>
          </a:prstGeom>
          <a:noFill/>
          <a:ln/>
        </p:spPr>
        <p:txBody>
          <a:bodyPr wrap="square" lIns="0" tIns="0" rIns="0" bIns="0" rtlCol="0" anchor="ctr">
            <a:normAutofit/>
          </a:bodyPr>
          <a:lstStyle/>
          <a:p>
            <a:pPr indent="0" marL="0">
              <a:buNone/>
            </a:pPr>
            <a:r>
              <a:rPr lang="en-US" sz="1520" dirty="0">
                <a:solidFill>
                  <a:srgbClr val="F4F7FB"/>
                </a:solidFill>
                <a:latin typeface="Aptos" pitchFamily="34" charset="0"/>
                <a:ea typeface="Aptos" pitchFamily="34" charset="-122"/>
                <a:cs typeface="Aptos" pitchFamily="34" charset="-120"/>
              </a:rPr>
              <a:t>Hook isola una responsabilità</a:t>
            </a:r>
            <a:endParaRPr lang="en-US" sz="1520" dirty="0"/>
          </a:p>
        </p:txBody>
      </p:sp>
      <p:sp>
        <p:nvSpPr>
          <p:cNvPr id="51" name="Shape 49"/>
          <p:cNvSpPr/>
          <p:nvPr/>
        </p:nvSpPr>
        <p:spPr>
          <a:xfrm>
            <a:off x="8138160" y="1627632"/>
            <a:ext cx="3456432" cy="4434840"/>
          </a:xfrm>
          <a:prstGeom prst="roundRect">
            <a:avLst>
              <a:gd name="adj" fmla="val 1587"/>
            </a:avLst>
          </a:prstGeom>
          <a:solidFill>
            <a:srgbClr val="0D1A2B"/>
          </a:solidFill>
          <a:ln w="12700">
            <a:solidFill>
              <a:srgbClr val="263A55"/>
            </a:solidFill>
            <a:prstDash val="solid"/>
          </a:ln>
        </p:spPr>
      </p:sp>
      <p:sp>
        <p:nvSpPr>
          <p:cNvPr id="52" name="Text 50"/>
          <p:cNvSpPr/>
          <p:nvPr/>
        </p:nvSpPr>
        <p:spPr>
          <a:xfrm>
            <a:off x="8394192" y="1901952"/>
            <a:ext cx="2926080" cy="210312"/>
          </a:xfrm>
          <a:prstGeom prst="rect">
            <a:avLst/>
          </a:prstGeom>
          <a:noFill/>
          <a:ln/>
        </p:spPr>
        <p:txBody>
          <a:bodyPr wrap="square" lIns="0" tIns="0" rIns="0" bIns="0" rtlCol="0" anchor="ctr"/>
          <a:lstStyle/>
          <a:p>
            <a:pPr indent="0" marL="0">
              <a:buNone/>
            </a:pPr>
            <a:r>
              <a:rPr lang="en-US" sz="1100" b="1" spc="120" kern="0" dirty="0">
                <a:solidFill>
                  <a:srgbClr val="F5C96A"/>
                </a:solidFill>
                <a:latin typeface="Aptos" pitchFamily="34" charset="0"/>
                <a:ea typeface="Aptos" pitchFamily="34" charset="-122"/>
                <a:cs typeface="Aptos" pitchFamily="34" charset="-120"/>
              </a:rPr>
              <a:t>RUNTIME</a:t>
            </a:r>
            <a:endParaRPr lang="en-US" sz="1100" dirty="0"/>
          </a:p>
        </p:txBody>
      </p:sp>
      <p:sp>
        <p:nvSpPr>
          <p:cNvPr id="53" name="Shape 51"/>
          <p:cNvSpPr/>
          <p:nvPr/>
        </p:nvSpPr>
        <p:spPr>
          <a:xfrm>
            <a:off x="8394192" y="2487168"/>
            <a:ext cx="292608" cy="292608"/>
          </a:xfrm>
          <a:prstGeom prst="roundRect">
            <a:avLst>
              <a:gd name="adj" fmla="val 12500"/>
            </a:avLst>
          </a:prstGeom>
          <a:solidFill>
            <a:srgbClr val="F5C96A">
              <a:alpha val="22000"/>
            </a:srgbClr>
          </a:solidFill>
          <a:ln w="10160">
            <a:solidFill>
              <a:srgbClr val="F5C96A"/>
            </a:solidFill>
            <a:prstDash val="solid"/>
          </a:ln>
        </p:spPr>
      </p:sp>
      <p:sp>
        <p:nvSpPr>
          <p:cNvPr id="54" name="Text 52"/>
          <p:cNvSpPr/>
          <p:nvPr/>
        </p:nvSpPr>
        <p:spPr>
          <a:xfrm>
            <a:off x="8449056" y="2528316"/>
            <a:ext cx="182880" cy="155448"/>
          </a:xfrm>
          <a:prstGeom prst="rect">
            <a:avLst/>
          </a:prstGeom>
          <a:noFill/>
          <a:ln/>
        </p:spPr>
        <p:txBody>
          <a:bodyPr wrap="square" lIns="0" tIns="0" rIns="0" bIns="0" rtlCol="0" anchor="ctr"/>
          <a:lstStyle/>
          <a:p>
            <a:pPr algn="ctr" indent="0" marL="0">
              <a:buNone/>
            </a:pPr>
            <a:r>
              <a:rPr lang="en-US" sz="1000" b="1" dirty="0">
                <a:solidFill>
                  <a:srgbClr val="F5C96A"/>
                </a:solidFill>
                <a:latin typeface="Aptos" pitchFamily="34" charset="0"/>
                <a:ea typeface="Aptos" pitchFamily="34" charset="-122"/>
                <a:cs typeface="Aptos" pitchFamily="34" charset="-120"/>
              </a:rPr>
              <a:t>✓</a:t>
            </a:r>
            <a:endParaRPr lang="en-US" sz="1000" dirty="0"/>
          </a:p>
        </p:txBody>
      </p:sp>
      <p:sp>
        <p:nvSpPr>
          <p:cNvPr id="55" name="Text 53"/>
          <p:cNvSpPr/>
          <p:nvPr/>
        </p:nvSpPr>
        <p:spPr>
          <a:xfrm>
            <a:off x="8833104" y="2468880"/>
            <a:ext cx="2432304" cy="585216"/>
          </a:xfrm>
          <a:prstGeom prst="rect">
            <a:avLst/>
          </a:prstGeom>
          <a:noFill/>
          <a:ln/>
        </p:spPr>
        <p:txBody>
          <a:bodyPr wrap="square" lIns="0" tIns="0" rIns="0" bIns="0" rtlCol="0" anchor="ctr">
            <a:normAutofit/>
          </a:bodyPr>
          <a:lstStyle/>
          <a:p>
            <a:pPr indent="0" marL="0">
              <a:buNone/>
            </a:pPr>
            <a:r>
              <a:rPr lang="en-US" sz="1520" dirty="0">
                <a:solidFill>
                  <a:srgbClr val="F4F7FB"/>
                </a:solidFill>
                <a:latin typeface="Aptos" pitchFamily="34" charset="0"/>
                <a:ea typeface="Aptos" pitchFamily="34" charset="-122"/>
                <a:cs typeface="Aptos" pitchFamily="34" charset="-120"/>
              </a:rPr>
              <a:t>State non viene mutato</a:t>
            </a:r>
            <a:endParaRPr lang="en-US" sz="1520" dirty="0"/>
          </a:p>
        </p:txBody>
      </p:sp>
      <p:sp>
        <p:nvSpPr>
          <p:cNvPr id="56" name="Shape 54"/>
          <p:cNvSpPr/>
          <p:nvPr/>
        </p:nvSpPr>
        <p:spPr>
          <a:xfrm>
            <a:off x="8394192" y="3419856"/>
            <a:ext cx="292608" cy="292608"/>
          </a:xfrm>
          <a:prstGeom prst="roundRect">
            <a:avLst>
              <a:gd name="adj" fmla="val 12500"/>
            </a:avLst>
          </a:prstGeom>
          <a:solidFill>
            <a:srgbClr val="F5C96A">
              <a:alpha val="22000"/>
            </a:srgbClr>
          </a:solidFill>
          <a:ln w="10160">
            <a:solidFill>
              <a:srgbClr val="F5C96A"/>
            </a:solidFill>
            <a:prstDash val="solid"/>
          </a:ln>
        </p:spPr>
      </p:sp>
      <p:sp>
        <p:nvSpPr>
          <p:cNvPr id="57" name="Text 55"/>
          <p:cNvSpPr/>
          <p:nvPr/>
        </p:nvSpPr>
        <p:spPr>
          <a:xfrm>
            <a:off x="8449056" y="3461004"/>
            <a:ext cx="182880" cy="155448"/>
          </a:xfrm>
          <a:prstGeom prst="rect">
            <a:avLst/>
          </a:prstGeom>
          <a:noFill/>
          <a:ln/>
        </p:spPr>
        <p:txBody>
          <a:bodyPr wrap="square" lIns="0" tIns="0" rIns="0" bIns="0" rtlCol="0" anchor="ctr"/>
          <a:lstStyle/>
          <a:p>
            <a:pPr algn="ctr" indent="0" marL="0">
              <a:buNone/>
            </a:pPr>
            <a:r>
              <a:rPr lang="en-US" sz="1000" b="1" dirty="0">
                <a:solidFill>
                  <a:srgbClr val="F5C96A"/>
                </a:solidFill>
                <a:latin typeface="Aptos" pitchFamily="34" charset="0"/>
                <a:ea typeface="Aptos" pitchFamily="34" charset="-122"/>
                <a:cs typeface="Aptos" pitchFamily="34" charset="-120"/>
              </a:rPr>
              <a:t>✓</a:t>
            </a:r>
            <a:endParaRPr lang="en-US" sz="1000" dirty="0"/>
          </a:p>
        </p:txBody>
      </p:sp>
      <p:sp>
        <p:nvSpPr>
          <p:cNvPr id="58" name="Text 56"/>
          <p:cNvSpPr/>
          <p:nvPr/>
        </p:nvSpPr>
        <p:spPr>
          <a:xfrm>
            <a:off x="8833104" y="3401568"/>
            <a:ext cx="2432304" cy="585216"/>
          </a:xfrm>
          <a:prstGeom prst="rect">
            <a:avLst/>
          </a:prstGeom>
          <a:noFill/>
          <a:ln/>
        </p:spPr>
        <p:txBody>
          <a:bodyPr wrap="square" lIns="0" tIns="0" rIns="0" bIns="0" rtlCol="0" anchor="ctr">
            <a:normAutofit/>
          </a:bodyPr>
          <a:lstStyle/>
          <a:p>
            <a:pPr indent="0" marL="0">
              <a:buNone/>
            </a:pPr>
            <a:r>
              <a:rPr lang="en-US" sz="1520" dirty="0">
                <a:solidFill>
                  <a:srgbClr val="F4F7FB"/>
                </a:solidFill>
                <a:latin typeface="Aptos" pitchFamily="34" charset="0"/>
                <a:ea typeface="Aptos" pitchFamily="34" charset="-122"/>
                <a:cs typeface="Aptos" pitchFamily="34" charset="-120"/>
              </a:rPr>
              <a:t>Key segue l’entità corretta</a:t>
            </a:r>
            <a:endParaRPr lang="en-US" sz="1520" dirty="0"/>
          </a:p>
        </p:txBody>
      </p:sp>
      <p:sp>
        <p:nvSpPr>
          <p:cNvPr id="59" name="Shape 57"/>
          <p:cNvSpPr/>
          <p:nvPr/>
        </p:nvSpPr>
        <p:spPr>
          <a:xfrm>
            <a:off x="8394192" y="4352544"/>
            <a:ext cx="292608" cy="292608"/>
          </a:xfrm>
          <a:prstGeom prst="roundRect">
            <a:avLst>
              <a:gd name="adj" fmla="val 12500"/>
            </a:avLst>
          </a:prstGeom>
          <a:solidFill>
            <a:srgbClr val="F5C96A">
              <a:alpha val="22000"/>
            </a:srgbClr>
          </a:solidFill>
          <a:ln w="10160">
            <a:solidFill>
              <a:srgbClr val="F5C96A"/>
            </a:solidFill>
            <a:prstDash val="solid"/>
          </a:ln>
        </p:spPr>
      </p:sp>
      <p:sp>
        <p:nvSpPr>
          <p:cNvPr id="60" name="Text 58"/>
          <p:cNvSpPr/>
          <p:nvPr/>
        </p:nvSpPr>
        <p:spPr>
          <a:xfrm>
            <a:off x="8449056" y="4393692"/>
            <a:ext cx="182880" cy="155448"/>
          </a:xfrm>
          <a:prstGeom prst="rect">
            <a:avLst/>
          </a:prstGeom>
          <a:noFill/>
          <a:ln/>
        </p:spPr>
        <p:txBody>
          <a:bodyPr wrap="square" lIns="0" tIns="0" rIns="0" bIns="0" rtlCol="0" anchor="ctr"/>
          <a:lstStyle/>
          <a:p>
            <a:pPr algn="ctr" indent="0" marL="0">
              <a:buNone/>
            </a:pPr>
            <a:r>
              <a:rPr lang="en-US" sz="1000" b="1" dirty="0">
                <a:solidFill>
                  <a:srgbClr val="F5C96A"/>
                </a:solidFill>
                <a:latin typeface="Aptos" pitchFamily="34" charset="0"/>
                <a:ea typeface="Aptos" pitchFamily="34" charset="-122"/>
                <a:cs typeface="Aptos" pitchFamily="34" charset="-120"/>
              </a:rPr>
              <a:t>✓</a:t>
            </a:r>
            <a:endParaRPr lang="en-US" sz="1000" dirty="0"/>
          </a:p>
        </p:txBody>
      </p:sp>
      <p:sp>
        <p:nvSpPr>
          <p:cNvPr id="61" name="Text 59"/>
          <p:cNvSpPr/>
          <p:nvPr/>
        </p:nvSpPr>
        <p:spPr>
          <a:xfrm>
            <a:off x="8833104" y="4334256"/>
            <a:ext cx="2432304" cy="585216"/>
          </a:xfrm>
          <a:prstGeom prst="rect">
            <a:avLst/>
          </a:prstGeom>
          <a:noFill/>
          <a:ln/>
        </p:spPr>
        <p:txBody>
          <a:bodyPr wrap="square" lIns="0" tIns="0" rIns="0" bIns="0" rtlCol="0" anchor="ctr">
            <a:normAutofit/>
          </a:bodyPr>
          <a:lstStyle/>
          <a:p>
            <a:pPr indent="0" marL="0">
              <a:buNone/>
            </a:pPr>
            <a:r>
              <a:rPr lang="en-US" sz="1520" dirty="0">
                <a:solidFill>
                  <a:srgbClr val="F4F7FB"/>
                </a:solidFill>
                <a:latin typeface="Aptos" pitchFamily="34" charset="0"/>
                <a:ea typeface="Aptos" pitchFamily="34" charset="-122"/>
                <a:cs typeface="Aptos" pitchFamily="34" charset="-120"/>
              </a:rPr>
              <a:t>Ogni Effect possiede cleanup</a:t>
            </a:r>
            <a:endParaRPr lang="en-US" sz="152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411480" y="0"/>
            <a:ext cx="0" cy="6858000"/>
          </a:xfrm>
          <a:prstGeom prst="line">
            <a:avLst/>
          </a:prstGeom>
          <a:noFill/>
          <a:ln w="5080">
            <a:solidFill>
              <a:srgbClr val="0B1829">
                <a:alpha val="55000"/>
              </a:srgbClr>
            </a:solidFill>
            <a:prstDash val="solid"/>
          </a:ln>
        </p:spPr>
      </p:sp>
      <p:sp>
        <p:nvSpPr>
          <p:cNvPr id="3" name="Shape 1"/>
          <p:cNvSpPr/>
          <p:nvPr/>
        </p:nvSpPr>
        <p:spPr>
          <a:xfrm>
            <a:off x="996696" y="0"/>
            <a:ext cx="0" cy="6858000"/>
          </a:xfrm>
          <a:prstGeom prst="line">
            <a:avLst/>
          </a:prstGeom>
          <a:noFill/>
          <a:ln w="5080">
            <a:solidFill>
              <a:srgbClr val="0B1829">
                <a:alpha val="55000"/>
              </a:srgbClr>
            </a:solidFill>
            <a:prstDash val="solid"/>
          </a:ln>
        </p:spPr>
      </p:sp>
      <p:sp>
        <p:nvSpPr>
          <p:cNvPr id="4" name="Shape 2"/>
          <p:cNvSpPr/>
          <p:nvPr/>
        </p:nvSpPr>
        <p:spPr>
          <a:xfrm>
            <a:off x="1581912" y="0"/>
            <a:ext cx="0" cy="6858000"/>
          </a:xfrm>
          <a:prstGeom prst="line">
            <a:avLst/>
          </a:prstGeom>
          <a:noFill/>
          <a:ln w="5080">
            <a:solidFill>
              <a:srgbClr val="0B1829">
                <a:alpha val="55000"/>
              </a:srgbClr>
            </a:solidFill>
            <a:prstDash val="solid"/>
          </a:ln>
        </p:spPr>
      </p:sp>
      <p:sp>
        <p:nvSpPr>
          <p:cNvPr id="5" name="Shape 3"/>
          <p:cNvSpPr/>
          <p:nvPr/>
        </p:nvSpPr>
        <p:spPr>
          <a:xfrm>
            <a:off x="2167128" y="0"/>
            <a:ext cx="0" cy="6858000"/>
          </a:xfrm>
          <a:prstGeom prst="line">
            <a:avLst/>
          </a:prstGeom>
          <a:noFill/>
          <a:ln w="5080">
            <a:solidFill>
              <a:srgbClr val="0B1829">
                <a:alpha val="55000"/>
              </a:srgbClr>
            </a:solidFill>
            <a:prstDash val="solid"/>
          </a:ln>
        </p:spPr>
      </p:sp>
      <p:sp>
        <p:nvSpPr>
          <p:cNvPr id="6" name="Shape 4"/>
          <p:cNvSpPr/>
          <p:nvPr/>
        </p:nvSpPr>
        <p:spPr>
          <a:xfrm>
            <a:off x="2752344" y="0"/>
            <a:ext cx="0" cy="6858000"/>
          </a:xfrm>
          <a:prstGeom prst="line">
            <a:avLst/>
          </a:prstGeom>
          <a:noFill/>
          <a:ln w="5080">
            <a:solidFill>
              <a:srgbClr val="0B1829">
                <a:alpha val="55000"/>
              </a:srgbClr>
            </a:solidFill>
            <a:prstDash val="solid"/>
          </a:ln>
        </p:spPr>
      </p:sp>
      <p:sp>
        <p:nvSpPr>
          <p:cNvPr id="7" name="Shape 5"/>
          <p:cNvSpPr/>
          <p:nvPr/>
        </p:nvSpPr>
        <p:spPr>
          <a:xfrm>
            <a:off x="3337560" y="0"/>
            <a:ext cx="0" cy="6858000"/>
          </a:xfrm>
          <a:prstGeom prst="line">
            <a:avLst/>
          </a:prstGeom>
          <a:noFill/>
          <a:ln w="5080">
            <a:solidFill>
              <a:srgbClr val="0B1829">
                <a:alpha val="55000"/>
              </a:srgbClr>
            </a:solidFill>
            <a:prstDash val="solid"/>
          </a:ln>
        </p:spPr>
      </p:sp>
      <p:sp>
        <p:nvSpPr>
          <p:cNvPr id="8" name="Shape 6"/>
          <p:cNvSpPr/>
          <p:nvPr/>
        </p:nvSpPr>
        <p:spPr>
          <a:xfrm>
            <a:off x="3922776" y="0"/>
            <a:ext cx="0" cy="6858000"/>
          </a:xfrm>
          <a:prstGeom prst="line">
            <a:avLst/>
          </a:prstGeom>
          <a:noFill/>
          <a:ln w="5080">
            <a:solidFill>
              <a:srgbClr val="0B1829">
                <a:alpha val="55000"/>
              </a:srgbClr>
            </a:solidFill>
            <a:prstDash val="solid"/>
          </a:ln>
        </p:spPr>
      </p:sp>
      <p:sp>
        <p:nvSpPr>
          <p:cNvPr id="9" name="Shape 7"/>
          <p:cNvSpPr/>
          <p:nvPr/>
        </p:nvSpPr>
        <p:spPr>
          <a:xfrm>
            <a:off x="4507992" y="0"/>
            <a:ext cx="0" cy="6858000"/>
          </a:xfrm>
          <a:prstGeom prst="line">
            <a:avLst/>
          </a:prstGeom>
          <a:noFill/>
          <a:ln w="5080">
            <a:solidFill>
              <a:srgbClr val="0B1829">
                <a:alpha val="55000"/>
              </a:srgbClr>
            </a:solidFill>
            <a:prstDash val="solid"/>
          </a:ln>
        </p:spPr>
      </p:sp>
      <p:sp>
        <p:nvSpPr>
          <p:cNvPr id="10" name="Shape 8"/>
          <p:cNvSpPr/>
          <p:nvPr/>
        </p:nvSpPr>
        <p:spPr>
          <a:xfrm>
            <a:off x="5093208" y="0"/>
            <a:ext cx="0" cy="6858000"/>
          </a:xfrm>
          <a:prstGeom prst="line">
            <a:avLst/>
          </a:prstGeom>
          <a:noFill/>
          <a:ln w="5080">
            <a:solidFill>
              <a:srgbClr val="0B1829">
                <a:alpha val="55000"/>
              </a:srgbClr>
            </a:solidFill>
            <a:prstDash val="solid"/>
          </a:ln>
        </p:spPr>
      </p:sp>
      <p:sp>
        <p:nvSpPr>
          <p:cNvPr id="11" name="Shape 9"/>
          <p:cNvSpPr/>
          <p:nvPr/>
        </p:nvSpPr>
        <p:spPr>
          <a:xfrm>
            <a:off x="5678424" y="0"/>
            <a:ext cx="0" cy="6858000"/>
          </a:xfrm>
          <a:prstGeom prst="line">
            <a:avLst/>
          </a:prstGeom>
          <a:noFill/>
          <a:ln w="5080">
            <a:solidFill>
              <a:srgbClr val="0B1829">
                <a:alpha val="55000"/>
              </a:srgbClr>
            </a:solidFill>
            <a:prstDash val="solid"/>
          </a:ln>
        </p:spPr>
      </p:sp>
      <p:sp>
        <p:nvSpPr>
          <p:cNvPr id="12" name="Shape 10"/>
          <p:cNvSpPr/>
          <p:nvPr/>
        </p:nvSpPr>
        <p:spPr>
          <a:xfrm>
            <a:off x="6263640" y="0"/>
            <a:ext cx="0" cy="6858000"/>
          </a:xfrm>
          <a:prstGeom prst="line">
            <a:avLst/>
          </a:prstGeom>
          <a:noFill/>
          <a:ln w="5080">
            <a:solidFill>
              <a:srgbClr val="0B1829">
                <a:alpha val="55000"/>
              </a:srgbClr>
            </a:solidFill>
            <a:prstDash val="solid"/>
          </a:ln>
        </p:spPr>
      </p:sp>
      <p:sp>
        <p:nvSpPr>
          <p:cNvPr id="13" name="Shape 11"/>
          <p:cNvSpPr/>
          <p:nvPr/>
        </p:nvSpPr>
        <p:spPr>
          <a:xfrm>
            <a:off x="6848856" y="0"/>
            <a:ext cx="0" cy="6858000"/>
          </a:xfrm>
          <a:prstGeom prst="line">
            <a:avLst/>
          </a:prstGeom>
          <a:noFill/>
          <a:ln w="5080">
            <a:solidFill>
              <a:srgbClr val="0B1829">
                <a:alpha val="55000"/>
              </a:srgbClr>
            </a:solidFill>
            <a:prstDash val="solid"/>
          </a:ln>
        </p:spPr>
      </p:sp>
      <p:sp>
        <p:nvSpPr>
          <p:cNvPr id="14" name="Shape 12"/>
          <p:cNvSpPr/>
          <p:nvPr/>
        </p:nvSpPr>
        <p:spPr>
          <a:xfrm>
            <a:off x="7434072" y="0"/>
            <a:ext cx="0" cy="6858000"/>
          </a:xfrm>
          <a:prstGeom prst="line">
            <a:avLst/>
          </a:prstGeom>
          <a:noFill/>
          <a:ln w="5080">
            <a:solidFill>
              <a:srgbClr val="0B1829">
                <a:alpha val="55000"/>
              </a:srgbClr>
            </a:solidFill>
            <a:prstDash val="solid"/>
          </a:ln>
        </p:spPr>
      </p:sp>
      <p:sp>
        <p:nvSpPr>
          <p:cNvPr id="15" name="Shape 13"/>
          <p:cNvSpPr/>
          <p:nvPr/>
        </p:nvSpPr>
        <p:spPr>
          <a:xfrm>
            <a:off x="8019288" y="0"/>
            <a:ext cx="0" cy="6858000"/>
          </a:xfrm>
          <a:prstGeom prst="line">
            <a:avLst/>
          </a:prstGeom>
          <a:noFill/>
          <a:ln w="5080">
            <a:solidFill>
              <a:srgbClr val="0B1829">
                <a:alpha val="55000"/>
              </a:srgbClr>
            </a:solidFill>
            <a:prstDash val="solid"/>
          </a:ln>
        </p:spPr>
      </p:sp>
      <p:sp>
        <p:nvSpPr>
          <p:cNvPr id="16" name="Shape 14"/>
          <p:cNvSpPr/>
          <p:nvPr/>
        </p:nvSpPr>
        <p:spPr>
          <a:xfrm>
            <a:off x="8604504" y="0"/>
            <a:ext cx="0" cy="6858000"/>
          </a:xfrm>
          <a:prstGeom prst="line">
            <a:avLst/>
          </a:prstGeom>
          <a:noFill/>
          <a:ln w="5080">
            <a:solidFill>
              <a:srgbClr val="0B1829">
                <a:alpha val="55000"/>
              </a:srgbClr>
            </a:solidFill>
            <a:prstDash val="solid"/>
          </a:ln>
        </p:spPr>
      </p:sp>
      <p:sp>
        <p:nvSpPr>
          <p:cNvPr id="17" name="Shape 15"/>
          <p:cNvSpPr/>
          <p:nvPr/>
        </p:nvSpPr>
        <p:spPr>
          <a:xfrm>
            <a:off x="9189720" y="0"/>
            <a:ext cx="0" cy="6858000"/>
          </a:xfrm>
          <a:prstGeom prst="line">
            <a:avLst/>
          </a:prstGeom>
          <a:noFill/>
          <a:ln w="5080">
            <a:solidFill>
              <a:srgbClr val="0B1829">
                <a:alpha val="55000"/>
              </a:srgbClr>
            </a:solidFill>
            <a:prstDash val="solid"/>
          </a:ln>
        </p:spPr>
      </p:sp>
      <p:sp>
        <p:nvSpPr>
          <p:cNvPr id="18" name="Shape 16"/>
          <p:cNvSpPr/>
          <p:nvPr/>
        </p:nvSpPr>
        <p:spPr>
          <a:xfrm>
            <a:off x="9774936" y="0"/>
            <a:ext cx="0" cy="6858000"/>
          </a:xfrm>
          <a:prstGeom prst="line">
            <a:avLst/>
          </a:prstGeom>
          <a:noFill/>
          <a:ln w="5080">
            <a:solidFill>
              <a:srgbClr val="0B1829">
                <a:alpha val="55000"/>
              </a:srgbClr>
            </a:solidFill>
            <a:prstDash val="solid"/>
          </a:ln>
        </p:spPr>
      </p:sp>
      <p:sp>
        <p:nvSpPr>
          <p:cNvPr id="19" name="Shape 17"/>
          <p:cNvSpPr/>
          <p:nvPr/>
        </p:nvSpPr>
        <p:spPr>
          <a:xfrm>
            <a:off x="10360152" y="0"/>
            <a:ext cx="0" cy="6858000"/>
          </a:xfrm>
          <a:prstGeom prst="line">
            <a:avLst/>
          </a:prstGeom>
          <a:noFill/>
          <a:ln w="5080">
            <a:solidFill>
              <a:srgbClr val="0B1829">
                <a:alpha val="55000"/>
              </a:srgbClr>
            </a:solidFill>
            <a:prstDash val="solid"/>
          </a:ln>
        </p:spPr>
      </p:sp>
      <p:sp>
        <p:nvSpPr>
          <p:cNvPr id="20" name="Shape 18"/>
          <p:cNvSpPr/>
          <p:nvPr/>
        </p:nvSpPr>
        <p:spPr>
          <a:xfrm>
            <a:off x="10945368" y="0"/>
            <a:ext cx="0" cy="6858000"/>
          </a:xfrm>
          <a:prstGeom prst="line">
            <a:avLst/>
          </a:prstGeom>
          <a:noFill/>
          <a:ln w="5080">
            <a:solidFill>
              <a:srgbClr val="0B1829">
                <a:alpha val="55000"/>
              </a:srgbClr>
            </a:solidFill>
            <a:prstDash val="solid"/>
          </a:ln>
        </p:spPr>
      </p:sp>
      <p:sp>
        <p:nvSpPr>
          <p:cNvPr id="21" name="Shape 19"/>
          <p:cNvSpPr/>
          <p:nvPr/>
        </p:nvSpPr>
        <p:spPr>
          <a:xfrm>
            <a:off x="11530584" y="0"/>
            <a:ext cx="0" cy="6858000"/>
          </a:xfrm>
          <a:prstGeom prst="line">
            <a:avLst/>
          </a:prstGeom>
          <a:noFill/>
          <a:ln w="5080">
            <a:solidFill>
              <a:srgbClr val="0B1829">
                <a:alpha val="55000"/>
              </a:srgbClr>
            </a:solidFill>
            <a:prstDash val="solid"/>
          </a:ln>
        </p:spPr>
      </p:sp>
      <p:sp>
        <p:nvSpPr>
          <p:cNvPr id="22" name="Shape 20"/>
          <p:cNvSpPr/>
          <p:nvPr/>
        </p:nvSpPr>
        <p:spPr>
          <a:xfrm>
            <a:off x="12115800" y="0"/>
            <a:ext cx="0" cy="6858000"/>
          </a:xfrm>
          <a:prstGeom prst="line">
            <a:avLst/>
          </a:prstGeom>
          <a:noFill/>
          <a:ln w="5080">
            <a:solidFill>
              <a:srgbClr val="0B1829">
                <a:alpha val="55000"/>
              </a:srgbClr>
            </a:solidFill>
            <a:prstDash val="solid"/>
          </a:ln>
        </p:spPr>
      </p:sp>
      <p:sp>
        <p:nvSpPr>
          <p:cNvPr id="23" name="Text 21"/>
          <p:cNvSpPr/>
          <p:nvPr/>
        </p:nvSpPr>
        <p:spPr>
          <a:xfrm>
            <a:off x="502920" y="228600"/>
            <a:ext cx="5303520" cy="219456"/>
          </a:xfrm>
          <a:prstGeom prst="rect">
            <a:avLst/>
          </a:prstGeom>
          <a:noFill/>
          <a:ln/>
        </p:spPr>
        <p:txBody>
          <a:bodyPr wrap="square" lIns="0" tIns="0" rIns="0" bIns="0" rtlCol="0" anchor="ctr"/>
          <a:lstStyle/>
          <a:p>
            <a:pPr indent="0" marL="0">
              <a:buNone/>
            </a:pPr>
            <a:r>
              <a:rPr lang="en-US" sz="950" b="1" spc="120" kern="0" dirty="0">
                <a:solidFill>
                  <a:srgbClr val="7CD4FF"/>
                </a:solidFill>
                <a:latin typeface="Aptos" pitchFamily="34" charset="0"/>
                <a:ea typeface="Aptos" pitchFamily="34" charset="-122"/>
                <a:cs typeface="Aptos" pitchFamily="34" charset="-120"/>
              </a:rPr>
              <a:t>REACT AZIENDALE · MODULO 1 · FONTI</a:t>
            </a:r>
            <a:endParaRPr lang="en-US" sz="950" dirty="0"/>
          </a:p>
        </p:txBody>
      </p:sp>
      <p:sp>
        <p:nvSpPr>
          <p:cNvPr id="24" name="Text 22"/>
          <p:cNvSpPr/>
          <p:nvPr/>
        </p:nvSpPr>
        <p:spPr>
          <a:xfrm>
            <a:off x="11109960" y="192024"/>
            <a:ext cx="566928" cy="292608"/>
          </a:xfrm>
          <a:prstGeom prst="rect">
            <a:avLst/>
          </a:prstGeom>
          <a:noFill/>
          <a:ln/>
        </p:spPr>
        <p:txBody>
          <a:bodyPr wrap="square" lIns="0" tIns="0" rIns="0" bIns="0" rtlCol="0" anchor="ctr"/>
          <a:lstStyle/>
          <a:p>
            <a:pPr algn="r" indent="0" marL="0">
              <a:buNone/>
            </a:pPr>
            <a:r>
              <a:rPr lang="en-US" sz="1500" b="1" dirty="0">
                <a:solidFill>
                  <a:srgbClr val="9DB0C7"/>
                </a:solidFill>
                <a:latin typeface="Aptos Mono" pitchFamily="34" charset="0"/>
                <a:ea typeface="Aptos Mono" pitchFamily="34" charset="-122"/>
                <a:cs typeface="Aptos Mono" pitchFamily="34" charset="-120"/>
              </a:rPr>
              <a:t>74</a:t>
            </a:r>
            <a:endParaRPr lang="en-US" sz="1500" dirty="0"/>
          </a:p>
        </p:txBody>
      </p:sp>
      <p:sp>
        <p:nvSpPr>
          <p:cNvPr id="25" name="Shape 23"/>
          <p:cNvSpPr/>
          <p:nvPr/>
        </p:nvSpPr>
        <p:spPr>
          <a:xfrm>
            <a:off x="502920" y="566928"/>
            <a:ext cx="11201400" cy="0"/>
          </a:xfrm>
          <a:prstGeom prst="line">
            <a:avLst/>
          </a:prstGeom>
          <a:noFill/>
          <a:ln w="12700">
            <a:solidFill>
              <a:srgbClr val="263A55"/>
            </a:solidFill>
            <a:prstDash val="solid"/>
          </a:ln>
        </p:spPr>
      </p:sp>
      <p:sp>
        <p:nvSpPr>
          <p:cNvPr id="26" name="Text 24"/>
          <p:cNvSpPr/>
          <p:nvPr/>
        </p:nvSpPr>
        <p:spPr>
          <a:xfrm>
            <a:off x="502920" y="6528816"/>
            <a:ext cx="6492240" cy="164592"/>
          </a:xfrm>
          <a:prstGeom prst="rect">
            <a:avLst/>
          </a:prstGeom>
          <a:noFill/>
          <a:ln/>
        </p:spPr>
        <p:txBody>
          <a:bodyPr wrap="square" lIns="0" tIns="0" rIns="0" bIns="0" rtlCol="0" anchor="ctr"/>
          <a:lstStyle/>
          <a:p>
            <a:pPr indent="0" marL="0">
              <a:buNone/>
            </a:pPr>
            <a:r>
              <a:rPr lang="en-US" sz="850" dirty="0">
                <a:solidFill>
                  <a:srgbClr val="8296AE"/>
                </a:solidFill>
                <a:latin typeface="Aptos" pitchFamily="34" charset="0"/>
                <a:ea typeface="Aptos" pitchFamily="34" charset="-122"/>
                <a:cs typeface="Aptos" pitchFamily="34" charset="-120"/>
              </a:rPr>
              <a:t>Corso intermedio-avanzato · React + TypeScript + Sass</a:t>
            </a:r>
            <a:endParaRPr lang="en-US" sz="850" dirty="0"/>
          </a:p>
        </p:txBody>
      </p:sp>
      <p:sp>
        <p:nvSpPr>
          <p:cNvPr id="27" name="Text 25"/>
          <p:cNvSpPr/>
          <p:nvPr/>
        </p:nvSpPr>
        <p:spPr>
          <a:xfrm>
            <a:off x="530352" y="749808"/>
            <a:ext cx="3017520" cy="210312"/>
          </a:xfrm>
          <a:prstGeom prst="rect">
            <a:avLst/>
          </a:prstGeom>
          <a:noFill/>
          <a:ln/>
        </p:spPr>
        <p:txBody>
          <a:bodyPr wrap="square" lIns="0" tIns="0" rIns="0" bIns="0" rtlCol="0" anchor="ctr"/>
          <a:lstStyle/>
          <a:p>
            <a:pPr indent="0" marL="0">
              <a:buNone/>
            </a:pPr>
            <a:r>
              <a:rPr lang="en-US" sz="950" b="1" spc="130" kern="0" dirty="0">
                <a:solidFill>
                  <a:srgbClr val="6FE3B1"/>
                </a:solidFill>
                <a:latin typeface="Aptos" pitchFamily="34" charset="0"/>
                <a:ea typeface="Aptos" pitchFamily="34" charset="-122"/>
                <a:cs typeface="Aptos" pitchFamily="34" charset="-120"/>
              </a:rPr>
              <a:t>RIFERIMENTI PRIMARI</a:t>
            </a:r>
            <a:endParaRPr lang="en-US" sz="950" dirty="0"/>
          </a:p>
        </p:txBody>
      </p:sp>
      <p:sp>
        <p:nvSpPr>
          <p:cNvPr id="28" name="Text 26"/>
          <p:cNvSpPr/>
          <p:nvPr/>
        </p:nvSpPr>
        <p:spPr>
          <a:xfrm>
            <a:off x="502920" y="987552"/>
            <a:ext cx="10698480" cy="512064"/>
          </a:xfrm>
          <a:prstGeom prst="rect">
            <a:avLst/>
          </a:prstGeom>
          <a:noFill/>
          <a:ln/>
        </p:spPr>
        <p:txBody>
          <a:bodyPr wrap="square" lIns="0" tIns="0" rIns="0" bIns="0" rtlCol="0" anchor="ctr">
            <a:normAutofit/>
          </a:bodyPr>
          <a:lstStyle/>
          <a:p>
            <a:pPr indent="0" marL="0">
              <a:buNone/>
            </a:pPr>
            <a:r>
              <a:rPr lang="en-US" sz="2700" b="1" dirty="0">
                <a:solidFill>
                  <a:srgbClr val="F4F7FB"/>
                </a:solidFill>
                <a:latin typeface="Aptos Display" pitchFamily="34" charset="0"/>
                <a:ea typeface="Aptos Display" pitchFamily="34" charset="-122"/>
                <a:cs typeface="Aptos Display" pitchFamily="34" charset="-120"/>
              </a:rPr>
              <a:t>Fonti e approfondimenti</a:t>
            </a:r>
            <a:endParaRPr lang="en-US" sz="2700" dirty="0"/>
          </a:p>
        </p:txBody>
      </p:sp>
      <p:sp>
        <p:nvSpPr>
          <p:cNvPr id="29" name="Text 27"/>
          <p:cNvSpPr/>
          <p:nvPr/>
        </p:nvSpPr>
        <p:spPr>
          <a:xfrm>
            <a:off x="658368" y="1673352"/>
            <a:ext cx="438912" cy="201168"/>
          </a:xfrm>
          <a:prstGeom prst="rect">
            <a:avLst/>
          </a:prstGeom>
          <a:noFill/>
          <a:ln/>
        </p:spPr>
        <p:txBody>
          <a:bodyPr wrap="square" lIns="0" tIns="0" rIns="0" bIns="0" rtlCol="0" anchor="ctr"/>
          <a:lstStyle/>
          <a:p>
            <a:pPr indent="0" marL="0">
              <a:buNone/>
            </a:pPr>
            <a:r>
              <a:rPr lang="en-US" sz="1100" b="1" dirty="0">
                <a:solidFill>
                  <a:srgbClr val="7CD4FF"/>
                </a:solidFill>
                <a:latin typeface="Aptos Mono" pitchFamily="34" charset="0"/>
                <a:ea typeface="Aptos Mono" pitchFamily="34" charset="-122"/>
                <a:cs typeface="Aptos Mono" pitchFamily="34" charset="-120"/>
              </a:rPr>
              <a:t>01</a:t>
            </a:r>
            <a:endParaRPr lang="en-US" sz="1100" dirty="0"/>
          </a:p>
        </p:txBody>
      </p:sp>
      <p:sp>
        <p:nvSpPr>
          <p:cNvPr id="30" name="Text 28"/>
          <p:cNvSpPr/>
          <p:nvPr/>
        </p:nvSpPr>
        <p:spPr>
          <a:xfrm>
            <a:off x="1234440" y="1645920"/>
            <a:ext cx="1828800" cy="274320"/>
          </a:xfrm>
          <a:prstGeom prst="rect">
            <a:avLst/>
          </a:prstGeom>
          <a:noFill/>
          <a:ln/>
        </p:spPr>
        <p:txBody>
          <a:bodyPr wrap="square" lIns="0" tIns="0" rIns="0" bIns="0" rtlCol="0" anchor="ctr"/>
          <a:lstStyle/>
          <a:p>
            <a:pPr indent="0" marL="0">
              <a:buNone/>
            </a:pPr>
            <a:r>
              <a:rPr lang="en-US" sz="1550" b="1" dirty="0">
                <a:solidFill>
                  <a:srgbClr val="F4F7FB"/>
                </a:solidFill>
                <a:latin typeface="Aptos" pitchFamily="34" charset="0"/>
                <a:ea typeface="Aptos" pitchFamily="34" charset="-122"/>
                <a:cs typeface="Aptos" pitchFamily="34" charset="-120"/>
              </a:rPr>
              <a:t>React</a:t>
            </a:r>
            <a:endParaRPr lang="en-US" sz="1550" dirty="0"/>
          </a:p>
        </p:txBody>
      </p:sp>
      <p:sp>
        <p:nvSpPr>
          <p:cNvPr id="31" name="Text 29"/>
          <p:cNvSpPr/>
          <p:nvPr/>
        </p:nvSpPr>
        <p:spPr>
          <a:xfrm>
            <a:off x="3154680" y="1645920"/>
            <a:ext cx="7772400" cy="384048"/>
          </a:xfrm>
          <a:prstGeom prst="rect">
            <a:avLst/>
          </a:prstGeom>
          <a:noFill/>
          <a:ln/>
        </p:spPr>
        <p:txBody>
          <a:bodyPr wrap="square" lIns="0" tIns="0" rIns="0" bIns="0" rtlCol="0" anchor="ctr">
            <a:normAutofit/>
          </a:bodyPr>
          <a:lstStyle/>
          <a:p>
            <a:pPr indent="0" marL="0">
              <a:buNone/>
            </a:pPr>
            <a:r>
              <a:rPr lang="en-US" sz="1400" dirty="0">
                <a:solidFill>
                  <a:srgbClr val="9DB0C7"/>
                </a:solidFill>
                <a:latin typeface="Aptos" pitchFamily="34" charset="0"/>
                <a:ea typeface="Aptos" pitchFamily="34" charset="-122"/>
                <a:cs typeface="Aptos" pitchFamily="34" charset="-120"/>
              </a:rPr>
              <a:t>State as a Snapshot · Queueing State Updates · Preserving and Resetting State</a:t>
            </a:r>
            <a:endParaRPr lang="en-US" sz="1400" dirty="0"/>
          </a:p>
        </p:txBody>
      </p:sp>
      <p:sp>
        <p:nvSpPr>
          <p:cNvPr id="32" name="Shape 30"/>
          <p:cNvSpPr/>
          <p:nvPr/>
        </p:nvSpPr>
        <p:spPr>
          <a:xfrm>
            <a:off x="1234440" y="2167128"/>
            <a:ext cx="9784080" cy="0"/>
          </a:xfrm>
          <a:prstGeom prst="line">
            <a:avLst/>
          </a:prstGeom>
          <a:noFill/>
          <a:ln w="10160">
            <a:solidFill>
              <a:srgbClr val="263A55"/>
            </a:solidFill>
            <a:prstDash val="solid"/>
          </a:ln>
        </p:spPr>
      </p:sp>
      <p:sp>
        <p:nvSpPr>
          <p:cNvPr id="33" name="Text 31"/>
          <p:cNvSpPr/>
          <p:nvPr/>
        </p:nvSpPr>
        <p:spPr>
          <a:xfrm>
            <a:off x="658368" y="2386584"/>
            <a:ext cx="438912" cy="201168"/>
          </a:xfrm>
          <a:prstGeom prst="rect">
            <a:avLst/>
          </a:prstGeom>
          <a:noFill/>
          <a:ln/>
        </p:spPr>
        <p:txBody>
          <a:bodyPr wrap="square" lIns="0" tIns="0" rIns="0" bIns="0" rtlCol="0" anchor="ctr"/>
          <a:lstStyle/>
          <a:p>
            <a:pPr indent="0" marL="0">
              <a:buNone/>
            </a:pPr>
            <a:r>
              <a:rPr lang="en-US" sz="1100" b="1" dirty="0">
                <a:solidFill>
                  <a:srgbClr val="7CD4FF"/>
                </a:solidFill>
                <a:latin typeface="Aptos Mono" pitchFamily="34" charset="0"/>
                <a:ea typeface="Aptos Mono" pitchFamily="34" charset="-122"/>
                <a:cs typeface="Aptos Mono" pitchFamily="34" charset="-120"/>
              </a:rPr>
              <a:t>02</a:t>
            </a:r>
            <a:endParaRPr lang="en-US" sz="1100" dirty="0"/>
          </a:p>
        </p:txBody>
      </p:sp>
      <p:sp>
        <p:nvSpPr>
          <p:cNvPr id="34" name="Text 32"/>
          <p:cNvSpPr/>
          <p:nvPr/>
        </p:nvSpPr>
        <p:spPr>
          <a:xfrm>
            <a:off x="1234440" y="2359152"/>
            <a:ext cx="1828800" cy="274320"/>
          </a:xfrm>
          <a:prstGeom prst="rect">
            <a:avLst/>
          </a:prstGeom>
          <a:noFill/>
          <a:ln/>
        </p:spPr>
        <p:txBody>
          <a:bodyPr wrap="square" lIns="0" tIns="0" rIns="0" bIns="0" rtlCol="0" anchor="ctr"/>
          <a:lstStyle/>
          <a:p>
            <a:pPr indent="0" marL="0">
              <a:buNone/>
            </a:pPr>
            <a:r>
              <a:rPr lang="en-US" sz="1550" b="1" dirty="0">
                <a:solidFill>
                  <a:srgbClr val="F4F7FB"/>
                </a:solidFill>
                <a:latin typeface="Aptos" pitchFamily="34" charset="0"/>
                <a:ea typeface="Aptos" pitchFamily="34" charset="-122"/>
                <a:cs typeface="Aptos" pitchFamily="34" charset="-120"/>
              </a:rPr>
              <a:t>React</a:t>
            </a:r>
            <a:endParaRPr lang="en-US" sz="1550" dirty="0"/>
          </a:p>
        </p:txBody>
      </p:sp>
      <p:sp>
        <p:nvSpPr>
          <p:cNvPr id="35" name="Text 33"/>
          <p:cNvSpPr/>
          <p:nvPr/>
        </p:nvSpPr>
        <p:spPr>
          <a:xfrm>
            <a:off x="3154680" y="2359152"/>
            <a:ext cx="7772400" cy="384048"/>
          </a:xfrm>
          <a:prstGeom prst="rect">
            <a:avLst/>
          </a:prstGeom>
          <a:noFill/>
          <a:ln/>
        </p:spPr>
        <p:txBody>
          <a:bodyPr wrap="square" lIns="0" tIns="0" rIns="0" bIns="0" rtlCol="0" anchor="ctr">
            <a:normAutofit/>
          </a:bodyPr>
          <a:lstStyle/>
          <a:p>
            <a:pPr indent="0" marL="0">
              <a:buNone/>
            </a:pPr>
            <a:r>
              <a:rPr lang="en-US" sz="1400" dirty="0">
                <a:solidFill>
                  <a:srgbClr val="9DB0C7"/>
                </a:solidFill>
                <a:latin typeface="Aptos" pitchFamily="34" charset="0"/>
                <a:ea typeface="Aptos" pitchFamily="34" charset="-122"/>
                <a:cs typeface="Aptos" pitchFamily="34" charset="-120"/>
              </a:rPr>
              <a:t>Synchronizing with Effects · Lifecycle of Reactive Effects · useEffect</a:t>
            </a:r>
            <a:endParaRPr lang="en-US" sz="1400" dirty="0"/>
          </a:p>
        </p:txBody>
      </p:sp>
      <p:sp>
        <p:nvSpPr>
          <p:cNvPr id="36" name="Shape 34"/>
          <p:cNvSpPr/>
          <p:nvPr/>
        </p:nvSpPr>
        <p:spPr>
          <a:xfrm>
            <a:off x="1234440" y="2880360"/>
            <a:ext cx="9784080" cy="0"/>
          </a:xfrm>
          <a:prstGeom prst="line">
            <a:avLst/>
          </a:prstGeom>
          <a:noFill/>
          <a:ln w="10160">
            <a:solidFill>
              <a:srgbClr val="263A55"/>
            </a:solidFill>
            <a:prstDash val="solid"/>
          </a:ln>
        </p:spPr>
      </p:sp>
      <p:sp>
        <p:nvSpPr>
          <p:cNvPr id="37" name="Text 35"/>
          <p:cNvSpPr/>
          <p:nvPr/>
        </p:nvSpPr>
        <p:spPr>
          <a:xfrm>
            <a:off x="658368" y="3099816"/>
            <a:ext cx="438912" cy="201168"/>
          </a:xfrm>
          <a:prstGeom prst="rect">
            <a:avLst/>
          </a:prstGeom>
          <a:noFill/>
          <a:ln/>
        </p:spPr>
        <p:txBody>
          <a:bodyPr wrap="square" lIns="0" tIns="0" rIns="0" bIns="0" rtlCol="0" anchor="ctr"/>
          <a:lstStyle/>
          <a:p>
            <a:pPr indent="0" marL="0">
              <a:buNone/>
            </a:pPr>
            <a:r>
              <a:rPr lang="en-US" sz="1100" b="1" dirty="0">
                <a:solidFill>
                  <a:srgbClr val="7CD4FF"/>
                </a:solidFill>
                <a:latin typeface="Aptos Mono" pitchFamily="34" charset="0"/>
                <a:ea typeface="Aptos Mono" pitchFamily="34" charset="-122"/>
                <a:cs typeface="Aptos Mono" pitchFamily="34" charset="-120"/>
              </a:rPr>
              <a:t>03</a:t>
            </a:r>
            <a:endParaRPr lang="en-US" sz="1100" dirty="0"/>
          </a:p>
        </p:txBody>
      </p:sp>
      <p:sp>
        <p:nvSpPr>
          <p:cNvPr id="38" name="Text 36"/>
          <p:cNvSpPr/>
          <p:nvPr/>
        </p:nvSpPr>
        <p:spPr>
          <a:xfrm>
            <a:off x="1234440" y="3072384"/>
            <a:ext cx="1828800" cy="274320"/>
          </a:xfrm>
          <a:prstGeom prst="rect">
            <a:avLst/>
          </a:prstGeom>
          <a:noFill/>
          <a:ln/>
        </p:spPr>
        <p:txBody>
          <a:bodyPr wrap="square" lIns="0" tIns="0" rIns="0" bIns="0" rtlCol="0" anchor="ctr"/>
          <a:lstStyle/>
          <a:p>
            <a:pPr indent="0" marL="0">
              <a:buNone/>
            </a:pPr>
            <a:r>
              <a:rPr lang="en-US" sz="1550" b="1" dirty="0">
                <a:solidFill>
                  <a:srgbClr val="F4F7FB"/>
                </a:solidFill>
                <a:latin typeface="Aptos" pitchFamily="34" charset="0"/>
                <a:ea typeface="Aptos" pitchFamily="34" charset="-122"/>
                <a:cs typeface="Aptos" pitchFamily="34" charset="-120"/>
              </a:rPr>
              <a:t>React source</a:t>
            </a:r>
            <a:endParaRPr lang="en-US" sz="1550" dirty="0"/>
          </a:p>
        </p:txBody>
      </p:sp>
      <p:sp>
        <p:nvSpPr>
          <p:cNvPr id="39" name="Text 37"/>
          <p:cNvSpPr/>
          <p:nvPr/>
        </p:nvSpPr>
        <p:spPr>
          <a:xfrm>
            <a:off x="3154680" y="3072384"/>
            <a:ext cx="7772400" cy="384048"/>
          </a:xfrm>
          <a:prstGeom prst="rect">
            <a:avLst/>
          </a:prstGeom>
          <a:noFill/>
          <a:ln/>
        </p:spPr>
        <p:txBody>
          <a:bodyPr wrap="square" lIns="0" tIns="0" rIns="0" bIns="0" rtlCol="0" anchor="ctr">
            <a:normAutofit/>
          </a:bodyPr>
          <a:lstStyle/>
          <a:p>
            <a:pPr indent="0" marL="0">
              <a:buNone/>
            </a:pPr>
            <a:r>
              <a:rPr lang="en-US" sz="1400" dirty="0">
                <a:solidFill>
                  <a:srgbClr val="9DB0C7"/>
                </a:solidFill>
                <a:latin typeface="Aptos" pitchFamily="34" charset="0"/>
                <a:ea typeface="Aptos" pitchFamily="34" charset="-122"/>
                <a:cs typeface="Aptos" pitchFamily="34" charset="-120"/>
              </a:rPr>
              <a:t>packages/react-reconciler/src/ReactFiberHooks.js</a:t>
            </a:r>
            <a:endParaRPr lang="en-US" sz="1400" dirty="0"/>
          </a:p>
        </p:txBody>
      </p:sp>
      <p:sp>
        <p:nvSpPr>
          <p:cNvPr id="40" name="Shape 38"/>
          <p:cNvSpPr/>
          <p:nvPr/>
        </p:nvSpPr>
        <p:spPr>
          <a:xfrm>
            <a:off x="1234440" y="3593592"/>
            <a:ext cx="9784080" cy="0"/>
          </a:xfrm>
          <a:prstGeom prst="line">
            <a:avLst/>
          </a:prstGeom>
          <a:noFill/>
          <a:ln w="10160">
            <a:solidFill>
              <a:srgbClr val="263A55"/>
            </a:solidFill>
            <a:prstDash val="solid"/>
          </a:ln>
        </p:spPr>
      </p:sp>
      <p:sp>
        <p:nvSpPr>
          <p:cNvPr id="41" name="Text 39"/>
          <p:cNvSpPr/>
          <p:nvPr/>
        </p:nvSpPr>
        <p:spPr>
          <a:xfrm>
            <a:off x="658368" y="3813048"/>
            <a:ext cx="438912" cy="201168"/>
          </a:xfrm>
          <a:prstGeom prst="rect">
            <a:avLst/>
          </a:prstGeom>
          <a:noFill/>
          <a:ln/>
        </p:spPr>
        <p:txBody>
          <a:bodyPr wrap="square" lIns="0" tIns="0" rIns="0" bIns="0" rtlCol="0" anchor="ctr"/>
          <a:lstStyle/>
          <a:p>
            <a:pPr indent="0" marL="0">
              <a:buNone/>
            </a:pPr>
            <a:r>
              <a:rPr lang="en-US" sz="1100" b="1" dirty="0">
                <a:solidFill>
                  <a:srgbClr val="7CD4FF"/>
                </a:solidFill>
                <a:latin typeface="Aptos Mono" pitchFamily="34" charset="0"/>
                <a:ea typeface="Aptos Mono" pitchFamily="34" charset="-122"/>
                <a:cs typeface="Aptos Mono" pitchFamily="34" charset="-120"/>
              </a:rPr>
              <a:t>04</a:t>
            </a:r>
            <a:endParaRPr lang="en-US" sz="1100" dirty="0"/>
          </a:p>
        </p:txBody>
      </p:sp>
      <p:sp>
        <p:nvSpPr>
          <p:cNvPr id="42" name="Text 40"/>
          <p:cNvSpPr/>
          <p:nvPr/>
        </p:nvSpPr>
        <p:spPr>
          <a:xfrm>
            <a:off x="1234440" y="3785616"/>
            <a:ext cx="1828800" cy="274320"/>
          </a:xfrm>
          <a:prstGeom prst="rect">
            <a:avLst/>
          </a:prstGeom>
          <a:noFill/>
          <a:ln/>
        </p:spPr>
        <p:txBody>
          <a:bodyPr wrap="square" lIns="0" tIns="0" rIns="0" bIns="0" rtlCol="0" anchor="ctr"/>
          <a:lstStyle/>
          <a:p>
            <a:pPr indent="0" marL="0">
              <a:buNone/>
            </a:pPr>
            <a:r>
              <a:rPr lang="en-US" sz="1550" b="1" dirty="0">
                <a:solidFill>
                  <a:srgbClr val="F4F7FB"/>
                </a:solidFill>
                <a:latin typeface="Aptos" pitchFamily="34" charset="0"/>
                <a:ea typeface="Aptos" pitchFamily="34" charset="-122"/>
                <a:cs typeface="Aptos" pitchFamily="34" charset="-120"/>
              </a:rPr>
              <a:t>Sass</a:t>
            </a:r>
            <a:endParaRPr lang="en-US" sz="1550" dirty="0"/>
          </a:p>
        </p:txBody>
      </p:sp>
      <p:sp>
        <p:nvSpPr>
          <p:cNvPr id="43" name="Text 41"/>
          <p:cNvSpPr/>
          <p:nvPr/>
        </p:nvSpPr>
        <p:spPr>
          <a:xfrm>
            <a:off x="3154680" y="3785616"/>
            <a:ext cx="7772400" cy="384048"/>
          </a:xfrm>
          <a:prstGeom prst="rect">
            <a:avLst/>
          </a:prstGeom>
          <a:noFill/>
          <a:ln/>
        </p:spPr>
        <p:txBody>
          <a:bodyPr wrap="square" lIns="0" tIns="0" rIns="0" bIns="0" rtlCol="0" anchor="ctr">
            <a:normAutofit/>
          </a:bodyPr>
          <a:lstStyle/>
          <a:p>
            <a:pPr indent="0" marL="0">
              <a:buNone/>
            </a:pPr>
            <a:r>
              <a:rPr lang="en-US" sz="1400" dirty="0">
                <a:solidFill>
                  <a:srgbClr val="9DB0C7"/>
                </a:solidFill>
                <a:latin typeface="Aptos" pitchFamily="34" charset="0"/>
                <a:ea typeface="Aptos" pitchFamily="34" charset="-122"/>
                <a:cs typeface="Aptos" pitchFamily="34" charset="-120"/>
              </a:rPr>
              <a:t>@use · Variables · Modules</a:t>
            </a:r>
            <a:endParaRPr lang="en-US" sz="1400" dirty="0"/>
          </a:p>
        </p:txBody>
      </p:sp>
      <p:sp>
        <p:nvSpPr>
          <p:cNvPr id="44" name="Shape 42"/>
          <p:cNvSpPr/>
          <p:nvPr/>
        </p:nvSpPr>
        <p:spPr>
          <a:xfrm>
            <a:off x="1234440" y="4306824"/>
            <a:ext cx="9784080" cy="0"/>
          </a:xfrm>
          <a:prstGeom prst="line">
            <a:avLst/>
          </a:prstGeom>
          <a:noFill/>
          <a:ln w="10160">
            <a:solidFill>
              <a:srgbClr val="263A55"/>
            </a:solidFill>
            <a:prstDash val="solid"/>
          </a:ln>
        </p:spPr>
      </p:sp>
      <p:sp>
        <p:nvSpPr>
          <p:cNvPr id="45" name="Text 43"/>
          <p:cNvSpPr/>
          <p:nvPr/>
        </p:nvSpPr>
        <p:spPr>
          <a:xfrm>
            <a:off x="658368" y="4526280"/>
            <a:ext cx="438912" cy="201168"/>
          </a:xfrm>
          <a:prstGeom prst="rect">
            <a:avLst/>
          </a:prstGeom>
          <a:noFill/>
          <a:ln/>
        </p:spPr>
        <p:txBody>
          <a:bodyPr wrap="square" lIns="0" tIns="0" rIns="0" bIns="0" rtlCol="0" anchor="ctr"/>
          <a:lstStyle/>
          <a:p>
            <a:pPr indent="0" marL="0">
              <a:buNone/>
            </a:pPr>
            <a:r>
              <a:rPr lang="en-US" sz="1100" b="1" dirty="0">
                <a:solidFill>
                  <a:srgbClr val="7CD4FF"/>
                </a:solidFill>
                <a:latin typeface="Aptos Mono" pitchFamily="34" charset="0"/>
                <a:ea typeface="Aptos Mono" pitchFamily="34" charset="-122"/>
                <a:cs typeface="Aptos Mono" pitchFamily="34" charset="-120"/>
              </a:rPr>
              <a:t>05</a:t>
            </a:r>
            <a:endParaRPr lang="en-US" sz="1100" dirty="0"/>
          </a:p>
        </p:txBody>
      </p:sp>
      <p:sp>
        <p:nvSpPr>
          <p:cNvPr id="46" name="Text 44"/>
          <p:cNvSpPr/>
          <p:nvPr/>
        </p:nvSpPr>
        <p:spPr>
          <a:xfrm>
            <a:off x="1234440" y="4498848"/>
            <a:ext cx="1828800" cy="274320"/>
          </a:xfrm>
          <a:prstGeom prst="rect">
            <a:avLst/>
          </a:prstGeom>
          <a:noFill/>
          <a:ln/>
        </p:spPr>
        <p:txBody>
          <a:bodyPr wrap="square" lIns="0" tIns="0" rIns="0" bIns="0" rtlCol="0" anchor="ctr"/>
          <a:lstStyle/>
          <a:p>
            <a:pPr indent="0" marL="0">
              <a:buNone/>
            </a:pPr>
            <a:r>
              <a:rPr lang="en-US" sz="1550" b="1" dirty="0">
                <a:solidFill>
                  <a:srgbClr val="F4F7FB"/>
                </a:solidFill>
                <a:latin typeface="Aptos" pitchFamily="34" charset="0"/>
                <a:ea typeface="Aptos" pitchFamily="34" charset="-122"/>
                <a:cs typeface="Aptos" pitchFamily="34" charset="-120"/>
              </a:rPr>
              <a:t>MDN</a:t>
            </a:r>
            <a:endParaRPr lang="en-US" sz="1550" dirty="0"/>
          </a:p>
        </p:txBody>
      </p:sp>
      <p:sp>
        <p:nvSpPr>
          <p:cNvPr id="47" name="Text 45"/>
          <p:cNvSpPr/>
          <p:nvPr/>
        </p:nvSpPr>
        <p:spPr>
          <a:xfrm>
            <a:off x="3154680" y="4498848"/>
            <a:ext cx="7772400" cy="384048"/>
          </a:xfrm>
          <a:prstGeom prst="rect">
            <a:avLst/>
          </a:prstGeom>
          <a:noFill/>
          <a:ln/>
        </p:spPr>
        <p:txBody>
          <a:bodyPr wrap="square" lIns="0" tIns="0" rIns="0" bIns="0" rtlCol="0" anchor="ctr">
            <a:normAutofit/>
          </a:bodyPr>
          <a:lstStyle/>
          <a:p>
            <a:pPr indent="0" marL="0">
              <a:buNone/>
            </a:pPr>
            <a:r>
              <a:rPr lang="en-US" sz="1400" dirty="0">
                <a:solidFill>
                  <a:srgbClr val="9DB0C7"/>
                </a:solidFill>
                <a:latin typeface="Aptos" pitchFamily="34" charset="0"/>
                <a:ea typeface="Aptos" pitchFamily="34" charset="-122"/>
                <a:cs typeface="Aptos" pitchFamily="34" charset="-120"/>
              </a:rPr>
              <a:t>AbortController · setTimeout · addEventListener</a:t>
            </a:r>
            <a:endParaRPr lang="en-US" sz="1400" dirty="0"/>
          </a:p>
        </p:txBody>
      </p:sp>
      <p:sp>
        <p:nvSpPr>
          <p:cNvPr id="48" name="Shape 46"/>
          <p:cNvSpPr/>
          <p:nvPr/>
        </p:nvSpPr>
        <p:spPr>
          <a:xfrm>
            <a:off x="1234440" y="5020056"/>
            <a:ext cx="9784080" cy="0"/>
          </a:xfrm>
          <a:prstGeom prst="line">
            <a:avLst/>
          </a:prstGeom>
          <a:noFill/>
          <a:ln w="10160">
            <a:solidFill>
              <a:srgbClr val="263A55"/>
            </a:solidFill>
            <a:prstDash val="solid"/>
          </a:ln>
        </p:spPr>
      </p:sp>
      <p:sp>
        <p:nvSpPr>
          <p:cNvPr id="49" name="Text 47"/>
          <p:cNvSpPr/>
          <p:nvPr/>
        </p:nvSpPr>
        <p:spPr>
          <a:xfrm>
            <a:off x="658368" y="5239512"/>
            <a:ext cx="438912" cy="201168"/>
          </a:xfrm>
          <a:prstGeom prst="rect">
            <a:avLst/>
          </a:prstGeom>
          <a:noFill/>
          <a:ln/>
        </p:spPr>
        <p:txBody>
          <a:bodyPr wrap="square" lIns="0" tIns="0" rIns="0" bIns="0" rtlCol="0" anchor="ctr"/>
          <a:lstStyle/>
          <a:p>
            <a:pPr indent="0" marL="0">
              <a:buNone/>
            </a:pPr>
            <a:r>
              <a:rPr lang="en-US" sz="1100" b="1" dirty="0">
                <a:solidFill>
                  <a:srgbClr val="7CD4FF"/>
                </a:solidFill>
                <a:latin typeface="Aptos Mono" pitchFamily="34" charset="0"/>
                <a:ea typeface="Aptos Mono" pitchFamily="34" charset="-122"/>
                <a:cs typeface="Aptos Mono" pitchFamily="34" charset="-120"/>
              </a:rPr>
              <a:t>06</a:t>
            </a:r>
            <a:endParaRPr lang="en-US" sz="1100" dirty="0"/>
          </a:p>
        </p:txBody>
      </p:sp>
      <p:sp>
        <p:nvSpPr>
          <p:cNvPr id="50" name="Text 48"/>
          <p:cNvSpPr/>
          <p:nvPr/>
        </p:nvSpPr>
        <p:spPr>
          <a:xfrm>
            <a:off x="1234440" y="5212080"/>
            <a:ext cx="1828800" cy="274320"/>
          </a:xfrm>
          <a:prstGeom prst="rect">
            <a:avLst/>
          </a:prstGeom>
          <a:noFill/>
          <a:ln/>
        </p:spPr>
        <p:txBody>
          <a:bodyPr wrap="square" lIns="0" tIns="0" rIns="0" bIns="0" rtlCol="0" anchor="ctr"/>
          <a:lstStyle/>
          <a:p>
            <a:pPr indent="0" marL="0">
              <a:buNone/>
            </a:pPr>
            <a:r>
              <a:rPr lang="en-US" sz="1550" b="1" dirty="0">
                <a:solidFill>
                  <a:srgbClr val="F4F7FB"/>
                </a:solidFill>
                <a:latin typeface="Aptos" pitchFamily="34" charset="0"/>
                <a:ea typeface="Aptos" pitchFamily="34" charset="-122"/>
                <a:cs typeface="Aptos" pitchFamily="34" charset="-120"/>
              </a:rPr>
              <a:t>Corso</a:t>
            </a:r>
            <a:endParaRPr lang="en-US" sz="1550" dirty="0"/>
          </a:p>
        </p:txBody>
      </p:sp>
      <p:sp>
        <p:nvSpPr>
          <p:cNvPr id="51" name="Text 49"/>
          <p:cNvSpPr/>
          <p:nvPr/>
        </p:nvSpPr>
        <p:spPr>
          <a:xfrm>
            <a:off x="3154680" y="5212080"/>
            <a:ext cx="7772400" cy="384048"/>
          </a:xfrm>
          <a:prstGeom prst="rect">
            <a:avLst/>
          </a:prstGeom>
          <a:noFill/>
          <a:ln/>
        </p:spPr>
        <p:txBody>
          <a:bodyPr wrap="square" lIns="0" tIns="0" rIns="0" bIns="0" rtlCol="0" anchor="ctr">
            <a:normAutofit/>
          </a:bodyPr>
          <a:lstStyle/>
          <a:p>
            <a:pPr indent="0" marL="0">
              <a:buNone/>
            </a:pPr>
            <a:r>
              <a:rPr lang="en-US" sz="1400" dirty="0">
                <a:solidFill>
                  <a:srgbClr val="9DB0C7"/>
                </a:solidFill>
                <a:latin typeface="Aptos" pitchFamily="34" charset="0"/>
                <a:ea typeface="Aptos" pitchFamily="34" charset="-122"/>
                <a:cs typeface="Aptos" pitchFamily="34" charset="-120"/>
              </a:rPr>
              <a:t>Programma React aziendale e presentazione teorica del Modulo 1</a:t>
            </a:r>
            <a:endParaRPr lang="en-US" sz="1400" dirty="0"/>
          </a:p>
        </p:txBody>
      </p:sp>
      <p:sp>
        <p:nvSpPr>
          <p:cNvPr id="52" name="Shape 50"/>
          <p:cNvSpPr/>
          <p:nvPr/>
        </p:nvSpPr>
        <p:spPr>
          <a:xfrm>
            <a:off x="1234440" y="5733288"/>
            <a:ext cx="9784080" cy="0"/>
          </a:xfrm>
          <a:prstGeom prst="line">
            <a:avLst/>
          </a:prstGeom>
          <a:noFill/>
          <a:ln w="10160">
            <a:solidFill>
              <a:srgbClr val="263A55"/>
            </a:solidFill>
            <a:prstDash val="solid"/>
          </a:ln>
        </p:spPr>
      </p:sp>
      <p:sp>
        <p:nvSpPr>
          <p:cNvPr id="53" name="Text 51"/>
          <p:cNvSpPr/>
          <p:nvPr/>
        </p:nvSpPr>
        <p:spPr>
          <a:xfrm>
            <a:off x="1234440" y="6080760"/>
            <a:ext cx="8138160" cy="219456"/>
          </a:xfrm>
          <a:prstGeom prst="rect">
            <a:avLst/>
          </a:prstGeom>
          <a:noFill/>
          <a:ln/>
        </p:spPr>
        <p:txBody>
          <a:bodyPr wrap="square" lIns="0" tIns="0" rIns="0" bIns="0" rtlCol="0" anchor="ctr"/>
          <a:lstStyle/>
          <a:p>
            <a:pPr indent="0" marL="0">
              <a:buNone/>
            </a:pPr>
            <a:r>
              <a:rPr lang="en-US" sz="1150" b="1" dirty="0">
                <a:solidFill>
                  <a:srgbClr val="6FE3B1"/>
                </a:solidFill>
                <a:latin typeface="Aptos" pitchFamily="34" charset="0"/>
                <a:ea typeface="Aptos" pitchFamily="34" charset="-122"/>
                <a:cs typeface="Aptos" pitchFamily="34" charset="-120"/>
              </a:rPr>
              <a:t>URL principali nelle note del presentatore e nella presentazione teorica.</a:t>
            </a:r>
            <a:endParaRPr lang="en-US" sz="11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4C7DFF"/>
          </a:solidFill>
          <a:ln w="12700">
            <a:solidFill>
              <a:srgbClr val="4C7DFF"/>
            </a:solidFill>
            <a:prstDash val="solid"/>
          </a:ln>
        </p:spPr>
      </p:sp>
      <p:sp>
        <p:nvSpPr>
          <p:cNvPr id="3" name="Text 1"/>
          <p:cNvSpPr/>
          <p:nvPr/>
        </p:nvSpPr>
        <p:spPr>
          <a:xfrm>
            <a:off x="777240" y="960120"/>
            <a:ext cx="10652760" cy="320040"/>
          </a:xfrm>
          <a:prstGeom prst="rect">
            <a:avLst/>
          </a:prstGeom>
          <a:noFill/>
          <a:ln/>
        </p:spPr>
        <p:txBody>
          <a:bodyPr wrap="square" lIns="0" tIns="0" rIns="0" bIns="0" rtlCol="0" anchor="ctr"/>
          <a:lstStyle/>
          <a:p>
            <a:pPr algn="ctr" indent="0" marL="0">
              <a:buNone/>
            </a:pPr>
            <a:r>
              <a:rPr lang="en-US" sz="1200" b="1" spc="160" kern="0" dirty="0">
                <a:solidFill>
                  <a:srgbClr val="7CD4FF"/>
                </a:solidFill>
                <a:latin typeface="Aptos" pitchFamily="34" charset="0"/>
                <a:ea typeface="Aptos" pitchFamily="34" charset="-122"/>
                <a:cs typeface="Aptos" pitchFamily="34" charset="-120"/>
              </a:rPr>
              <a:t>UNA BUONA ARCHITETTURA RENDE PREVEDIBILE IL CAMBIAMENTO</a:t>
            </a:r>
            <a:endParaRPr lang="en-US" sz="1200" dirty="0"/>
          </a:p>
        </p:txBody>
      </p:sp>
      <p:sp>
        <p:nvSpPr>
          <p:cNvPr id="4" name="Text 2"/>
          <p:cNvSpPr/>
          <p:nvPr/>
        </p:nvSpPr>
        <p:spPr>
          <a:xfrm>
            <a:off x="1143000" y="1828800"/>
            <a:ext cx="9921240" cy="2148840"/>
          </a:xfrm>
          <a:prstGeom prst="rect">
            <a:avLst/>
          </a:prstGeom>
          <a:noFill/>
          <a:ln/>
        </p:spPr>
        <p:txBody>
          <a:bodyPr wrap="square" lIns="0" tIns="0" rIns="0" bIns="0" rtlCol="0" anchor="ctr">
            <a:normAutofit/>
          </a:bodyPr>
          <a:lstStyle/>
          <a:p>
            <a:pPr algn="ctr" indent="0" marL="0">
              <a:buNone/>
            </a:pPr>
            <a:r>
              <a:rPr lang="en-US" sz="3500" b="1" dirty="0">
                <a:solidFill>
                  <a:srgbClr val="F4F7FB"/>
                </a:solidFill>
                <a:latin typeface="Aptos Display" pitchFamily="34" charset="0"/>
                <a:ea typeface="Aptos Display" pitchFamily="34" charset="-122"/>
                <a:cs typeface="Aptos Display" pitchFamily="34" charset="-120"/>
              </a:rPr>
              <a:t>Il team sa dove intervenire.</a:t>
            </a:r>
            <a:endParaRPr lang="en-US" sz="3500" dirty="0"/>
          </a:p>
          <a:p>
            <a:pPr algn="ctr" indent="0" marL="0">
              <a:buNone/>
            </a:pPr>
            <a:r>
              <a:rPr lang="en-US" sz="3500" b="1" dirty="0">
                <a:solidFill>
                  <a:srgbClr val="F4F7FB"/>
                </a:solidFill>
                <a:latin typeface="Aptos Display" pitchFamily="34" charset="0"/>
                <a:ea typeface="Aptos Display" pitchFamily="34" charset="-122"/>
                <a:cs typeface="Aptos Display" pitchFamily="34" charset="-120"/>
              </a:rPr>
              <a:t>React sa che cosa conservare.</a:t>
            </a:r>
            <a:endParaRPr lang="en-US" sz="3500" dirty="0"/>
          </a:p>
          <a:p>
            <a:pPr algn="ctr" indent="0" marL="0">
              <a:buNone/>
            </a:pPr>
            <a:r>
              <a:rPr lang="en-US" sz="3500" b="1" dirty="0">
                <a:solidFill>
                  <a:srgbClr val="F4F7FB"/>
                </a:solidFill>
                <a:latin typeface="Aptos Display" pitchFamily="34" charset="0"/>
                <a:ea typeface="Aptos Display" pitchFamily="34" charset="-122"/>
                <a:cs typeface="Aptos Display" pitchFamily="34" charset="-120"/>
              </a:rPr>
              <a:t>Ogni Effect sa che cosa fermare.</a:t>
            </a:r>
            <a:endParaRPr lang="en-US" sz="3500" dirty="0"/>
          </a:p>
        </p:txBody>
      </p:sp>
      <p:sp>
        <p:nvSpPr>
          <p:cNvPr id="5" name="Shape 3"/>
          <p:cNvSpPr/>
          <p:nvPr/>
        </p:nvSpPr>
        <p:spPr>
          <a:xfrm>
            <a:off x="3566160" y="4709160"/>
            <a:ext cx="5074920" cy="0"/>
          </a:xfrm>
          <a:prstGeom prst="line">
            <a:avLst/>
          </a:prstGeom>
          <a:noFill/>
          <a:ln w="15240">
            <a:solidFill>
              <a:srgbClr val="263A55"/>
            </a:solidFill>
            <a:prstDash val="solid"/>
          </a:ln>
        </p:spPr>
      </p:sp>
      <p:sp>
        <p:nvSpPr>
          <p:cNvPr id="6" name="Text 4"/>
          <p:cNvSpPr/>
          <p:nvPr/>
        </p:nvSpPr>
        <p:spPr>
          <a:xfrm>
            <a:off x="3383280" y="5074920"/>
            <a:ext cx="5440680" cy="274320"/>
          </a:xfrm>
          <a:prstGeom prst="rect">
            <a:avLst/>
          </a:prstGeom>
          <a:noFill/>
          <a:ln/>
        </p:spPr>
        <p:txBody>
          <a:bodyPr wrap="square" lIns="0" tIns="0" rIns="0" bIns="0" rtlCol="0" anchor="ctr"/>
          <a:lstStyle/>
          <a:p>
            <a:pPr algn="ctr" indent="0" marL="0">
              <a:buNone/>
            </a:pPr>
            <a:r>
              <a:rPr lang="en-US" sz="1200" b="1" dirty="0">
                <a:solidFill>
                  <a:srgbClr val="6FE3B1"/>
                </a:solidFill>
                <a:latin typeface="Aptos Mono" pitchFamily="34" charset="0"/>
                <a:ea typeface="Aptos Mono" pitchFamily="34" charset="-122"/>
                <a:cs typeface="Aptos Mono" pitchFamily="34" charset="-120"/>
              </a:rPr>
              <a:t>MODULO 1 · CODE LAB COMPLETATO</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75</Slides>
  <Notes>75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75</vt:i4>
      </vt:variant>
    </vt:vector>
  </HeadingPairs>
  <TitlesOfParts>
    <vt:vector size="7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vector>
  </TitlesOfParts>
  <Company>React Aziendale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Modulo 1 · Esempi commentati di codice</dc:title>
  <dc:subject>Modulo 1 - esempi commentati di codice</dc:subject>
  <dc:creator>Marius Minia</dc:creator>
  <cp:lastModifiedBy>Marius Minia</cp:lastModifiedBy>
  <cp:revision>1</cp:revision>
  <dcterms:created xsi:type="dcterms:W3CDTF">2026-07-21T18:55:36Z</dcterms:created>
  <dcterms:modified xsi:type="dcterms:W3CDTF">2026-07-21T18:55:36Z</dcterms:modified>
</cp:coreProperties>
</file>